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2"/>
  </p:notesMasterIdLst>
  <p:sldIdLst>
    <p:sldId id="295" r:id="rId5"/>
    <p:sldId id="341" r:id="rId6"/>
    <p:sldId id="456" r:id="rId7"/>
    <p:sldId id="406" r:id="rId8"/>
    <p:sldId id="342" r:id="rId9"/>
    <p:sldId id="420" r:id="rId10"/>
    <p:sldId id="419" r:id="rId11"/>
    <p:sldId id="457" r:id="rId12"/>
    <p:sldId id="368" r:id="rId13"/>
    <p:sldId id="346" r:id="rId14"/>
    <p:sldId id="354" r:id="rId15"/>
    <p:sldId id="355" r:id="rId16"/>
    <p:sldId id="356" r:id="rId17"/>
    <p:sldId id="364" r:id="rId18"/>
    <p:sldId id="357" r:id="rId19"/>
    <p:sldId id="365" r:id="rId20"/>
    <p:sldId id="361" r:id="rId21"/>
    <p:sldId id="363" r:id="rId22"/>
    <p:sldId id="415" r:id="rId23"/>
    <p:sldId id="414" r:id="rId24"/>
    <p:sldId id="416" r:id="rId25"/>
    <p:sldId id="417" r:id="rId26"/>
    <p:sldId id="369" r:id="rId27"/>
    <p:sldId id="370" r:id="rId28"/>
    <p:sldId id="371" r:id="rId29"/>
    <p:sldId id="372" r:id="rId30"/>
    <p:sldId id="418" r:id="rId31"/>
    <p:sldId id="367" r:id="rId32"/>
    <p:sldId id="373" r:id="rId33"/>
    <p:sldId id="435" r:id="rId34"/>
    <p:sldId id="421" r:id="rId35"/>
    <p:sldId id="422" r:id="rId36"/>
    <p:sldId id="423" r:id="rId37"/>
    <p:sldId id="424" r:id="rId38"/>
    <p:sldId id="425" r:id="rId39"/>
    <p:sldId id="436" r:id="rId40"/>
    <p:sldId id="437" r:id="rId41"/>
    <p:sldId id="438" r:id="rId42"/>
    <p:sldId id="439" r:id="rId43"/>
    <p:sldId id="440" r:id="rId44"/>
    <p:sldId id="441" r:id="rId45"/>
    <p:sldId id="442" r:id="rId46"/>
    <p:sldId id="452" r:id="rId47"/>
    <p:sldId id="453" r:id="rId48"/>
    <p:sldId id="455" r:id="rId49"/>
    <p:sldId id="454" r:id="rId50"/>
    <p:sldId id="443" r:id="rId51"/>
    <p:sldId id="444" r:id="rId52"/>
    <p:sldId id="445" r:id="rId53"/>
    <p:sldId id="446" r:id="rId54"/>
    <p:sldId id="447" r:id="rId55"/>
    <p:sldId id="448" r:id="rId56"/>
    <p:sldId id="449" r:id="rId57"/>
    <p:sldId id="450" r:id="rId58"/>
    <p:sldId id="451" r:id="rId59"/>
    <p:sldId id="458" r:id="rId60"/>
    <p:sldId id="405" r:id="rId61"/>
  </p:sldIdLst>
  <p:sldSz cx="12192000" cy="6858000"/>
  <p:notesSz cx="9926638" cy="6797675"/>
  <p:embeddedFontLst>
    <p:embeddedFont>
      <p:font typeface="Calibri" panose="020F0502020204030204" pitchFamily="34" charset="0"/>
      <p:regular r:id="rId63"/>
      <p:bold r:id="rId64"/>
      <p:italic r:id="rId65"/>
      <p:boldItalic r:id="rId66"/>
    </p:embeddedFont>
    <p:embeddedFont>
      <p:font typeface="Calibri Light" panose="020F0302020204030204" pitchFamily="34" charset="0"/>
      <p:regular r:id="rId67"/>
      <p:italic r:id="rId68"/>
    </p:embeddedFont>
    <p:embeddedFont>
      <p:font typeface="Cambria Math" panose="02040503050406030204" pitchFamily="18" charset="0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F6F4D-AE0D-4CBF-B617-B4ED6586C50E}" v="111" dt="2023-05-05T14:11:15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7" Type="http://schemas.openxmlformats.org/officeDocument/2006/relationships/slide" Target="slides/slide3.xml"/><Relationship Id="rId71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font" Target="fonts/font4.fntdata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font" Target="fonts/font3.fntdata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5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CF253-E163-4161-8EA5-8285F46DBEDA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C4828-DA6D-44CC-95C4-2BBE7200A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3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4828-DA6D-44CC-95C4-2BBE7200A28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1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05/05/2023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Dijkstra’s Algorithm</a:t>
            </a:r>
            <a:br>
              <a:rPr lang="en-GB" dirty="0"/>
            </a:br>
            <a:r>
              <a:rPr lang="en-GB" sz="3200" dirty="0"/>
              <a:t>Animations</a:t>
            </a:r>
            <a:endParaRPr lang="en-GB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Path Problem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Definition: </a:t>
            </a:r>
            <a:r>
              <a:rPr lang="en-GB" dirty="0"/>
              <a:t>Find the shortest path between two vertices (source and destination) such that the sum of the weights of it’s edges are minimised.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Perhaps one of the most fundamental problems in Mathematics and Computer Science</a:t>
            </a:r>
          </a:p>
          <a:p>
            <a:endParaRPr lang="en-GB" dirty="0"/>
          </a:p>
          <a:p>
            <a:r>
              <a:rPr lang="en-GB" dirty="0"/>
              <a:t>Huge implications on routing and traffic problems, e.g. vehicular, telecommunications.</a:t>
            </a:r>
          </a:p>
          <a:p>
            <a:endParaRPr lang="en-GB" dirty="0"/>
          </a:p>
          <a:p>
            <a:r>
              <a:rPr lang="en-GB" dirty="0"/>
              <a:t>If you’ve used Google Maps, you’ve asked to solve a form of shortest path problem!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836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Blue Peter Example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1277053C-1C77-47D5-9D73-8AC8B493B3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8221" y="2046565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58DD06D-5682-4DCA-BB1C-8A2169C4B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359" y="3300438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62BC241-2E65-432D-A93A-0EF34F742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0744" y="2144847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CD8E18F3-D803-46EE-BBB6-27F6FD247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194828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E824E5C9-3B3E-43B4-9B77-2BF897678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2461" y="1849999"/>
            <a:ext cx="2253127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E22ED85-0FD4-44F1-A51D-9EE147E8FE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1246" y="3300439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0A508D9D-201C-4CC4-8C36-F61A62E5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3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2C65BF83-16FB-4216-9E01-055D9D76D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2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B8045ED7-56AA-498A-8032-F2934F6F9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310" y="420878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76DBA11-59E8-44B2-AE02-35C0A7B13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4405350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48FD12-8A46-4DB5-BBF8-BD752C00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65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178830-CF85-42A3-AE0F-231B3D78A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DC95B7-D929-49D5-99F5-BA0CD4B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D67BB1-1F39-4211-B67F-3BED51CB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92293F-207B-4243-AE8A-26661E5E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755E21-A47A-421D-B8B8-5C2E0544A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20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D52B8633-C4A9-44C8-AE97-CAA7B5C61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634" y="214484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BA95EBC5-C409-4945-BAB6-7F4E2D705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112" y="37329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7D1BEAF0-5D36-4B03-B6C9-25E15504A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613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38DC88EB-6274-4225-A33A-99C42037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71" y="263626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A736FF34-42C3-4BB0-864C-897BCCB85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3825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932D273-2806-4CBD-87C9-53A132129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440667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B41A78B9-2F46-40AB-BF4A-6FDC6B19A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1247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3212B0F0-27D6-4DCB-968B-6341ABE84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947" y="208041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7D86E581-5A57-455E-B372-963F6BF1A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187" y="374758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2D730-84C7-41BF-AF49-98FF0346AB8B}"/>
              </a:ext>
            </a:extLst>
          </p:cNvPr>
          <p:cNvSpPr txBox="1"/>
          <p:nvPr/>
        </p:nvSpPr>
        <p:spPr>
          <a:xfrm>
            <a:off x="3516359" y="5350322"/>
            <a:ext cx="429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shortest path between 0 and 5?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4A3EC6FF-4507-4036-B239-10F5BC4E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312" y="1541709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6600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Blue Peter Example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1277053C-1C77-47D5-9D73-8AC8B493B3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8221" y="2046565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58DD06D-5682-4DCA-BB1C-8A2169C4B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359" y="3300438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62BC241-2E65-432D-A93A-0EF34F742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0744" y="2144847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CD8E18F3-D803-46EE-BBB6-27F6FD247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194828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E824E5C9-3B3E-43B4-9B77-2BF897678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2461" y="1849999"/>
            <a:ext cx="2253127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E22ED85-0FD4-44F1-A51D-9EE147E8FE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1246" y="3300439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0A508D9D-201C-4CC4-8C36-F61A62E5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3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2C65BF83-16FB-4216-9E01-055D9D76D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2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B8045ED7-56AA-498A-8032-F2934F6F9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310" y="420878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76DBA11-59E8-44B2-AE02-35C0A7B13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4405350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48FD12-8A46-4DB5-BBF8-BD752C00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65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178830-CF85-42A3-AE0F-231B3D78A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DC95B7-D929-49D5-99F5-BA0CD4B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D67BB1-1F39-4211-B67F-3BED51CB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92293F-207B-4243-AE8A-26661E5E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755E21-A47A-421D-B8B8-5C2E0544A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20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D52B8633-C4A9-44C8-AE97-CAA7B5C61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634" y="214484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BA95EBC5-C409-4945-BAB6-7F4E2D705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112" y="37329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7D1BEAF0-5D36-4B03-B6C9-25E15504A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613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38DC88EB-6274-4225-A33A-99C42037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71" y="263626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A736FF34-42C3-4BB0-864C-897BCCB85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3825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932D273-2806-4CBD-87C9-53A132129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440667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B41A78B9-2F46-40AB-BF4A-6FDC6B19A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1247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3212B0F0-27D6-4DCB-968B-6341ABE84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947" y="208041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7D86E581-5A57-455E-B372-963F6BF1A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187" y="374758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2D730-84C7-41BF-AF49-98FF0346AB8B}"/>
              </a:ext>
            </a:extLst>
          </p:cNvPr>
          <p:cNvSpPr txBox="1"/>
          <p:nvPr/>
        </p:nvSpPr>
        <p:spPr>
          <a:xfrm>
            <a:off x="3516359" y="5350322"/>
            <a:ext cx="5374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Shortest path between 0 and 5 is 0-3-1-4-5 of length 15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4A3EC6FF-4507-4036-B239-10F5BC4E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312" y="1541709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8416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GB" dirty="0"/>
                  <a:t>Originally designed to test the limitations of computing power by </a:t>
                </a:r>
                <a:r>
                  <a:rPr lang="en-GB" dirty="0" err="1"/>
                  <a:t>Edsger</a:t>
                </a:r>
                <a:r>
                  <a:rPr lang="en-GB" dirty="0"/>
                  <a:t> </a:t>
                </a:r>
                <a:r>
                  <a:rPr lang="en-GB" dirty="0" err="1"/>
                  <a:t>Wybe</a:t>
                </a:r>
                <a:r>
                  <a:rPr lang="en-GB" dirty="0"/>
                  <a:t> Dijkstra in 1956</a:t>
                </a:r>
              </a:p>
              <a:p>
                <a:endParaRPr lang="en-GB" dirty="0"/>
              </a:p>
              <a:p>
                <a:r>
                  <a:rPr lang="en-GB" dirty="0"/>
                  <a:t>Still widely used and researched today!</a:t>
                </a:r>
              </a:p>
              <a:p>
                <a:endParaRPr lang="en-GB" dirty="0"/>
              </a:p>
              <a:p>
                <a:r>
                  <a:rPr lang="en-GB" dirty="0"/>
                  <a:t>Google uses an advanced pre-processing speed-up technique known as contraction hierarchies.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Edges weights need to be nonnegative! Otherwise use Bellman-Ford</a:t>
                </a:r>
              </a:p>
              <a:p>
                <a:pPr marL="0" indent="0">
                  <a:buNone/>
                </a:pPr>
                <a:r>
                  <a:rPr lang="en-GB" dirty="0"/>
                  <a:t>Homework: Investigate Bellman-Ford Algorithm, this can also detect negative weight cycles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/>
                  <a:t>, label all vertices as </a:t>
                </a:r>
                <a:r>
                  <a:rPr lang="en-GB" b="1" dirty="0"/>
                  <a:t>temporary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Label the vertex with minimum distance as </a:t>
                </a:r>
                <a:r>
                  <a:rPr lang="en-GB" b="1" dirty="0"/>
                  <a:t>permanent</a:t>
                </a: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Update the distances and predecessors to reachable </a:t>
                </a:r>
                <a:r>
                  <a:rPr lang="en-GB" b="1" dirty="0"/>
                  <a:t>temporary </a:t>
                </a:r>
                <a:r>
                  <a:rPr lang="en-GB" dirty="0"/>
                  <a:t>vertices from the current permanent vertex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Repeat steps 2 and 3 until all vertices visited. 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22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062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Set Up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991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Improving Cost Labels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GB" b="0" dirty="0">
                    <a:solidFill>
                      <a:srgbClr val="000000"/>
                    </a:solidFill>
                    <a:effectLst/>
                  </a:rPr>
                  <a:t>Imagine you know some path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b="0" dirty="0">
                    <a:solidFill>
                      <a:srgbClr val="000000"/>
                    </a:solidFill>
                    <a:effectLst/>
                  </a:rPr>
                  <a:t> from node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b="0" dirty="0">
                    <a:solidFill>
                      <a:srgbClr val="000000"/>
                    </a:solidFill>
                    <a:effectLst/>
                  </a:rPr>
                  <a:t> to node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b="0" dirty="0">
                    <a:solidFill>
                      <a:srgbClr val="000000"/>
                    </a:solidFill>
                    <a:effectLst/>
                  </a:rPr>
                  <a:t> that has a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GB" b="0" dirty="0">
                  <a:solidFill>
                    <a:srgbClr val="000000"/>
                  </a:solidFill>
                  <a:effectLst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/>
                <a:r>
                  <a:rPr lang="en-GB" sz="2800" dirty="0">
                    <a:cs typeface="Arial" charset="0"/>
                  </a:rPr>
                  <a:t>If this is not </a:t>
                </a:r>
                <a:r>
                  <a:rPr lang="en-GB" sz="2800" b="1" dirty="0">
                    <a:cs typeface="Arial" charset="0"/>
                  </a:rPr>
                  <a:t>TRUE</a:t>
                </a:r>
                <a:r>
                  <a:rPr lang="en-GB" sz="2800" dirty="0">
                    <a:cs typeface="Arial" charset="0"/>
                  </a:rPr>
                  <a:t> then there exists some path that improves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>
                  <a:cs typeface="Arial" charset="0"/>
                </a:endParaRPr>
              </a:p>
              <a:p>
                <a:pPr lvl="1"/>
                <a:r>
                  <a:rPr lang="en-US" dirty="0">
                    <a:cs typeface="Arial" charset="0"/>
                  </a:rPr>
                  <a:t>E.g. The path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cs typeface="Arial" charset="0"/>
                  </a:rPr>
                  <a:t> + the edge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2507B7-84BB-4549-9DD2-DC9FF8CCF7E8}"/>
              </a:ext>
            </a:extLst>
          </p:cNvPr>
          <p:cNvSpPr/>
          <p:nvPr/>
        </p:nvSpPr>
        <p:spPr>
          <a:xfrm>
            <a:off x="6919017" y="2702001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48E18-B872-4557-9AAD-35D87BEAB586}"/>
              </a:ext>
            </a:extLst>
          </p:cNvPr>
          <p:cNvSpPr txBox="1"/>
          <p:nvPr/>
        </p:nvSpPr>
        <p:spPr>
          <a:xfrm>
            <a:off x="7223817" y="2749282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04AEE-875E-4F3D-BFD8-6F9218E5FF84}"/>
              </a:ext>
            </a:extLst>
          </p:cNvPr>
          <p:cNvSpPr txBox="1"/>
          <p:nvPr/>
        </p:nvSpPr>
        <p:spPr>
          <a:xfrm>
            <a:off x="8544617" y="274899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AA0B9-0408-45FA-A71A-F76006D43228}"/>
              </a:ext>
            </a:extLst>
          </p:cNvPr>
          <p:cNvSpPr txBox="1"/>
          <p:nvPr/>
        </p:nvSpPr>
        <p:spPr>
          <a:xfrm>
            <a:off x="7523899" y="3914938"/>
            <a:ext cx="998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 + y ≥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81AAB-8839-476D-9FB0-9A9C7F9630BA}"/>
              </a:ext>
            </a:extLst>
          </p:cNvPr>
          <p:cNvSpPr txBox="1"/>
          <p:nvPr/>
        </p:nvSpPr>
        <p:spPr>
          <a:xfrm>
            <a:off x="7886047" y="3444890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z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F7078BC-8141-4004-9101-AE52772EDE39}"/>
              </a:ext>
            </a:extLst>
          </p:cNvPr>
          <p:cNvSpPr>
            <a:spLocks/>
          </p:cNvSpPr>
          <p:nvPr/>
        </p:nvSpPr>
        <p:spPr bwMode="auto">
          <a:xfrm>
            <a:off x="2573690" y="2748991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ED6F1305-968A-48FA-B77F-085DCDBE0EEE}"/>
              </a:ext>
            </a:extLst>
          </p:cNvPr>
          <p:cNvSpPr>
            <a:spLocks/>
          </p:cNvSpPr>
          <p:nvPr/>
        </p:nvSpPr>
        <p:spPr bwMode="auto">
          <a:xfrm>
            <a:off x="2573690" y="4006291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C96150E-AD1A-4172-BF40-971E80992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8690" y="2748991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18CE214B-B532-4E50-8C72-2BFCE0DF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290" y="3891991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9FDBBEFE-C6B8-4E35-ADDF-E84093F8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290" y="2596591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7EF33B45-8DBE-45C9-BBAF-98BCB422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490" y="3815791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4215" y="2175904"/>
                <a:ext cx="45647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4215" y="2175904"/>
                <a:ext cx="456471" cy="36933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21690" y="4120591"/>
                <a:ext cx="455188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1690" y="4120591"/>
                <a:ext cx="455188" cy="391646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2090" y="2901391"/>
                <a:ext cx="502125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2090" y="2901391"/>
                <a:ext cx="502125" cy="391646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651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90DF-FF7B-BACF-F83D-E76FB1C4F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 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9641ECE-3CBC-C352-1DB7-25D68670F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12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 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9158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FC0623-F907-41CE-895C-BA6D1E75496D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A1B2-D88D-4DBB-905B-02646E93614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4A77E0-5AA1-4E2E-9493-D6F4925C51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EA869-037F-4F67-B68A-C0388CB921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BEE79-1461-450F-9F13-821C5A988B3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BA6B8-4844-46FB-BEA4-6E89B9F41AC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93D6A-71EE-4F6B-9A48-082BB439A3B5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717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D6870A-9E68-412D-A8E4-8B9C56887F16}"/>
              </a:ext>
            </a:extLst>
          </p:cNvPr>
          <p:cNvSpPr txBox="1"/>
          <p:nvPr/>
        </p:nvSpPr>
        <p:spPr>
          <a:xfrm>
            <a:off x="3655642" y="239409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0+9=9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054F34-F39C-4437-94A0-9D60C21CD7D0}"/>
              </a:ext>
            </a:extLst>
          </p:cNvPr>
          <p:cNvSpPr txBox="1"/>
          <p:nvPr/>
        </p:nvSpPr>
        <p:spPr>
          <a:xfrm>
            <a:off x="3561469" y="488569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0+2=2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003F8A-94E2-4307-98DF-465D9D4C105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910DE58-9658-45D9-9443-955CAEF401FD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58FC30-6690-417F-A781-A486D738CBD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5F9E6-F980-4F56-958A-C24EF844C9B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8F4DBF-2DEB-4639-9D7E-49A33ECD67A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CC73E-644E-43DC-BEE1-940D1BBF91C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4253E-33C3-4030-B1D0-BB2DA88141F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72AFD-76F9-48C9-A721-3AC1E8DD3FC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F33CE-4E6C-4178-87DA-53CE8E59205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3789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3659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F819E-5081-42E1-A6A7-71B2F1CB187B}"/>
              </a:ext>
            </a:extLst>
          </p:cNvPr>
          <p:cNvSpPr txBox="1"/>
          <p:nvPr/>
        </p:nvSpPr>
        <p:spPr>
          <a:xfrm>
            <a:off x="5028104" y="3581752"/>
            <a:ext cx="78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2+4=6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BB70-2672-44EE-B0D8-AA40266BCDB9}"/>
              </a:ext>
            </a:extLst>
          </p:cNvPr>
          <p:cNvSpPr txBox="1"/>
          <p:nvPr/>
        </p:nvSpPr>
        <p:spPr>
          <a:xfrm>
            <a:off x="5695440" y="5448173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2+8=10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921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B137F3B-C20B-4816-ADB2-CBAD4BBC7A94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876640-77BC-4DA7-B31C-DF99DF12252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227C06-C960-46AC-869B-ED50A496074B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6C2633-1C5A-4079-A02C-B3698981427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22E020-829A-4BD5-9B5B-5AE16657010D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9AB3E-FDE0-493B-A559-913203AA42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E6D72C-1B3D-4F9F-B2DE-B91693E59124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378D56-1E1F-4514-BC57-326163D82CEC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DC8A77-B6F3-4F26-BB9E-C43162FA9D1E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51455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C030E-DC3A-47F8-B362-95EF52E44221}"/>
              </a:ext>
            </a:extLst>
          </p:cNvPr>
          <p:cNvSpPr txBox="1"/>
          <p:nvPr/>
        </p:nvSpPr>
        <p:spPr>
          <a:xfrm>
            <a:off x="5667448" y="1577069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6+11=17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5D884-C733-4EA0-BED3-5E89B9A87730}"/>
              </a:ext>
            </a:extLst>
          </p:cNvPr>
          <p:cNvSpPr txBox="1"/>
          <p:nvPr/>
        </p:nvSpPr>
        <p:spPr>
          <a:xfrm>
            <a:off x="6279718" y="342583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6+3=9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510411C7-753E-4857-B2A2-2F4ADC249CB8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04026F-164F-422B-B6BC-E246E0610F4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BDDB5-19DF-4409-AE98-DD37A5F2A806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385AEE-E46B-435F-BC60-8A7BD07172C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C24515-7EE1-4124-8168-55A9EF516A3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094E92-D7F1-40CA-BD49-6B693F26FC2D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D5804B-3B1C-476C-9E90-1D47BC38B87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37953E-BCCB-438A-ADC7-41042FC1666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94B419-2323-4C91-BC12-12EB7CEB3B8D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850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FB3E9B0-5150-4FD9-BCE0-9230FD8A8539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9AF4C7-96F3-47E3-A1AF-468881329A7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130CA-3D26-4B1D-87EC-41328710C338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911BDD-4537-4685-9319-9A8D8E664F9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FE2DEE-121A-4207-AF19-81778563DD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BF66A-6CBA-4DFA-9B35-58FAF0BD61B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083DE8-50AC-401A-8B2A-A6B22D26DBCF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EB1018-143D-4A60-A7A8-E4E994BC0A4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900940-284A-4D94-A65B-20F7BBFCF98F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0856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408B97-C306-4CEC-8501-A55E8A89C4FA}"/>
              </a:ext>
            </a:extLst>
          </p:cNvPr>
          <p:cNvSpPr txBox="1"/>
          <p:nvPr/>
        </p:nvSpPr>
        <p:spPr>
          <a:xfrm>
            <a:off x="8069052" y="485141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9+6=15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9905522E-8B46-4AA8-9324-A5586A14CEE6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10E8BA-F275-4EAE-ADC0-0EDA453B8EB2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4EE921-8A79-44D7-9161-6FF225F361C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15F4F5-3C3B-450A-B87B-CF7E822DC70F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40FE4-D048-4CC2-BADA-94305E32F65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1568A2-8E1E-44EC-BF69-77A0F322233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E0DF41-FAD3-464A-B971-F5F3DAF0B5A6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F30B2-DDDB-44B1-82CD-6EC367AF57A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1C08D-423C-4990-B754-ECB565B52E0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632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1E186B2-E40A-4E6F-B252-468F02349F59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687657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9ECFDB36-97E7-4B70-95C2-A90B6F7CAE50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3354784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EE8A7ED-8464-40F1-8BCC-246A4ABA742C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129845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A27AD6D-804A-4BC1-A8E5-30E3747F55C7}"/>
              </a:ext>
            </a:extLst>
          </p:cNvPr>
          <p:cNvSpPr txBox="1"/>
          <p:nvPr/>
        </p:nvSpPr>
        <p:spPr>
          <a:xfrm>
            <a:off x="7389389" y="3832636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17+5=22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FF02FE-4D6F-4052-8698-D1BB609D686D}"/>
              </a:ext>
            </a:extLst>
          </p:cNvPr>
          <p:cNvSpPr txBox="1"/>
          <p:nvPr/>
        </p:nvSpPr>
        <p:spPr>
          <a:xfrm>
            <a:off x="8268080" y="223032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17+12=29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4143973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5084392" y="6291554"/>
            <a:ext cx="24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Final Network and Table</a:t>
            </a:r>
          </a:p>
        </p:txBody>
      </p:sp>
    </p:spTree>
    <p:extLst>
      <p:ext uri="{BB962C8B-B14F-4D97-AF65-F5344CB8AC3E}">
        <p14:creationId xmlns:p14="http://schemas.microsoft.com/office/powerpoint/2010/main" val="1072132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source along the predecessor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4755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source along the predecessor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565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source along the predecessor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9418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source along the predecessor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2568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Shortest path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with a path length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blipFill>
                <a:blip r:embed="rId4"/>
                <a:stretch>
                  <a:fillRect l="-80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1036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Visits all vertices in increasing order of distance and visits each vertex exactly once.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Dijkstra maintains a set of visited vertices (permanent) and unvisited vertices (temporary).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Claim</a:t>
                </a:r>
                <a:r>
                  <a:rPr lang="en-GB" dirty="0"/>
                  <a:t>: For a visited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will be the optimal shortest path distance and corresponding predecessor vertex.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Meaning, we get all the shortest paths from the source to all visited vertices free!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 b="-1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406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sub-path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070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example the shortest path from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of length 6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blipFill>
                <a:blip r:embed="rId4"/>
                <a:stretch>
                  <a:fillRect l="-69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31070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3126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90DF-FF7B-BACF-F83D-E76FB1C4F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 2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2A4AABC-60FA-1E92-24BD-8AC43C716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225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 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0151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FC0623-F907-41CE-895C-BA6D1E75496D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A1B2-D88D-4DBB-905B-02646E93614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4A77E0-5AA1-4E2E-9493-D6F4925C51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EA869-037F-4F67-B68A-C0388CB921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BEE79-1461-450F-9F13-821C5A988B3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BA6B8-4844-46FB-BEA4-6E89B9F41AC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93D6A-71EE-4F6B-9A48-082BB439A3B5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18017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D6870A-9E68-412D-A8E4-8B9C56887F16}"/>
              </a:ext>
            </a:extLst>
          </p:cNvPr>
          <p:cNvSpPr txBox="1"/>
          <p:nvPr/>
        </p:nvSpPr>
        <p:spPr>
          <a:xfrm>
            <a:off x="3655642" y="239409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0+9=9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054F34-F39C-4437-94A0-9D60C21CD7D0}"/>
              </a:ext>
            </a:extLst>
          </p:cNvPr>
          <p:cNvSpPr txBox="1"/>
          <p:nvPr/>
        </p:nvSpPr>
        <p:spPr>
          <a:xfrm>
            <a:off x="3561469" y="488569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0+2=2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003F8A-94E2-4307-98DF-465D9D4C105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910DE58-9658-45D9-9443-955CAEF401FD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58FC30-6690-417F-A781-A486D738CBD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5F9E6-F980-4F56-958A-C24EF844C9B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8F4DBF-2DEB-4639-9D7E-49A33ECD67A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CC73E-644E-43DC-BEE1-940D1BBF91C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4253E-33C3-4030-B1D0-BB2DA88141F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72AFD-76F9-48C9-A721-3AC1E8DD3FC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F33CE-4E6C-4178-87DA-53CE8E59205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4365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34483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F819E-5081-42E1-A6A7-71B2F1CB187B}"/>
              </a:ext>
            </a:extLst>
          </p:cNvPr>
          <p:cNvSpPr txBox="1"/>
          <p:nvPr/>
        </p:nvSpPr>
        <p:spPr>
          <a:xfrm>
            <a:off x="5028104" y="3581752"/>
            <a:ext cx="78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2+4=6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BB70-2672-44EE-B0D8-AA40266BCDB9}"/>
              </a:ext>
            </a:extLst>
          </p:cNvPr>
          <p:cNvSpPr txBox="1"/>
          <p:nvPr/>
        </p:nvSpPr>
        <p:spPr>
          <a:xfrm>
            <a:off x="5695440" y="544817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2+1=3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19176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19176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385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2020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2020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6FED6AC-91AD-ED9F-3F48-E3A13EB0D859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105808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 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F819E-5081-42E1-A6A7-71B2F1CB187B}"/>
              </a:ext>
            </a:extLst>
          </p:cNvPr>
          <p:cNvSpPr txBox="1"/>
          <p:nvPr/>
        </p:nvSpPr>
        <p:spPr>
          <a:xfrm>
            <a:off x="8295390" y="4754644"/>
            <a:ext cx="114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3+10=13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80301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80301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86688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113282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113282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11E5F74-F165-6657-66DD-A7330238CE52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8617129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F819E-5081-42E1-A6A7-71B2F1CB187B}"/>
              </a:ext>
            </a:extLst>
          </p:cNvPr>
          <p:cNvSpPr txBox="1"/>
          <p:nvPr/>
        </p:nvSpPr>
        <p:spPr>
          <a:xfrm>
            <a:off x="5684723" y="1788771"/>
            <a:ext cx="114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6+1=7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BB70-2672-44EE-B0D8-AA40266BCDB9}"/>
              </a:ext>
            </a:extLst>
          </p:cNvPr>
          <p:cNvSpPr txBox="1"/>
          <p:nvPr/>
        </p:nvSpPr>
        <p:spPr>
          <a:xfrm>
            <a:off x="5896439" y="299031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6+3=9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832581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832581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000047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24837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24837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66BC746-3E5C-1929-0020-5295268734D7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4285445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44508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44508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E7A77E-FD7D-03E9-EE6A-8A7F2677F569}"/>
              </a:ext>
            </a:extLst>
          </p:cNvPr>
          <p:cNvSpPr txBox="1"/>
          <p:nvPr/>
        </p:nvSpPr>
        <p:spPr>
          <a:xfrm>
            <a:off x="7330018" y="386572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7+5=12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7BCA1-2CF2-2CDE-2004-775FD864D036}"/>
              </a:ext>
            </a:extLst>
          </p:cNvPr>
          <p:cNvSpPr txBox="1"/>
          <p:nvPr/>
        </p:nvSpPr>
        <p:spPr>
          <a:xfrm>
            <a:off x="8236089" y="2355189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7+1=8</a:t>
            </a:r>
          </a:p>
        </p:txBody>
      </p:sp>
    </p:spTree>
    <p:extLst>
      <p:ext uri="{BB962C8B-B14F-4D97-AF65-F5344CB8AC3E}">
        <p14:creationId xmlns:p14="http://schemas.microsoft.com/office/powerpoint/2010/main" val="4076587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214275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214275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A3D3DBAC-BE27-BB79-1DF2-DAD6B9AABAAC}"/>
              </a:ext>
            </a:extLst>
          </p:cNvPr>
          <p:cNvSpPr txBox="1"/>
          <p:nvPr/>
        </p:nvSpPr>
        <p:spPr>
          <a:xfrm>
            <a:off x="2652172" y="6267006"/>
            <a:ext cx="8351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permanent. All nodes reached. STOP</a:t>
            </a:r>
          </a:p>
        </p:txBody>
      </p:sp>
    </p:spTree>
    <p:extLst>
      <p:ext uri="{BB962C8B-B14F-4D97-AF65-F5344CB8AC3E}">
        <p14:creationId xmlns:p14="http://schemas.microsoft.com/office/powerpoint/2010/main" val="3249050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905523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905523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40C3035-FBE6-3F48-2830-978EC37A0248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source along the predecessor</a:t>
            </a:r>
          </a:p>
        </p:txBody>
      </p:sp>
    </p:spTree>
    <p:extLst>
      <p:ext uri="{BB962C8B-B14F-4D97-AF65-F5344CB8AC3E}">
        <p14:creationId xmlns:p14="http://schemas.microsoft.com/office/powerpoint/2010/main" val="132843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45815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45815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37A3DD0-CEF6-C101-1702-2E7A88994BFA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source along the predecessor</a:t>
            </a:r>
          </a:p>
        </p:txBody>
      </p:sp>
    </p:spTree>
    <p:extLst>
      <p:ext uri="{BB962C8B-B14F-4D97-AF65-F5344CB8AC3E}">
        <p14:creationId xmlns:p14="http://schemas.microsoft.com/office/powerpoint/2010/main" val="1719214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603934-59CA-4B98-E907-E970AE87A16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source along the predecessor</a:t>
            </a:r>
          </a:p>
        </p:txBody>
      </p:sp>
    </p:spTree>
    <p:extLst>
      <p:ext uri="{BB962C8B-B14F-4D97-AF65-F5344CB8AC3E}">
        <p14:creationId xmlns:p14="http://schemas.microsoft.com/office/powerpoint/2010/main" val="20330457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 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57766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57766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3251D-EB87-9913-185A-27ED70406E13}"/>
                  </a:ext>
                </a:extLst>
              </p:cNvPr>
              <p:cNvSpPr txBox="1"/>
              <p:nvPr/>
            </p:nvSpPr>
            <p:spPr>
              <a:xfrm>
                <a:off x="2796618" y="6336295"/>
                <a:ext cx="66536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Shortest path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with a path length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3251D-EB87-9913-185A-27ED70406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618" y="6336295"/>
                <a:ext cx="6653681" cy="369332"/>
              </a:xfrm>
              <a:prstGeom prst="rect">
                <a:avLst/>
              </a:prstGeom>
              <a:blipFill>
                <a:blip r:embed="rId5"/>
                <a:stretch>
                  <a:fillRect l="-825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2505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E78A-B099-DF25-AE9A-4E8D3165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55171-01A4-123A-039A-BB99E1B1B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Optimisation</a:t>
            </a:r>
          </a:p>
          <a:p>
            <a:endParaRPr lang="en-GB" dirty="0"/>
          </a:p>
          <a:p>
            <a:r>
              <a:rPr lang="en-GB" dirty="0"/>
              <a:t>If we are interested in a given destination then…</a:t>
            </a:r>
          </a:p>
          <a:p>
            <a:endParaRPr lang="en-GB" dirty="0"/>
          </a:p>
          <a:p>
            <a:r>
              <a:rPr lang="en-GB" dirty="0"/>
              <a:t>If we reach the destination vertex and all temporary nodes have a higher value. We can stop!</a:t>
            </a:r>
          </a:p>
          <a:p>
            <a:endParaRPr lang="en-GB" dirty="0"/>
          </a:p>
          <a:p>
            <a:r>
              <a:rPr lang="en-GB" dirty="0"/>
              <a:t>This will be the optimal shortest path</a:t>
            </a:r>
          </a:p>
        </p:txBody>
      </p:sp>
    </p:spTree>
    <p:extLst>
      <p:ext uri="{BB962C8B-B14F-4D97-AF65-F5344CB8AC3E}">
        <p14:creationId xmlns:p14="http://schemas.microsoft.com/office/powerpoint/2010/main" val="3803188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 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229492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FC0623-F907-41CE-895C-BA6D1E75496D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A1B2-D88D-4DBB-905B-02646E93614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4A77E0-5AA1-4E2E-9493-D6F4925C51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EA869-037F-4F67-B68A-C0388CB921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BEE79-1461-450F-9F13-821C5A988B3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BA6B8-4844-46FB-BEA4-6E89B9F41AC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93D6A-71EE-4F6B-9A48-082BB439A3B5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EAB9FA65-CE13-FD39-4033-304EE249C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749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D6870A-9E68-412D-A8E4-8B9C56887F16}"/>
              </a:ext>
            </a:extLst>
          </p:cNvPr>
          <p:cNvSpPr txBox="1"/>
          <p:nvPr/>
        </p:nvSpPr>
        <p:spPr>
          <a:xfrm>
            <a:off x="3655642" y="239409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0+9=9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054F34-F39C-4437-94A0-9D60C21CD7D0}"/>
              </a:ext>
            </a:extLst>
          </p:cNvPr>
          <p:cNvSpPr txBox="1"/>
          <p:nvPr/>
        </p:nvSpPr>
        <p:spPr>
          <a:xfrm>
            <a:off x="3561469" y="488569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0+2=2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003F8A-94E2-4307-98DF-465D9D4C105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910DE58-9658-45D9-9443-955CAEF401FD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58FC30-6690-417F-A781-A486D738CBD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5F9E6-F980-4F56-958A-C24EF844C9B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8F4DBF-2DEB-4639-9D7E-49A33ECD67A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CC73E-644E-43DC-BEE1-940D1BBF91C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4253E-33C3-4030-B1D0-BB2DA88141F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72AFD-76F9-48C9-A721-3AC1E8DD3FC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F33CE-4E6C-4178-87DA-53CE8E59205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7957AF59-4302-39A3-CAE5-2C6C3E24F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888655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05D9E5C5-A62B-70E2-B1F5-EA2D9F53A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52402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370144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370144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05D9E5C5-A62B-70E2-B1F5-EA2D9F53A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4ACFF2-1748-749E-1580-1EF04A7B90BC}"/>
              </a:ext>
            </a:extLst>
          </p:cNvPr>
          <p:cNvSpPr txBox="1"/>
          <p:nvPr/>
        </p:nvSpPr>
        <p:spPr>
          <a:xfrm>
            <a:off x="4060919" y="3808552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2+10=12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0934FB-7200-A380-AE1B-0CA2A84E7669}"/>
              </a:ext>
            </a:extLst>
          </p:cNvPr>
          <p:cNvSpPr txBox="1"/>
          <p:nvPr/>
        </p:nvSpPr>
        <p:spPr>
          <a:xfrm>
            <a:off x="5631996" y="545901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2+1=3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ADDA3-9BFA-F242-151A-B509DCB638D6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</p:spTree>
    <p:extLst>
      <p:ext uri="{BB962C8B-B14F-4D97-AF65-F5344CB8AC3E}">
        <p14:creationId xmlns:p14="http://schemas.microsoft.com/office/powerpoint/2010/main" val="23837161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70271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70271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05D9E5C5-A62B-70E2-B1F5-EA2D9F53A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01572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774995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774995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05D9E5C5-A62B-70E2-B1F5-EA2D9F53A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66726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2358660" y="6119251"/>
            <a:ext cx="7779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 have reached the destination and all temporary nodes have a higher distance</a:t>
            </a:r>
          </a:p>
          <a:p>
            <a:r>
              <a:rPr lang="en-GB" dirty="0"/>
              <a:t>STOP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110422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110422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05D9E5C5-A62B-70E2-B1F5-EA2D9F53A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3963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3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5101864" y="6119251"/>
            <a:ext cx="2379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is the optimal path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65942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65942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 Box 23">
            <a:extLst>
              <a:ext uri="{FF2B5EF4-FFF2-40B4-BE49-F238E27FC236}">
                <a16:creationId xmlns:a16="http://schemas.microsoft.com/office/drawing/2014/main" id="{05D9E5C5-A62B-70E2-B1F5-EA2D9F53A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4" y="351583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11703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0" i="0" dirty="0" err="1">
                <a:solidFill>
                  <a:srgbClr val="333333"/>
                </a:solidFill>
                <a:effectLst/>
              </a:rPr>
              <a:t>Cormen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T. H.,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Leiserson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C. E.,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Rivest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R. L., Stein, C. (2001). </a:t>
            </a:r>
            <a:r>
              <a:rPr lang="en-GB" b="0" i="1" dirty="0">
                <a:solidFill>
                  <a:srgbClr val="333333"/>
                </a:solidFill>
                <a:effectLst/>
              </a:rPr>
              <a:t>Introduction to Algorithms</a:t>
            </a:r>
            <a:r>
              <a:rPr lang="en-GB" b="0" i="0" dirty="0">
                <a:solidFill>
                  <a:srgbClr val="333333"/>
                </a:solidFill>
                <a:effectLst/>
              </a:rPr>
              <a:t>. The MIT Press. ISBN: 0262032937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Taha, </a:t>
            </a:r>
            <a:r>
              <a:rPr lang="en-GB" dirty="0" err="1">
                <a:ea typeface="Times New Roman" panose="02020603050405020304" pitchFamily="18" charset="0"/>
              </a:rPr>
              <a:t>Hamdy</a:t>
            </a:r>
            <a:r>
              <a:rPr lang="en-GB" dirty="0">
                <a:ea typeface="Times New Roman" panose="02020603050405020304" pitchFamily="18" charset="0"/>
              </a:rPr>
              <a:t>. A - Operations Research: An Introduction (Tenth Edition)</a:t>
            </a:r>
          </a:p>
        </p:txBody>
      </p:sp>
    </p:spTree>
    <p:extLst>
      <p:ext uri="{BB962C8B-B14F-4D97-AF65-F5344CB8AC3E}">
        <p14:creationId xmlns:p14="http://schemas.microsoft.com/office/powerpoint/2010/main" val="303614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terms/"/>
    <ds:schemaRef ds:uri="606370cc-c8d9-4222-8a4e-3c320f1e3034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f6b85bd-8a7e-4854-be4d-0780382295a8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3779</Words>
  <Application>Microsoft Office PowerPoint</Application>
  <PresentationFormat>Widescreen</PresentationFormat>
  <Paragraphs>2832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Calibri</vt:lpstr>
      <vt:lpstr>Calibri Light</vt:lpstr>
      <vt:lpstr>Arial</vt:lpstr>
      <vt:lpstr>Cambria Math</vt:lpstr>
      <vt:lpstr>Office Theme</vt:lpstr>
      <vt:lpstr>Dijkstra’s Algorithm Animations</vt:lpstr>
      <vt:lpstr>Shortest Path Problem</vt:lpstr>
      <vt:lpstr>Blue Peter Example</vt:lpstr>
      <vt:lpstr>Blue Peter Example</vt:lpstr>
      <vt:lpstr>Dijkstra’s Algorithm</vt:lpstr>
      <vt:lpstr>Set Up</vt:lpstr>
      <vt:lpstr>Improving Cost Labels</vt:lpstr>
      <vt:lpstr>Example 1</vt:lpstr>
      <vt:lpstr>Dijkstra 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Correctness</vt:lpstr>
      <vt:lpstr>Shortest sub-path</vt:lpstr>
      <vt:lpstr>Example 2</vt:lpstr>
      <vt:lpstr>Dijkstra Example 2</vt:lpstr>
      <vt:lpstr>Example 2</vt:lpstr>
      <vt:lpstr>Example 2</vt:lpstr>
      <vt:lpstr>Example 2</vt:lpstr>
      <vt:lpstr>Example 2</vt:lpstr>
      <vt:lpstr>Example 2</vt:lpstr>
      <vt:lpstr>Example 2 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 </vt:lpstr>
      <vt:lpstr>Example 3</vt:lpstr>
      <vt:lpstr>Dijkstra Example 3</vt:lpstr>
      <vt:lpstr>Example 3</vt:lpstr>
      <vt:lpstr>Example 3</vt:lpstr>
      <vt:lpstr>Example 3</vt:lpstr>
      <vt:lpstr>Example 3</vt:lpstr>
      <vt:lpstr>Example 3</vt:lpstr>
      <vt:lpstr>Example 3</vt:lpstr>
      <vt:lpstr>Example 3</vt:lpstr>
      <vt:lpstr>Example 3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2023-05-05T15:29:37Z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