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61AB69DE-8FF4-4011-94CF-A10F998703E4}"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26DB1DBC-3E18-4F80-802D-3996DB0979D9}"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5781FAC0-EA96-41D6-B2FF-F7E43A0FD5AB}"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D5C2AFF7-58BB-4834-AC14-FA7D1672819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66FC2C95-2FAB-4A4E-9492-3A9713EB4696}"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8689BDE0-A9A3-435C-A10B-784C66C8F74A}"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4DC58ED5-9AD4-4CB4-9F08-5AEFEB7A28D9}"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14AF940D-EF73-445B-807B-64CE31688B13}"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446F4FA6-4D5A-4F39-9132-22A53A45353C}"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EB904775-BFEC-4E51-94DC-380BD03E92E9}"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32BB9C33-7753-457C-807F-774AC21DDA9B}"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7F711FD4-BCC1-46BE-9808-8CC48FA4B110}"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66AE28C6-59EB-40E4-BFA4-9D4544F38B10}"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8856B24D-746E-4538-B0CD-20FE17E6C780}"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566C1C72-CC9B-4ADC-B40A-2F0B7551B8AC}"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E96398AA-C970-49E1-97BB-C378B4CE7B42}"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03C9E40B-D198-4FA4-A74D-879DD94ADB0D}"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405E6B65-A35C-4E4A-B1A9-D31C84A1B02A}"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03DC2DFB-B0B2-4068-835B-ABA3125807A3}"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35164E24-D09C-46CC-B538-252D43C6BCD1}"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C714FDC0-21EA-48EF-A43E-669484F607F3}"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E7D8D7F6-C07B-4ED3-A36E-B77368366FD3}"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B17C96F2-2AE3-47D1-8E53-BBA793F03F77}"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1BB17954-0E32-428A-B322-3761D2B6FD2B}"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AD00E473-6638-4AA3-B5EC-EC0346B0FC98}"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92BBE289-F28E-4E09-A4FB-236853CFC490}"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6EE9EA30-7ABD-442E-BC11-0A1F611F962F}"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673EA87C-BC87-423B-AC66-EA71CA78455D}"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C47DE633-FE69-4EFC-B944-D45EF0D506EF}"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17DC4457-C104-4958-AE12-8F204107D62F}"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70844C14-A42F-4D4E-8EF4-2418C3A358E4}"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E010148D-5082-46E6-9D9E-3EDD7DB3424D}"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091B0BD6-3473-44E3-B09A-3E2051D0EB9C}"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94FEFD8E-A3A6-4737-92BA-513FF17BBF89}"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F06D955A-9983-49E6-BB71-4DAF2CB5F9B7}"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246B1FAD-AC4D-4BB8-8875-D7B244717A4F}"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27C18EE2-3BE0-41D3-A010-17178D564429}"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FD56E1E1-FCA6-4612-B5FD-72097481E740}"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779C0781-7C1A-4283-9F72-349E9500E9AE}"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7E2A8A35-2CB8-4B00-AD1B-263355CC3390}"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9F7EC1F5-6FA9-466C-9C7A-FEF87FF0FBFE}"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119DCB07-0C42-4D07-95AC-203D8311AD7F}"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6A4D620E-1E34-406D-BE23-EDF02477BA98}"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E615FBFF-4441-405D-98B1-5B7042FC2559}"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DF60C781-1409-4792-9F75-3229D08C5AB1}"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21C6829D-28C9-4206-AC18-A68163898A9D}"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5FF36DBE-36BF-4892-B818-0F10C55400E1}"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590733A5-68F5-49A6-BB14-CFD39E669A3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0;p2"/>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1;p2"/>
          <p:cNvGrpSpPr/>
          <p:nvPr/>
        </p:nvGrpSpPr>
        <p:grpSpPr>
          <a:xfrm>
            <a:off x="530280" y="1205640"/>
            <a:ext cx="1342800" cy="17280"/>
            <a:chOff x="530280" y="1205640"/>
            <a:chExt cx="1342800" cy="17280"/>
          </a:xfrm>
        </p:grpSpPr>
        <p:sp>
          <p:nvSpPr>
            <p:cNvPr id="2" name="Google Shape;12;p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3;p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F447319-A121-471B-9352-6CEF88DD6104}"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7;p2"/>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0;p3"/>
          <p:cNvGrpSpPr/>
          <p:nvPr/>
        </p:nvGrpSpPr>
        <p:grpSpPr>
          <a:xfrm>
            <a:off x="530280" y="1205640"/>
            <a:ext cx="1342800" cy="17280"/>
            <a:chOff x="530280" y="1205640"/>
            <a:chExt cx="1342800" cy="17280"/>
          </a:xfrm>
        </p:grpSpPr>
        <p:sp>
          <p:nvSpPr>
            <p:cNvPr id="45" name="Google Shape;21;p3"/>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2;p3"/>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F33718AC-13AC-4084-B014-2DCCD2EC5398}"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6;p4"/>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87" name="Google Shape;27;p4"/>
          <p:cNvGrpSpPr/>
          <p:nvPr/>
        </p:nvGrpSpPr>
        <p:grpSpPr>
          <a:xfrm>
            <a:off x="530280" y="1205640"/>
            <a:ext cx="1342800" cy="17280"/>
            <a:chOff x="530280" y="1205640"/>
            <a:chExt cx="1342800" cy="17280"/>
          </a:xfrm>
        </p:grpSpPr>
        <p:sp>
          <p:nvSpPr>
            <p:cNvPr id="88" name="Google Shape;28;p4"/>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29;p4"/>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9A2C167-821C-4582-99B4-EF8A95AA1E76}"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88;p12"/>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89;p12"/>
          <p:cNvGrpSpPr/>
          <p:nvPr/>
        </p:nvGrpSpPr>
        <p:grpSpPr>
          <a:xfrm>
            <a:off x="530280" y="1205640"/>
            <a:ext cx="1342800" cy="17280"/>
            <a:chOff x="530280" y="1205640"/>
            <a:chExt cx="1342800" cy="17280"/>
          </a:xfrm>
        </p:grpSpPr>
        <p:sp>
          <p:nvSpPr>
            <p:cNvPr id="131" name="Google Shape;90;p1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91;p1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51B4D0C-D599-40B8-A9CE-932292C4CBB7}"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hyperlink" Target="https://forms.gle/zezKMVzhaT4xyJgk8" TargetMode="External"/><Relationship Id="rId2" Type="http://schemas.openxmlformats.org/officeDocument/2006/relationships/hyperlink" Target="https://forms.gle/zezKMVzhaT4xyJgk8" TargetMode="External"/><Relationship Id="rId3" Type="http://schemas.openxmlformats.org/officeDocument/2006/relationships/image" Target="../media/image1.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Computer Systems, Data Structures &amp; Data Management</a:t>
            </a:r>
            <a:endParaRPr b="0" lang="en-US" sz="4200" spc="-1" strike="noStrike">
              <a:solidFill>
                <a:srgbClr val="000000"/>
              </a:solidFill>
              <a:latin typeface="Arial"/>
            </a:endParaRPr>
          </a:p>
        </p:txBody>
      </p:sp>
      <p:sp>
        <p:nvSpPr>
          <p:cNvPr id="173" name="PlaceHolder 2"/>
          <p:cNvSpPr>
            <a:spLocks noGrp="1"/>
          </p:cNvSpPr>
          <p:nvPr>
            <p:ph type="subTitle"/>
          </p:nvPr>
        </p:nvSpPr>
        <p:spPr>
          <a:xfrm>
            <a:off x="729720" y="3173040"/>
            <a:ext cx="7687800" cy="82800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endParaRPr b="0" lang="en-US" sz="1600" spc="-1" strike="noStrike">
              <a:solidFill>
                <a:srgbClr val="000000"/>
              </a:solidFill>
              <a:latin typeface="Arial"/>
            </a:endParaRPr>
          </a:p>
          <a:p>
            <a:pPr indent="0">
              <a:lnSpc>
                <a:spcPct val="100000"/>
              </a:lnSpc>
              <a:buNone/>
              <a:tabLst>
                <a:tab algn="l" pos="0"/>
              </a:tabLst>
            </a:pP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4;p16"/>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10</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Stacks</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44F72E5D-5DD1-4101-BB9B-80BE67AA5EFF}"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Stacks</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7688520" cy="3765240"/>
          </a:xfrm>
          <a:prstGeom prst="rect">
            <a:avLst/>
          </a:prstGeom>
          <a:noFill/>
          <a:ln w="0">
            <a:noFill/>
          </a:ln>
        </p:spPr>
        <p:txBody>
          <a:bodyPr tIns="91440" bIns="91440" anchor="t">
            <a:normAutofit fontScale="98000"/>
          </a:bodyPr>
          <a:p>
            <a:pPr marL="447840" indent="-323280">
              <a:lnSpc>
                <a:spcPct val="115000"/>
              </a:lnSpc>
              <a:buClr>
                <a:srgbClr val="595959"/>
              </a:buClr>
              <a:buFont typeface="Lato"/>
              <a:buChar char="●"/>
            </a:pPr>
            <a:r>
              <a:rPr b="0" lang="el" sz="1600" spc="-1" strike="noStrike">
                <a:solidFill>
                  <a:schemeClr val="accent1"/>
                </a:solidFill>
                <a:latin typeface="Lato"/>
                <a:ea typeface="Lato"/>
              </a:rPr>
              <a:t>LIFO: Last-In-First-Out.</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So, if you are the first element to enter a stack, you are the last to go.</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This also means that the later you enter a stack, the sooner you should be expected to leave → dishwasher stack.</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Two key operations for a stack, s:</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Consolas"/>
                <a:ea typeface="Consolas"/>
              </a:rPr>
              <a:t>s.push(x)</a:t>
            </a:r>
            <a:r>
              <a:rPr b="0" lang="el" sz="1600" spc="-1" strike="noStrike">
                <a:solidFill>
                  <a:schemeClr val="accent1"/>
                </a:solidFill>
                <a:latin typeface="Lato"/>
                <a:ea typeface="Lato"/>
              </a:rPr>
              <a:t> → put an element at the </a:t>
            </a:r>
            <a:r>
              <a:rPr b="1" lang="el" sz="1600" spc="-1" strike="noStrike">
                <a:solidFill>
                  <a:schemeClr val="accent1"/>
                </a:solidFill>
                <a:latin typeface="Lato"/>
                <a:ea typeface="Lato"/>
              </a:rPr>
              <a:t>top </a:t>
            </a:r>
            <a:r>
              <a:rPr b="0" lang="el" sz="1600" spc="-1" strike="noStrike">
                <a:solidFill>
                  <a:schemeClr val="accent1"/>
                </a:solidFill>
                <a:latin typeface="Lato"/>
                <a:ea typeface="Lato"/>
              </a:rPr>
              <a:t>of the stack.</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Consolas"/>
                <a:ea typeface="Consolas"/>
              </a:rPr>
              <a:t>s.pop()</a:t>
            </a:r>
            <a:r>
              <a:rPr b="0" lang="el" sz="1600" spc="-1" strike="noStrike">
                <a:solidFill>
                  <a:schemeClr val="accent1"/>
                </a:solidFill>
                <a:latin typeface="Lato"/>
                <a:ea typeface="Lato"/>
              </a:rPr>
              <a:t> → get the </a:t>
            </a:r>
            <a:r>
              <a:rPr b="1" lang="el" sz="1600" spc="-1" strike="noStrike">
                <a:solidFill>
                  <a:schemeClr val="accent1"/>
                </a:solidFill>
                <a:latin typeface="Lato"/>
                <a:ea typeface="Lato"/>
              </a:rPr>
              <a:t>top</a:t>
            </a:r>
            <a:r>
              <a:rPr b="0" lang="el" sz="1600" spc="-1" strike="noStrike">
                <a:solidFill>
                  <a:schemeClr val="accent1"/>
                </a:solidFill>
                <a:latin typeface="Lato"/>
                <a:ea typeface="Lato"/>
              </a:rPr>
              <a:t> element of the stack.</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Why always the “top” element?</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To ensure LIFO (make sure you see why this ensures LIFO).</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How would you implement a stack?</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Using arrays? Dynamic arrays? Linked lists? Something else?</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You need a data structure where getting from / adding to one end is cheap.</a:t>
            </a:r>
            <a:endParaRPr b="0" lang="en-US" sz="160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091D3D4-820B-40DA-8B52-6907C2BF19FD}"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1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1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17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17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179">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 Example</a:t>
            </a:r>
            <a:endParaRPr b="0" lang="en-US" sz="2600" spc="-1" strike="noStrike">
              <a:solidFill>
                <a:srgbClr val="000000"/>
              </a:solidFill>
              <a:latin typeface="Arial"/>
            </a:endParaRPr>
          </a:p>
        </p:txBody>
      </p:sp>
      <p:sp>
        <p:nvSpPr>
          <p:cNvPr id="182" name="PlaceHolder 2"/>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8B03E58-9123-4732-BAFD-4B542C6FF838}"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grpSp>
        <p:nvGrpSpPr>
          <p:cNvPr id="183" name="Google Shape;135;p19"/>
          <p:cNvGrpSpPr/>
          <p:nvPr/>
        </p:nvGrpSpPr>
        <p:grpSpPr>
          <a:xfrm>
            <a:off x="906480" y="1563120"/>
            <a:ext cx="7893000" cy="500040"/>
            <a:chOff x="906480" y="1563120"/>
            <a:chExt cx="7893000" cy="500040"/>
          </a:xfrm>
        </p:grpSpPr>
        <p:grpSp>
          <p:nvGrpSpPr>
            <p:cNvPr id="184" name="Google Shape;136;p19"/>
            <p:cNvGrpSpPr/>
            <p:nvPr/>
          </p:nvGrpSpPr>
          <p:grpSpPr>
            <a:xfrm>
              <a:off x="906480" y="1563120"/>
              <a:ext cx="3047040" cy="492120"/>
              <a:chOff x="906480" y="1563120"/>
              <a:chExt cx="3047040" cy="492120"/>
            </a:xfrm>
          </p:grpSpPr>
          <p:sp>
            <p:nvSpPr>
              <p:cNvPr id="185" name="Google Shape;137;p19"/>
              <p:cNvSpPr/>
              <p:nvPr/>
            </p:nvSpPr>
            <p:spPr>
              <a:xfrm>
                <a:off x="90648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86" name="Google Shape;138;p19"/>
              <p:cNvSpPr/>
              <p:nvPr/>
            </p:nvSpPr>
            <p:spPr>
              <a:xfrm>
                <a:off x="141444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87" name="Google Shape;139;p19"/>
              <p:cNvSpPr/>
              <p:nvPr/>
            </p:nvSpPr>
            <p:spPr>
              <a:xfrm>
                <a:off x="192240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88" name="Google Shape;140;p19"/>
              <p:cNvSpPr/>
              <p:nvPr/>
            </p:nvSpPr>
            <p:spPr>
              <a:xfrm>
                <a:off x="243036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89" name="Google Shape;141;p19"/>
              <p:cNvSpPr/>
              <p:nvPr/>
            </p:nvSpPr>
            <p:spPr>
              <a:xfrm>
                <a:off x="293832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90" name="Google Shape;142;p19"/>
              <p:cNvSpPr/>
              <p:nvPr/>
            </p:nvSpPr>
            <p:spPr>
              <a:xfrm>
                <a:off x="344592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191" name="Google Shape;143;p19"/>
            <p:cNvSpPr/>
            <p:nvPr/>
          </p:nvSpPr>
          <p:spPr>
            <a:xfrm>
              <a:off x="4915800" y="157104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accent3"/>
                  </a:solidFill>
                  <a:latin typeface="Consolas"/>
                  <a:ea typeface="Consolas"/>
                </a:rPr>
                <a:t>s.pop()</a:t>
              </a:r>
              <a:r>
                <a:rPr b="1" lang="el" sz="1600" spc="-1" strike="noStrike">
                  <a:solidFill>
                    <a:schemeClr val="accent3"/>
                  </a:solidFill>
                  <a:latin typeface="Lato"/>
                  <a:ea typeface="Lato"/>
                </a:rPr>
                <a:t> → ERROR: Stack Underflow!</a:t>
              </a:r>
              <a:endParaRPr b="0" lang="en-US" sz="1600" spc="-1" strike="noStrike">
                <a:solidFill>
                  <a:srgbClr val="000000"/>
                </a:solidFill>
                <a:latin typeface="Arial"/>
              </a:endParaRPr>
            </a:p>
          </p:txBody>
        </p:sp>
      </p:grpSp>
      <p:grpSp>
        <p:nvGrpSpPr>
          <p:cNvPr id="192" name="Google Shape;144;p19"/>
          <p:cNvGrpSpPr/>
          <p:nvPr/>
        </p:nvGrpSpPr>
        <p:grpSpPr>
          <a:xfrm>
            <a:off x="906480" y="2325600"/>
            <a:ext cx="7893000" cy="492120"/>
            <a:chOff x="906480" y="2325600"/>
            <a:chExt cx="7893000" cy="492120"/>
          </a:xfrm>
        </p:grpSpPr>
        <p:grpSp>
          <p:nvGrpSpPr>
            <p:cNvPr id="193" name="Google Shape;145;p19"/>
            <p:cNvGrpSpPr/>
            <p:nvPr/>
          </p:nvGrpSpPr>
          <p:grpSpPr>
            <a:xfrm>
              <a:off x="906480" y="2325600"/>
              <a:ext cx="3047040" cy="492120"/>
              <a:chOff x="906480" y="2325600"/>
              <a:chExt cx="3047040" cy="492120"/>
            </a:xfrm>
          </p:grpSpPr>
          <p:sp>
            <p:nvSpPr>
              <p:cNvPr id="194" name="Google Shape;146;p19"/>
              <p:cNvSpPr/>
              <p:nvPr/>
            </p:nvSpPr>
            <p:spPr>
              <a:xfrm>
                <a:off x="90648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195" name="Google Shape;147;p19"/>
              <p:cNvSpPr/>
              <p:nvPr/>
            </p:nvSpPr>
            <p:spPr>
              <a:xfrm>
                <a:off x="141444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96" name="Google Shape;148;p19"/>
              <p:cNvSpPr/>
              <p:nvPr/>
            </p:nvSpPr>
            <p:spPr>
              <a:xfrm>
                <a:off x="192240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97" name="Google Shape;149;p19"/>
              <p:cNvSpPr/>
              <p:nvPr/>
            </p:nvSpPr>
            <p:spPr>
              <a:xfrm>
                <a:off x="243036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98" name="Google Shape;150;p19"/>
              <p:cNvSpPr/>
              <p:nvPr/>
            </p:nvSpPr>
            <p:spPr>
              <a:xfrm>
                <a:off x="293832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99" name="Google Shape;151;p19"/>
              <p:cNvSpPr/>
              <p:nvPr/>
            </p:nvSpPr>
            <p:spPr>
              <a:xfrm>
                <a:off x="344592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00" name="Google Shape;152;p19"/>
            <p:cNvSpPr/>
            <p:nvPr/>
          </p:nvSpPr>
          <p:spPr>
            <a:xfrm>
              <a:off x="4915800" y="232560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s.push(4)</a:t>
              </a:r>
              <a:endParaRPr b="0" lang="en-US" sz="1600" spc="-1" strike="noStrike">
                <a:solidFill>
                  <a:srgbClr val="000000"/>
                </a:solidFill>
                <a:latin typeface="Arial"/>
              </a:endParaRPr>
            </a:p>
          </p:txBody>
        </p:sp>
      </p:grpSp>
      <p:grpSp>
        <p:nvGrpSpPr>
          <p:cNvPr id="201" name="Google Shape;153;p19"/>
          <p:cNvGrpSpPr/>
          <p:nvPr/>
        </p:nvGrpSpPr>
        <p:grpSpPr>
          <a:xfrm>
            <a:off x="906480" y="3088080"/>
            <a:ext cx="7893000" cy="492120"/>
            <a:chOff x="906480" y="3088080"/>
            <a:chExt cx="7893000" cy="492120"/>
          </a:xfrm>
        </p:grpSpPr>
        <p:grpSp>
          <p:nvGrpSpPr>
            <p:cNvPr id="202" name="Google Shape;154;p19"/>
            <p:cNvGrpSpPr/>
            <p:nvPr/>
          </p:nvGrpSpPr>
          <p:grpSpPr>
            <a:xfrm>
              <a:off x="906480" y="3088080"/>
              <a:ext cx="3047040" cy="492120"/>
              <a:chOff x="906480" y="3088080"/>
              <a:chExt cx="3047040" cy="492120"/>
            </a:xfrm>
          </p:grpSpPr>
          <p:sp>
            <p:nvSpPr>
              <p:cNvPr id="203" name="Google Shape;155;p19"/>
              <p:cNvSpPr/>
              <p:nvPr/>
            </p:nvSpPr>
            <p:spPr>
              <a:xfrm>
                <a:off x="90648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04" name="Google Shape;156;p19"/>
              <p:cNvSpPr/>
              <p:nvPr/>
            </p:nvSpPr>
            <p:spPr>
              <a:xfrm>
                <a:off x="141444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05" name="Google Shape;157;p19"/>
              <p:cNvSpPr/>
              <p:nvPr/>
            </p:nvSpPr>
            <p:spPr>
              <a:xfrm>
                <a:off x="192240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06" name="Google Shape;158;p19"/>
              <p:cNvSpPr/>
              <p:nvPr/>
            </p:nvSpPr>
            <p:spPr>
              <a:xfrm>
                <a:off x="243036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07" name="Google Shape;159;p19"/>
              <p:cNvSpPr/>
              <p:nvPr/>
            </p:nvSpPr>
            <p:spPr>
              <a:xfrm>
                <a:off x="293832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08" name="Google Shape;160;p19"/>
              <p:cNvSpPr/>
              <p:nvPr/>
            </p:nvSpPr>
            <p:spPr>
              <a:xfrm>
                <a:off x="344592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09" name="Google Shape;161;p19"/>
            <p:cNvSpPr/>
            <p:nvPr/>
          </p:nvSpPr>
          <p:spPr>
            <a:xfrm>
              <a:off x="4915800" y="30880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s.push(1)</a:t>
              </a:r>
              <a:endParaRPr b="0" lang="en-US" sz="1600" spc="-1" strike="noStrike">
                <a:solidFill>
                  <a:srgbClr val="000000"/>
                </a:solidFill>
                <a:latin typeface="Arial"/>
              </a:endParaRPr>
            </a:p>
          </p:txBody>
        </p:sp>
      </p:grpSp>
      <p:grpSp>
        <p:nvGrpSpPr>
          <p:cNvPr id="210" name="Google Shape;162;p19"/>
          <p:cNvGrpSpPr/>
          <p:nvPr/>
        </p:nvGrpSpPr>
        <p:grpSpPr>
          <a:xfrm>
            <a:off x="906480" y="3850560"/>
            <a:ext cx="7893000" cy="492120"/>
            <a:chOff x="906480" y="3850560"/>
            <a:chExt cx="7893000" cy="492120"/>
          </a:xfrm>
        </p:grpSpPr>
        <p:grpSp>
          <p:nvGrpSpPr>
            <p:cNvPr id="211" name="Google Shape;163;p19"/>
            <p:cNvGrpSpPr/>
            <p:nvPr/>
          </p:nvGrpSpPr>
          <p:grpSpPr>
            <a:xfrm>
              <a:off x="906480" y="3850560"/>
              <a:ext cx="3047040" cy="492120"/>
              <a:chOff x="906480" y="3850560"/>
              <a:chExt cx="3047040" cy="492120"/>
            </a:xfrm>
          </p:grpSpPr>
          <p:sp>
            <p:nvSpPr>
              <p:cNvPr id="212" name="Google Shape;164;p19"/>
              <p:cNvSpPr/>
              <p:nvPr/>
            </p:nvSpPr>
            <p:spPr>
              <a:xfrm>
                <a:off x="90648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13" name="Google Shape;165;p19"/>
              <p:cNvSpPr/>
              <p:nvPr/>
            </p:nvSpPr>
            <p:spPr>
              <a:xfrm>
                <a:off x="141444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14" name="Google Shape;166;p19"/>
              <p:cNvSpPr/>
              <p:nvPr/>
            </p:nvSpPr>
            <p:spPr>
              <a:xfrm>
                <a:off x="192240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8</a:t>
                </a:r>
                <a:endParaRPr b="0" lang="en-US" sz="1600" spc="-1" strike="noStrike">
                  <a:solidFill>
                    <a:srgbClr val="000000"/>
                  </a:solidFill>
                  <a:latin typeface="Arial"/>
                </a:endParaRPr>
              </a:p>
            </p:txBody>
          </p:sp>
          <p:sp>
            <p:nvSpPr>
              <p:cNvPr id="215" name="Google Shape;167;p19"/>
              <p:cNvSpPr/>
              <p:nvPr/>
            </p:nvSpPr>
            <p:spPr>
              <a:xfrm>
                <a:off x="243036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16" name="Google Shape;168;p19"/>
              <p:cNvSpPr/>
              <p:nvPr/>
            </p:nvSpPr>
            <p:spPr>
              <a:xfrm>
                <a:off x="293832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17" name="Google Shape;169;p19"/>
              <p:cNvSpPr/>
              <p:nvPr/>
            </p:nvSpPr>
            <p:spPr>
              <a:xfrm>
                <a:off x="344592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18" name="Google Shape;170;p19"/>
            <p:cNvSpPr/>
            <p:nvPr/>
          </p:nvSpPr>
          <p:spPr>
            <a:xfrm>
              <a:off x="4915800" y="385056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s.push(8)</a:t>
              </a:r>
              <a:endParaRPr b="0" lang="en-US" sz="16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18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9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20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 Example</a:t>
            </a:r>
            <a:endParaRPr b="0" lang="en-US" sz="2600" spc="-1" strike="noStrike">
              <a:solidFill>
                <a:srgbClr val="000000"/>
              </a:solidFill>
              <a:latin typeface="Arial"/>
            </a:endParaRPr>
          </a:p>
        </p:txBody>
      </p:sp>
      <p:sp>
        <p:nvSpPr>
          <p:cNvPr id="220" name="PlaceHolder 2"/>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F5204E0-56BD-4EC6-85D2-B5556834C200}"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grpSp>
        <p:nvGrpSpPr>
          <p:cNvPr id="221" name="Google Shape;177;p20"/>
          <p:cNvGrpSpPr/>
          <p:nvPr/>
        </p:nvGrpSpPr>
        <p:grpSpPr>
          <a:xfrm>
            <a:off x="906480" y="3850560"/>
            <a:ext cx="7893000" cy="492120"/>
            <a:chOff x="906480" y="3850560"/>
            <a:chExt cx="7893000" cy="492120"/>
          </a:xfrm>
        </p:grpSpPr>
        <p:grpSp>
          <p:nvGrpSpPr>
            <p:cNvPr id="222" name="Google Shape;178;p20"/>
            <p:cNvGrpSpPr/>
            <p:nvPr/>
          </p:nvGrpSpPr>
          <p:grpSpPr>
            <a:xfrm>
              <a:off x="906480" y="3850560"/>
              <a:ext cx="3047040" cy="492120"/>
              <a:chOff x="906480" y="3850560"/>
              <a:chExt cx="3047040" cy="492120"/>
            </a:xfrm>
          </p:grpSpPr>
          <p:sp>
            <p:nvSpPr>
              <p:cNvPr id="223" name="Google Shape;179;p20"/>
              <p:cNvSpPr/>
              <p:nvPr/>
            </p:nvSpPr>
            <p:spPr>
              <a:xfrm>
                <a:off x="90648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24" name="Google Shape;180;p20"/>
              <p:cNvSpPr/>
              <p:nvPr/>
            </p:nvSpPr>
            <p:spPr>
              <a:xfrm>
                <a:off x="141444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25" name="Google Shape;181;p20"/>
              <p:cNvSpPr/>
              <p:nvPr/>
            </p:nvSpPr>
            <p:spPr>
              <a:xfrm>
                <a:off x="192240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26" name="Google Shape;182;p20"/>
              <p:cNvSpPr/>
              <p:nvPr/>
            </p:nvSpPr>
            <p:spPr>
              <a:xfrm>
                <a:off x="243036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9</a:t>
                </a:r>
                <a:endParaRPr b="0" lang="en-US" sz="1600" spc="-1" strike="noStrike">
                  <a:solidFill>
                    <a:srgbClr val="000000"/>
                  </a:solidFill>
                  <a:latin typeface="Arial"/>
                </a:endParaRPr>
              </a:p>
            </p:txBody>
          </p:sp>
          <p:sp>
            <p:nvSpPr>
              <p:cNvPr id="227" name="Google Shape;183;p20"/>
              <p:cNvSpPr/>
              <p:nvPr/>
            </p:nvSpPr>
            <p:spPr>
              <a:xfrm>
                <a:off x="293832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28" name="Google Shape;184;p20"/>
              <p:cNvSpPr/>
              <p:nvPr/>
            </p:nvSpPr>
            <p:spPr>
              <a:xfrm>
                <a:off x="3445920" y="38505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29" name="Google Shape;185;p20"/>
            <p:cNvSpPr/>
            <p:nvPr/>
          </p:nvSpPr>
          <p:spPr>
            <a:xfrm>
              <a:off x="4915800" y="385056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s.push(1)</a:t>
              </a:r>
              <a:endParaRPr b="0" lang="en-US" sz="1600" spc="-1" strike="noStrike">
                <a:solidFill>
                  <a:srgbClr val="000000"/>
                </a:solidFill>
                <a:latin typeface="Arial"/>
              </a:endParaRPr>
            </a:p>
          </p:txBody>
        </p:sp>
      </p:grpSp>
      <p:grpSp>
        <p:nvGrpSpPr>
          <p:cNvPr id="230" name="Google Shape;186;p20"/>
          <p:cNvGrpSpPr/>
          <p:nvPr/>
        </p:nvGrpSpPr>
        <p:grpSpPr>
          <a:xfrm>
            <a:off x="906480" y="1549080"/>
            <a:ext cx="7893000" cy="492120"/>
            <a:chOff x="906480" y="1549080"/>
            <a:chExt cx="7893000" cy="492120"/>
          </a:xfrm>
        </p:grpSpPr>
        <p:grpSp>
          <p:nvGrpSpPr>
            <p:cNvPr id="231" name="Google Shape;187;p20"/>
            <p:cNvGrpSpPr/>
            <p:nvPr/>
          </p:nvGrpSpPr>
          <p:grpSpPr>
            <a:xfrm>
              <a:off x="906480" y="1549080"/>
              <a:ext cx="3047040" cy="492120"/>
              <a:chOff x="906480" y="1549080"/>
              <a:chExt cx="3047040" cy="492120"/>
            </a:xfrm>
          </p:grpSpPr>
          <p:sp>
            <p:nvSpPr>
              <p:cNvPr id="232" name="Google Shape;188;p20"/>
              <p:cNvSpPr/>
              <p:nvPr/>
            </p:nvSpPr>
            <p:spPr>
              <a:xfrm>
                <a:off x="906480" y="1549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33" name="Google Shape;189;p20"/>
              <p:cNvSpPr/>
              <p:nvPr/>
            </p:nvSpPr>
            <p:spPr>
              <a:xfrm>
                <a:off x="1414440" y="1549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34" name="Google Shape;190;p20"/>
              <p:cNvSpPr/>
              <p:nvPr/>
            </p:nvSpPr>
            <p:spPr>
              <a:xfrm>
                <a:off x="1922400" y="1549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35" name="Google Shape;191;p20"/>
              <p:cNvSpPr/>
              <p:nvPr/>
            </p:nvSpPr>
            <p:spPr>
              <a:xfrm>
                <a:off x="2430360" y="1549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36" name="Google Shape;192;p20"/>
              <p:cNvSpPr/>
              <p:nvPr/>
            </p:nvSpPr>
            <p:spPr>
              <a:xfrm>
                <a:off x="2938320" y="1549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37" name="Google Shape;193;p20"/>
              <p:cNvSpPr/>
              <p:nvPr/>
            </p:nvSpPr>
            <p:spPr>
              <a:xfrm>
                <a:off x="3445920" y="1549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38" name="Google Shape;194;p20"/>
            <p:cNvSpPr/>
            <p:nvPr/>
          </p:nvSpPr>
          <p:spPr>
            <a:xfrm>
              <a:off x="4915800" y="15490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s.pop() → 8</a:t>
              </a:r>
              <a:endParaRPr b="0" lang="en-US" sz="1600" spc="-1" strike="noStrike">
                <a:solidFill>
                  <a:srgbClr val="000000"/>
                </a:solidFill>
                <a:latin typeface="Arial"/>
              </a:endParaRPr>
            </a:p>
          </p:txBody>
        </p:sp>
      </p:grpSp>
      <p:grpSp>
        <p:nvGrpSpPr>
          <p:cNvPr id="239" name="Google Shape;195;p20"/>
          <p:cNvGrpSpPr/>
          <p:nvPr/>
        </p:nvGrpSpPr>
        <p:grpSpPr>
          <a:xfrm>
            <a:off x="906480" y="2325600"/>
            <a:ext cx="7893000" cy="492120"/>
            <a:chOff x="906480" y="2325600"/>
            <a:chExt cx="7893000" cy="492120"/>
          </a:xfrm>
        </p:grpSpPr>
        <p:grpSp>
          <p:nvGrpSpPr>
            <p:cNvPr id="240" name="Google Shape;196;p20"/>
            <p:cNvGrpSpPr/>
            <p:nvPr/>
          </p:nvGrpSpPr>
          <p:grpSpPr>
            <a:xfrm>
              <a:off x="906480" y="2325600"/>
              <a:ext cx="3047040" cy="492120"/>
              <a:chOff x="906480" y="2325600"/>
              <a:chExt cx="3047040" cy="492120"/>
            </a:xfrm>
          </p:grpSpPr>
          <p:sp>
            <p:nvSpPr>
              <p:cNvPr id="241" name="Google Shape;197;p20"/>
              <p:cNvSpPr/>
              <p:nvPr/>
            </p:nvSpPr>
            <p:spPr>
              <a:xfrm>
                <a:off x="90648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42" name="Google Shape;198;p20"/>
              <p:cNvSpPr/>
              <p:nvPr/>
            </p:nvSpPr>
            <p:spPr>
              <a:xfrm>
                <a:off x="141444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43" name="Google Shape;199;p20"/>
              <p:cNvSpPr/>
              <p:nvPr/>
            </p:nvSpPr>
            <p:spPr>
              <a:xfrm>
                <a:off x="192240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44" name="Google Shape;200;p20"/>
              <p:cNvSpPr/>
              <p:nvPr/>
            </p:nvSpPr>
            <p:spPr>
              <a:xfrm>
                <a:off x="243036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45" name="Google Shape;201;p20"/>
              <p:cNvSpPr/>
              <p:nvPr/>
            </p:nvSpPr>
            <p:spPr>
              <a:xfrm>
                <a:off x="293832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46" name="Google Shape;202;p20"/>
              <p:cNvSpPr/>
              <p:nvPr/>
            </p:nvSpPr>
            <p:spPr>
              <a:xfrm>
                <a:off x="3445920" y="23256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47" name="Google Shape;203;p20"/>
            <p:cNvSpPr/>
            <p:nvPr/>
          </p:nvSpPr>
          <p:spPr>
            <a:xfrm>
              <a:off x="4915800" y="232560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s.push(3)</a:t>
              </a:r>
              <a:endParaRPr b="0" lang="en-US" sz="1600" spc="-1" strike="noStrike">
                <a:solidFill>
                  <a:srgbClr val="000000"/>
                </a:solidFill>
                <a:latin typeface="Arial"/>
              </a:endParaRPr>
            </a:p>
          </p:txBody>
        </p:sp>
      </p:grpSp>
      <p:grpSp>
        <p:nvGrpSpPr>
          <p:cNvPr id="248" name="Google Shape;204;p20"/>
          <p:cNvGrpSpPr/>
          <p:nvPr/>
        </p:nvGrpSpPr>
        <p:grpSpPr>
          <a:xfrm>
            <a:off x="906480" y="3088080"/>
            <a:ext cx="7893000" cy="492120"/>
            <a:chOff x="906480" y="3088080"/>
            <a:chExt cx="7893000" cy="492120"/>
          </a:xfrm>
        </p:grpSpPr>
        <p:grpSp>
          <p:nvGrpSpPr>
            <p:cNvPr id="249" name="Google Shape;205;p20"/>
            <p:cNvGrpSpPr/>
            <p:nvPr/>
          </p:nvGrpSpPr>
          <p:grpSpPr>
            <a:xfrm>
              <a:off x="906480" y="3088080"/>
              <a:ext cx="3047040" cy="492120"/>
              <a:chOff x="906480" y="3088080"/>
              <a:chExt cx="3047040" cy="492120"/>
            </a:xfrm>
          </p:grpSpPr>
          <p:sp>
            <p:nvSpPr>
              <p:cNvPr id="250" name="Google Shape;206;p20"/>
              <p:cNvSpPr/>
              <p:nvPr/>
            </p:nvSpPr>
            <p:spPr>
              <a:xfrm>
                <a:off x="90648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51" name="Google Shape;207;p20"/>
              <p:cNvSpPr/>
              <p:nvPr/>
            </p:nvSpPr>
            <p:spPr>
              <a:xfrm>
                <a:off x="141444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52" name="Google Shape;208;p20"/>
              <p:cNvSpPr/>
              <p:nvPr/>
            </p:nvSpPr>
            <p:spPr>
              <a:xfrm>
                <a:off x="192240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53" name="Google Shape;209;p20"/>
              <p:cNvSpPr/>
              <p:nvPr/>
            </p:nvSpPr>
            <p:spPr>
              <a:xfrm>
                <a:off x="243036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9</a:t>
                </a:r>
                <a:endParaRPr b="0" lang="en-US" sz="1600" spc="-1" strike="noStrike">
                  <a:solidFill>
                    <a:srgbClr val="000000"/>
                  </a:solidFill>
                  <a:latin typeface="Arial"/>
                </a:endParaRPr>
              </a:p>
            </p:txBody>
          </p:sp>
          <p:sp>
            <p:nvSpPr>
              <p:cNvPr id="254" name="Google Shape;210;p20"/>
              <p:cNvSpPr/>
              <p:nvPr/>
            </p:nvSpPr>
            <p:spPr>
              <a:xfrm>
                <a:off x="293832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55" name="Google Shape;211;p20"/>
              <p:cNvSpPr/>
              <p:nvPr/>
            </p:nvSpPr>
            <p:spPr>
              <a:xfrm>
                <a:off x="3445920" y="308808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56" name="Google Shape;212;p20"/>
            <p:cNvSpPr/>
            <p:nvPr/>
          </p:nvSpPr>
          <p:spPr>
            <a:xfrm>
              <a:off x="4915800" y="30880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s.push(9)</a:t>
              </a:r>
              <a:endParaRPr b="0" lang="en-US" sz="16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23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23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2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 Example</a:t>
            </a:r>
            <a:endParaRPr b="0" lang="en-US" sz="2600" spc="-1" strike="noStrike">
              <a:solidFill>
                <a:srgbClr val="000000"/>
              </a:solidFill>
              <a:latin typeface="Arial"/>
            </a:endParaRPr>
          </a:p>
        </p:txBody>
      </p:sp>
      <p:sp>
        <p:nvSpPr>
          <p:cNvPr id="258" name="PlaceHolder 2"/>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F91E299-33F9-4EF6-89EA-4E5919740F59}"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grpSp>
        <p:nvGrpSpPr>
          <p:cNvPr id="259" name="Google Shape;219;p21"/>
          <p:cNvGrpSpPr/>
          <p:nvPr/>
        </p:nvGrpSpPr>
        <p:grpSpPr>
          <a:xfrm>
            <a:off x="828360" y="1470960"/>
            <a:ext cx="7893000" cy="492120"/>
            <a:chOff x="828360" y="1470960"/>
            <a:chExt cx="7893000" cy="492120"/>
          </a:xfrm>
        </p:grpSpPr>
        <p:grpSp>
          <p:nvGrpSpPr>
            <p:cNvPr id="260" name="Google Shape;220;p21"/>
            <p:cNvGrpSpPr/>
            <p:nvPr/>
          </p:nvGrpSpPr>
          <p:grpSpPr>
            <a:xfrm>
              <a:off x="828360" y="1470960"/>
              <a:ext cx="3047040" cy="492120"/>
              <a:chOff x="828360" y="1470960"/>
              <a:chExt cx="3047040" cy="492120"/>
            </a:xfrm>
          </p:grpSpPr>
          <p:sp>
            <p:nvSpPr>
              <p:cNvPr id="261" name="Google Shape;221;p21"/>
              <p:cNvSpPr/>
              <p:nvPr/>
            </p:nvSpPr>
            <p:spPr>
              <a:xfrm>
                <a:off x="828360" y="147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62" name="Google Shape;222;p21"/>
              <p:cNvSpPr/>
              <p:nvPr/>
            </p:nvSpPr>
            <p:spPr>
              <a:xfrm>
                <a:off x="1336320" y="147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63" name="Google Shape;223;p21"/>
              <p:cNvSpPr/>
              <p:nvPr/>
            </p:nvSpPr>
            <p:spPr>
              <a:xfrm>
                <a:off x="1844280" y="147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64" name="Google Shape;224;p21"/>
              <p:cNvSpPr/>
              <p:nvPr/>
            </p:nvSpPr>
            <p:spPr>
              <a:xfrm>
                <a:off x="2352240" y="147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9</a:t>
                </a:r>
                <a:endParaRPr b="0" lang="en-US" sz="1600" spc="-1" strike="noStrike">
                  <a:solidFill>
                    <a:srgbClr val="000000"/>
                  </a:solidFill>
                  <a:latin typeface="Arial"/>
                </a:endParaRPr>
              </a:p>
            </p:txBody>
          </p:sp>
          <p:sp>
            <p:nvSpPr>
              <p:cNvPr id="265" name="Google Shape;225;p21"/>
              <p:cNvSpPr/>
              <p:nvPr/>
            </p:nvSpPr>
            <p:spPr>
              <a:xfrm>
                <a:off x="2860200" y="147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66" name="Google Shape;226;p21"/>
              <p:cNvSpPr/>
              <p:nvPr/>
            </p:nvSpPr>
            <p:spPr>
              <a:xfrm>
                <a:off x="3367800" y="147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5</a:t>
                </a:r>
                <a:endParaRPr b="0" lang="en-US" sz="1600" spc="-1" strike="noStrike">
                  <a:solidFill>
                    <a:srgbClr val="000000"/>
                  </a:solidFill>
                  <a:latin typeface="Arial"/>
                </a:endParaRPr>
              </a:p>
            </p:txBody>
          </p:sp>
        </p:grpSp>
        <p:sp>
          <p:nvSpPr>
            <p:cNvPr id="267" name="Google Shape;227;p21"/>
            <p:cNvSpPr/>
            <p:nvPr/>
          </p:nvSpPr>
          <p:spPr>
            <a:xfrm>
              <a:off x="4837680" y="147096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s.push(5)</a:t>
              </a:r>
              <a:endParaRPr b="0" lang="en-US" sz="1600" spc="-1" strike="noStrike">
                <a:solidFill>
                  <a:srgbClr val="000000"/>
                </a:solidFill>
                <a:latin typeface="Arial"/>
              </a:endParaRPr>
            </a:p>
          </p:txBody>
        </p:sp>
      </p:grpSp>
      <p:grpSp>
        <p:nvGrpSpPr>
          <p:cNvPr id="268" name="Google Shape;228;p21"/>
          <p:cNvGrpSpPr/>
          <p:nvPr/>
        </p:nvGrpSpPr>
        <p:grpSpPr>
          <a:xfrm>
            <a:off x="828360" y="2327040"/>
            <a:ext cx="7893000" cy="492120"/>
            <a:chOff x="828360" y="2327040"/>
            <a:chExt cx="7893000" cy="492120"/>
          </a:xfrm>
        </p:grpSpPr>
        <p:grpSp>
          <p:nvGrpSpPr>
            <p:cNvPr id="269" name="Google Shape;229;p21"/>
            <p:cNvGrpSpPr/>
            <p:nvPr/>
          </p:nvGrpSpPr>
          <p:grpSpPr>
            <a:xfrm>
              <a:off x="828360" y="2327040"/>
              <a:ext cx="3047040" cy="492120"/>
              <a:chOff x="828360" y="2327040"/>
              <a:chExt cx="3047040" cy="492120"/>
            </a:xfrm>
          </p:grpSpPr>
          <p:sp>
            <p:nvSpPr>
              <p:cNvPr id="270" name="Google Shape;230;p21"/>
              <p:cNvSpPr/>
              <p:nvPr/>
            </p:nvSpPr>
            <p:spPr>
              <a:xfrm>
                <a:off x="828360" y="2327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71" name="Google Shape;231;p21"/>
              <p:cNvSpPr/>
              <p:nvPr/>
            </p:nvSpPr>
            <p:spPr>
              <a:xfrm>
                <a:off x="1336320" y="2327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72" name="Google Shape;232;p21"/>
              <p:cNvSpPr/>
              <p:nvPr/>
            </p:nvSpPr>
            <p:spPr>
              <a:xfrm>
                <a:off x="1844280" y="2327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73" name="Google Shape;233;p21"/>
              <p:cNvSpPr/>
              <p:nvPr/>
            </p:nvSpPr>
            <p:spPr>
              <a:xfrm>
                <a:off x="2352240" y="2327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9</a:t>
                </a:r>
                <a:endParaRPr b="0" lang="en-US" sz="1600" spc="-1" strike="noStrike">
                  <a:solidFill>
                    <a:srgbClr val="000000"/>
                  </a:solidFill>
                  <a:latin typeface="Arial"/>
                </a:endParaRPr>
              </a:p>
            </p:txBody>
          </p:sp>
          <p:sp>
            <p:nvSpPr>
              <p:cNvPr id="274" name="Google Shape;234;p21"/>
              <p:cNvSpPr/>
              <p:nvPr/>
            </p:nvSpPr>
            <p:spPr>
              <a:xfrm>
                <a:off x="2860200" y="2327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75" name="Google Shape;235;p21"/>
              <p:cNvSpPr/>
              <p:nvPr/>
            </p:nvSpPr>
            <p:spPr>
              <a:xfrm>
                <a:off x="3367800" y="2327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5</a:t>
                </a:r>
                <a:endParaRPr b="0" lang="en-US" sz="1600" spc="-1" strike="noStrike">
                  <a:solidFill>
                    <a:srgbClr val="000000"/>
                  </a:solidFill>
                  <a:latin typeface="Arial"/>
                </a:endParaRPr>
              </a:p>
            </p:txBody>
          </p:sp>
        </p:grpSp>
        <p:sp>
          <p:nvSpPr>
            <p:cNvPr id="276" name="Google Shape;236;p21"/>
            <p:cNvSpPr/>
            <p:nvPr/>
          </p:nvSpPr>
          <p:spPr>
            <a:xfrm>
              <a:off x="4837680" y="232704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accent3"/>
                  </a:solidFill>
                  <a:latin typeface="Consolas"/>
                  <a:ea typeface="Consolas"/>
                </a:rPr>
                <a:t>s.push(3)</a:t>
              </a:r>
              <a:r>
                <a:rPr b="1" lang="el" sz="1600" spc="-1" strike="noStrike">
                  <a:solidFill>
                    <a:schemeClr val="accent3"/>
                  </a:solidFill>
                  <a:latin typeface="Lato"/>
                  <a:ea typeface="Lato"/>
                </a:rPr>
                <a:t> → Stack Overflow!</a:t>
              </a:r>
              <a:endParaRPr b="0" lang="en-US" sz="1600" spc="-1" strike="noStrike">
                <a:solidFill>
                  <a:srgbClr val="000000"/>
                </a:solidFill>
                <a:latin typeface="Arial"/>
              </a:endParaRPr>
            </a:p>
          </p:txBody>
        </p:sp>
      </p:grpSp>
      <p:grpSp>
        <p:nvGrpSpPr>
          <p:cNvPr id="277" name="Google Shape;237;p21"/>
          <p:cNvGrpSpPr/>
          <p:nvPr/>
        </p:nvGrpSpPr>
        <p:grpSpPr>
          <a:xfrm>
            <a:off x="828360" y="3183120"/>
            <a:ext cx="7893000" cy="492120"/>
            <a:chOff x="828360" y="3183120"/>
            <a:chExt cx="7893000" cy="492120"/>
          </a:xfrm>
        </p:grpSpPr>
        <p:grpSp>
          <p:nvGrpSpPr>
            <p:cNvPr id="278" name="Google Shape;238;p21"/>
            <p:cNvGrpSpPr/>
            <p:nvPr/>
          </p:nvGrpSpPr>
          <p:grpSpPr>
            <a:xfrm>
              <a:off x="828360" y="3183120"/>
              <a:ext cx="3047040" cy="492120"/>
              <a:chOff x="828360" y="3183120"/>
              <a:chExt cx="3047040" cy="492120"/>
            </a:xfrm>
          </p:grpSpPr>
          <p:sp>
            <p:nvSpPr>
              <p:cNvPr id="279" name="Google Shape;239;p21"/>
              <p:cNvSpPr/>
              <p:nvPr/>
            </p:nvSpPr>
            <p:spPr>
              <a:xfrm>
                <a:off x="828360" y="318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80" name="Google Shape;240;p21"/>
              <p:cNvSpPr/>
              <p:nvPr/>
            </p:nvSpPr>
            <p:spPr>
              <a:xfrm>
                <a:off x="1336320" y="318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81" name="Google Shape;241;p21"/>
              <p:cNvSpPr/>
              <p:nvPr/>
            </p:nvSpPr>
            <p:spPr>
              <a:xfrm>
                <a:off x="1844280" y="318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82" name="Google Shape;242;p21"/>
              <p:cNvSpPr/>
              <p:nvPr/>
            </p:nvSpPr>
            <p:spPr>
              <a:xfrm>
                <a:off x="2352240" y="318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9</a:t>
                </a:r>
                <a:endParaRPr b="0" lang="en-US" sz="1600" spc="-1" strike="noStrike">
                  <a:solidFill>
                    <a:srgbClr val="000000"/>
                  </a:solidFill>
                  <a:latin typeface="Arial"/>
                </a:endParaRPr>
              </a:p>
            </p:txBody>
          </p:sp>
          <p:sp>
            <p:nvSpPr>
              <p:cNvPr id="283" name="Google Shape;243;p21"/>
              <p:cNvSpPr/>
              <p:nvPr/>
            </p:nvSpPr>
            <p:spPr>
              <a:xfrm>
                <a:off x="2860200" y="318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84" name="Google Shape;244;p21"/>
              <p:cNvSpPr/>
              <p:nvPr/>
            </p:nvSpPr>
            <p:spPr>
              <a:xfrm>
                <a:off x="3367800" y="318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85" name="Google Shape;245;p21"/>
            <p:cNvSpPr/>
            <p:nvPr/>
          </p:nvSpPr>
          <p:spPr>
            <a:xfrm>
              <a:off x="4837680" y="318312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s.pop()</a:t>
              </a:r>
              <a:r>
                <a:rPr b="1" lang="el" sz="1600" spc="-1" strike="noStrike">
                  <a:solidFill>
                    <a:schemeClr val="dk1"/>
                  </a:solidFill>
                  <a:latin typeface="Lato"/>
                  <a:ea typeface="Lato"/>
                </a:rPr>
                <a:t> → 5</a:t>
              </a:r>
              <a:endParaRPr b="0" lang="en-US" sz="1600" spc="-1" strike="noStrike">
                <a:solidFill>
                  <a:srgbClr val="000000"/>
                </a:solidFill>
                <a:latin typeface="Arial"/>
              </a:endParaRPr>
            </a:p>
          </p:txBody>
        </p:sp>
      </p:grpSp>
      <p:grpSp>
        <p:nvGrpSpPr>
          <p:cNvPr id="286" name="Google Shape;246;p21"/>
          <p:cNvGrpSpPr/>
          <p:nvPr/>
        </p:nvGrpSpPr>
        <p:grpSpPr>
          <a:xfrm>
            <a:off x="828360" y="4039200"/>
            <a:ext cx="7893000" cy="492120"/>
            <a:chOff x="828360" y="4039200"/>
            <a:chExt cx="7893000" cy="492120"/>
          </a:xfrm>
        </p:grpSpPr>
        <p:grpSp>
          <p:nvGrpSpPr>
            <p:cNvPr id="287" name="Google Shape;247;p21"/>
            <p:cNvGrpSpPr/>
            <p:nvPr/>
          </p:nvGrpSpPr>
          <p:grpSpPr>
            <a:xfrm>
              <a:off x="828360" y="4039200"/>
              <a:ext cx="3047040" cy="492120"/>
              <a:chOff x="828360" y="4039200"/>
              <a:chExt cx="3047040" cy="492120"/>
            </a:xfrm>
          </p:grpSpPr>
          <p:sp>
            <p:nvSpPr>
              <p:cNvPr id="288" name="Google Shape;248;p21"/>
              <p:cNvSpPr/>
              <p:nvPr/>
            </p:nvSpPr>
            <p:spPr>
              <a:xfrm>
                <a:off x="828360" y="40392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sp>
            <p:nvSpPr>
              <p:cNvPr id="289" name="Google Shape;249;p21"/>
              <p:cNvSpPr/>
              <p:nvPr/>
            </p:nvSpPr>
            <p:spPr>
              <a:xfrm>
                <a:off x="1336320" y="40392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1</a:t>
                </a:r>
                <a:endParaRPr b="0" lang="en-US" sz="1600" spc="-1" strike="noStrike">
                  <a:solidFill>
                    <a:srgbClr val="000000"/>
                  </a:solidFill>
                  <a:latin typeface="Arial"/>
                </a:endParaRPr>
              </a:p>
            </p:txBody>
          </p:sp>
          <p:sp>
            <p:nvSpPr>
              <p:cNvPr id="290" name="Google Shape;250;p21"/>
              <p:cNvSpPr/>
              <p:nvPr/>
            </p:nvSpPr>
            <p:spPr>
              <a:xfrm>
                <a:off x="1844280" y="40392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291" name="Google Shape;251;p21"/>
              <p:cNvSpPr/>
              <p:nvPr/>
            </p:nvSpPr>
            <p:spPr>
              <a:xfrm>
                <a:off x="2352240" y="40392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9</a:t>
                </a:r>
                <a:endParaRPr b="0" lang="en-US" sz="1600" spc="-1" strike="noStrike">
                  <a:solidFill>
                    <a:srgbClr val="000000"/>
                  </a:solidFill>
                  <a:latin typeface="Arial"/>
                </a:endParaRPr>
              </a:p>
            </p:txBody>
          </p:sp>
          <p:sp>
            <p:nvSpPr>
              <p:cNvPr id="292" name="Google Shape;252;p21"/>
              <p:cNvSpPr/>
              <p:nvPr/>
            </p:nvSpPr>
            <p:spPr>
              <a:xfrm>
                <a:off x="2860200" y="40392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93" name="Google Shape;253;p21"/>
              <p:cNvSpPr/>
              <p:nvPr/>
            </p:nvSpPr>
            <p:spPr>
              <a:xfrm>
                <a:off x="3367800" y="40392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294" name="Google Shape;254;p21"/>
            <p:cNvSpPr/>
            <p:nvPr/>
          </p:nvSpPr>
          <p:spPr>
            <a:xfrm>
              <a:off x="4837680" y="403920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s.pop()</a:t>
              </a:r>
              <a:r>
                <a:rPr b="1" lang="el" sz="1600" spc="-1" strike="noStrike">
                  <a:solidFill>
                    <a:schemeClr val="dk1"/>
                  </a:solidFill>
                  <a:latin typeface="Lato"/>
                  <a:ea typeface="Lato"/>
                </a:rPr>
                <a:t> → 1</a:t>
              </a:r>
              <a:endParaRPr b="0" lang="en-US" sz="16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83" dur="indefinite" restart="never" nodeType="tmRoot">
          <p:childTnLst>
            <p:seq>
              <p:cTn id="84" dur="indefinite" nodeType="mainSeq">
                <p:childTnLst>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25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26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27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Stack-y Problems</a:t>
            </a:r>
            <a:endParaRPr b="0" lang="en-US" sz="2600" spc="-1" strike="noStrike">
              <a:solidFill>
                <a:srgbClr val="000000"/>
              </a:solidFill>
              <a:latin typeface="Arial"/>
            </a:endParaRPr>
          </a:p>
        </p:txBody>
      </p:sp>
      <p:sp>
        <p:nvSpPr>
          <p:cNvPr id="296"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You are given a list of 10 numbers. Describe an algorithm to reverse them using a stack.</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[Think of it for a bit]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It is really simple:</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s = new stack()</a:t>
            </a:r>
            <a:br>
              <a:rPr sz="1600"/>
            </a:b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out = new list()</a:t>
            </a:r>
            <a:br>
              <a:rPr sz="1600"/>
            </a:b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for x in list:</a:t>
            </a:r>
            <a:br>
              <a:rPr sz="1600"/>
            </a:b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s.push(x)</a:t>
            </a:r>
            <a:br>
              <a:rPr sz="1600"/>
            </a:b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for _ in len(s):</a:t>
            </a:r>
            <a:br>
              <a:rPr sz="1600"/>
            </a:b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	</a:t>
            </a:r>
            <a:r>
              <a:rPr b="0" lang="el" sz="1600" spc="-1" strike="noStrike">
                <a:solidFill>
                  <a:schemeClr val="accent1"/>
                </a:solidFill>
                <a:latin typeface="Consolas"/>
                <a:ea typeface="Consolas"/>
              </a:rPr>
              <a:t>out.append(s.pop())</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Essentially, we just take advantage of the LIFO structure of a stack.</a:t>
            </a:r>
            <a:endParaRPr b="0" lang="en-US" sz="1600" spc="-1" strike="noStrike">
              <a:solidFill>
                <a:srgbClr val="000000"/>
              </a:solidFill>
              <a:latin typeface="Arial"/>
            </a:endParaRPr>
          </a:p>
        </p:txBody>
      </p:sp>
      <p:sp>
        <p:nvSpPr>
          <p:cNvPr id="297"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C78DEEA-0DF0-4E88-93B1-AE3929086AE4}"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296">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296">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1">
                                  <p:stCondLst>
                                    <p:cond delay="0"/>
                                  </p:stCondLst>
                                  <p:childTnLst>
                                    <p:set>
                                      <p:cBhvr>
                                        <p:cTn id="114" dur="1" fill="hold">
                                          <p:stCondLst>
                                            <p:cond delay="0"/>
                                          </p:stCondLst>
                                        </p:cTn>
                                        <p:tgtEl>
                                          <p:spTgt spid="296">
                                            <p:txEl>
                                              <p:pRg st="2" end="2"/>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296">
                                            <p:txEl>
                                              <p:pRg st="3" end="3"/>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nodeType="clickEffect" fill="hold" presetClass="entr" presetID="1">
                                  <p:stCondLst>
                                    <p:cond delay="0"/>
                                  </p:stCondLst>
                                  <p:childTnLst>
                                    <p:set>
                                      <p:cBhvr>
                                        <p:cTn id="122" dur="1" fill="hold">
                                          <p:stCondLst>
                                            <p:cond delay="0"/>
                                          </p:stCondLst>
                                        </p:cTn>
                                        <p:tgtEl>
                                          <p:spTgt spid="296">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Hanoi Towers (Homework)</a:t>
            </a:r>
            <a:endParaRPr b="0" lang="en-US" sz="2600" spc="-1" strike="noStrike">
              <a:solidFill>
                <a:srgbClr val="000000"/>
              </a:solidFill>
              <a:latin typeface="Arial"/>
            </a:endParaRPr>
          </a:p>
        </p:txBody>
      </p:sp>
      <p:sp>
        <p:nvSpPr>
          <p:cNvPr id="299" name="PlaceHolder 2"/>
          <p:cNvSpPr>
            <a:spLocks noGrp="1"/>
          </p:cNvSpPr>
          <p:nvPr>
            <p:ph/>
          </p:nvPr>
        </p:nvSpPr>
        <p:spPr>
          <a:xfrm>
            <a:off x="729360" y="1378080"/>
            <a:ext cx="7688520" cy="1557720"/>
          </a:xfrm>
          <a:prstGeom prst="rect">
            <a:avLst/>
          </a:prstGeom>
          <a:noFill/>
          <a:ln w="0">
            <a:noFill/>
          </a:ln>
        </p:spPr>
        <p:txBody>
          <a:bodyPr tIns="91440" bIns="91440" anchor="t">
            <a:normAutofit fontScale="98000"/>
          </a:bodyPr>
          <a:p>
            <a:pPr indent="0">
              <a:lnSpc>
                <a:spcPct val="115000"/>
              </a:lnSpc>
              <a:spcAft>
                <a:spcPts val="1199"/>
              </a:spcAft>
              <a:buNone/>
              <a:tabLst>
                <a:tab algn="l" pos="0"/>
              </a:tabLst>
            </a:pPr>
            <a:r>
              <a:rPr b="0" lang="el" sz="1600" spc="-1" strike="noStrike">
                <a:solidFill>
                  <a:schemeClr val="accent1"/>
                </a:solidFill>
                <a:latin typeface="Lato"/>
                <a:ea typeface="Lato"/>
              </a:rPr>
              <a:t>We have three poles and three porcelain dishes, as shown in the figure below. Our aim is to move all dishes from the first to the third pole with the same layout. Note that we cannot put a wider dish above a narrower one and that we are allowed to move one dish at a time, while no dish can remain in the air (i.e., all should be on to some pole). What is the minimum number of moves required?</a:t>
            </a:r>
            <a:endParaRPr b="0" lang="en-US" sz="1600" spc="-1" strike="noStrike">
              <a:solidFill>
                <a:srgbClr val="000000"/>
              </a:solidFill>
              <a:latin typeface="Arial"/>
            </a:endParaRPr>
          </a:p>
        </p:txBody>
      </p:sp>
      <p:sp>
        <p:nvSpPr>
          <p:cNvPr id="300"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F12C0C1-AA04-486F-AF80-FFCD9A989985}"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grpSp>
        <p:nvGrpSpPr>
          <p:cNvPr id="301" name="Google Shape;269;p23"/>
          <p:cNvGrpSpPr/>
          <p:nvPr/>
        </p:nvGrpSpPr>
        <p:grpSpPr>
          <a:xfrm>
            <a:off x="1265400" y="3013920"/>
            <a:ext cx="5803560" cy="2043360"/>
            <a:chOff x="1265400" y="3013920"/>
            <a:chExt cx="5803560" cy="2043360"/>
          </a:xfrm>
        </p:grpSpPr>
        <p:sp>
          <p:nvSpPr>
            <p:cNvPr id="302" name="Google Shape;270;p23"/>
            <p:cNvSpPr/>
            <p:nvPr/>
          </p:nvSpPr>
          <p:spPr>
            <a:xfrm>
              <a:off x="4521960" y="3013920"/>
              <a:ext cx="99720" cy="1735920"/>
            </a:xfrm>
            <a:prstGeom prst="rect">
              <a:avLst/>
            </a:prstGeom>
            <a:solidFill>
              <a:srgbClr val="5b0f00"/>
            </a:solidFill>
            <a:ln w="9525">
              <a:solidFill>
                <a:srgbClr val="5b0f00"/>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303" name="Google Shape;271;p23"/>
            <p:cNvSpPr/>
            <p:nvPr/>
          </p:nvSpPr>
          <p:spPr>
            <a:xfrm>
              <a:off x="6765120" y="3013920"/>
              <a:ext cx="99720" cy="1735920"/>
            </a:xfrm>
            <a:prstGeom prst="rect">
              <a:avLst/>
            </a:prstGeom>
            <a:solidFill>
              <a:srgbClr val="5b0f00"/>
            </a:solidFill>
            <a:ln w="9525">
              <a:solidFill>
                <a:srgbClr val="5b0f00"/>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304" name="Google Shape;272;p23"/>
            <p:cNvSpPr/>
            <p:nvPr/>
          </p:nvSpPr>
          <p:spPr>
            <a:xfrm>
              <a:off x="2279160" y="3013920"/>
              <a:ext cx="99720" cy="1735920"/>
            </a:xfrm>
            <a:prstGeom prst="rect">
              <a:avLst/>
            </a:prstGeom>
            <a:solidFill>
              <a:srgbClr val="5b0f00"/>
            </a:solidFill>
            <a:ln w="9525">
              <a:solidFill>
                <a:srgbClr val="5b0f00"/>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305" name="Google Shape;273;p23"/>
            <p:cNvSpPr/>
            <p:nvPr/>
          </p:nvSpPr>
          <p:spPr>
            <a:xfrm>
              <a:off x="1265400" y="4481280"/>
              <a:ext cx="2126520" cy="172440"/>
            </a:xfrm>
            <a:prstGeom prst="rect">
              <a:avLst/>
            </a:prstGeom>
            <a:solidFill>
              <a:schemeClr val="lt2"/>
            </a:solidFill>
            <a:ln w="9525">
              <a:solidFill>
                <a:srgbClr val="1a1a1a"/>
              </a:solidFill>
              <a:round/>
            </a:ln>
          </p:spPr>
          <p:style>
            <a:lnRef idx="0"/>
            <a:fillRef idx="0"/>
            <a:effectRef idx="0"/>
            <a:fontRef idx="minor"/>
          </p:style>
          <p:txBody>
            <a:bodyPr tIns="86400" bIns="86400" anchor="ctr">
              <a:noAutofit/>
            </a:bodyPr>
            <a:p>
              <a:pPr algn="ctr">
                <a:lnSpc>
                  <a:spcPct val="100000"/>
                </a:lnSpc>
                <a:tabLst>
                  <a:tab algn="l" pos="0"/>
                </a:tabLst>
              </a:pPr>
              <a:endParaRPr b="0" lang="en-US" sz="1400" spc="-1" strike="noStrike">
                <a:solidFill>
                  <a:srgbClr val="000000"/>
                </a:solidFill>
                <a:latin typeface="Arial"/>
              </a:endParaRPr>
            </a:p>
          </p:txBody>
        </p:sp>
        <p:sp>
          <p:nvSpPr>
            <p:cNvPr id="306" name="Google Shape;274;p23"/>
            <p:cNvSpPr/>
            <p:nvPr/>
          </p:nvSpPr>
          <p:spPr>
            <a:xfrm>
              <a:off x="1434600" y="4308480"/>
              <a:ext cx="1788120" cy="172440"/>
            </a:xfrm>
            <a:prstGeom prst="rect">
              <a:avLst/>
            </a:prstGeom>
            <a:solidFill>
              <a:schemeClr val="lt2"/>
            </a:solidFill>
            <a:ln w="9525">
              <a:solidFill>
                <a:srgbClr val="1a1a1a"/>
              </a:solidFill>
              <a:round/>
            </a:ln>
          </p:spPr>
          <p:style>
            <a:lnRef idx="0"/>
            <a:fillRef idx="0"/>
            <a:effectRef idx="0"/>
            <a:fontRef idx="minor"/>
          </p:style>
          <p:txBody>
            <a:bodyPr tIns="86400" bIns="86400" anchor="ctr">
              <a:noAutofit/>
            </a:bodyPr>
            <a:p>
              <a:pPr algn="ctr">
                <a:lnSpc>
                  <a:spcPct val="100000"/>
                </a:lnSpc>
                <a:tabLst>
                  <a:tab algn="l" pos="0"/>
                </a:tabLst>
              </a:pPr>
              <a:endParaRPr b="0" lang="en-US" sz="1400" spc="-1" strike="noStrike">
                <a:solidFill>
                  <a:srgbClr val="000000"/>
                </a:solidFill>
                <a:latin typeface="Arial"/>
              </a:endParaRPr>
            </a:p>
          </p:txBody>
        </p:sp>
        <p:sp>
          <p:nvSpPr>
            <p:cNvPr id="307" name="Google Shape;275;p23"/>
            <p:cNvSpPr/>
            <p:nvPr/>
          </p:nvSpPr>
          <p:spPr>
            <a:xfrm>
              <a:off x="1596600" y="4135680"/>
              <a:ext cx="1464480" cy="172440"/>
            </a:xfrm>
            <a:prstGeom prst="rect">
              <a:avLst/>
            </a:prstGeom>
            <a:solidFill>
              <a:schemeClr val="lt2"/>
            </a:solidFill>
            <a:ln w="9525">
              <a:solidFill>
                <a:srgbClr val="1a1a1a"/>
              </a:solidFill>
              <a:round/>
            </a:ln>
          </p:spPr>
          <p:style>
            <a:lnRef idx="0"/>
            <a:fillRef idx="0"/>
            <a:effectRef idx="0"/>
            <a:fontRef idx="minor"/>
          </p:style>
          <p:txBody>
            <a:bodyPr tIns="86400" bIns="86400" anchor="ctr">
              <a:noAutofit/>
            </a:bodyPr>
            <a:p>
              <a:pPr algn="ctr">
                <a:lnSpc>
                  <a:spcPct val="100000"/>
                </a:lnSpc>
                <a:tabLst>
                  <a:tab algn="l" pos="0"/>
                </a:tabLst>
              </a:pPr>
              <a:endParaRPr b="0" lang="en-US" sz="1400" spc="-1" strike="noStrike">
                <a:solidFill>
                  <a:srgbClr val="000000"/>
                </a:solidFill>
                <a:latin typeface="Arial"/>
              </a:endParaRPr>
            </a:p>
          </p:txBody>
        </p:sp>
        <p:sp>
          <p:nvSpPr>
            <p:cNvPr id="308" name="Google Shape;276;p23"/>
            <p:cNvSpPr/>
            <p:nvPr/>
          </p:nvSpPr>
          <p:spPr>
            <a:xfrm>
              <a:off x="2074320" y="4749840"/>
              <a:ext cx="508680" cy="30744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l" sz="1300" spc="-1" strike="noStrike">
                  <a:solidFill>
                    <a:schemeClr val="accent1"/>
                  </a:solidFill>
                  <a:latin typeface="Lato"/>
                  <a:ea typeface="Lato"/>
                </a:rPr>
                <a:t>A</a:t>
              </a:r>
              <a:endParaRPr b="0" lang="en-US" sz="1300" spc="-1" strike="noStrike">
                <a:solidFill>
                  <a:srgbClr val="000000"/>
                </a:solidFill>
                <a:latin typeface="Arial"/>
              </a:endParaRPr>
            </a:p>
          </p:txBody>
        </p:sp>
        <p:sp>
          <p:nvSpPr>
            <p:cNvPr id="309" name="Google Shape;277;p23"/>
            <p:cNvSpPr/>
            <p:nvPr/>
          </p:nvSpPr>
          <p:spPr>
            <a:xfrm>
              <a:off x="4317480" y="4749840"/>
              <a:ext cx="508680" cy="30744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l" sz="1300" spc="-1" strike="noStrike">
                  <a:solidFill>
                    <a:schemeClr val="accent1"/>
                  </a:solidFill>
                  <a:latin typeface="Lato"/>
                  <a:ea typeface="Lato"/>
                </a:rPr>
                <a:t>B</a:t>
              </a:r>
              <a:endParaRPr b="0" lang="en-US" sz="1300" spc="-1" strike="noStrike">
                <a:solidFill>
                  <a:srgbClr val="000000"/>
                </a:solidFill>
                <a:latin typeface="Arial"/>
              </a:endParaRPr>
            </a:p>
          </p:txBody>
        </p:sp>
        <p:sp>
          <p:nvSpPr>
            <p:cNvPr id="310" name="Google Shape;278;p23"/>
            <p:cNvSpPr/>
            <p:nvPr/>
          </p:nvSpPr>
          <p:spPr>
            <a:xfrm>
              <a:off x="6560280" y="4749840"/>
              <a:ext cx="508680" cy="30744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l" sz="1300" spc="-1" strike="noStrike">
                  <a:solidFill>
                    <a:schemeClr val="accent1"/>
                  </a:solidFill>
                  <a:latin typeface="Lato"/>
                  <a:ea typeface="Lato"/>
                </a:rPr>
                <a:t>C</a:t>
              </a:r>
              <a:endParaRPr b="0" lang="en-US" sz="13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123" dur="indefinite" restart="never" nodeType="tmRoot">
          <p:childTnLst>
            <p:seq>
              <p:cTn id="124" dur="indefinite" nodeType="mainSeq">
                <p:childTnLst>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299">
                                            <p:txEl>
                                              <p:pRg st="0" end="0"/>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Implementation using Arrays</a:t>
            </a:r>
            <a:endParaRPr b="0" lang="en-US" sz="2600" spc="-1" strike="noStrike">
              <a:solidFill>
                <a:srgbClr val="000000"/>
              </a:solidFill>
              <a:latin typeface="Arial"/>
            </a:endParaRPr>
          </a:p>
        </p:txBody>
      </p:sp>
      <p:sp>
        <p:nvSpPr>
          <p:cNvPr id="31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In </a:t>
            </a:r>
            <a:r>
              <a:rPr b="0" lang="el" sz="1600" spc="-1" strike="noStrike">
                <a:solidFill>
                  <a:schemeClr val="accent1"/>
                </a:solidFill>
                <a:latin typeface="Consolas"/>
                <a:ea typeface="Consolas"/>
              </a:rPr>
              <a:t>source/stack</a:t>
            </a:r>
            <a:r>
              <a:rPr b="0" lang="el" sz="1600" spc="-1" strike="noStrike">
                <a:solidFill>
                  <a:schemeClr val="accent1"/>
                </a:solidFill>
                <a:latin typeface="Lato"/>
                <a:ea typeface="Lato"/>
              </a:rPr>
              <a:t> you can find an implementation in C / C++ using arrays.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How does it work?</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Name some benefits / drawbacks of using arrays to implement a stack.</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Implement a stack making use of dynamic arrays (search around the web for a suitable implementation)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Compare both implementations. Any comments?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Implement a stack making use of linked lists (again, search around the web).</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Compare all three implementations. Any comments?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Which one would you prefer?</a:t>
            </a:r>
            <a:endParaRPr b="0" lang="en-US" sz="1600" spc="-1" strike="noStrike">
              <a:solidFill>
                <a:srgbClr val="000000"/>
              </a:solidFill>
              <a:latin typeface="Arial"/>
            </a:endParaRPr>
          </a:p>
        </p:txBody>
      </p:sp>
      <p:sp>
        <p:nvSpPr>
          <p:cNvPr id="313"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6CD3350-ED98-4CFF-8A51-EFD3BDEBAC11}"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33" dur="indefinite" restart="never" nodeType="tmRoot">
          <p:childTnLst>
            <p:seq>
              <p:cTn id="134" dur="indefinite" nodeType="mainSeq">
                <p:childTnLst>
                  <p:par>
                    <p:cTn id="135" fill="hold">
                      <p:stCondLst>
                        <p:cond delay="indefinite"/>
                      </p:stCondLst>
                      <p:childTnLst>
                        <p:par>
                          <p:cTn id="136" fill="hold">
                            <p:stCondLst>
                              <p:cond delay="0"/>
                            </p:stCondLst>
                            <p:childTnLst>
                              <p:par>
                                <p:cTn id="137" nodeType="clickEffect" fill="hold" presetClass="entr" presetID="1">
                                  <p:stCondLst>
                                    <p:cond delay="0"/>
                                  </p:stCondLst>
                                  <p:childTnLst>
                                    <p:set>
                                      <p:cBhvr>
                                        <p:cTn id="138" dur="1" fill="hold">
                                          <p:stCondLst>
                                            <p:cond delay="0"/>
                                          </p:stCondLst>
                                        </p:cTn>
                                        <p:tgtEl>
                                          <p:spTgt spid="312">
                                            <p:txEl>
                                              <p:pRg st="0" end="0"/>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nodeType="clickEffect" fill="hold" presetClass="entr" presetID="1">
                                  <p:stCondLst>
                                    <p:cond delay="0"/>
                                  </p:stCondLst>
                                  <p:childTnLst>
                                    <p:set>
                                      <p:cBhvr>
                                        <p:cTn id="142" dur="1" fill="hold">
                                          <p:stCondLst>
                                            <p:cond delay="0"/>
                                          </p:stCondLst>
                                        </p:cTn>
                                        <p:tgtEl>
                                          <p:spTgt spid="312">
                                            <p:txEl>
                                              <p:pRg st="1" end="1"/>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nodeType="clickEffect" fill="hold" presetClass="entr" presetID="1">
                                  <p:stCondLst>
                                    <p:cond delay="0"/>
                                  </p:stCondLst>
                                  <p:childTnLst>
                                    <p:set>
                                      <p:cBhvr>
                                        <p:cTn id="146" dur="1" fill="hold">
                                          <p:stCondLst>
                                            <p:cond delay="0"/>
                                          </p:stCondLst>
                                        </p:cTn>
                                        <p:tgtEl>
                                          <p:spTgt spid="312">
                                            <p:txEl>
                                              <p:pRg st="2" end="2"/>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nodeType="clickEffect" fill="hold" presetClass="entr" presetID="1">
                                  <p:stCondLst>
                                    <p:cond delay="0"/>
                                  </p:stCondLst>
                                  <p:childTnLst>
                                    <p:set>
                                      <p:cBhvr>
                                        <p:cTn id="150" dur="1" fill="hold">
                                          <p:stCondLst>
                                            <p:cond delay="0"/>
                                          </p:stCondLst>
                                        </p:cTn>
                                        <p:tgtEl>
                                          <p:spTgt spid="312">
                                            <p:txEl>
                                              <p:pRg st="3" end="3"/>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nodeType="clickEffect" fill="hold" presetClass="entr" presetID="1">
                                  <p:stCondLst>
                                    <p:cond delay="0"/>
                                  </p:stCondLst>
                                  <p:childTnLst>
                                    <p:set>
                                      <p:cBhvr>
                                        <p:cTn id="154" dur="1" fill="hold">
                                          <p:stCondLst>
                                            <p:cond delay="0"/>
                                          </p:stCondLst>
                                        </p:cTn>
                                        <p:tgtEl>
                                          <p:spTgt spid="312">
                                            <p:txEl>
                                              <p:pRg st="4" end="4"/>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312">
                                            <p:txEl>
                                              <p:pRg st="5" end="5"/>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312">
                                            <p:txEl>
                                              <p:pRg st="6" end="6"/>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312">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Queues</a:t>
            </a:r>
            <a:endParaRPr b="0" lang="en-US" sz="3600" spc="-1" strike="noStrike">
              <a:solidFill>
                <a:srgbClr val="000000"/>
              </a:solidFill>
              <a:latin typeface="Arial"/>
            </a:endParaRPr>
          </a:p>
        </p:txBody>
      </p:sp>
      <p:sp>
        <p:nvSpPr>
          <p:cNvPr id="315" name="PlaceHolder 2"/>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BBBD0A77-A9D5-420D-BA5F-18006F1EFBFF}" type="slidenum">
              <a:rPr b="0" lang="el" sz="1000" spc="-1" strike="noStrike">
                <a:solidFill>
                  <a:schemeClr val="l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Waiting Stuff to Happen…</a:t>
            </a:r>
            <a:endParaRPr b="0" lang="en-US" sz="2600" spc="-1" strike="noStrike">
              <a:solidFill>
                <a:srgbClr val="000000"/>
              </a:solidFill>
              <a:latin typeface="Arial"/>
            </a:endParaRPr>
          </a:p>
        </p:txBody>
      </p:sp>
      <p:sp>
        <p:nvSpPr>
          <p:cNvPr id="317"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Imagine the following settings: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You are waiting at the cashier line at your local supermarket.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You are waiting to enter a theatre / cinema hall.</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You are waiting to enter your local bank to negotiate about your mortgage.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You are waiting to hop on the next bus at the bus station.</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What do they all have in common?</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You are waiting…</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t>
            </a:r>
            <a:r>
              <a:rPr b="0" lang="el" sz="1600" spc="-1" strike="noStrike">
                <a:solidFill>
                  <a:schemeClr val="accent1"/>
                </a:solidFill>
                <a:latin typeface="Lato"/>
                <a:ea typeface="Lato"/>
              </a:rPr>
              <a:t>in a </a:t>
            </a:r>
            <a:r>
              <a:rPr b="1" lang="el" sz="1600" spc="-1" strike="noStrike">
                <a:solidFill>
                  <a:schemeClr val="accent3"/>
                </a:solidFill>
                <a:latin typeface="Lato"/>
                <a:ea typeface="Lato"/>
              </a:rPr>
              <a:t>queue!</a:t>
            </a:r>
            <a:endParaRPr b="0" lang="en-US" sz="1600" spc="-1" strike="noStrike">
              <a:solidFill>
                <a:srgbClr val="000000"/>
              </a:solidFill>
              <a:latin typeface="Arial"/>
            </a:endParaRPr>
          </a:p>
        </p:txBody>
      </p:sp>
      <p:sp>
        <p:nvSpPr>
          <p:cNvPr id="318"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AA16C37-01E5-4ABF-8DF5-145EF2D355F5}"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67" dur="indefinite" restart="never" nodeType="tmRoot">
          <p:childTnLst>
            <p:seq>
              <p:cTn id="168" dur="indefinite" nodeType="mainSeq">
                <p:childTnLst>
                  <p:par>
                    <p:cTn id="169" fill="hold">
                      <p:stCondLst>
                        <p:cond delay="indefinite"/>
                      </p:stCondLst>
                      <p:childTnLst>
                        <p:par>
                          <p:cTn id="170" fill="hold">
                            <p:stCondLst>
                              <p:cond delay="0"/>
                            </p:stCondLst>
                            <p:childTnLst>
                              <p:par>
                                <p:cTn id="171" nodeType="clickEffect" fill="hold" presetClass="entr" presetID="1">
                                  <p:stCondLst>
                                    <p:cond delay="0"/>
                                  </p:stCondLst>
                                  <p:childTnLst>
                                    <p:set>
                                      <p:cBhvr>
                                        <p:cTn id="172" dur="1" fill="hold">
                                          <p:stCondLst>
                                            <p:cond delay="0"/>
                                          </p:stCondLst>
                                        </p:cTn>
                                        <p:tgtEl>
                                          <p:spTgt spid="317">
                                            <p:txEl>
                                              <p:pRg st="0" end="0"/>
                                            </p:txEl>
                                          </p:spTgt>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317">
                                            <p:txEl>
                                              <p:pRg st="1" end="1"/>
                                            </p:txEl>
                                          </p:spTgt>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nodeType="clickEffect" fill="hold" presetClass="entr" presetID="1">
                                  <p:stCondLst>
                                    <p:cond delay="0"/>
                                  </p:stCondLst>
                                  <p:childTnLst>
                                    <p:set>
                                      <p:cBhvr>
                                        <p:cTn id="180" dur="1" fill="hold">
                                          <p:stCondLst>
                                            <p:cond delay="0"/>
                                          </p:stCondLst>
                                        </p:cTn>
                                        <p:tgtEl>
                                          <p:spTgt spid="317">
                                            <p:txEl>
                                              <p:pRg st="2" end="2"/>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0"/>
                                          </p:stCondLst>
                                        </p:cTn>
                                        <p:tgtEl>
                                          <p:spTgt spid="317">
                                            <p:txEl>
                                              <p:pRg st="3" end="3"/>
                                            </p:txEl>
                                          </p:spTgt>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
                                  <p:stCondLst>
                                    <p:cond delay="0"/>
                                  </p:stCondLst>
                                  <p:childTnLst>
                                    <p:set>
                                      <p:cBhvr>
                                        <p:cTn id="188" dur="1" fill="hold">
                                          <p:stCondLst>
                                            <p:cond delay="0"/>
                                          </p:stCondLst>
                                        </p:cTn>
                                        <p:tgtEl>
                                          <p:spTgt spid="317">
                                            <p:txEl>
                                              <p:pRg st="4" end="4"/>
                                            </p:txEl>
                                          </p:spTgt>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nodeType="clickEffect" fill="hold" presetClass="entr" presetID="1">
                                  <p:stCondLst>
                                    <p:cond delay="0"/>
                                  </p:stCondLst>
                                  <p:childTnLst>
                                    <p:set>
                                      <p:cBhvr>
                                        <p:cTn id="192" dur="1" fill="hold">
                                          <p:stCondLst>
                                            <p:cond delay="0"/>
                                          </p:stCondLst>
                                        </p:cTn>
                                        <p:tgtEl>
                                          <p:spTgt spid="317">
                                            <p:txEl>
                                              <p:pRg st="5" end="5"/>
                                            </p:txEl>
                                          </p:spTgt>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nodeType="clickEffect" fill="hold" presetClass="entr" presetID="1">
                                  <p:stCondLst>
                                    <p:cond delay="0"/>
                                  </p:stCondLst>
                                  <p:childTnLst>
                                    <p:set>
                                      <p:cBhvr>
                                        <p:cTn id="196" dur="1" fill="hold">
                                          <p:stCondLst>
                                            <p:cond delay="0"/>
                                          </p:stCondLst>
                                        </p:cTn>
                                        <p:tgtEl>
                                          <p:spTgt spid="317">
                                            <p:txEl>
                                              <p:pRg st="6" end="6"/>
                                            </p:txEl>
                                          </p:spTgt>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317">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Queues</a:t>
            </a:r>
            <a:endParaRPr b="0" lang="en-US" sz="2600" spc="-1" strike="noStrike">
              <a:solidFill>
                <a:srgbClr val="000000"/>
              </a:solidFill>
              <a:latin typeface="Arial"/>
            </a:endParaRPr>
          </a:p>
        </p:txBody>
      </p:sp>
      <p:sp>
        <p:nvSpPr>
          <p:cNvPr id="320"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3"/>
                </a:solidFill>
                <a:latin typeface="Lato"/>
                <a:ea typeface="Lato"/>
              </a:rPr>
              <a:t>FIFO:</a:t>
            </a:r>
            <a:r>
              <a:rPr b="0" lang="el" sz="1600" spc="-1" strike="noStrike">
                <a:solidFill>
                  <a:schemeClr val="accent1"/>
                </a:solidFill>
                <a:latin typeface="Lato"/>
                <a:ea typeface="Lato"/>
              </a:rPr>
              <a:t> First-In-First-Out.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first to enter the queue is the first to get out of 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 queues implement some sort of </a:t>
            </a:r>
            <a:r>
              <a:rPr b="1" lang="el" sz="1600" spc="-1" strike="noStrike">
                <a:solidFill>
                  <a:schemeClr val="dk1"/>
                </a:solidFill>
                <a:latin typeface="Lato"/>
                <a:ea typeface="Lato"/>
              </a:rPr>
              <a:t>prioritisation</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Two basic operations for a queue </a:t>
            </a:r>
            <a:r>
              <a:rPr b="0" lang="el" sz="1600" spc="-1" strike="noStrike">
                <a:solidFill>
                  <a:schemeClr val="accent1"/>
                </a:solidFill>
                <a:latin typeface="Consolas"/>
                <a:ea typeface="Consolas"/>
              </a:rPr>
              <a:t>q</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Consolas"/>
                <a:ea typeface="Consolas"/>
              </a:rPr>
              <a:t>q.enqueue(x)</a:t>
            </a:r>
            <a:r>
              <a:rPr b="0" lang="el" sz="1600" spc="-1" strike="noStrike">
                <a:solidFill>
                  <a:schemeClr val="accent1"/>
                </a:solidFill>
                <a:latin typeface="Lato"/>
                <a:ea typeface="Lato"/>
              </a:rPr>
              <a:t>: adds an element to the queue’s </a:t>
            </a:r>
            <a:r>
              <a:rPr b="1" lang="el" sz="1600" spc="-1" strike="noStrike">
                <a:solidFill>
                  <a:schemeClr val="accent3"/>
                </a:solidFill>
                <a:latin typeface="Lato"/>
                <a:ea typeface="Lato"/>
              </a:rPr>
              <a:t>tail</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Consolas"/>
                <a:ea typeface="Consolas"/>
              </a:rPr>
              <a:t>q.dequeue()</a:t>
            </a:r>
            <a:r>
              <a:rPr b="0" lang="el" sz="1600" spc="-1" strike="noStrike">
                <a:solidFill>
                  <a:schemeClr val="accent1"/>
                </a:solidFill>
                <a:latin typeface="Lato"/>
                <a:ea typeface="Lato"/>
              </a:rPr>
              <a:t>: removes an element from the queue’s </a:t>
            </a:r>
            <a:r>
              <a:rPr b="1" lang="el" sz="1600" spc="-1" strike="noStrike">
                <a:solidFill>
                  <a:schemeClr val="dk1"/>
                </a:solidFill>
                <a:latin typeface="Lato"/>
                <a:ea typeface="Lato"/>
              </a:rPr>
              <a:t>head</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problems could you solve using a queue?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Anything involving a waiting list (huh, obvious, right?)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More precisely: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Buffering problems.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Task scheduling problems.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sp>
        <p:nvSpPr>
          <p:cNvPr id="321"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C07A878-A7C2-46E5-AB75-7E4094F5619A}"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01" dur="indefinite" restart="never" nodeType="tmRoot">
          <p:childTnLst>
            <p:seq>
              <p:cTn id="202" dur="indefinite" nodeType="mainSeq">
                <p:childTnLst>
                  <p:par>
                    <p:cTn id="203" fill="hold">
                      <p:stCondLst>
                        <p:cond delay="indefinite"/>
                      </p:stCondLst>
                      <p:childTnLst>
                        <p:par>
                          <p:cTn id="204" fill="hold">
                            <p:stCondLst>
                              <p:cond delay="0"/>
                            </p:stCondLst>
                            <p:childTnLst>
                              <p:par>
                                <p:cTn id="205" nodeType="clickEffect" fill="hold" presetClass="entr" presetID="1">
                                  <p:stCondLst>
                                    <p:cond delay="0"/>
                                  </p:stCondLst>
                                  <p:childTnLst>
                                    <p:set>
                                      <p:cBhvr>
                                        <p:cTn id="206" dur="1" fill="hold">
                                          <p:stCondLst>
                                            <p:cond delay="0"/>
                                          </p:stCondLst>
                                        </p:cTn>
                                        <p:tgtEl>
                                          <p:spTgt spid="320">
                                            <p:txEl>
                                              <p:pRg st="0" end="0"/>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nodeType="clickEffect" fill="hold" presetClass="entr" presetID="1">
                                  <p:stCondLst>
                                    <p:cond delay="0"/>
                                  </p:stCondLst>
                                  <p:childTnLst>
                                    <p:set>
                                      <p:cBhvr>
                                        <p:cTn id="210" dur="1" fill="hold">
                                          <p:stCondLst>
                                            <p:cond delay="0"/>
                                          </p:stCondLst>
                                        </p:cTn>
                                        <p:tgtEl>
                                          <p:spTgt spid="320">
                                            <p:txEl>
                                              <p:pRg st="1" end="1"/>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1">
                                  <p:stCondLst>
                                    <p:cond delay="0"/>
                                  </p:stCondLst>
                                  <p:childTnLst>
                                    <p:set>
                                      <p:cBhvr>
                                        <p:cTn id="214" dur="1" fill="hold">
                                          <p:stCondLst>
                                            <p:cond delay="0"/>
                                          </p:stCondLst>
                                        </p:cTn>
                                        <p:tgtEl>
                                          <p:spTgt spid="320">
                                            <p:txEl>
                                              <p:pRg st="2" end="2"/>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320">
                                            <p:txEl>
                                              <p:pRg st="3" end="3"/>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nodeType="clickEffect" fill="hold" presetClass="entr" presetID="1">
                                  <p:stCondLst>
                                    <p:cond delay="0"/>
                                  </p:stCondLst>
                                  <p:childTnLst>
                                    <p:set>
                                      <p:cBhvr>
                                        <p:cTn id="222" dur="1" fill="hold">
                                          <p:stCondLst>
                                            <p:cond delay="0"/>
                                          </p:stCondLst>
                                        </p:cTn>
                                        <p:tgtEl>
                                          <p:spTgt spid="320">
                                            <p:txEl>
                                              <p:pRg st="4" end="4"/>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1">
                                  <p:stCondLst>
                                    <p:cond delay="0"/>
                                  </p:stCondLst>
                                  <p:childTnLst>
                                    <p:set>
                                      <p:cBhvr>
                                        <p:cTn id="226" dur="1" fill="hold">
                                          <p:stCondLst>
                                            <p:cond delay="0"/>
                                          </p:stCondLst>
                                        </p:cTn>
                                        <p:tgtEl>
                                          <p:spTgt spid="320">
                                            <p:txEl>
                                              <p:pRg st="5" end="5"/>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nodeType="clickEffect" fill="hold" presetClass="entr" presetID="1">
                                  <p:stCondLst>
                                    <p:cond delay="0"/>
                                  </p:stCondLst>
                                  <p:childTnLst>
                                    <p:set>
                                      <p:cBhvr>
                                        <p:cTn id="230" dur="1" fill="hold">
                                          <p:stCondLst>
                                            <p:cond delay="0"/>
                                          </p:stCondLst>
                                        </p:cTn>
                                        <p:tgtEl>
                                          <p:spTgt spid="320">
                                            <p:txEl>
                                              <p:pRg st="6" end="6"/>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nodeType="clickEffect" fill="hold" presetClass="entr" presetID="1">
                                  <p:stCondLst>
                                    <p:cond delay="0"/>
                                  </p:stCondLst>
                                  <p:childTnLst>
                                    <p:set>
                                      <p:cBhvr>
                                        <p:cTn id="234" dur="1" fill="hold">
                                          <p:stCondLst>
                                            <p:cond delay="0"/>
                                          </p:stCondLst>
                                        </p:cTn>
                                        <p:tgtEl>
                                          <p:spTgt spid="320">
                                            <p:txEl>
                                              <p:pRg st="7" end="7"/>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nodeType="clickEffect" fill="hold" presetClass="entr" presetID="1">
                                  <p:stCondLst>
                                    <p:cond delay="0"/>
                                  </p:stCondLst>
                                  <p:childTnLst>
                                    <p:set>
                                      <p:cBhvr>
                                        <p:cTn id="238" dur="1" fill="hold">
                                          <p:stCondLst>
                                            <p:cond delay="0"/>
                                          </p:stCondLst>
                                        </p:cTn>
                                        <p:tgtEl>
                                          <p:spTgt spid="320">
                                            <p:txEl>
                                              <p:pRg st="8" end="8"/>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nodeType="clickEffect" fill="hold" presetClass="entr" presetID="1">
                                  <p:stCondLst>
                                    <p:cond delay="0"/>
                                  </p:stCondLst>
                                  <p:childTnLst>
                                    <p:set>
                                      <p:cBhvr>
                                        <p:cTn id="242" dur="1" fill="hold">
                                          <p:stCondLst>
                                            <p:cond delay="0"/>
                                          </p:stCondLst>
                                        </p:cTn>
                                        <p:tgtEl>
                                          <p:spTgt spid="320">
                                            <p:txEl>
                                              <p:pRg st="9" end="9"/>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nodeType="clickEffect" fill="hold" presetClass="entr" presetID="1">
                                  <p:stCondLst>
                                    <p:cond delay="0"/>
                                  </p:stCondLst>
                                  <p:childTnLst>
                                    <p:set>
                                      <p:cBhvr>
                                        <p:cTn id="246" dur="1" fill="hold">
                                          <p:stCondLst>
                                            <p:cond delay="0"/>
                                          </p:stCondLst>
                                        </p:cTn>
                                        <p:tgtEl>
                                          <p:spTgt spid="320">
                                            <p:txEl>
                                              <p:pRg st="10" end="10"/>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nodeType="clickEffect" fill="hold" presetClass="entr" presetID="1">
                                  <p:stCondLst>
                                    <p:cond delay="0"/>
                                  </p:stCondLst>
                                  <p:childTnLst>
                                    <p:set>
                                      <p:cBhvr>
                                        <p:cTn id="250" dur="1" fill="hold">
                                          <p:stCondLst>
                                            <p:cond delay="0"/>
                                          </p:stCondLst>
                                        </p:cTn>
                                        <p:tgtEl>
                                          <p:spTgt spid="320">
                                            <p:txEl>
                                              <p:pRg st="11" end="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 Example</a:t>
            </a:r>
            <a:endParaRPr b="0" lang="en-US" sz="2600" spc="-1" strike="noStrike">
              <a:solidFill>
                <a:srgbClr val="000000"/>
              </a:solidFill>
              <a:latin typeface="Arial"/>
            </a:endParaRPr>
          </a:p>
        </p:txBody>
      </p:sp>
      <p:sp>
        <p:nvSpPr>
          <p:cNvPr id="323" name="PlaceHolder 2"/>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BEE36E0-901A-4D9E-B2EB-228CE65B1A85}"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grpSp>
        <p:nvGrpSpPr>
          <p:cNvPr id="324" name="Google Shape;312;p28"/>
          <p:cNvGrpSpPr/>
          <p:nvPr/>
        </p:nvGrpSpPr>
        <p:grpSpPr>
          <a:xfrm>
            <a:off x="906480" y="1563120"/>
            <a:ext cx="7893000" cy="500040"/>
            <a:chOff x="906480" y="1563120"/>
            <a:chExt cx="7893000" cy="500040"/>
          </a:xfrm>
        </p:grpSpPr>
        <p:grpSp>
          <p:nvGrpSpPr>
            <p:cNvPr id="325" name="Google Shape;313;p28"/>
            <p:cNvGrpSpPr/>
            <p:nvPr/>
          </p:nvGrpSpPr>
          <p:grpSpPr>
            <a:xfrm>
              <a:off x="906480" y="1563120"/>
              <a:ext cx="3047040" cy="492120"/>
              <a:chOff x="906480" y="1563120"/>
              <a:chExt cx="3047040" cy="492120"/>
            </a:xfrm>
          </p:grpSpPr>
          <p:sp>
            <p:nvSpPr>
              <p:cNvPr id="326" name="Google Shape;314;p28"/>
              <p:cNvSpPr/>
              <p:nvPr/>
            </p:nvSpPr>
            <p:spPr>
              <a:xfrm>
                <a:off x="906480" y="156312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27" name="Google Shape;315;p28"/>
              <p:cNvSpPr/>
              <p:nvPr/>
            </p:nvSpPr>
            <p:spPr>
              <a:xfrm>
                <a:off x="141444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28" name="Google Shape;316;p28"/>
              <p:cNvSpPr/>
              <p:nvPr/>
            </p:nvSpPr>
            <p:spPr>
              <a:xfrm>
                <a:off x="192240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29" name="Google Shape;317;p28"/>
              <p:cNvSpPr/>
              <p:nvPr/>
            </p:nvSpPr>
            <p:spPr>
              <a:xfrm>
                <a:off x="243036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0" name="Google Shape;318;p28"/>
              <p:cNvSpPr/>
              <p:nvPr/>
            </p:nvSpPr>
            <p:spPr>
              <a:xfrm>
                <a:off x="293832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1" name="Google Shape;319;p28"/>
              <p:cNvSpPr/>
              <p:nvPr/>
            </p:nvSpPr>
            <p:spPr>
              <a:xfrm>
                <a:off x="3445920" y="156312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32" name="Google Shape;320;p28"/>
            <p:cNvSpPr/>
            <p:nvPr/>
          </p:nvSpPr>
          <p:spPr>
            <a:xfrm>
              <a:off x="4915800" y="157104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accent3"/>
                  </a:solidFill>
                  <a:latin typeface="Consolas"/>
                  <a:ea typeface="Consolas"/>
                </a:rPr>
                <a:t>q.dequeue()</a:t>
              </a:r>
              <a:r>
                <a:rPr b="1" lang="el" sz="1600" spc="-1" strike="noStrike">
                  <a:solidFill>
                    <a:schemeClr val="accent3"/>
                  </a:solidFill>
                  <a:latin typeface="Lato"/>
                  <a:ea typeface="Lato"/>
                </a:rPr>
                <a:t> → ERROR: Queue Underflow!</a:t>
              </a:r>
              <a:endParaRPr b="0" lang="en-US" sz="1600" spc="-1" strike="noStrike">
                <a:solidFill>
                  <a:srgbClr val="000000"/>
                </a:solidFill>
                <a:latin typeface="Arial"/>
              </a:endParaRPr>
            </a:p>
          </p:txBody>
        </p:sp>
      </p:grpSp>
      <p:grpSp>
        <p:nvGrpSpPr>
          <p:cNvPr id="333" name="Google Shape;321;p28"/>
          <p:cNvGrpSpPr/>
          <p:nvPr/>
        </p:nvGrpSpPr>
        <p:grpSpPr>
          <a:xfrm>
            <a:off x="906480" y="2372040"/>
            <a:ext cx="7893000" cy="500040"/>
            <a:chOff x="906480" y="2372040"/>
            <a:chExt cx="7893000" cy="500040"/>
          </a:xfrm>
        </p:grpSpPr>
        <p:grpSp>
          <p:nvGrpSpPr>
            <p:cNvPr id="334" name="Google Shape;322;p28"/>
            <p:cNvGrpSpPr/>
            <p:nvPr/>
          </p:nvGrpSpPr>
          <p:grpSpPr>
            <a:xfrm>
              <a:off x="906480" y="2372040"/>
              <a:ext cx="3047040" cy="492120"/>
              <a:chOff x="906480" y="2372040"/>
              <a:chExt cx="3047040" cy="492120"/>
            </a:xfrm>
          </p:grpSpPr>
          <p:sp>
            <p:nvSpPr>
              <p:cNvPr id="335" name="Google Shape;323;p28"/>
              <p:cNvSpPr/>
              <p:nvPr/>
            </p:nvSpPr>
            <p:spPr>
              <a:xfrm>
                <a:off x="906480" y="237204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5</a:t>
                </a:r>
                <a:endParaRPr b="0" lang="en-US" sz="1600" spc="-1" strike="noStrike">
                  <a:solidFill>
                    <a:srgbClr val="000000"/>
                  </a:solidFill>
                  <a:latin typeface="Arial"/>
                </a:endParaRPr>
              </a:p>
            </p:txBody>
          </p:sp>
          <p:sp>
            <p:nvSpPr>
              <p:cNvPr id="336" name="Google Shape;324;p28"/>
              <p:cNvSpPr/>
              <p:nvPr/>
            </p:nvSpPr>
            <p:spPr>
              <a:xfrm>
                <a:off x="1414440" y="237204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7" name="Google Shape;325;p28"/>
              <p:cNvSpPr/>
              <p:nvPr/>
            </p:nvSpPr>
            <p:spPr>
              <a:xfrm>
                <a:off x="192240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8" name="Google Shape;326;p28"/>
              <p:cNvSpPr/>
              <p:nvPr/>
            </p:nvSpPr>
            <p:spPr>
              <a:xfrm>
                <a:off x="243036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9" name="Google Shape;327;p28"/>
              <p:cNvSpPr/>
              <p:nvPr/>
            </p:nvSpPr>
            <p:spPr>
              <a:xfrm>
                <a:off x="293832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40" name="Google Shape;328;p28"/>
              <p:cNvSpPr/>
              <p:nvPr/>
            </p:nvSpPr>
            <p:spPr>
              <a:xfrm>
                <a:off x="344592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41" name="Google Shape;329;p28"/>
            <p:cNvSpPr/>
            <p:nvPr/>
          </p:nvSpPr>
          <p:spPr>
            <a:xfrm>
              <a:off x="4915800" y="237996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q.enqueue(5)</a:t>
              </a:r>
              <a:endParaRPr b="0" lang="en-US" sz="1600" spc="-1" strike="noStrike">
                <a:solidFill>
                  <a:srgbClr val="000000"/>
                </a:solidFill>
                <a:latin typeface="Arial"/>
              </a:endParaRPr>
            </a:p>
          </p:txBody>
        </p:sp>
      </p:grpSp>
      <p:grpSp>
        <p:nvGrpSpPr>
          <p:cNvPr id="342" name="Google Shape;330;p28"/>
          <p:cNvGrpSpPr/>
          <p:nvPr/>
        </p:nvGrpSpPr>
        <p:grpSpPr>
          <a:xfrm>
            <a:off x="906480" y="3180960"/>
            <a:ext cx="7893000" cy="500040"/>
            <a:chOff x="906480" y="3180960"/>
            <a:chExt cx="7893000" cy="500040"/>
          </a:xfrm>
        </p:grpSpPr>
        <p:grpSp>
          <p:nvGrpSpPr>
            <p:cNvPr id="343" name="Google Shape;331;p28"/>
            <p:cNvGrpSpPr/>
            <p:nvPr/>
          </p:nvGrpSpPr>
          <p:grpSpPr>
            <a:xfrm>
              <a:off x="906480" y="3180960"/>
              <a:ext cx="3047040" cy="492120"/>
              <a:chOff x="906480" y="3180960"/>
              <a:chExt cx="3047040" cy="492120"/>
            </a:xfrm>
          </p:grpSpPr>
          <p:sp>
            <p:nvSpPr>
              <p:cNvPr id="344" name="Google Shape;332;p28"/>
              <p:cNvSpPr/>
              <p:nvPr/>
            </p:nvSpPr>
            <p:spPr>
              <a:xfrm>
                <a:off x="906480" y="318096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5</a:t>
                </a:r>
                <a:endParaRPr b="0" lang="en-US" sz="1600" spc="-1" strike="noStrike">
                  <a:solidFill>
                    <a:srgbClr val="000000"/>
                  </a:solidFill>
                  <a:latin typeface="Arial"/>
                </a:endParaRPr>
              </a:p>
            </p:txBody>
          </p:sp>
          <p:sp>
            <p:nvSpPr>
              <p:cNvPr id="345" name="Google Shape;333;p28"/>
              <p:cNvSpPr/>
              <p:nvPr/>
            </p:nvSpPr>
            <p:spPr>
              <a:xfrm>
                <a:off x="141444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46" name="Google Shape;334;p28"/>
              <p:cNvSpPr/>
              <p:nvPr/>
            </p:nvSpPr>
            <p:spPr>
              <a:xfrm>
                <a:off x="1922400" y="318096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47" name="Google Shape;335;p28"/>
              <p:cNvSpPr/>
              <p:nvPr/>
            </p:nvSpPr>
            <p:spPr>
              <a:xfrm>
                <a:off x="243036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48" name="Google Shape;336;p28"/>
              <p:cNvSpPr/>
              <p:nvPr/>
            </p:nvSpPr>
            <p:spPr>
              <a:xfrm>
                <a:off x="293832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49" name="Google Shape;337;p28"/>
              <p:cNvSpPr/>
              <p:nvPr/>
            </p:nvSpPr>
            <p:spPr>
              <a:xfrm>
                <a:off x="344592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50" name="Google Shape;338;p28"/>
            <p:cNvSpPr/>
            <p:nvPr/>
          </p:nvSpPr>
          <p:spPr>
            <a:xfrm>
              <a:off x="4915800" y="31888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q.enqueue(2)</a:t>
              </a:r>
              <a:endParaRPr b="0" lang="en-US" sz="1600" spc="-1" strike="noStrike">
                <a:solidFill>
                  <a:srgbClr val="000000"/>
                </a:solidFill>
                <a:latin typeface="Arial"/>
              </a:endParaRPr>
            </a:p>
          </p:txBody>
        </p:sp>
      </p:grpSp>
      <p:grpSp>
        <p:nvGrpSpPr>
          <p:cNvPr id="351" name="Google Shape;339;p28"/>
          <p:cNvGrpSpPr/>
          <p:nvPr/>
        </p:nvGrpSpPr>
        <p:grpSpPr>
          <a:xfrm>
            <a:off x="906480" y="3965400"/>
            <a:ext cx="7893000" cy="500040"/>
            <a:chOff x="906480" y="3965400"/>
            <a:chExt cx="7893000" cy="500040"/>
          </a:xfrm>
        </p:grpSpPr>
        <p:grpSp>
          <p:nvGrpSpPr>
            <p:cNvPr id="352" name="Google Shape;340;p28"/>
            <p:cNvGrpSpPr/>
            <p:nvPr/>
          </p:nvGrpSpPr>
          <p:grpSpPr>
            <a:xfrm>
              <a:off x="906480" y="3965400"/>
              <a:ext cx="3047040" cy="492120"/>
              <a:chOff x="906480" y="3965400"/>
              <a:chExt cx="3047040" cy="492120"/>
            </a:xfrm>
          </p:grpSpPr>
          <p:sp>
            <p:nvSpPr>
              <p:cNvPr id="353" name="Google Shape;341;p28"/>
              <p:cNvSpPr/>
              <p:nvPr/>
            </p:nvSpPr>
            <p:spPr>
              <a:xfrm>
                <a:off x="90648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54" name="Google Shape;342;p28"/>
              <p:cNvSpPr/>
              <p:nvPr/>
            </p:nvSpPr>
            <p:spPr>
              <a:xfrm>
                <a:off x="1414440" y="396540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55" name="Google Shape;343;p28"/>
              <p:cNvSpPr/>
              <p:nvPr/>
            </p:nvSpPr>
            <p:spPr>
              <a:xfrm>
                <a:off x="1922400" y="396540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56" name="Google Shape;344;p28"/>
              <p:cNvSpPr/>
              <p:nvPr/>
            </p:nvSpPr>
            <p:spPr>
              <a:xfrm>
                <a:off x="243036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57" name="Google Shape;345;p28"/>
              <p:cNvSpPr/>
              <p:nvPr/>
            </p:nvSpPr>
            <p:spPr>
              <a:xfrm>
                <a:off x="293832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58" name="Google Shape;346;p28"/>
              <p:cNvSpPr/>
              <p:nvPr/>
            </p:nvSpPr>
            <p:spPr>
              <a:xfrm>
                <a:off x="344592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59" name="Google Shape;347;p28"/>
            <p:cNvSpPr/>
            <p:nvPr/>
          </p:nvSpPr>
          <p:spPr>
            <a:xfrm>
              <a:off x="4915800" y="397332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q.dequeue() → 5</a:t>
              </a:r>
              <a:endParaRPr b="0" lang="en-US" sz="1600" spc="-1" strike="noStrike">
                <a:solidFill>
                  <a:srgbClr val="000000"/>
                </a:solidFill>
                <a:latin typeface="Arial"/>
              </a:endParaRPr>
            </a:p>
          </p:txBody>
        </p:sp>
      </p:grpSp>
      <p:grpSp>
        <p:nvGrpSpPr>
          <p:cNvPr id="360" name="Google Shape;348;p28"/>
          <p:cNvGrpSpPr/>
          <p:nvPr/>
        </p:nvGrpSpPr>
        <p:grpSpPr>
          <a:xfrm>
            <a:off x="5801400" y="593280"/>
            <a:ext cx="1310400" cy="492120"/>
            <a:chOff x="5801400" y="593280"/>
            <a:chExt cx="1310400" cy="492120"/>
          </a:xfrm>
        </p:grpSpPr>
        <p:sp>
          <p:nvSpPr>
            <p:cNvPr id="361" name="Google Shape;349;p28"/>
            <p:cNvSpPr/>
            <p:nvPr/>
          </p:nvSpPr>
          <p:spPr>
            <a:xfrm>
              <a:off x="5801400" y="59328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1" lang="el" sz="1100" spc="-1" strike="noStrike">
                  <a:solidFill>
                    <a:schemeClr val="dk1"/>
                  </a:solidFill>
                  <a:latin typeface="Consolas"/>
                  <a:ea typeface="Consolas"/>
                </a:rPr>
                <a:t>head</a:t>
              </a:r>
              <a:endParaRPr b="0" lang="en-US" sz="1100" spc="-1" strike="noStrike">
                <a:solidFill>
                  <a:srgbClr val="000000"/>
                </a:solidFill>
                <a:latin typeface="Arial"/>
              </a:endParaRPr>
            </a:p>
          </p:txBody>
        </p:sp>
        <p:sp>
          <p:nvSpPr>
            <p:cNvPr id="362" name="Google Shape;350;p28"/>
            <p:cNvSpPr/>
            <p:nvPr/>
          </p:nvSpPr>
          <p:spPr>
            <a:xfrm>
              <a:off x="6604200" y="59328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1" lang="el" sz="1100" spc="-1" strike="noStrike">
                  <a:solidFill>
                    <a:schemeClr val="accent3"/>
                  </a:solidFill>
                  <a:latin typeface="Consolas"/>
                  <a:ea typeface="Consolas"/>
                </a:rPr>
                <a:t>tail</a:t>
              </a:r>
              <a:endParaRPr b="0"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251" dur="indefinite" restart="never" nodeType="tmRoot">
          <p:childTnLst>
            <p:seq>
              <p:cTn id="252" dur="indefinite" nodeType="mainSeq">
                <p:childTnLst>
                  <p:par>
                    <p:cTn id="253" fill="hold">
                      <p:stCondLst>
                        <p:cond delay="indefinite"/>
                      </p:stCondLst>
                      <p:childTnLst>
                        <p:par>
                          <p:cTn id="254" fill="hold">
                            <p:stCondLst>
                              <p:cond delay="0"/>
                            </p:stCondLst>
                            <p:childTnLst>
                              <p:par>
                                <p:cTn id="255" nodeType="clickEffect" fill="hold" presetClass="entr" presetID="1">
                                  <p:stCondLst>
                                    <p:cond delay="0"/>
                                  </p:stCondLst>
                                  <p:childTnLst>
                                    <p:set>
                                      <p:cBhvr>
                                        <p:cTn id="256" dur="1" fill="hold">
                                          <p:stCondLst>
                                            <p:cond delay="0"/>
                                          </p:stCondLst>
                                        </p:cTn>
                                        <p:tgtEl>
                                          <p:spTgt spid="360"/>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nodeType="clickEffect" fill="hold" presetClass="entr" presetID="1">
                                  <p:stCondLst>
                                    <p:cond delay="0"/>
                                  </p:stCondLst>
                                  <p:childTnLst>
                                    <p:set>
                                      <p:cBhvr>
                                        <p:cTn id="260" dur="1" fill="hold">
                                          <p:stCondLst>
                                            <p:cond delay="0"/>
                                          </p:stCondLst>
                                        </p:cTn>
                                        <p:tgtEl>
                                          <p:spTgt spid="324"/>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nodeType="clickEffect" fill="hold" presetClass="entr" presetID="1">
                                  <p:stCondLst>
                                    <p:cond delay="0"/>
                                  </p:stCondLst>
                                  <p:childTnLst>
                                    <p:set>
                                      <p:cBhvr>
                                        <p:cTn id="264" dur="1" fill="hold">
                                          <p:stCondLst>
                                            <p:cond delay="0"/>
                                          </p:stCondLst>
                                        </p:cTn>
                                        <p:tgtEl>
                                          <p:spTgt spid="333"/>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nodeType="clickEffect" fill="hold" presetClass="entr" presetID="1">
                                  <p:stCondLst>
                                    <p:cond delay="0"/>
                                  </p:stCondLst>
                                  <p:childTnLst>
                                    <p:set>
                                      <p:cBhvr>
                                        <p:cTn id="268" dur="1" fill="hold">
                                          <p:stCondLst>
                                            <p:cond delay="0"/>
                                          </p:stCondLst>
                                        </p:cTn>
                                        <p:tgtEl>
                                          <p:spTgt spid="342"/>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nodeType="clickEffect" fill="hold" presetClass="entr" presetID="1">
                                  <p:stCondLst>
                                    <p:cond delay="0"/>
                                  </p:stCondLst>
                                  <p:childTnLst>
                                    <p:set>
                                      <p:cBhvr>
                                        <p:cTn id="272"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 Example</a:t>
            </a:r>
            <a:endParaRPr b="0" lang="en-US" sz="2600" spc="-1" strike="noStrike">
              <a:solidFill>
                <a:srgbClr val="000000"/>
              </a:solidFill>
              <a:latin typeface="Arial"/>
            </a:endParaRPr>
          </a:p>
        </p:txBody>
      </p:sp>
      <p:sp>
        <p:nvSpPr>
          <p:cNvPr id="364" name="PlaceHolder 2"/>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01704D1-1797-44F1-8648-791EBF3D3325}"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grpSp>
        <p:nvGrpSpPr>
          <p:cNvPr id="365" name="Google Shape;357;p29"/>
          <p:cNvGrpSpPr/>
          <p:nvPr/>
        </p:nvGrpSpPr>
        <p:grpSpPr>
          <a:xfrm>
            <a:off x="906480" y="2372040"/>
            <a:ext cx="7893000" cy="500040"/>
            <a:chOff x="906480" y="2372040"/>
            <a:chExt cx="7893000" cy="500040"/>
          </a:xfrm>
        </p:grpSpPr>
        <p:grpSp>
          <p:nvGrpSpPr>
            <p:cNvPr id="366" name="Google Shape;358;p29"/>
            <p:cNvGrpSpPr/>
            <p:nvPr/>
          </p:nvGrpSpPr>
          <p:grpSpPr>
            <a:xfrm>
              <a:off x="906480" y="2372040"/>
              <a:ext cx="3047040" cy="492120"/>
              <a:chOff x="906480" y="2372040"/>
              <a:chExt cx="3047040" cy="492120"/>
            </a:xfrm>
          </p:grpSpPr>
          <p:sp>
            <p:nvSpPr>
              <p:cNvPr id="367" name="Google Shape;359;p29"/>
              <p:cNvSpPr/>
              <p:nvPr/>
            </p:nvSpPr>
            <p:spPr>
              <a:xfrm>
                <a:off x="90648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68" name="Google Shape;360;p29"/>
              <p:cNvSpPr/>
              <p:nvPr/>
            </p:nvSpPr>
            <p:spPr>
              <a:xfrm>
                <a:off x="1414440" y="237204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69" name="Google Shape;361;p29"/>
              <p:cNvSpPr/>
              <p:nvPr/>
            </p:nvSpPr>
            <p:spPr>
              <a:xfrm>
                <a:off x="192240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370" name="Google Shape;362;p29"/>
              <p:cNvSpPr/>
              <p:nvPr/>
            </p:nvSpPr>
            <p:spPr>
              <a:xfrm>
                <a:off x="243036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371" name="Google Shape;363;p29"/>
              <p:cNvSpPr/>
              <p:nvPr/>
            </p:nvSpPr>
            <p:spPr>
              <a:xfrm>
                <a:off x="2938320" y="237204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72" name="Google Shape;364;p29"/>
              <p:cNvSpPr/>
              <p:nvPr/>
            </p:nvSpPr>
            <p:spPr>
              <a:xfrm>
                <a:off x="344592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73" name="Google Shape;365;p29"/>
            <p:cNvSpPr/>
            <p:nvPr/>
          </p:nvSpPr>
          <p:spPr>
            <a:xfrm>
              <a:off x="4915800" y="237996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q.enqueue(0)</a:t>
              </a:r>
              <a:endParaRPr b="0" lang="en-US" sz="1600" spc="-1" strike="noStrike">
                <a:solidFill>
                  <a:srgbClr val="000000"/>
                </a:solidFill>
                <a:latin typeface="Arial"/>
              </a:endParaRPr>
            </a:p>
          </p:txBody>
        </p:sp>
      </p:grpSp>
      <p:grpSp>
        <p:nvGrpSpPr>
          <p:cNvPr id="374" name="Google Shape;366;p29"/>
          <p:cNvGrpSpPr/>
          <p:nvPr/>
        </p:nvGrpSpPr>
        <p:grpSpPr>
          <a:xfrm>
            <a:off x="906480" y="3180960"/>
            <a:ext cx="7893000" cy="500040"/>
            <a:chOff x="906480" y="3180960"/>
            <a:chExt cx="7893000" cy="500040"/>
          </a:xfrm>
        </p:grpSpPr>
        <p:grpSp>
          <p:nvGrpSpPr>
            <p:cNvPr id="375" name="Google Shape;367;p29"/>
            <p:cNvGrpSpPr/>
            <p:nvPr/>
          </p:nvGrpSpPr>
          <p:grpSpPr>
            <a:xfrm>
              <a:off x="906480" y="3180960"/>
              <a:ext cx="3047040" cy="492120"/>
              <a:chOff x="906480" y="3180960"/>
              <a:chExt cx="3047040" cy="492120"/>
            </a:xfrm>
          </p:grpSpPr>
          <p:sp>
            <p:nvSpPr>
              <p:cNvPr id="376" name="Google Shape;368;p29"/>
              <p:cNvSpPr/>
              <p:nvPr/>
            </p:nvSpPr>
            <p:spPr>
              <a:xfrm>
                <a:off x="90648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77" name="Google Shape;369;p29"/>
              <p:cNvSpPr/>
              <p:nvPr/>
            </p:nvSpPr>
            <p:spPr>
              <a:xfrm>
                <a:off x="1414440" y="318096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78" name="Google Shape;370;p29"/>
              <p:cNvSpPr/>
              <p:nvPr/>
            </p:nvSpPr>
            <p:spPr>
              <a:xfrm>
                <a:off x="192240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379" name="Google Shape;371;p29"/>
              <p:cNvSpPr/>
              <p:nvPr/>
            </p:nvSpPr>
            <p:spPr>
              <a:xfrm>
                <a:off x="243036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380" name="Google Shape;372;p29"/>
              <p:cNvSpPr/>
              <p:nvPr/>
            </p:nvSpPr>
            <p:spPr>
              <a:xfrm>
                <a:off x="293832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81" name="Google Shape;373;p29"/>
              <p:cNvSpPr/>
              <p:nvPr/>
            </p:nvSpPr>
            <p:spPr>
              <a:xfrm>
                <a:off x="3445920" y="318096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82" name="Google Shape;374;p29"/>
            <p:cNvSpPr/>
            <p:nvPr/>
          </p:nvSpPr>
          <p:spPr>
            <a:xfrm>
              <a:off x="4915800" y="31888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q.enqueue(2)</a:t>
              </a:r>
              <a:endParaRPr b="0" lang="en-US" sz="1600" spc="-1" strike="noStrike">
                <a:solidFill>
                  <a:srgbClr val="000000"/>
                </a:solidFill>
                <a:latin typeface="Arial"/>
              </a:endParaRPr>
            </a:p>
          </p:txBody>
        </p:sp>
      </p:grpSp>
      <p:grpSp>
        <p:nvGrpSpPr>
          <p:cNvPr id="383" name="Google Shape;375;p29"/>
          <p:cNvGrpSpPr/>
          <p:nvPr/>
        </p:nvGrpSpPr>
        <p:grpSpPr>
          <a:xfrm>
            <a:off x="906480" y="3965400"/>
            <a:ext cx="7893000" cy="500040"/>
            <a:chOff x="906480" y="3965400"/>
            <a:chExt cx="7893000" cy="500040"/>
          </a:xfrm>
        </p:grpSpPr>
        <p:grpSp>
          <p:nvGrpSpPr>
            <p:cNvPr id="384" name="Google Shape;376;p29"/>
            <p:cNvGrpSpPr/>
            <p:nvPr/>
          </p:nvGrpSpPr>
          <p:grpSpPr>
            <a:xfrm>
              <a:off x="906480" y="3965400"/>
              <a:ext cx="3047040" cy="492120"/>
              <a:chOff x="906480" y="3965400"/>
              <a:chExt cx="3047040" cy="492120"/>
            </a:xfrm>
          </p:grpSpPr>
          <p:sp>
            <p:nvSpPr>
              <p:cNvPr id="385" name="Google Shape;377;p29"/>
              <p:cNvSpPr/>
              <p:nvPr/>
            </p:nvSpPr>
            <p:spPr>
              <a:xfrm>
                <a:off x="906480" y="396540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86" name="Google Shape;378;p29"/>
              <p:cNvSpPr/>
              <p:nvPr/>
            </p:nvSpPr>
            <p:spPr>
              <a:xfrm>
                <a:off x="1414440" y="396540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87" name="Google Shape;379;p29"/>
              <p:cNvSpPr/>
              <p:nvPr/>
            </p:nvSpPr>
            <p:spPr>
              <a:xfrm>
                <a:off x="192240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388" name="Google Shape;380;p29"/>
              <p:cNvSpPr/>
              <p:nvPr/>
            </p:nvSpPr>
            <p:spPr>
              <a:xfrm>
                <a:off x="243036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389" name="Google Shape;381;p29"/>
              <p:cNvSpPr/>
              <p:nvPr/>
            </p:nvSpPr>
            <p:spPr>
              <a:xfrm>
                <a:off x="293832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90" name="Google Shape;382;p29"/>
              <p:cNvSpPr/>
              <p:nvPr/>
            </p:nvSpPr>
            <p:spPr>
              <a:xfrm>
                <a:off x="344592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grpSp>
        <p:sp>
          <p:nvSpPr>
            <p:cNvPr id="391" name="Google Shape;383;p29"/>
            <p:cNvSpPr/>
            <p:nvPr/>
          </p:nvSpPr>
          <p:spPr>
            <a:xfrm>
              <a:off x="4915800" y="397332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q.enqueue(4)</a:t>
              </a:r>
              <a:endParaRPr b="0" lang="en-US" sz="1600" spc="-1" strike="noStrike">
                <a:solidFill>
                  <a:srgbClr val="000000"/>
                </a:solidFill>
                <a:latin typeface="Arial"/>
              </a:endParaRPr>
            </a:p>
          </p:txBody>
        </p:sp>
      </p:grpSp>
      <p:grpSp>
        <p:nvGrpSpPr>
          <p:cNvPr id="392" name="Google Shape;384;p29"/>
          <p:cNvGrpSpPr/>
          <p:nvPr/>
        </p:nvGrpSpPr>
        <p:grpSpPr>
          <a:xfrm>
            <a:off x="906480" y="1526760"/>
            <a:ext cx="7893000" cy="500040"/>
            <a:chOff x="906480" y="1526760"/>
            <a:chExt cx="7893000" cy="500040"/>
          </a:xfrm>
        </p:grpSpPr>
        <p:grpSp>
          <p:nvGrpSpPr>
            <p:cNvPr id="393" name="Google Shape;385;p29"/>
            <p:cNvGrpSpPr/>
            <p:nvPr/>
          </p:nvGrpSpPr>
          <p:grpSpPr>
            <a:xfrm>
              <a:off x="906480" y="1526760"/>
              <a:ext cx="3047040" cy="492120"/>
              <a:chOff x="906480" y="1526760"/>
              <a:chExt cx="3047040" cy="492120"/>
            </a:xfrm>
          </p:grpSpPr>
          <p:sp>
            <p:nvSpPr>
              <p:cNvPr id="394" name="Google Shape;386;p29"/>
              <p:cNvSpPr/>
              <p:nvPr/>
            </p:nvSpPr>
            <p:spPr>
              <a:xfrm>
                <a:off x="90648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95" name="Google Shape;387;p29"/>
              <p:cNvSpPr/>
              <p:nvPr/>
            </p:nvSpPr>
            <p:spPr>
              <a:xfrm>
                <a:off x="1414440" y="152676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396" name="Google Shape;388;p29"/>
              <p:cNvSpPr/>
              <p:nvPr/>
            </p:nvSpPr>
            <p:spPr>
              <a:xfrm>
                <a:off x="192240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397" name="Google Shape;389;p29"/>
              <p:cNvSpPr/>
              <p:nvPr/>
            </p:nvSpPr>
            <p:spPr>
              <a:xfrm>
                <a:off x="2430360" y="152676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98" name="Google Shape;390;p29"/>
              <p:cNvSpPr/>
              <p:nvPr/>
            </p:nvSpPr>
            <p:spPr>
              <a:xfrm>
                <a:off x="293832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99" name="Google Shape;391;p29"/>
              <p:cNvSpPr/>
              <p:nvPr/>
            </p:nvSpPr>
            <p:spPr>
              <a:xfrm>
                <a:off x="344592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400" name="Google Shape;392;p29"/>
            <p:cNvSpPr/>
            <p:nvPr/>
          </p:nvSpPr>
          <p:spPr>
            <a:xfrm>
              <a:off x="4915800" y="15346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q.enqueue(6)</a:t>
              </a:r>
              <a:endParaRPr b="0" lang="en-US" sz="1600" spc="-1" strike="noStrike">
                <a:solidFill>
                  <a:srgbClr val="000000"/>
                </a:solidFill>
                <a:latin typeface="Arial"/>
              </a:endParaRPr>
            </a:p>
          </p:txBody>
        </p:sp>
      </p:grpSp>
      <p:grpSp>
        <p:nvGrpSpPr>
          <p:cNvPr id="401" name="Google Shape;393;p29"/>
          <p:cNvGrpSpPr/>
          <p:nvPr/>
        </p:nvGrpSpPr>
        <p:grpSpPr>
          <a:xfrm>
            <a:off x="5801400" y="593280"/>
            <a:ext cx="1310400" cy="492120"/>
            <a:chOff x="5801400" y="593280"/>
            <a:chExt cx="1310400" cy="492120"/>
          </a:xfrm>
        </p:grpSpPr>
        <p:sp>
          <p:nvSpPr>
            <p:cNvPr id="402" name="Google Shape;394;p29"/>
            <p:cNvSpPr/>
            <p:nvPr/>
          </p:nvSpPr>
          <p:spPr>
            <a:xfrm>
              <a:off x="5801400" y="59328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1" lang="el" sz="1100" spc="-1" strike="noStrike">
                  <a:solidFill>
                    <a:schemeClr val="dk1"/>
                  </a:solidFill>
                  <a:latin typeface="Consolas"/>
                  <a:ea typeface="Consolas"/>
                </a:rPr>
                <a:t>head</a:t>
              </a:r>
              <a:endParaRPr b="0" lang="en-US" sz="1100" spc="-1" strike="noStrike">
                <a:solidFill>
                  <a:srgbClr val="000000"/>
                </a:solidFill>
                <a:latin typeface="Arial"/>
              </a:endParaRPr>
            </a:p>
          </p:txBody>
        </p:sp>
        <p:sp>
          <p:nvSpPr>
            <p:cNvPr id="403" name="Google Shape;395;p29"/>
            <p:cNvSpPr/>
            <p:nvPr/>
          </p:nvSpPr>
          <p:spPr>
            <a:xfrm>
              <a:off x="6604200" y="59328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1" lang="el" sz="1100" spc="-1" strike="noStrike">
                  <a:solidFill>
                    <a:schemeClr val="accent3"/>
                  </a:solidFill>
                  <a:latin typeface="Consolas"/>
                  <a:ea typeface="Consolas"/>
                </a:rPr>
                <a:t>tail</a:t>
              </a:r>
              <a:endParaRPr b="0"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273" dur="indefinite" restart="never" nodeType="tmRoot">
          <p:childTnLst>
            <p:seq>
              <p:cTn id="274" dur="indefinite" nodeType="mainSeq">
                <p:childTnLst>
                  <p:par>
                    <p:cTn id="275" fill="hold">
                      <p:stCondLst>
                        <p:cond delay="indefinite"/>
                      </p:stCondLst>
                      <p:childTnLst>
                        <p:par>
                          <p:cTn id="276" fill="hold">
                            <p:stCondLst>
                              <p:cond delay="0"/>
                            </p:stCondLst>
                            <p:childTnLst>
                              <p:par>
                                <p:cTn id="277" nodeType="clickEffect" fill="hold" presetClass="entr" presetID="1">
                                  <p:stCondLst>
                                    <p:cond delay="0"/>
                                  </p:stCondLst>
                                  <p:childTnLst>
                                    <p:set>
                                      <p:cBhvr>
                                        <p:cTn id="278" dur="1" fill="hold">
                                          <p:stCondLst>
                                            <p:cond delay="0"/>
                                          </p:stCondLst>
                                        </p:cTn>
                                        <p:tgtEl>
                                          <p:spTgt spid="401"/>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nodeType="clickEffect" fill="hold" presetClass="entr" presetID="1">
                                  <p:stCondLst>
                                    <p:cond delay="0"/>
                                  </p:stCondLst>
                                  <p:childTnLst>
                                    <p:set>
                                      <p:cBhvr>
                                        <p:cTn id="282" dur="1" fill="hold">
                                          <p:stCondLst>
                                            <p:cond delay="0"/>
                                          </p:stCondLst>
                                        </p:cTn>
                                        <p:tgtEl>
                                          <p:spTgt spid="392"/>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nodeType="clickEffect" fill="hold" presetClass="entr" presetID="1">
                                  <p:stCondLst>
                                    <p:cond delay="0"/>
                                  </p:stCondLst>
                                  <p:childTnLst>
                                    <p:set>
                                      <p:cBhvr>
                                        <p:cTn id="286" dur="1" fill="hold">
                                          <p:stCondLst>
                                            <p:cond delay="0"/>
                                          </p:stCondLst>
                                        </p:cTn>
                                        <p:tgtEl>
                                          <p:spTgt spid="365"/>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nodeType="clickEffect" fill="hold" presetClass="entr" presetID="1">
                                  <p:stCondLst>
                                    <p:cond delay="0"/>
                                  </p:stCondLst>
                                  <p:childTnLst>
                                    <p:set>
                                      <p:cBhvr>
                                        <p:cTn id="290" dur="1" fill="hold">
                                          <p:stCondLst>
                                            <p:cond delay="0"/>
                                          </p:stCondLst>
                                        </p:cTn>
                                        <p:tgtEl>
                                          <p:spTgt spid="374"/>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nodeType="clickEffect" fill="hold" presetClass="entr" presetID="1">
                                  <p:stCondLst>
                                    <p:cond delay="0"/>
                                  </p:stCondLst>
                                  <p:childTnLst>
                                    <p:set>
                                      <p:cBhvr>
                                        <p:cTn id="294" dur="1" fill="hold">
                                          <p:stCondLst>
                                            <p:cond delay="0"/>
                                          </p:stCondLst>
                                        </p:cTn>
                                        <p:tgtEl>
                                          <p:spTgt spid="3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 Example</a:t>
            </a:r>
            <a:endParaRPr b="0" lang="en-US" sz="2600" spc="-1" strike="noStrike">
              <a:solidFill>
                <a:srgbClr val="000000"/>
              </a:solidFill>
              <a:latin typeface="Arial"/>
            </a:endParaRPr>
          </a:p>
        </p:txBody>
      </p:sp>
      <p:sp>
        <p:nvSpPr>
          <p:cNvPr id="405" name="PlaceHolder 2"/>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6F6EB76-D95D-4623-B595-72D69134B15E}"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grpSp>
        <p:nvGrpSpPr>
          <p:cNvPr id="406" name="Google Shape;402;p30"/>
          <p:cNvGrpSpPr/>
          <p:nvPr/>
        </p:nvGrpSpPr>
        <p:grpSpPr>
          <a:xfrm>
            <a:off x="906480" y="2372040"/>
            <a:ext cx="7893000" cy="500040"/>
            <a:chOff x="906480" y="2372040"/>
            <a:chExt cx="7893000" cy="500040"/>
          </a:xfrm>
        </p:grpSpPr>
        <p:grpSp>
          <p:nvGrpSpPr>
            <p:cNvPr id="407" name="Google Shape;403;p30"/>
            <p:cNvGrpSpPr/>
            <p:nvPr/>
          </p:nvGrpSpPr>
          <p:grpSpPr>
            <a:xfrm>
              <a:off x="906480" y="2372040"/>
              <a:ext cx="3047040" cy="492120"/>
              <a:chOff x="906480" y="2372040"/>
              <a:chExt cx="3047040" cy="492120"/>
            </a:xfrm>
          </p:grpSpPr>
          <p:sp>
            <p:nvSpPr>
              <p:cNvPr id="408" name="Google Shape;404;p30"/>
              <p:cNvSpPr/>
              <p:nvPr/>
            </p:nvSpPr>
            <p:spPr>
              <a:xfrm>
                <a:off x="90648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409" name="Google Shape;405;p30"/>
              <p:cNvSpPr/>
              <p:nvPr/>
            </p:nvSpPr>
            <p:spPr>
              <a:xfrm>
                <a:off x="1414440" y="237204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410" name="Google Shape;406;p30"/>
              <p:cNvSpPr/>
              <p:nvPr/>
            </p:nvSpPr>
            <p:spPr>
              <a:xfrm>
                <a:off x="192240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411" name="Google Shape;407;p30"/>
              <p:cNvSpPr/>
              <p:nvPr/>
            </p:nvSpPr>
            <p:spPr>
              <a:xfrm>
                <a:off x="243036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412" name="Google Shape;408;p30"/>
              <p:cNvSpPr/>
              <p:nvPr/>
            </p:nvSpPr>
            <p:spPr>
              <a:xfrm>
                <a:off x="293832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413" name="Google Shape;409;p30"/>
              <p:cNvSpPr/>
              <p:nvPr/>
            </p:nvSpPr>
            <p:spPr>
              <a:xfrm>
                <a:off x="3445920" y="237204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grpSp>
        <p:sp>
          <p:nvSpPr>
            <p:cNvPr id="414" name="Google Shape;410;p30"/>
            <p:cNvSpPr/>
            <p:nvPr/>
          </p:nvSpPr>
          <p:spPr>
            <a:xfrm>
              <a:off x="4915800" y="237996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accent3"/>
                  </a:solidFill>
                  <a:latin typeface="Consolas"/>
                  <a:ea typeface="Consolas"/>
                </a:rPr>
                <a:t>q.enqueue(1) → ERROR: Queue Overflow!</a:t>
              </a:r>
              <a:endParaRPr b="0" lang="en-US" sz="1600" spc="-1" strike="noStrike">
                <a:solidFill>
                  <a:srgbClr val="000000"/>
                </a:solidFill>
                <a:latin typeface="Arial"/>
              </a:endParaRPr>
            </a:p>
          </p:txBody>
        </p:sp>
      </p:grpSp>
      <p:grpSp>
        <p:nvGrpSpPr>
          <p:cNvPr id="415" name="Google Shape;411;p30"/>
          <p:cNvGrpSpPr/>
          <p:nvPr/>
        </p:nvGrpSpPr>
        <p:grpSpPr>
          <a:xfrm>
            <a:off x="906480" y="3180960"/>
            <a:ext cx="7893000" cy="500040"/>
            <a:chOff x="906480" y="3180960"/>
            <a:chExt cx="7893000" cy="500040"/>
          </a:xfrm>
        </p:grpSpPr>
        <p:grpSp>
          <p:nvGrpSpPr>
            <p:cNvPr id="416" name="Google Shape;412;p30"/>
            <p:cNvGrpSpPr/>
            <p:nvPr/>
          </p:nvGrpSpPr>
          <p:grpSpPr>
            <a:xfrm>
              <a:off x="906480" y="3180960"/>
              <a:ext cx="3047040" cy="492120"/>
              <a:chOff x="906480" y="3180960"/>
              <a:chExt cx="3047040" cy="492120"/>
            </a:xfrm>
          </p:grpSpPr>
          <p:sp>
            <p:nvSpPr>
              <p:cNvPr id="417" name="Google Shape;413;p30"/>
              <p:cNvSpPr/>
              <p:nvPr/>
            </p:nvSpPr>
            <p:spPr>
              <a:xfrm>
                <a:off x="90648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418" name="Google Shape;414;p30"/>
              <p:cNvSpPr/>
              <p:nvPr/>
            </p:nvSpPr>
            <p:spPr>
              <a:xfrm>
                <a:off x="1414440" y="318096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19" name="Google Shape;415;p30"/>
              <p:cNvSpPr/>
              <p:nvPr/>
            </p:nvSpPr>
            <p:spPr>
              <a:xfrm>
                <a:off x="1922400" y="318096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420" name="Google Shape;416;p30"/>
              <p:cNvSpPr/>
              <p:nvPr/>
            </p:nvSpPr>
            <p:spPr>
              <a:xfrm>
                <a:off x="243036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421" name="Google Shape;417;p30"/>
              <p:cNvSpPr/>
              <p:nvPr/>
            </p:nvSpPr>
            <p:spPr>
              <a:xfrm>
                <a:off x="293832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422" name="Google Shape;418;p30"/>
              <p:cNvSpPr/>
              <p:nvPr/>
            </p:nvSpPr>
            <p:spPr>
              <a:xfrm>
                <a:off x="3445920" y="31809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grpSp>
        <p:sp>
          <p:nvSpPr>
            <p:cNvPr id="423" name="Google Shape;419;p30"/>
            <p:cNvSpPr/>
            <p:nvPr/>
          </p:nvSpPr>
          <p:spPr>
            <a:xfrm>
              <a:off x="4915800" y="31888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q.dequeue() → 2</a:t>
              </a:r>
              <a:endParaRPr b="0" lang="en-US" sz="1600" spc="-1" strike="noStrike">
                <a:solidFill>
                  <a:srgbClr val="000000"/>
                </a:solidFill>
                <a:latin typeface="Arial"/>
              </a:endParaRPr>
            </a:p>
          </p:txBody>
        </p:sp>
      </p:grpSp>
      <p:grpSp>
        <p:nvGrpSpPr>
          <p:cNvPr id="424" name="Google Shape;420;p30"/>
          <p:cNvGrpSpPr/>
          <p:nvPr/>
        </p:nvGrpSpPr>
        <p:grpSpPr>
          <a:xfrm>
            <a:off x="906480" y="3965400"/>
            <a:ext cx="7893000" cy="500040"/>
            <a:chOff x="906480" y="3965400"/>
            <a:chExt cx="7893000" cy="500040"/>
          </a:xfrm>
        </p:grpSpPr>
        <p:grpSp>
          <p:nvGrpSpPr>
            <p:cNvPr id="425" name="Google Shape;421;p30"/>
            <p:cNvGrpSpPr/>
            <p:nvPr/>
          </p:nvGrpSpPr>
          <p:grpSpPr>
            <a:xfrm>
              <a:off x="906480" y="3965400"/>
              <a:ext cx="3047040" cy="492120"/>
              <a:chOff x="906480" y="3965400"/>
              <a:chExt cx="3047040" cy="492120"/>
            </a:xfrm>
          </p:grpSpPr>
          <p:sp>
            <p:nvSpPr>
              <p:cNvPr id="426" name="Google Shape;422;p30"/>
              <p:cNvSpPr/>
              <p:nvPr/>
            </p:nvSpPr>
            <p:spPr>
              <a:xfrm>
                <a:off x="90648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427" name="Google Shape;423;p30"/>
              <p:cNvSpPr/>
              <p:nvPr/>
            </p:nvSpPr>
            <p:spPr>
              <a:xfrm>
                <a:off x="1414440" y="396540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28" name="Google Shape;424;p30"/>
              <p:cNvSpPr/>
              <p:nvPr/>
            </p:nvSpPr>
            <p:spPr>
              <a:xfrm>
                <a:off x="192240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29" name="Google Shape;425;p30"/>
              <p:cNvSpPr/>
              <p:nvPr/>
            </p:nvSpPr>
            <p:spPr>
              <a:xfrm>
                <a:off x="2430360" y="396540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430" name="Google Shape;426;p30"/>
              <p:cNvSpPr/>
              <p:nvPr/>
            </p:nvSpPr>
            <p:spPr>
              <a:xfrm>
                <a:off x="293832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431" name="Google Shape;427;p30"/>
              <p:cNvSpPr/>
              <p:nvPr/>
            </p:nvSpPr>
            <p:spPr>
              <a:xfrm>
                <a:off x="3445920" y="396540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grpSp>
        <p:sp>
          <p:nvSpPr>
            <p:cNvPr id="432" name="Google Shape;428;p30"/>
            <p:cNvSpPr/>
            <p:nvPr/>
          </p:nvSpPr>
          <p:spPr>
            <a:xfrm>
              <a:off x="4915800" y="397332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q.dequeue() → 6</a:t>
              </a:r>
              <a:endParaRPr b="0" lang="en-US" sz="1600" spc="-1" strike="noStrike">
                <a:solidFill>
                  <a:srgbClr val="000000"/>
                </a:solidFill>
                <a:latin typeface="Arial"/>
              </a:endParaRPr>
            </a:p>
          </p:txBody>
        </p:sp>
      </p:grpSp>
      <p:grpSp>
        <p:nvGrpSpPr>
          <p:cNvPr id="433" name="Google Shape;429;p30"/>
          <p:cNvGrpSpPr/>
          <p:nvPr/>
        </p:nvGrpSpPr>
        <p:grpSpPr>
          <a:xfrm>
            <a:off x="906480" y="1526760"/>
            <a:ext cx="7893000" cy="500040"/>
            <a:chOff x="906480" y="1526760"/>
            <a:chExt cx="7893000" cy="500040"/>
          </a:xfrm>
        </p:grpSpPr>
        <p:grpSp>
          <p:nvGrpSpPr>
            <p:cNvPr id="434" name="Google Shape;430;p30"/>
            <p:cNvGrpSpPr/>
            <p:nvPr/>
          </p:nvGrpSpPr>
          <p:grpSpPr>
            <a:xfrm>
              <a:off x="906480" y="1526760"/>
              <a:ext cx="3047040" cy="492120"/>
              <a:chOff x="906480" y="1526760"/>
              <a:chExt cx="3047040" cy="492120"/>
            </a:xfrm>
          </p:grpSpPr>
          <p:sp>
            <p:nvSpPr>
              <p:cNvPr id="435" name="Google Shape;431;p30"/>
              <p:cNvSpPr/>
              <p:nvPr/>
            </p:nvSpPr>
            <p:spPr>
              <a:xfrm>
                <a:off x="90648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3</a:t>
                </a:r>
                <a:endParaRPr b="0" lang="en-US" sz="1600" spc="-1" strike="noStrike">
                  <a:solidFill>
                    <a:srgbClr val="000000"/>
                  </a:solidFill>
                  <a:latin typeface="Arial"/>
                </a:endParaRPr>
              </a:p>
            </p:txBody>
          </p:sp>
          <p:sp>
            <p:nvSpPr>
              <p:cNvPr id="436" name="Google Shape;432;p30"/>
              <p:cNvSpPr/>
              <p:nvPr/>
            </p:nvSpPr>
            <p:spPr>
              <a:xfrm>
                <a:off x="1414440" y="152676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437" name="Google Shape;433;p30"/>
              <p:cNvSpPr/>
              <p:nvPr/>
            </p:nvSpPr>
            <p:spPr>
              <a:xfrm>
                <a:off x="192240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6</a:t>
                </a:r>
                <a:endParaRPr b="0" lang="en-US" sz="1600" spc="-1" strike="noStrike">
                  <a:solidFill>
                    <a:srgbClr val="000000"/>
                  </a:solidFill>
                  <a:latin typeface="Arial"/>
                </a:endParaRPr>
              </a:p>
            </p:txBody>
          </p:sp>
          <p:sp>
            <p:nvSpPr>
              <p:cNvPr id="438" name="Google Shape;434;p30"/>
              <p:cNvSpPr/>
              <p:nvPr/>
            </p:nvSpPr>
            <p:spPr>
              <a:xfrm>
                <a:off x="243036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0</a:t>
                </a:r>
                <a:endParaRPr b="0" lang="en-US" sz="1600" spc="-1" strike="noStrike">
                  <a:solidFill>
                    <a:srgbClr val="000000"/>
                  </a:solidFill>
                  <a:latin typeface="Arial"/>
                </a:endParaRPr>
              </a:p>
            </p:txBody>
          </p:sp>
          <p:sp>
            <p:nvSpPr>
              <p:cNvPr id="439" name="Google Shape;435;p30"/>
              <p:cNvSpPr/>
              <p:nvPr/>
            </p:nvSpPr>
            <p:spPr>
              <a:xfrm>
                <a:off x="293832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2</a:t>
                </a:r>
                <a:endParaRPr b="0" lang="en-US" sz="1600" spc="-1" strike="noStrike">
                  <a:solidFill>
                    <a:srgbClr val="000000"/>
                  </a:solidFill>
                  <a:latin typeface="Arial"/>
                </a:endParaRPr>
              </a:p>
            </p:txBody>
          </p:sp>
          <p:sp>
            <p:nvSpPr>
              <p:cNvPr id="440" name="Google Shape;436;p30"/>
              <p:cNvSpPr/>
              <p:nvPr/>
            </p:nvSpPr>
            <p:spPr>
              <a:xfrm>
                <a:off x="3445920" y="1526760"/>
                <a:ext cx="507600" cy="4921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4</a:t>
                </a:r>
                <a:endParaRPr b="0" lang="en-US" sz="1600" spc="-1" strike="noStrike">
                  <a:solidFill>
                    <a:srgbClr val="000000"/>
                  </a:solidFill>
                  <a:latin typeface="Arial"/>
                </a:endParaRPr>
              </a:p>
            </p:txBody>
          </p:sp>
        </p:grpSp>
        <p:sp>
          <p:nvSpPr>
            <p:cNvPr id="441" name="Google Shape;437;p30"/>
            <p:cNvSpPr/>
            <p:nvPr/>
          </p:nvSpPr>
          <p:spPr>
            <a:xfrm>
              <a:off x="4915800" y="1534680"/>
              <a:ext cx="388368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Consolas"/>
                  <a:ea typeface="Consolas"/>
                </a:rPr>
                <a:t>q.enqueue(3)</a:t>
              </a:r>
              <a:endParaRPr b="0" lang="en-US" sz="1600" spc="-1" strike="noStrike">
                <a:solidFill>
                  <a:srgbClr val="000000"/>
                </a:solidFill>
                <a:latin typeface="Arial"/>
              </a:endParaRPr>
            </a:p>
          </p:txBody>
        </p:sp>
      </p:grpSp>
      <p:grpSp>
        <p:nvGrpSpPr>
          <p:cNvPr id="442" name="Google Shape;438;p30"/>
          <p:cNvGrpSpPr/>
          <p:nvPr/>
        </p:nvGrpSpPr>
        <p:grpSpPr>
          <a:xfrm>
            <a:off x="5801400" y="593280"/>
            <a:ext cx="1310400" cy="492120"/>
            <a:chOff x="5801400" y="593280"/>
            <a:chExt cx="1310400" cy="492120"/>
          </a:xfrm>
        </p:grpSpPr>
        <p:sp>
          <p:nvSpPr>
            <p:cNvPr id="443" name="Google Shape;439;p30"/>
            <p:cNvSpPr/>
            <p:nvPr/>
          </p:nvSpPr>
          <p:spPr>
            <a:xfrm>
              <a:off x="5801400" y="593280"/>
              <a:ext cx="507600" cy="492120"/>
            </a:xfrm>
            <a:prstGeom prst="rect">
              <a:avLst/>
            </a:prstGeom>
            <a:solidFill>
              <a:srgbClr val="d9ead3"/>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1" lang="el" sz="1100" spc="-1" strike="noStrike">
                  <a:solidFill>
                    <a:schemeClr val="dk1"/>
                  </a:solidFill>
                  <a:latin typeface="Consolas"/>
                  <a:ea typeface="Consolas"/>
                </a:rPr>
                <a:t>head</a:t>
              </a:r>
              <a:endParaRPr b="0" lang="en-US" sz="1100" spc="-1" strike="noStrike">
                <a:solidFill>
                  <a:srgbClr val="000000"/>
                </a:solidFill>
                <a:latin typeface="Arial"/>
              </a:endParaRPr>
            </a:p>
          </p:txBody>
        </p:sp>
        <p:sp>
          <p:nvSpPr>
            <p:cNvPr id="444" name="Google Shape;440;p30"/>
            <p:cNvSpPr/>
            <p:nvPr/>
          </p:nvSpPr>
          <p:spPr>
            <a:xfrm>
              <a:off x="6604200" y="593280"/>
              <a:ext cx="507600" cy="492120"/>
            </a:xfrm>
            <a:prstGeom prst="rect">
              <a:avLst/>
            </a:prstGeom>
            <a:solidFill>
              <a:srgbClr val="fce5cd"/>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1" lang="el" sz="1100" spc="-1" strike="noStrike">
                  <a:solidFill>
                    <a:schemeClr val="accent3"/>
                  </a:solidFill>
                  <a:latin typeface="Consolas"/>
                  <a:ea typeface="Consolas"/>
                </a:rPr>
                <a:t>tail</a:t>
              </a:r>
              <a:endParaRPr b="0"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295" dur="indefinite" restart="never" nodeType="tmRoot">
          <p:childTnLst>
            <p:seq>
              <p:cTn id="296" dur="indefinite" nodeType="mainSeq">
                <p:childTnLst>
                  <p:par>
                    <p:cTn id="297" fill="hold">
                      <p:stCondLst>
                        <p:cond delay="indefinite"/>
                      </p:stCondLst>
                      <p:childTnLst>
                        <p:par>
                          <p:cTn id="298" fill="hold">
                            <p:stCondLst>
                              <p:cond delay="0"/>
                            </p:stCondLst>
                            <p:childTnLst>
                              <p:par>
                                <p:cTn id="299" nodeType="clickEffect" fill="hold" presetClass="entr" presetID="1">
                                  <p:stCondLst>
                                    <p:cond delay="0"/>
                                  </p:stCondLst>
                                  <p:childTnLst>
                                    <p:set>
                                      <p:cBhvr>
                                        <p:cTn id="300" dur="1" fill="hold">
                                          <p:stCondLst>
                                            <p:cond delay="0"/>
                                          </p:stCondLst>
                                        </p:cTn>
                                        <p:tgtEl>
                                          <p:spTgt spid="433"/>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nodeType="clickEffect" fill="hold" presetClass="entr" presetID="1">
                                  <p:stCondLst>
                                    <p:cond delay="0"/>
                                  </p:stCondLst>
                                  <p:childTnLst>
                                    <p:set>
                                      <p:cBhvr>
                                        <p:cTn id="304" dur="1" fill="hold">
                                          <p:stCondLst>
                                            <p:cond delay="0"/>
                                          </p:stCondLst>
                                        </p:cTn>
                                        <p:tgtEl>
                                          <p:spTgt spid="406"/>
                                        </p:tgtEl>
                                        <p:attrNameLst>
                                          <p:attrName>style.visibility</p:attrName>
                                        </p:attrNameLst>
                                      </p:cBhvr>
                                      <p:to>
                                        <p:strVal val="visible"/>
                                      </p:to>
                                    </p:set>
                                  </p:childTnLst>
                                </p:cTn>
                              </p:par>
                            </p:childTnLst>
                          </p:cTn>
                        </p:par>
                      </p:childTnLst>
                    </p:cTn>
                  </p:par>
                  <p:par>
                    <p:cTn id="305" fill="hold">
                      <p:stCondLst>
                        <p:cond delay="indefinite"/>
                      </p:stCondLst>
                      <p:childTnLst>
                        <p:par>
                          <p:cTn id="306" fill="hold">
                            <p:stCondLst>
                              <p:cond delay="0"/>
                            </p:stCondLst>
                            <p:childTnLst>
                              <p:par>
                                <p:cTn id="307" nodeType="clickEffect" fill="hold" presetClass="entr" presetID="1">
                                  <p:stCondLst>
                                    <p:cond delay="0"/>
                                  </p:stCondLst>
                                  <p:childTnLst>
                                    <p:set>
                                      <p:cBhvr>
                                        <p:cTn id="308" dur="1" fill="hold">
                                          <p:stCondLst>
                                            <p:cond delay="0"/>
                                          </p:stCondLst>
                                        </p:cTn>
                                        <p:tgtEl>
                                          <p:spTgt spid="415"/>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nodeType="clickEffect" fill="hold" presetClass="entr" presetID="1">
                                  <p:stCondLst>
                                    <p:cond delay="0"/>
                                  </p:stCondLst>
                                  <p:childTnLst>
                                    <p:set>
                                      <p:cBhvr>
                                        <p:cTn id="312"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Note on Cyclic Arrays</a:t>
            </a:r>
            <a:endParaRPr b="0" lang="en-US" sz="2600" spc="-1" strike="noStrike">
              <a:solidFill>
                <a:srgbClr val="000000"/>
              </a:solidFill>
              <a:latin typeface="Arial"/>
            </a:endParaRPr>
          </a:p>
        </p:txBody>
      </p:sp>
      <p:sp>
        <p:nvSpPr>
          <p:cNvPr id="446"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In the above, we used a structure called </a:t>
            </a:r>
            <a:r>
              <a:rPr b="1" lang="el" sz="1600" spc="-1" strike="noStrike">
                <a:solidFill>
                  <a:schemeClr val="dk1"/>
                </a:solidFill>
                <a:latin typeface="Lato"/>
                <a:ea typeface="Lato"/>
              </a:rPr>
              <a:t>cyclic array</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Essentially, cyclic arrays are arrays where the positions of the “first” and “last” elements are not fixed, as in typical arrays (start → 0, last → array.length - 1).</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In cyclic arrays we make use of two pointer to indicate the first and last elements (initially, set both to 0).</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Cyclic arrays are useful in cases where we do not actually take advantage of the structure of the array (i.e., fixed first and last element position), as above.</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Essentially, we can add and remove elements from both array ends seamlessly, just by making sure to keep track of the two pointers (head and tail, in the above).</a:t>
            </a:r>
            <a:endParaRPr b="0" lang="en-US" sz="1600" spc="-1" strike="noStrike">
              <a:solidFill>
                <a:srgbClr val="000000"/>
              </a:solidFill>
              <a:latin typeface="Arial"/>
            </a:endParaRPr>
          </a:p>
        </p:txBody>
      </p:sp>
      <p:sp>
        <p:nvSpPr>
          <p:cNvPr id="447"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FE46C5B-0434-4467-BA26-E8CE5F3DCF91}"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13" dur="indefinite" restart="never" nodeType="tmRoot">
          <p:childTnLst>
            <p:seq>
              <p:cTn id="314" dur="indefinite" nodeType="mainSeq">
                <p:childTnLst>
                  <p:par>
                    <p:cTn id="315" fill="hold">
                      <p:stCondLst>
                        <p:cond delay="indefinite"/>
                      </p:stCondLst>
                      <p:childTnLst>
                        <p:par>
                          <p:cTn id="316" fill="hold">
                            <p:stCondLst>
                              <p:cond delay="0"/>
                            </p:stCondLst>
                            <p:childTnLst>
                              <p:par>
                                <p:cTn id="317" nodeType="clickEffect" fill="hold" presetClass="entr" presetID="1">
                                  <p:stCondLst>
                                    <p:cond delay="0"/>
                                  </p:stCondLst>
                                  <p:childTnLst>
                                    <p:set>
                                      <p:cBhvr>
                                        <p:cTn id="318" dur="1" fill="hold">
                                          <p:stCondLst>
                                            <p:cond delay="0"/>
                                          </p:stCondLst>
                                        </p:cTn>
                                        <p:tgtEl>
                                          <p:spTgt spid="446">
                                            <p:txEl>
                                              <p:pRg st="0" end="0"/>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1">
                                  <p:stCondLst>
                                    <p:cond delay="0"/>
                                  </p:stCondLst>
                                  <p:childTnLst>
                                    <p:set>
                                      <p:cBhvr>
                                        <p:cTn id="322" dur="1" fill="hold">
                                          <p:stCondLst>
                                            <p:cond delay="0"/>
                                          </p:stCondLst>
                                        </p:cTn>
                                        <p:tgtEl>
                                          <p:spTgt spid="446">
                                            <p:txEl>
                                              <p:pRg st="1" end="1"/>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
                                  <p:stCondLst>
                                    <p:cond delay="0"/>
                                  </p:stCondLst>
                                  <p:childTnLst>
                                    <p:set>
                                      <p:cBhvr>
                                        <p:cTn id="326" dur="1" fill="hold">
                                          <p:stCondLst>
                                            <p:cond delay="0"/>
                                          </p:stCondLst>
                                        </p:cTn>
                                        <p:tgtEl>
                                          <p:spTgt spid="446">
                                            <p:txEl>
                                              <p:pRg st="2" end="2"/>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nodeType="clickEffect" fill="hold" presetClass="entr" presetID="1">
                                  <p:stCondLst>
                                    <p:cond delay="0"/>
                                  </p:stCondLst>
                                  <p:childTnLst>
                                    <p:set>
                                      <p:cBhvr>
                                        <p:cTn id="330" dur="1" fill="hold">
                                          <p:stCondLst>
                                            <p:cond delay="0"/>
                                          </p:stCondLst>
                                        </p:cTn>
                                        <p:tgtEl>
                                          <p:spTgt spid="446">
                                            <p:txEl>
                                              <p:pRg st="3" end="3"/>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nodeType="clickEffect" fill="hold" presetClass="entr" presetID="1">
                                  <p:stCondLst>
                                    <p:cond delay="0"/>
                                  </p:stCondLst>
                                  <p:childTnLst>
                                    <p:set>
                                      <p:cBhvr>
                                        <p:cTn id="334" dur="1" fill="hold">
                                          <p:stCondLst>
                                            <p:cond delay="0"/>
                                          </p:stCondLst>
                                        </p:cTn>
                                        <p:tgtEl>
                                          <p:spTgt spid="446">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Implementation using Arrays</a:t>
            </a:r>
            <a:endParaRPr b="0" lang="en-US" sz="2600" spc="-1" strike="noStrike">
              <a:solidFill>
                <a:srgbClr val="000000"/>
              </a:solidFill>
              <a:latin typeface="Arial"/>
            </a:endParaRPr>
          </a:p>
        </p:txBody>
      </p:sp>
      <p:sp>
        <p:nvSpPr>
          <p:cNvPr id="44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In </a:t>
            </a:r>
            <a:r>
              <a:rPr b="0" lang="el" sz="1600" spc="-1" strike="noStrike">
                <a:solidFill>
                  <a:schemeClr val="accent1"/>
                </a:solidFill>
                <a:latin typeface="Consolas"/>
                <a:ea typeface="Consolas"/>
              </a:rPr>
              <a:t>source/queue</a:t>
            </a:r>
            <a:r>
              <a:rPr b="0" lang="el" sz="1600" spc="-1" strike="noStrike">
                <a:solidFill>
                  <a:schemeClr val="accent1"/>
                </a:solidFill>
                <a:latin typeface="Lato"/>
                <a:ea typeface="Lato"/>
              </a:rPr>
              <a:t> you can find an implementation in C / C++ using arrays.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How does it work?</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Name some benefits / drawbacks of using arrays to implement a queue.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Implement a stack making use dynamic arrays.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Compare both implementations. Any comments?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Implement a stack making use of linked lists.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Compare all three implementations. Any comments?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Which one would you prefer?</a:t>
            </a:r>
            <a:endParaRPr b="0" lang="en-US" sz="1600" spc="-1" strike="noStrike">
              <a:solidFill>
                <a:srgbClr val="000000"/>
              </a:solidFill>
              <a:latin typeface="Arial"/>
            </a:endParaRPr>
          </a:p>
        </p:txBody>
      </p:sp>
      <p:sp>
        <p:nvSpPr>
          <p:cNvPr id="450"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F3992AD-17DF-43F7-B5EE-93A55F0F3ED0}"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35" dur="indefinite" restart="never" nodeType="tmRoot">
          <p:childTnLst>
            <p:seq>
              <p:cTn id="336" dur="indefinite" nodeType="mainSeq">
                <p:childTnLst>
                  <p:par>
                    <p:cTn id="337" fill="hold">
                      <p:stCondLst>
                        <p:cond delay="indefinite"/>
                      </p:stCondLst>
                      <p:childTnLst>
                        <p:par>
                          <p:cTn id="338" fill="hold">
                            <p:stCondLst>
                              <p:cond delay="0"/>
                            </p:stCondLst>
                            <p:childTnLst>
                              <p:par>
                                <p:cTn id="339" nodeType="clickEffect" fill="hold" presetClass="entr" presetID="1">
                                  <p:stCondLst>
                                    <p:cond delay="0"/>
                                  </p:stCondLst>
                                  <p:childTnLst>
                                    <p:set>
                                      <p:cBhvr>
                                        <p:cTn id="340" dur="1" fill="hold">
                                          <p:stCondLst>
                                            <p:cond delay="0"/>
                                          </p:stCondLst>
                                        </p:cTn>
                                        <p:tgtEl>
                                          <p:spTgt spid="449">
                                            <p:txEl>
                                              <p:pRg st="0" end="0"/>
                                            </p:txEl>
                                          </p:spTgt>
                                        </p:tgtEl>
                                        <p:attrNameLst>
                                          <p:attrName>style.visibility</p:attrName>
                                        </p:attrNameLst>
                                      </p:cBhvr>
                                      <p:to>
                                        <p:strVal val="visible"/>
                                      </p:to>
                                    </p:set>
                                  </p:childTnLst>
                                </p:cTn>
                              </p:par>
                            </p:childTnLst>
                          </p:cTn>
                        </p:par>
                      </p:childTnLst>
                    </p:cTn>
                  </p:par>
                  <p:par>
                    <p:cTn id="341" fill="hold">
                      <p:stCondLst>
                        <p:cond delay="indefinite"/>
                      </p:stCondLst>
                      <p:childTnLst>
                        <p:par>
                          <p:cTn id="342" fill="hold">
                            <p:stCondLst>
                              <p:cond delay="0"/>
                            </p:stCondLst>
                            <p:childTnLst>
                              <p:par>
                                <p:cTn id="343" nodeType="clickEffect" fill="hold" presetClass="entr" presetID="1">
                                  <p:stCondLst>
                                    <p:cond delay="0"/>
                                  </p:stCondLst>
                                  <p:childTnLst>
                                    <p:set>
                                      <p:cBhvr>
                                        <p:cTn id="344" dur="1" fill="hold">
                                          <p:stCondLst>
                                            <p:cond delay="0"/>
                                          </p:stCondLst>
                                        </p:cTn>
                                        <p:tgtEl>
                                          <p:spTgt spid="449">
                                            <p:txEl>
                                              <p:pRg st="1" end="1"/>
                                            </p:txEl>
                                          </p:spTgt>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nodeType="clickEffect" fill="hold" presetClass="entr" presetID="1">
                                  <p:stCondLst>
                                    <p:cond delay="0"/>
                                  </p:stCondLst>
                                  <p:childTnLst>
                                    <p:set>
                                      <p:cBhvr>
                                        <p:cTn id="348" dur="1" fill="hold">
                                          <p:stCondLst>
                                            <p:cond delay="0"/>
                                          </p:stCondLst>
                                        </p:cTn>
                                        <p:tgtEl>
                                          <p:spTgt spid="449">
                                            <p:txEl>
                                              <p:pRg st="2" end="2"/>
                                            </p:txEl>
                                          </p:spTgt>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nodeType="clickEffect" fill="hold" presetClass="entr" presetID="1">
                                  <p:stCondLst>
                                    <p:cond delay="0"/>
                                  </p:stCondLst>
                                  <p:childTnLst>
                                    <p:set>
                                      <p:cBhvr>
                                        <p:cTn id="352" dur="1" fill="hold">
                                          <p:stCondLst>
                                            <p:cond delay="0"/>
                                          </p:stCondLst>
                                        </p:cTn>
                                        <p:tgtEl>
                                          <p:spTgt spid="449">
                                            <p:txEl>
                                              <p:pRg st="3" end="3"/>
                                            </p:txEl>
                                          </p:spTgt>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nodeType="clickEffect" fill="hold" presetClass="entr" presetID="1">
                                  <p:stCondLst>
                                    <p:cond delay="0"/>
                                  </p:stCondLst>
                                  <p:childTnLst>
                                    <p:set>
                                      <p:cBhvr>
                                        <p:cTn id="356" dur="1" fill="hold">
                                          <p:stCondLst>
                                            <p:cond delay="0"/>
                                          </p:stCondLst>
                                        </p:cTn>
                                        <p:tgtEl>
                                          <p:spTgt spid="449">
                                            <p:txEl>
                                              <p:pRg st="4" end="4"/>
                                            </p:txEl>
                                          </p:spTgt>
                                        </p:tgtEl>
                                        <p:attrNameLst>
                                          <p:attrName>style.visibility</p:attrName>
                                        </p:attrNameLst>
                                      </p:cBhvr>
                                      <p:to>
                                        <p:strVal val="visible"/>
                                      </p:to>
                                    </p:set>
                                  </p:childTnLst>
                                </p:cTn>
                              </p:par>
                            </p:childTnLst>
                          </p:cTn>
                        </p:par>
                      </p:childTnLst>
                    </p:cTn>
                  </p:par>
                  <p:par>
                    <p:cTn id="357" fill="hold">
                      <p:stCondLst>
                        <p:cond delay="indefinite"/>
                      </p:stCondLst>
                      <p:childTnLst>
                        <p:par>
                          <p:cTn id="358" fill="hold">
                            <p:stCondLst>
                              <p:cond delay="0"/>
                            </p:stCondLst>
                            <p:childTnLst>
                              <p:par>
                                <p:cTn id="359" nodeType="clickEffect" fill="hold" presetClass="entr" presetID="1">
                                  <p:stCondLst>
                                    <p:cond delay="0"/>
                                  </p:stCondLst>
                                  <p:childTnLst>
                                    <p:set>
                                      <p:cBhvr>
                                        <p:cTn id="360" dur="1" fill="hold">
                                          <p:stCondLst>
                                            <p:cond delay="0"/>
                                          </p:stCondLst>
                                        </p:cTn>
                                        <p:tgtEl>
                                          <p:spTgt spid="449">
                                            <p:txEl>
                                              <p:pRg st="5" end="5"/>
                                            </p:txEl>
                                          </p:spTgt>
                                        </p:tgtEl>
                                        <p:attrNameLst>
                                          <p:attrName>style.visibility</p:attrName>
                                        </p:attrNameLst>
                                      </p:cBhvr>
                                      <p:to>
                                        <p:strVal val="visible"/>
                                      </p:to>
                                    </p:set>
                                  </p:childTnLst>
                                </p:cTn>
                              </p:par>
                            </p:childTnLst>
                          </p:cTn>
                        </p:par>
                      </p:childTnLst>
                    </p:cTn>
                  </p:par>
                  <p:par>
                    <p:cTn id="361" fill="hold">
                      <p:stCondLst>
                        <p:cond delay="indefinite"/>
                      </p:stCondLst>
                      <p:childTnLst>
                        <p:par>
                          <p:cTn id="362" fill="hold">
                            <p:stCondLst>
                              <p:cond delay="0"/>
                            </p:stCondLst>
                            <p:childTnLst>
                              <p:par>
                                <p:cTn id="363" nodeType="clickEffect" fill="hold" presetClass="entr" presetID="1">
                                  <p:stCondLst>
                                    <p:cond delay="0"/>
                                  </p:stCondLst>
                                  <p:childTnLst>
                                    <p:set>
                                      <p:cBhvr>
                                        <p:cTn id="364" dur="1" fill="hold">
                                          <p:stCondLst>
                                            <p:cond delay="0"/>
                                          </p:stCondLst>
                                        </p:cTn>
                                        <p:tgtEl>
                                          <p:spTgt spid="449">
                                            <p:txEl>
                                              <p:pRg st="6" end="6"/>
                                            </p:txEl>
                                          </p:spTgt>
                                        </p:tgtEl>
                                        <p:attrNameLst>
                                          <p:attrName>style.visibility</p:attrName>
                                        </p:attrNameLst>
                                      </p:cBhvr>
                                      <p:to>
                                        <p:strVal val="visible"/>
                                      </p:to>
                                    </p:set>
                                  </p:childTnLst>
                                </p:cTn>
                              </p:par>
                            </p:childTnLst>
                          </p:cTn>
                        </p:par>
                      </p:childTnLst>
                    </p:cTn>
                  </p:par>
                  <p:par>
                    <p:cTn id="365" fill="hold">
                      <p:stCondLst>
                        <p:cond delay="indefinite"/>
                      </p:stCondLst>
                      <p:childTnLst>
                        <p:par>
                          <p:cTn id="366" fill="hold">
                            <p:stCondLst>
                              <p:cond delay="0"/>
                            </p:stCondLst>
                            <p:childTnLst>
                              <p:par>
                                <p:cTn id="367" nodeType="clickEffect" fill="hold" presetClass="entr" presetID="1">
                                  <p:stCondLst>
                                    <p:cond delay="0"/>
                                  </p:stCondLst>
                                  <p:childTnLst>
                                    <p:set>
                                      <p:cBhvr>
                                        <p:cTn id="368" dur="1" fill="hold">
                                          <p:stCondLst>
                                            <p:cond delay="0"/>
                                          </p:stCondLst>
                                        </p:cTn>
                                        <p:tgtEl>
                                          <p:spTgt spid="449">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452"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453" name="PlaceHolder 3"/>
          <p:cNvSpPr>
            <a:spLocks noGrp="1"/>
          </p:cNvSpPr>
          <p:nvPr>
            <p:ph/>
          </p:nvPr>
        </p:nvSpPr>
        <p:spPr>
          <a:xfrm>
            <a:off x="4707360" y="3983400"/>
            <a:ext cx="4361040" cy="398520"/>
          </a:xfrm>
          <a:prstGeom prst="rect">
            <a:avLst/>
          </a:prstGeom>
          <a:noFill/>
          <a:ln w="0">
            <a:noFill/>
          </a:ln>
        </p:spPr>
        <p:txBody>
          <a:bodyPr tIns="91440" bIns="91440" anchor="t">
            <a:noAutofit/>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https://forms.gle/zezKMVzhaT4xyJgk8</a:t>
            </a:r>
            <a:endParaRPr b="0" lang="en-US" sz="1600" spc="-1" strike="noStrike">
              <a:solidFill>
                <a:srgbClr val="000000"/>
              </a:solidFill>
              <a:latin typeface="Arial"/>
            </a:endParaRPr>
          </a:p>
        </p:txBody>
      </p:sp>
      <p:pic>
        <p:nvPicPr>
          <p:cNvPr id="454" name="Google Shape;462;p33" descr="">
            <a:hlinkClick r:id="rId2"/>
          </p:cNvPr>
          <p:cNvPicPr/>
          <p:nvPr/>
        </p:nvPicPr>
        <p:blipFill>
          <a:blip r:embed="rId3"/>
          <a:stretch/>
        </p:blipFill>
        <p:spPr>
          <a:xfrm>
            <a:off x="5459400" y="1063080"/>
            <a:ext cx="2857320" cy="2857320"/>
          </a:xfrm>
          <a:prstGeom prst="rect">
            <a:avLst/>
          </a:prstGeom>
          <a:ln w="0">
            <a:noFill/>
          </a:ln>
        </p:spPr>
      </p:pic>
      <p:sp>
        <p:nvSpPr>
          <p:cNvPr id="455" name="PlaceHolder 4"/>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51D337E-19CE-49F6-BAC7-F67F1B4C2AB8}"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2025-12-15T12:54:52Z</dcterms:modified>
  <cp:revision>2</cp:revision>
  <dc:subject/>
  <dc:title/>
</cp:coreProperties>
</file>