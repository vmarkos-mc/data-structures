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_rels/presentation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53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40.xml" ContentType="application/vnd.openxmlformats-officedocument.presentationml.slide+xml"/>
  <Override PartName="/ppt/slides/slide3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3.xml" ContentType="application/vnd.openxmlformats-officedocument.presentationml.slide+xml"/>
  <Override PartName="/ppt/slides/slide45.xml" ContentType="application/vnd.openxmlformats-officedocument.presentationml.slide+xml"/>
  <Override PartName="/ppt/slides/slide34.xml" ContentType="application/vnd.openxmlformats-officedocument.presentationml.slide+xml"/>
  <Override PartName="/ppt/slides/slide46.xml" ContentType="application/vnd.openxmlformats-officedocument.presentationml.slide+xml"/>
  <Override PartName="/ppt/slides/slide39.xml" ContentType="application/vnd.openxmlformats-officedocument.presentationml.slide+xml"/>
  <Override PartName="/ppt/slides/slide6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31.xml" ContentType="application/vnd.openxmlformats-officedocument.presentationml.slide+xml"/>
  <Override PartName="/ppt/slides/_rels/slide41.xml.rels" ContentType="application/vnd.openxmlformats-package.relationships+xml"/>
  <Override PartName="/ppt/slides/_rels/slide49.xml.rels" ContentType="application/vnd.openxmlformats-package.relationships+xml"/>
  <Override PartName="/ppt/slides/_rels/slide34.xml.rels" ContentType="application/vnd.openxmlformats-package.relationships+xml"/>
  <Override PartName="/ppt/slides/_rels/slide50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42.xml.rels" ContentType="application/vnd.openxmlformats-package.relationships+xml"/>
  <Override PartName="/ppt/slides/_rels/slide51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10.xml.rels" ContentType="application/vnd.openxmlformats-package.relationships+xml"/>
  <Override PartName="/ppt/slides/_rels/slide32.xml.rels" ContentType="application/vnd.openxmlformats-package.relationships+xml"/>
  <Override PartName="/ppt/slides/_rels/slide16.xml.rels" ContentType="application/vnd.openxmlformats-package.relationships+xml"/>
  <Override PartName="/ppt/slides/_rels/slide25.xml.rels" ContentType="application/vnd.openxmlformats-package.relationships+xml"/>
  <Override PartName="/ppt/slides/_rels/slide47.xml.rels" ContentType="application/vnd.openxmlformats-package.relationships+xml"/>
  <Override PartName="/ppt/slides/_rels/slide4.xml.rels" ContentType="application/vnd.openxmlformats-package.relationships+xml"/>
  <Override PartName="/ppt/slides/_rels/slide8.xml.rels" ContentType="application/vnd.openxmlformats-package.relationships+xml"/>
  <Override PartName="/ppt/slides/_rels/slide43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27.xml.rels" ContentType="application/vnd.openxmlformats-package.relationships+xml"/>
  <Override PartName="/ppt/slides/_rels/slide46.xml.rels" ContentType="application/vnd.openxmlformats-package.relationships+xml"/>
  <Override PartName="/ppt/slides/_rels/slide52.xml.rels" ContentType="application/vnd.openxmlformats-package.relationships+xml"/>
  <Override PartName="/ppt/slides/_rels/slide48.xml.rels" ContentType="application/vnd.openxmlformats-package.relationships+xml"/>
  <Override PartName="/ppt/slides/_rels/slide33.xml.rels" ContentType="application/vnd.openxmlformats-package.relationships+xml"/>
  <Override PartName="/ppt/slides/_rels/slide40.xml.rels" ContentType="application/vnd.openxmlformats-package.relationships+xml"/>
  <Override PartName="/ppt/slides/_rels/slide5.xml.rels" ContentType="application/vnd.openxmlformats-package.relationships+xml"/>
  <Override PartName="/ppt/slides/_rels/slide45.xml.rels" ContentType="application/vnd.openxmlformats-package.relationships+xml"/>
  <Override PartName="/ppt/slides/_rels/slide14.xml.rels" ContentType="application/vnd.openxmlformats-package.relationships+xml"/>
  <Override PartName="/ppt/slides/_rels/slide30.xml.rels" ContentType="application/vnd.openxmlformats-package.relationships+xml"/>
  <Override PartName="/ppt/slides/_rels/slide29.xml.rels" ContentType="application/vnd.openxmlformats-package.relationships+xml"/>
  <Override PartName="/ppt/slides/_rels/slide38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28.xml.rels" ContentType="application/vnd.openxmlformats-package.relationships+xml"/>
  <Override PartName="/ppt/slides/_rels/slide44.xml.rels" ContentType="application/vnd.openxmlformats-package.relationships+xml"/>
  <Override PartName="/ppt/slides/_rels/slide22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slide30.xml" ContentType="application/vnd.openxmlformats-officedocument.presentationml.slide+xml"/>
  <Override PartName="/ppt/slides/slide49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9.xml" ContentType="application/vnd.openxmlformats-officedocument.presentationml.slide+xml"/>
  <Override PartName="/ppt/slides/slide44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4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BE502E4-D9AE-4DF3-BDD4-FC6B9474F403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62AFA3C-56C2-4552-BAED-B65C760578F5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68C6797-8894-4F3A-86BB-1DD302EFA517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6A62E5D-DBA6-4F42-BB87-B8AC2402A5D7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23BA166-C9FA-4531-9AE0-B2926E29FE82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BF610B1-85E9-47F2-96D7-033FF67A2C81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B8AC595-4E09-417C-881A-DA802017CAE9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B0EEE0C-BAFB-4FF7-9C92-B6441D76BB99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C917C5E-3CBE-471B-A7C8-7405A9BC7688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8B0FAA9-3FFF-4F18-82CF-4A8B3B354B80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AC016F6-D151-4980-A825-A6171A75C8EC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48C2346-87B0-49F8-8242-5D99D4CFA2F8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2B85754-7E3C-4ACE-A7DA-CC9B5A79ACDF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935F239-CA32-4C28-87DE-F307A1953717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CB0B7B7-D63B-4983-9DF9-14CF0DC02002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C2E5F4B-838B-4B60-A164-512DB0BDDB7F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4176D2C-0183-446D-96C2-1AEAA40616FE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E615835-7A08-43AE-9883-5D57935F2229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97A8D68-7395-430D-9D74-56069EC65F96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FCBE02D-C5D9-45B5-ABD3-03E579CBB325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13365E1-6B40-4CC7-A725-70CDF7E6455A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DF5E4CE-39EC-4387-BA65-E0E7B9CC3281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5120594-4CCC-455C-9169-F44D993ED898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CBFB5C1-4A20-429E-90F8-27F9188B8E28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434ED5-8913-4506-9134-0CE104042FC0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D4835A-8BBE-42DE-8C55-DC9BE46174F4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0C282F-F928-4EB9-8288-809B8736AB4D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65C96D-2080-4874-9644-DC0E7581FE7A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B7F974-CDED-4080-9CCD-7CAB8A2493A0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2979D0-847F-4F40-9B22-BA2B8AE87159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350D84-EAC8-49C0-AF82-935C1274FC34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9C68AE-3C96-488A-A003-517C83FE2C81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D019D6-0163-45C2-8240-2FB307E7DB22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CD0D53-625E-4577-B3D5-6111AF07ACD9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D842AA-C92E-45E1-8CDC-238A25033449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4ADBC6-60A5-4A0B-9D06-0B909205BBD5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73DDD3A-73E5-4791-A52C-8FCF301A9728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7AF289A-70C8-49F2-B076-AC81CF0ADDDF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30634CA-8F92-4BE8-B1E7-3FBA6CAC9F5B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91F91CE-BF18-4F70-A0D1-B13B639851A8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D1F94BE-AD04-413E-8F29-22945BCAEDD2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21A3CBB-34BC-4D89-A076-19AA86FB5B2F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F4EF2A8-8C67-4227-AFDC-94FABA8BFA20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EEABAA2-591C-451C-ACE1-315570D7D06C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F007F2F-1998-4E4E-B8F7-75CBFD27555E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B019DD4-1DA8-455B-8FBE-1020BC00A584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1D041BA-1F64-49D6-A7B5-21BACB4E623D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1A5F1B4-6E6F-4827-A1DB-A581A357D847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DABA170-B0BD-4F14-9592-D8438F1CEA2E}" type="slidenum">
              <a:t>&lt;#&gt;</a:t>
            </a:fld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E5AFB65-3145-47DE-8BC1-37331818D0B7}" type="slidenum">
              <a:t>&lt;#&gt;</a:t>
            </a:fld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61212D4-8C9B-4F04-9A2E-8BCBF9BDFA19}" type="slidenum">
              <a:t>&lt;#&gt;</a:t>
            </a:fld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3718D5F-68CF-4474-8C56-65AAE77BF2AC}" type="slidenum">
              <a:t>&lt;#&gt;</a:t>
            </a:fld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06A5720-4FBD-41D9-96C4-5F5F0B60BDC5}" type="slidenum">
              <a:t>&lt;#&gt;</a:t>
            </a:fld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37357E8-833D-437E-A9CD-3CD9B1D4460C}" type="slidenum">
              <a:t>&lt;#&gt;</a:t>
            </a:fld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21B3ED5-FFCD-45DE-9682-EF09D671D9EF}" type="slidenum">
              <a:t>&lt;#&gt;</a:t>
            </a:fld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888F731-3543-4704-BFD1-92A3752F5037}" type="slidenum">
              <a:t>&lt;#&gt;</a:t>
            </a:fld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F7D346F-4F0C-4CE8-9F2F-0F4B10E59C5B}" type="slidenum">
              <a:t>&lt;#&gt;</a:t>
            </a:fld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C4A37F8-138A-4C90-BAAC-FE5B69BA3992}" type="slidenum">
              <a:t>&lt;#&gt;</a:t>
            </a:fld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EE57B73-02B1-41E9-BF81-A02DCDB73BF6}" type="slidenum">
              <a:t>&lt;#&gt;</a:t>
            </a:fld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0878267-4B07-42C8-BFD7-08241EC99E61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2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" name="Google Shape;11;p2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2" name="Google Shape;12;p2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" name="Google Shape;13;p2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7800" cy="16642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ldNum" idx="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08E522-BE8B-427D-9839-ACFB0D3AB956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Google Shape;17;p2"/>
          <p:cNvSpPr/>
          <p:nvPr/>
        </p:nvSpPr>
        <p:spPr>
          <a:xfrm>
            <a:off x="6590880" y="3867120"/>
            <a:ext cx="194508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20;p3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45" name="Google Shape;21;p3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" name="Google Shape;22;p3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792B0B-CD4A-4F0C-8150-4D4900FA3F0F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26;p4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7" name="Google Shape;27;p4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88" name="Google Shape;28;p4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" name="Google Shape;29;p4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BED23B-29D4-439C-B522-62F76A5813C9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34;p5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accent3"/>
          </a:solidFill>
          <a:ln w="9525">
            <a:solidFill>
              <a:srgbClr val="eb56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l" sz="1400" spc="-1" strike="noStrike">
                <a:solidFill>
                  <a:schemeClr val="lt1"/>
                </a:solidFill>
                <a:latin typeface="Arial"/>
                <a:ea typeface="Arial"/>
              </a:rPr>
              <a:t>Not relevant for the assessment of the module!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0" name="Google Shape;35;p5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131" name="Google Shape;36;p5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" name="Google Shape;37;p5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B7CFA73-DB28-4FBE-8815-49E7116F5E0E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88;p12"/>
          <p:cNvSpPr/>
          <p:nvPr/>
        </p:nvSpPr>
        <p:spPr>
          <a:xfrm>
            <a:off x="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3" name="Google Shape;89;p12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174" name="Google Shape;90;p12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5" name="Google Shape;91;p12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74000"/>
          </a:bodyPr>
          <a:p>
            <a:pPr marL="319680" indent="-23976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639360" indent="-2397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2" marL="959040" indent="-21312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3" marL="1278720" indent="-15984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4" marL="1598400" indent="-159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5" marL="1918080" indent="-159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6" marL="2237760" indent="-159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F02D943-C6F6-45B7-976E-DFFB87AAD03B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hyperlink" Target="http://www.righto.com/2012/11/obama-on-sorting-1m-integers-bubble.html" TargetMode="External"/><Relationship Id="rId2" Type="http://schemas.openxmlformats.org/officeDocument/2006/relationships/slideLayout" Target="../slideLayouts/slideLayout2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hyperlink" Target="https://en.wikipedia.org/wiki/Fibonacci_sequence" TargetMode="External"/><Relationship Id="rId2" Type="http://schemas.openxmlformats.org/officeDocument/2006/relationships/slideLayout" Target="../slideLayouts/slideLayout27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7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hyperlink" Target="https://forms.gle/zezKMVzhaT4xyJgk8" TargetMode="External"/><Relationship Id="rId2" Type="http://schemas.openxmlformats.org/officeDocument/2006/relationships/hyperlink" Target="https://forms.gle/zezKMVzhaT4xyJgk8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7800" cy="16642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4200" spc="-1" strike="noStrike">
                <a:solidFill>
                  <a:schemeClr val="dk2"/>
                </a:solidFill>
                <a:latin typeface="Lato"/>
                <a:ea typeface="Lato"/>
              </a:rPr>
              <a:t>Computer Systems, Data Structures &amp; Data Management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subTitle"/>
          </p:nvPr>
        </p:nvSpPr>
        <p:spPr>
          <a:xfrm>
            <a:off x="729720" y="3173040"/>
            <a:ext cx="7687800" cy="828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Markos Vassilis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Mediterranean College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Google Shape;114;p16"/>
          <p:cNvSpPr/>
          <p:nvPr/>
        </p:nvSpPr>
        <p:spPr>
          <a:xfrm>
            <a:off x="6029640" y="4001400"/>
            <a:ext cx="2387520" cy="61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ubTitle"/>
          </p:nvPr>
        </p:nvSpPr>
        <p:spPr>
          <a:xfrm>
            <a:off x="6057000" y="3821760"/>
            <a:ext cx="2360520" cy="1121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algn="r">
              <a:lnSpc>
                <a:spcPct val="115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Week 07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3600" spc="-1" strike="noStrike">
                <a:solidFill>
                  <a:schemeClr val="lt1"/>
                </a:solidFill>
                <a:latin typeface="Lato"/>
                <a:ea typeface="Lato"/>
              </a:rPr>
              <a:t>Primes (Warm Up)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sldNum" idx="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720277-6BD0-41AC-AB60-C882CC48F1E7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Primes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 positive integer is said to be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prime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if it is &gt; 1 and its only divisors are 1 and itself.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Some primes: 2, 3, 5, 7, 11, 13, 17, 19, 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Some composites (non-primes): 4, 6, 8, 9, 10, 12, 14, 15, 16, 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There are infinitely many prime numbers.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There is no known formula to generate them, yet.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So, we have to check for each number whether its prime or not (well, not exactly, but, something like that).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Can you think of a way to check whether a number is prime?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DD05568-23A9-4325-809F-6C01AAE04F5B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Primal Fears…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Of course you can!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Open ‘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complexity_cpp &gt; complexity_testing.cpp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’.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does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isPrime1()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do?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Can you think of something better?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does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isPrime2()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do?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Can you think of something better?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does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isPrime3()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do?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Can you think of something better?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	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Homework!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B26BA81-5177-4620-A3EF-DCD23B058C31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1" dur="indefinite" restart="never" nodeType="tmRoot">
          <p:childTnLst>
            <p:seq>
              <p:cTn id="32" dur="indefinite" nodeType="mainSeq">
                <p:childTnLst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Primal Checks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Compile and execute ‘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complexity_cpp &gt; complexity_testing.cpp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’.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did it print?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Explain the results.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How much better is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isPrime3()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from the rest?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So, picking the right algorithm really matters…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917CEDE-7967-4F1D-9532-FCBCF5D5A91B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9" dur="indefinite" restart="never" nodeType="tmRoot">
          <p:childTnLst>
            <p:seq>
              <p:cTn id="70" dur="indefinite" nodeType="mainSeq">
                <p:childTnLst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3600" spc="-1" strike="noStrike">
                <a:solidFill>
                  <a:schemeClr val="lt1"/>
                </a:solidFill>
                <a:latin typeface="Lato"/>
                <a:ea typeface="Lato"/>
              </a:rPr>
              <a:t>Sorting (Actual Fun)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sldNum" idx="1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7560D98-57AD-4439-B748-F196C88D36A9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Sorting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It is nice to have things in place. Consider the following array: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arr = [3, 6, 1, 7, 9, 0, 2];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Evidently,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arr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is not sorted in any meaningful way. How can we put thing in increasing order (in a systematic way).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[Take some time to devise a sorting algorithm that can work for arbitrary size arrays, not just for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arr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.]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1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B2134EC-003C-4D85-AFB5-8B4963E121E1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1" dur="indefinite" restart="never" nodeType="tmRoot">
          <p:childTnLst>
            <p:seq>
              <p:cTn id="92" dur="indefinite" nodeType="mainSeq">
                <p:childTnLst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Bubbles. I want more bubbles.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sldNum" idx="1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B24411D-5BFD-4F46-911C-A81C63A62BBB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Google Shape;162;p23"/>
          <p:cNvSpPr/>
          <p:nvPr/>
        </p:nvSpPr>
        <p:spPr>
          <a:xfrm>
            <a:off x="941400" y="15228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Google Shape;163;p23"/>
          <p:cNvSpPr/>
          <p:nvPr/>
        </p:nvSpPr>
        <p:spPr>
          <a:xfrm>
            <a:off x="1446840" y="15228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Google Shape;164;p23"/>
          <p:cNvSpPr/>
          <p:nvPr/>
        </p:nvSpPr>
        <p:spPr>
          <a:xfrm>
            <a:off x="19526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Google Shape;165;p23"/>
          <p:cNvSpPr/>
          <p:nvPr/>
        </p:nvSpPr>
        <p:spPr>
          <a:xfrm>
            <a:off x="245808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Google Shape;166;p23"/>
          <p:cNvSpPr/>
          <p:nvPr/>
        </p:nvSpPr>
        <p:spPr>
          <a:xfrm>
            <a:off x="296352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Google Shape;167;p23"/>
          <p:cNvSpPr/>
          <p:nvPr/>
        </p:nvSpPr>
        <p:spPr>
          <a:xfrm>
            <a:off x="346896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Google Shape;168;p23"/>
          <p:cNvSpPr/>
          <p:nvPr/>
        </p:nvSpPr>
        <p:spPr>
          <a:xfrm>
            <a:off x="397440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Google Shape;169;p23"/>
          <p:cNvSpPr/>
          <p:nvPr/>
        </p:nvSpPr>
        <p:spPr>
          <a:xfrm>
            <a:off x="5491080" y="1559160"/>
            <a:ext cx="238104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3 &lt; 6 →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Things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Google Shape;170;p23"/>
          <p:cNvSpPr/>
          <p:nvPr/>
        </p:nvSpPr>
        <p:spPr>
          <a:xfrm>
            <a:off x="94140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Google Shape;171;p23"/>
          <p:cNvSpPr/>
          <p:nvPr/>
        </p:nvSpPr>
        <p:spPr>
          <a:xfrm>
            <a:off x="1446840" y="23209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Google Shape;172;p23"/>
          <p:cNvSpPr/>
          <p:nvPr/>
        </p:nvSpPr>
        <p:spPr>
          <a:xfrm>
            <a:off x="1952640" y="23209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Google Shape;173;p23"/>
          <p:cNvSpPr/>
          <p:nvPr/>
        </p:nvSpPr>
        <p:spPr>
          <a:xfrm>
            <a:off x="245808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Google Shape;174;p23"/>
          <p:cNvSpPr/>
          <p:nvPr/>
        </p:nvSpPr>
        <p:spPr>
          <a:xfrm>
            <a:off x="296352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Google Shape;175;p23"/>
          <p:cNvSpPr/>
          <p:nvPr/>
        </p:nvSpPr>
        <p:spPr>
          <a:xfrm>
            <a:off x="346896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Google Shape;176;p23"/>
          <p:cNvSpPr/>
          <p:nvPr/>
        </p:nvSpPr>
        <p:spPr>
          <a:xfrm>
            <a:off x="397440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Google Shape;177;p23"/>
          <p:cNvSpPr/>
          <p:nvPr/>
        </p:nvSpPr>
        <p:spPr>
          <a:xfrm>
            <a:off x="5491080" y="23572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6 &gt; 1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Google Shape;178;p23"/>
          <p:cNvSpPr/>
          <p:nvPr/>
        </p:nvSpPr>
        <p:spPr>
          <a:xfrm>
            <a:off x="94140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Google Shape;179;p23"/>
          <p:cNvSpPr/>
          <p:nvPr/>
        </p:nvSpPr>
        <p:spPr>
          <a:xfrm>
            <a:off x="1446840" y="311868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Google Shape;180;p23"/>
          <p:cNvSpPr/>
          <p:nvPr/>
        </p:nvSpPr>
        <p:spPr>
          <a:xfrm>
            <a:off x="1952640" y="311868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Google Shape;181;p23"/>
          <p:cNvSpPr/>
          <p:nvPr/>
        </p:nvSpPr>
        <p:spPr>
          <a:xfrm>
            <a:off x="245808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Google Shape;182;p23"/>
          <p:cNvSpPr/>
          <p:nvPr/>
        </p:nvSpPr>
        <p:spPr>
          <a:xfrm>
            <a:off x="296352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Google Shape;183;p23"/>
          <p:cNvSpPr/>
          <p:nvPr/>
        </p:nvSpPr>
        <p:spPr>
          <a:xfrm>
            <a:off x="346896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Google Shape;184;p23"/>
          <p:cNvSpPr/>
          <p:nvPr/>
        </p:nvSpPr>
        <p:spPr>
          <a:xfrm>
            <a:off x="397440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Google Shape;185;p23"/>
          <p:cNvSpPr/>
          <p:nvPr/>
        </p:nvSpPr>
        <p:spPr>
          <a:xfrm>
            <a:off x="5491080" y="315504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 &lt; 6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Google Shape;186;p23"/>
          <p:cNvSpPr/>
          <p:nvPr/>
        </p:nvSpPr>
        <p:spPr>
          <a:xfrm>
            <a:off x="94140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Google Shape;187;p23"/>
          <p:cNvSpPr/>
          <p:nvPr/>
        </p:nvSpPr>
        <p:spPr>
          <a:xfrm>
            <a:off x="144684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Google Shape;188;p23"/>
          <p:cNvSpPr/>
          <p:nvPr/>
        </p:nvSpPr>
        <p:spPr>
          <a:xfrm>
            <a:off x="1952640" y="40363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Google Shape;189;p23"/>
          <p:cNvSpPr/>
          <p:nvPr/>
        </p:nvSpPr>
        <p:spPr>
          <a:xfrm>
            <a:off x="2458080" y="40363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Google Shape;190;p23"/>
          <p:cNvSpPr/>
          <p:nvPr/>
        </p:nvSpPr>
        <p:spPr>
          <a:xfrm>
            <a:off x="296352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Google Shape;191;p23"/>
          <p:cNvSpPr/>
          <p:nvPr/>
        </p:nvSpPr>
        <p:spPr>
          <a:xfrm>
            <a:off x="346896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Google Shape;192;p23"/>
          <p:cNvSpPr/>
          <p:nvPr/>
        </p:nvSpPr>
        <p:spPr>
          <a:xfrm>
            <a:off x="397440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Google Shape;193;p23"/>
          <p:cNvSpPr/>
          <p:nvPr/>
        </p:nvSpPr>
        <p:spPr>
          <a:xfrm>
            <a:off x="5491080" y="40726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6 &lt; 7 →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Things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Bubbles. I want more bubbles.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 type="sldNum" idx="1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6C49CF8-7DA0-4F07-8E0D-0D4D36088F8B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9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Google Shape;200;p24"/>
          <p:cNvSpPr/>
          <p:nvPr/>
        </p:nvSpPr>
        <p:spPr>
          <a:xfrm>
            <a:off x="94140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Google Shape;201;p24"/>
          <p:cNvSpPr/>
          <p:nvPr/>
        </p:nvSpPr>
        <p:spPr>
          <a:xfrm>
            <a:off x="14468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Google Shape;202;p24"/>
          <p:cNvSpPr/>
          <p:nvPr/>
        </p:nvSpPr>
        <p:spPr>
          <a:xfrm>
            <a:off x="19526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Google Shape;203;p24"/>
          <p:cNvSpPr/>
          <p:nvPr/>
        </p:nvSpPr>
        <p:spPr>
          <a:xfrm>
            <a:off x="2458080" y="15228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Google Shape;204;p24"/>
          <p:cNvSpPr/>
          <p:nvPr/>
        </p:nvSpPr>
        <p:spPr>
          <a:xfrm>
            <a:off x="2963520" y="15228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Google Shape;205;p24"/>
          <p:cNvSpPr/>
          <p:nvPr/>
        </p:nvSpPr>
        <p:spPr>
          <a:xfrm>
            <a:off x="346896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Google Shape;206;p24"/>
          <p:cNvSpPr/>
          <p:nvPr/>
        </p:nvSpPr>
        <p:spPr>
          <a:xfrm>
            <a:off x="397440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Google Shape;207;p24"/>
          <p:cNvSpPr/>
          <p:nvPr/>
        </p:nvSpPr>
        <p:spPr>
          <a:xfrm>
            <a:off x="5491080" y="1559160"/>
            <a:ext cx="238104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7 &lt; 9 →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Things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Google Shape;208;p24"/>
          <p:cNvSpPr/>
          <p:nvPr/>
        </p:nvSpPr>
        <p:spPr>
          <a:xfrm>
            <a:off x="94140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Google Shape;209;p24"/>
          <p:cNvSpPr/>
          <p:nvPr/>
        </p:nvSpPr>
        <p:spPr>
          <a:xfrm>
            <a:off x="144684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Google Shape;210;p24"/>
          <p:cNvSpPr/>
          <p:nvPr/>
        </p:nvSpPr>
        <p:spPr>
          <a:xfrm>
            <a:off x="195264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Google Shape;211;p24"/>
          <p:cNvSpPr/>
          <p:nvPr/>
        </p:nvSpPr>
        <p:spPr>
          <a:xfrm>
            <a:off x="245808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Google Shape;212;p24"/>
          <p:cNvSpPr/>
          <p:nvPr/>
        </p:nvSpPr>
        <p:spPr>
          <a:xfrm>
            <a:off x="2963520" y="23209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Google Shape;213;p24"/>
          <p:cNvSpPr/>
          <p:nvPr/>
        </p:nvSpPr>
        <p:spPr>
          <a:xfrm>
            <a:off x="3468960" y="23209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Google Shape;214;p24"/>
          <p:cNvSpPr/>
          <p:nvPr/>
        </p:nvSpPr>
        <p:spPr>
          <a:xfrm>
            <a:off x="397440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Google Shape;215;p24"/>
          <p:cNvSpPr/>
          <p:nvPr/>
        </p:nvSpPr>
        <p:spPr>
          <a:xfrm>
            <a:off x="5491080" y="23572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9 &gt; 0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Google Shape;216;p24"/>
          <p:cNvSpPr/>
          <p:nvPr/>
        </p:nvSpPr>
        <p:spPr>
          <a:xfrm>
            <a:off x="94140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Google Shape;217;p24"/>
          <p:cNvSpPr/>
          <p:nvPr/>
        </p:nvSpPr>
        <p:spPr>
          <a:xfrm>
            <a:off x="144684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Google Shape;218;p24"/>
          <p:cNvSpPr/>
          <p:nvPr/>
        </p:nvSpPr>
        <p:spPr>
          <a:xfrm>
            <a:off x="195264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Google Shape;219;p24"/>
          <p:cNvSpPr/>
          <p:nvPr/>
        </p:nvSpPr>
        <p:spPr>
          <a:xfrm>
            <a:off x="245808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Google Shape;220;p24"/>
          <p:cNvSpPr/>
          <p:nvPr/>
        </p:nvSpPr>
        <p:spPr>
          <a:xfrm>
            <a:off x="2963520" y="311868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Google Shape;221;p24"/>
          <p:cNvSpPr/>
          <p:nvPr/>
        </p:nvSpPr>
        <p:spPr>
          <a:xfrm>
            <a:off x="3468960" y="311868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Google Shape;222;p24"/>
          <p:cNvSpPr/>
          <p:nvPr/>
        </p:nvSpPr>
        <p:spPr>
          <a:xfrm>
            <a:off x="397440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Google Shape;223;p24"/>
          <p:cNvSpPr/>
          <p:nvPr/>
        </p:nvSpPr>
        <p:spPr>
          <a:xfrm>
            <a:off x="5491080" y="315504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0 &lt; 9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Google Shape;224;p24"/>
          <p:cNvSpPr/>
          <p:nvPr/>
        </p:nvSpPr>
        <p:spPr>
          <a:xfrm>
            <a:off x="94140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Google Shape;225;p24"/>
          <p:cNvSpPr/>
          <p:nvPr/>
        </p:nvSpPr>
        <p:spPr>
          <a:xfrm>
            <a:off x="144684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Google Shape;226;p24"/>
          <p:cNvSpPr/>
          <p:nvPr/>
        </p:nvSpPr>
        <p:spPr>
          <a:xfrm>
            <a:off x="195264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Google Shape;227;p24"/>
          <p:cNvSpPr/>
          <p:nvPr/>
        </p:nvSpPr>
        <p:spPr>
          <a:xfrm>
            <a:off x="245808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Google Shape;228;p24"/>
          <p:cNvSpPr/>
          <p:nvPr/>
        </p:nvSpPr>
        <p:spPr>
          <a:xfrm>
            <a:off x="296352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Google Shape;229;p24"/>
          <p:cNvSpPr/>
          <p:nvPr/>
        </p:nvSpPr>
        <p:spPr>
          <a:xfrm>
            <a:off x="3468960" y="40363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Google Shape;230;p24"/>
          <p:cNvSpPr/>
          <p:nvPr/>
        </p:nvSpPr>
        <p:spPr>
          <a:xfrm>
            <a:off x="3974400" y="40363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Google Shape;231;p24"/>
          <p:cNvSpPr/>
          <p:nvPr/>
        </p:nvSpPr>
        <p:spPr>
          <a:xfrm>
            <a:off x="5491080" y="40726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9 &gt; 2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Bubbles. I want more bubbles.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 type="sldNum" idx="1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FA3C3AF-9B3C-48F6-9A76-C2BF66222A29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10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" name="Google Shape;238;p25"/>
          <p:cNvSpPr/>
          <p:nvPr/>
        </p:nvSpPr>
        <p:spPr>
          <a:xfrm>
            <a:off x="94140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Google Shape;239;p25"/>
          <p:cNvSpPr/>
          <p:nvPr/>
        </p:nvSpPr>
        <p:spPr>
          <a:xfrm>
            <a:off x="14468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Google Shape;240;p25"/>
          <p:cNvSpPr/>
          <p:nvPr/>
        </p:nvSpPr>
        <p:spPr>
          <a:xfrm>
            <a:off x="19526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Google Shape;241;p25"/>
          <p:cNvSpPr/>
          <p:nvPr/>
        </p:nvSpPr>
        <p:spPr>
          <a:xfrm>
            <a:off x="245808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Google Shape;242;p25"/>
          <p:cNvSpPr/>
          <p:nvPr/>
        </p:nvSpPr>
        <p:spPr>
          <a:xfrm>
            <a:off x="296352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Google Shape;243;p25"/>
          <p:cNvSpPr/>
          <p:nvPr/>
        </p:nvSpPr>
        <p:spPr>
          <a:xfrm>
            <a:off x="3468960" y="152280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Google Shape;244;p25"/>
          <p:cNvSpPr/>
          <p:nvPr/>
        </p:nvSpPr>
        <p:spPr>
          <a:xfrm>
            <a:off x="3974400" y="152280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Google Shape;245;p25"/>
          <p:cNvSpPr/>
          <p:nvPr/>
        </p:nvSpPr>
        <p:spPr>
          <a:xfrm>
            <a:off x="5491080" y="1559160"/>
            <a:ext cx="238104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2 &lt; 9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Google Shape;246;p25"/>
          <p:cNvSpPr/>
          <p:nvPr/>
        </p:nvSpPr>
        <p:spPr>
          <a:xfrm>
            <a:off x="941400" y="23209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Google Shape;247;p25"/>
          <p:cNvSpPr/>
          <p:nvPr/>
        </p:nvSpPr>
        <p:spPr>
          <a:xfrm>
            <a:off x="1446840" y="23209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Google Shape;248;p25"/>
          <p:cNvSpPr/>
          <p:nvPr/>
        </p:nvSpPr>
        <p:spPr>
          <a:xfrm>
            <a:off x="195264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Google Shape;249;p25"/>
          <p:cNvSpPr/>
          <p:nvPr/>
        </p:nvSpPr>
        <p:spPr>
          <a:xfrm>
            <a:off x="245808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Google Shape;250;p25"/>
          <p:cNvSpPr/>
          <p:nvPr/>
        </p:nvSpPr>
        <p:spPr>
          <a:xfrm>
            <a:off x="296352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Google Shape;251;p25"/>
          <p:cNvSpPr/>
          <p:nvPr/>
        </p:nvSpPr>
        <p:spPr>
          <a:xfrm>
            <a:off x="346896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Google Shape;252;p25"/>
          <p:cNvSpPr/>
          <p:nvPr/>
        </p:nvSpPr>
        <p:spPr>
          <a:xfrm>
            <a:off x="397440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Google Shape;253;p25"/>
          <p:cNvSpPr/>
          <p:nvPr/>
        </p:nvSpPr>
        <p:spPr>
          <a:xfrm>
            <a:off x="5491080" y="23572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3 &gt; 1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Google Shape;254;p25"/>
          <p:cNvSpPr/>
          <p:nvPr/>
        </p:nvSpPr>
        <p:spPr>
          <a:xfrm>
            <a:off x="941400" y="311868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Google Shape;255;p25"/>
          <p:cNvSpPr/>
          <p:nvPr/>
        </p:nvSpPr>
        <p:spPr>
          <a:xfrm>
            <a:off x="1446840" y="311868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Google Shape;256;p25"/>
          <p:cNvSpPr/>
          <p:nvPr/>
        </p:nvSpPr>
        <p:spPr>
          <a:xfrm>
            <a:off x="195264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Google Shape;257;p25"/>
          <p:cNvSpPr/>
          <p:nvPr/>
        </p:nvSpPr>
        <p:spPr>
          <a:xfrm>
            <a:off x="245808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Google Shape;258;p25"/>
          <p:cNvSpPr/>
          <p:nvPr/>
        </p:nvSpPr>
        <p:spPr>
          <a:xfrm>
            <a:off x="296352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Google Shape;259;p25"/>
          <p:cNvSpPr/>
          <p:nvPr/>
        </p:nvSpPr>
        <p:spPr>
          <a:xfrm>
            <a:off x="346896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Google Shape;260;p25"/>
          <p:cNvSpPr/>
          <p:nvPr/>
        </p:nvSpPr>
        <p:spPr>
          <a:xfrm>
            <a:off x="397440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Google Shape;261;p25"/>
          <p:cNvSpPr/>
          <p:nvPr/>
        </p:nvSpPr>
        <p:spPr>
          <a:xfrm>
            <a:off x="5491080" y="315504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 &lt; 3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Google Shape;262;p25"/>
          <p:cNvSpPr/>
          <p:nvPr/>
        </p:nvSpPr>
        <p:spPr>
          <a:xfrm>
            <a:off x="94140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Google Shape;263;p25"/>
          <p:cNvSpPr/>
          <p:nvPr/>
        </p:nvSpPr>
        <p:spPr>
          <a:xfrm>
            <a:off x="1446840" y="40363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Google Shape;264;p25"/>
          <p:cNvSpPr/>
          <p:nvPr/>
        </p:nvSpPr>
        <p:spPr>
          <a:xfrm>
            <a:off x="1952640" y="40363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Google Shape;265;p25"/>
          <p:cNvSpPr/>
          <p:nvPr/>
        </p:nvSpPr>
        <p:spPr>
          <a:xfrm>
            <a:off x="245808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Google Shape;266;p25"/>
          <p:cNvSpPr/>
          <p:nvPr/>
        </p:nvSpPr>
        <p:spPr>
          <a:xfrm>
            <a:off x="296352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Google Shape;267;p25"/>
          <p:cNvSpPr/>
          <p:nvPr/>
        </p:nvSpPr>
        <p:spPr>
          <a:xfrm>
            <a:off x="346896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Google Shape;268;p25"/>
          <p:cNvSpPr/>
          <p:nvPr/>
        </p:nvSpPr>
        <p:spPr>
          <a:xfrm>
            <a:off x="397440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Google Shape;269;p25"/>
          <p:cNvSpPr/>
          <p:nvPr/>
        </p:nvSpPr>
        <p:spPr>
          <a:xfrm>
            <a:off x="5491080" y="40726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3 &lt; 6 →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Things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Bubbles. I want more bubbles.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sldNum" idx="1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FE233A7-413F-4843-AD3A-0C7096833573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" name="Google Shape;276;p26"/>
          <p:cNvSpPr/>
          <p:nvPr/>
        </p:nvSpPr>
        <p:spPr>
          <a:xfrm>
            <a:off x="94140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Google Shape;277;p26"/>
          <p:cNvSpPr/>
          <p:nvPr/>
        </p:nvSpPr>
        <p:spPr>
          <a:xfrm>
            <a:off x="14468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Google Shape;278;p26"/>
          <p:cNvSpPr/>
          <p:nvPr/>
        </p:nvSpPr>
        <p:spPr>
          <a:xfrm>
            <a:off x="1952640" y="15228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Google Shape;279;p26"/>
          <p:cNvSpPr/>
          <p:nvPr/>
        </p:nvSpPr>
        <p:spPr>
          <a:xfrm>
            <a:off x="2458080" y="15228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Google Shape;280;p26"/>
          <p:cNvSpPr/>
          <p:nvPr/>
        </p:nvSpPr>
        <p:spPr>
          <a:xfrm>
            <a:off x="296352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Google Shape;281;p26"/>
          <p:cNvSpPr/>
          <p:nvPr/>
        </p:nvSpPr>
        <p:spPr>
          <a:xfrm>
            <a:off x="346896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Google Shape;282;p26"/>
          <p:cNvSpPr/>
          <p:nvPr/>
        </p:nvSpPr>
        <p:spPr>
          <a:xfrm>
            <a:off x="397440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Google Shape;283;p26"/>
          <p:cNvSpPr/>
          <p:nvPr/>
        </p:nvSpPr>
        <p:spPr>
          <a:xfrm>
            <a:off x="5491080" y="1559160"/>
            <a:ext cx="238104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6 &lt; 7 →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Things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Google Shape;284;p26"/>
          <p:cNvSpPr/>
          <p:nvPr/>
        </p:nvSpPr>
        <p:spPr>
          <a:xfrm>
            <a:off x="94140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Google Shape;285;p26"/>
          <p:cNvSpPr/>
          <p:nvPr/>
        </p:nvSpPr>
        <p:spPr>
          <a:xfrm>
            <a:off x="144684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Google Shape;286;p26"/>
          <p:cNvSpPr/>
          <p:nvPr/>
        </p:nvSpPr>
        <p:spPr>
          <a:xfrm>
            <a:off x="195264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Google Shape;287;p26"/>
          <p:cNvSpPr/>
          <p:nvPr/>
        </p:nvSpPr>
        <p:spPr>
          <a:xfrm>
            <a:off x="2458080" y="23209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Google Shape;288;p26"/>
          <p:cNvSpPr/>
          <p:nvPr/>
        </p:nvSpPr>
        <p:spPr>
          <a:xfrm>
            <a:off x="2963520" y="23209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Google Shape;289;p26"/>
          <p:cNvSpPr/>
          <p:nvPr/>
        </p:nvSpPr>
        <p:spPr>
          <a:xfrm>
            <a:off x="346896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Google Shape;290;p26"/>
          <p:cNvSpPr/>
          <p:nvPr/>
        </p:nvSpPr>
        <p:spPr>
          <a:xfrm>
            <a:off x="397440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Google Shape;291;p26"/>
          <p:cNvSpPr/>
          <p:nvPr/>
        </p:nvSpPr>
        <p:spPr>
          <a:xfrm>
            <a:off x="5491080" y="23572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7 &gt; 0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Google Shape;292;p26"/>
          <p:cNvSpPr/>
          <p:nvPr/>
        </p:nvSpPr>
        <p:spPr>
          <a:xfrm>
            <a:off x="94140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Google Shape;293;p26"/>
          <p:cNvSpPr/>
          <p:nvPr/>
        </p:nvSpPr>
        <p:spPr>
          <a:xfrm>
            <a:off x="144684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Google Shape;294;p26"/>
          <p:cNvSpPr/>
          <p:nvPr/>
        </p:nvSpPr>
        <p:spPr>
          <a:xfrm>
            <a:off x="195264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Google Shape;295;p26"/>
          <p:cNvSpPr/>
          <p:nvPr/>
        </p:nvSpPr>
        <p:spPr>
          <a:xfrm>
            <a:off x="2458080" y="311868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Google Shape;296;p26"/>
          <p:cNvSpPr/>
          <p:nvPr/>
        </p:nvSpPr>
        <p:spPr>
          <a:xfrm>
            <a:off x="2963520" y="311868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Google Shape;297;p26"/>
          <p:cNvSpPr/>
          <p:nvPr/>
        </p:nvSpPr>
        <p:spPr>
          <a:xfrm>
            <a:off x="346896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Google Shape;298;p26"/>
          <p:cNvSpPr/>
          <p:nvPr/>
        </p:nvSpPr>
        <p:spPr>
          <a:xfrm>
            <a:off x="397440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Google Shape;299;p26"/>
          <p:cNvSpPr/>
          <p:nvPr/>
        </p:nvSpPr>
        <p:spPr>
          <a:xfrm>
            <a:off x="5491080" y="315504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0 &lt; 7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Google Shape;300;p26"/>
          <p:cNvSpPr/>
          <p:nvPr/>
        </p:nvSpPr>
        <p:spPr>
          <a:xfrm>
            <a:off x="94140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Google Shape;301;p26"/>
          <p:cNvSpPr/>
          <p:nvPr/>
        </p:nvSpPr>
        <p:spPr>
          <a:xfrm>
            <a:off x="144684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Google Shape;302;p26"/>
          <p:cNvSpPr/>
          <p:nvPr/>
        </p:nvSpPr>
        <p:spPr>
          <a:xfrm>
            <a:off x="195264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Google Shape;303;p26"/>
          <p:cNvSpPr/>
          <p:nvPr/>
        </p:nvSpPr>
        <p:spPr>
          <a:xfrm>
            <a:off x="245808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Google Shape;304;p26"/>
          <p:cNvSpPr/>
          <p:nvPr/>
        </p:nvSpPr>
        <p:spPr>
          <a:xfrm>
            <a:off x="2963520" y="40363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Google Shape;305;p26"/>
          <p:cNvSpPr/>
          <p:nvPr/>
        </p:nvSpPr>
        <p:spPr>
          <a:xfrm>
            <a:off x="3468960" y="40363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Google Shape;306;p26"/>
          <p:cNvSpPr/>
          <p:nvPr/>
        </p:nvSpPr>
        <p:spPr>
          <a:xfrm>
            <a:off x="397440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Google Shape;307;p26"/>
          <p:cNvSpPr/>
          <p:nvPr/>
        </p:nvSpPr>
        <p:spPr>
          <a:xfrm>
            <a:off x="5491080" y="40726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7 &gt; 2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Bubbles. I want more bubbles.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 type="sldNum" idx="1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9756491-BEC6-42CA-9C7B-4DA1284A456D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" name="Google Shape;314;p27"/>
          <p:cNvSpPr/>
          <p:nvPr/>
        </p:nvSpPr>
        <p:spPr>
          <a:xfrm>
            <a:off x="94140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Google Shape;315;p27"/>
          <p:cNvSpPr/>
          <p:nvPr/>
        </p:nvSpPr>
        <p:spPr>
          <a:xfrm>
            <a:off x="14468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Google Shape;316;p27"/>
          <p:cNvSpPr/>
          <p:nvPr/>
        </p:nvSpPr>
        <p:spPr>
          <a:xfrm>
            <a:off x="19526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Google Shape;317;p27"/>
          <p:cNvSpPr/>
          <p:nvPr/>
        </p:nvSpPr>
        <p:spPr>
          <a:xfrm>
            <a:off x="245808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Google Shape;318;p27"/>
          <p:cNvSpPr/>
          <p:nvPr/>
        </p:nvSpPr>
        <p:spPr>
          <a:xfrm>
            <a:off x="2963520" y="152280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Google Shape;319;p27"/>
          <p:cNvSpPr/>
          <p:nvPr/>
        </p:nvSpPr>
        <p:spPr>
          <a:xfrm>
            <a:off x="3468960" y="152280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Google Shape;320;p27"/>
          <p:cNvSpPr/>
          <p:nvPr/>
        </p:nvSpPr>
        <p:spPr>
          <a:xfrm>
            <a:off x="397440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Google Shape;321;p27"/>
          <p:cNvSpPr/>
          <p:nvPr/>
        </p:nvSpPr>
        <p:spPr>
          <a:xfrm>
            <a:off x="5491080" y="1559160"/>
            <a:ext cx="238104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2 &lt; 7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Google Shape;322;p27"/>
          <p:cNvSpPr/>
          <p:nvPr/>
        </p:nvSpPr>
        <p:spPr>
          <a:xfrm>
            <a:off x="941400" y="23209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Google Shape;323;p27"/>
          <p:cNvSpPr/>
          <p:nvPr/>
        </p:nvSpPr>
        <p:spPr>
          <a:xfrm>
            <a:off x="1446840" y="23209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Google Shape;324;p27"/>
          <p:cNvSpPr/>
          <p:nvPr/>
        </p:nvSpPr>
        <p:spPr>
          <a:xfrm>
            <a:off x="195264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Google Shape;325;p27"/>
          <p:cNvSpPr/>
          <p:nvPr/>
        </p:nvSpPr>
        <p:spPr>
          <a:xfrm>
            <a:off x="245808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Google Shape;326;p27"/>
          <p:cNvSpPr/>
          <p:nvPr/>
        </p:nvSpPr>
        <p:spPr>
          <a:xfrm>
            <a:off x="296352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Google Shape;327;p27"/>
          <p:cNvSpPr/>
          <p:nvPr/>
        </p:nvSpPr>
        <p:spPr>
          <a:xfrm>
            <a:off x="346896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Google Shape;328;p27"/>
          <p:cNvSpPr/>
          <p:nvPr/>
        </p:nvSpPr>
        <p:spPr>
          <a:xfrm>
            <a:off x="397440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Google Shape;329;p27"/>
          <p:cNvSpPr/>
          <p:nvPr/>
        </p:nvSpPr>
        <p:spPr>
          <a:xfrm>
            <a:off x="5491080" y="23572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 &lt; 3 →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Things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Google Shape;330;p27"/>
          <p:cNvSpPr/>
          <p:nvPr/>
        </p:nvSpPr>
        <p:spPr>
          <a:xfrm>
            <a:off x="94140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Google Shape;331;p27"/>
          <p:cNvSpPr/>
          <p:nvPr/>
        </p:nvSpPr>
        <p:spPr>
          <a:xfrm>
            <a:off x="1446840" y="311868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Google Shape;332;p27"/>
          <p:cNvSpPr/>
          <p:nvPr/>
        </p:nvSpPr>
        <p:spPr>
          <a:xfrm>
            <a:off x="1952640" y="311868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Google Shape;333;p27"/>
          <p:cNvSpPr/>
          <p:nvPr/>
        </p:nvSpPr>
        <p:spPr>
          <a:xfrm>
            <a:off x="245808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Google Shape;334;p27"/>
          <p:cNvSpPr/>
          <p:nvPr/>
        </p:nvSpPr>
        <p:spPr>
          <a:xfrm>
            <a:off x="296352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Google Shape;335;p27"/>
          <p:cNvSpPr/>
          <p:nvPr/>
        </p:nvSpPr>
        <p:spPr>
          <a:xfrm>
            <a:off x="346896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Google Shape;336;p27"/>
          <p:cNvSpPr/>
          <p:nvPr/>
        </p:nvSpPr>
        <p:spPr>
          <a:xfrm>
            <a:off x="397440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Google Shape;337;p27"/>
          <p:cNvSpPr/>
          <p:nvPr/>
        </p:nvSpPr>
        <p:spPr>
          <a:xfrm>
            <a:off x="5491080" y="315504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3 &lt; 6 →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Things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Google Shape;338;p27"/>
          <p:cNvSpPr/>
          <p:nvPr/>
        </p:nvSpPr>
        <p:spPr>
          <a:xfrm>
            <a:off x="94140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Google Shape;339;p27"/>
          <p:cNvSpPr/>
          <p:nvPr/>
        </p:nvSpPr>
        <p:spPr>
          <a:xfrm>
            <a:off x="144684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Google Shape;340;p27"/>
          <p:cNvSpPr/>
          <p:nvPr/>
        </p:nvSpPr>
        <p:spPr>
          <a:xfrm>
            <a:off x="1952640" y="40363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Google Shape;341;p27"/>
          <p:cNvSpPr/>
          <p:nvPr/>
        </p:nvSpPr>
        <p:spPr>
          <a:xfrm>
            <a:off x="2458080" y="40363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Google Shape;342;p27"/>
          <p:cNvSpPr/>
          <p:nvPr/>
        </p:nvSpPr>
        <p:spPr>
          <a:xfrm>
            <a:off x="296352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Google Shape;343;p27"/>
          <p:cNvSpPr/>
          <p:nvPr/>
        </p:nvSpPr>
        <p:spPr>
          <a:xfrm>
            <a:off x="346896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Google Shape;344;p27"/>
          <p:cNvSpPr/>
          <p:nvPr/>
        </p:nvSpPr>
        <p:spPr>
          <a:xfrm>
            <a:off x="397440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Google Shape;345;p27"/>
          <p:cNvSpPr/>
          <p:nvPr/>
        </p:nvSpPr>
        <p:spPr>
          <a:xfrm>
            <a:off x="5491080" y="40726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6 &gt; 0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Bubbles. I want more bubbles.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PlaceHolder 2"/>
          <p:cNvSpPr>
            <a:spLocks noGrp="1"/>
          </p:cNvSpPr>
          <p:nvPr>
            <p:ph type="sldNum" idx="1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C6BECC1-C333-4D8E-B3EC-6D07E72AD448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" name="Google Shape;352;p28"/>
          <p:cNvSpPr/>
          <p:nvPr/>
        </p:nvSpPr>
        <p:spPr>
          <a:xfrm>
            <a:off x="94140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Google Shape;353;p28"/>
          <p:cNvSpPr/>
          <p:nvPr/>
        </p:nvSpPr>
        <p:spPr>
          <a:xfrm>
            <a:off x="14468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Google Shape;354;p28"/>
          <p:cNvSpPr/>
          <p:nvPr/>
        </p:nvSpPr>
        <p:spPr>
          <a:xfrm>
            <a:off x="1952640" y="152280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Google Shape;355;p28"/>
          <p:cNvSpPr/>
          <p:nvPr/>
        </p:nvSpPr>
        <p:spPr>
          <a:xfrm>
            <a:off x="2458080" y="152280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Google Shape;356;p28"/>
          <p:cNvSpPr/>
          <p:nvPr/>
        </p:nvSpPr>
        <p:spPr>
          <a:xfrm>
            <a:off x="296352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Google Shape;357;p28"/>
          <p:cNvSpPr/>
          <p:nvPr/>
        </p:nvSpPr>
        <p:spPr>
          <a:xfrm>
            <a:off x="346896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Google Shape;358;p28"/>
          <p:cNvSpPr/>
          <p:nvPr/>
        </p:nvSpPr>
        <p:spPr>
          <a:xfrm>
            <a:off x="397440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Google Shape;359;p28"/>
          <p:cNvSpPr/>
          <p:nvPr/>
        </p:nvSpPr>
        <p:spPr>
          <a:xfrm>
            <a:off x="5491080" y="1559160"/>
            <a:ext cx="238104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0 &lt; 6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Google Shape;360;p28"/>
          <p:cNvSpPr/>
          <p:nvPr/>
        </p:nvSpPr>
        <p:spPr>
          <a:xfrm>
            <a:off x="94140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Google Shape;361;p28"/>
          <p:cNvSpPr/>
          <p:nvPr/>
        </p:nvSpPr>
        <p:spPr>
          <a:xfrm>
            <a:off x="144684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Google Shape;362;p28"/>
          <p:cNvSpPr/>
          <p:nvPr/>
        </p:nvSpPr>
        <p:spPr>
          <a:xfrm>
            <a:off x="195264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Google Shape;363;p28"/>
          <p:cNvSpPr/>
          <p:nvPr/>
        </p:nvSpPr>
        <p:spPr>
          <a:xfrm>
            <a:off x="2458080" y="23209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Google Shape;364;p28"/>
          <p:cNvSpPr/>
          <p:nvPr/>
        </p:nvSpPr>
        <p:spPr>
          <a:xfrm>
            <a:off x="2963520" y="23209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Google Shape;365;p28"/>
          <p:cNvSpPr/>
          <p:nvPr/>
        </p:nvSpPr>
        <p:spPr>
          <a:xfrm>
            <a:off x="346896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Google Shape;366;p28"/>
          <p:cNvSpPr/>
          <p:nvPr/>
        </p:nvSpPr>
        <p:spPr>
          <a:xfrm>
            <a:off x="397440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Google Shape;367;p28"/>
          <p:cNvSpPr/>
          <p:nvPr/>
        </p:nvSpPr>
        <p:spPr>
          <a:xfrm>
            <a:off x="5491080" y="23572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6 &gt; 2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Google Shape;368;p28"/>
          <p:cNvSpPr/>
          <p:nvPr/>
        </p:nvSpPr>
        <p:spPr>
          <a:xfrm>
            <a:off x="94140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Google Shape;369;p28"/>
          <p:cNvSpPr/>
          <p:nvPr/>
        </p:nvSpPr>
        <p:spPr>
          <a:xfrm>
            <a:off x="144684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Google Shape;370;p28"/>
          <p:cNvSpPr/>
          <p:nvPr/>
        </p:nvSpPr>
        <p:spPr>
          <a:xfrm>
            <a:off x="195264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Google Shape;371;p28"/>
          <p:cNvSpPr/>
          <p:nvPr/>
        </p:nvSpPr>
        <p:spPr>
          <a:xfrm>
            <a:off x="2458080" y="311868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Google Shape;372;p28"/>
          <p:cNvSpPr/>
          <p:nvPr/>
        </p:nvSpPr>
        <p:spPr>
          <a:xfrm>
            <a:off x="2963520" y="311868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Google Shape;373;p28"/>
          <p:cNvSpPr/>
          <p:nvPr/>
        </p:nvSpPr>
        <p:spPr>
          <a:xfrm>
            <a:off x="346896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Google Shape;374;p28"/>
          <p:cNvSpPr/>
          <p:nvPr/>
        </p:nvSpPr>
        <p:spPr>
          <a:xfrm>
            <a:off x="397440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Google Shape;375;p28"/>
          <p:cNvSpPr/>
          <p:nvPr/>
        </p:nvSpPr>
        <p:spPr>
          <a:xfrm>
            <a:off x="5491080" y="315504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2 &lt; 6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Google Shape;376;p28"/>
          <p:cNvSpPr/>
          <p:nvPr/>
        </p:nvSpPr>
        <p:spPr>
          <a:xfrm>
            <a:off x="941400" y="40363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Google Shape;377;p28"/>
          <p:cNvSpPr/>
          <p:nvPr/>
        </p:nvSpPr>
        <p:spPr>
          <a:xfrm>
            <a:off x="1446840" y="40363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Google Shape;378;p28"/>
          <p:cNvSpPr/>
          <p:nvPr/>
        </p:nvSpPr>
        <p:spPr>
          <a:xfrm>
            <a:off x="195264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Google Shape;379;p28"/>
          <p:cNvSpPr/>
          <p:nvPr/>
        </p:nvSpPr>
        <p:spPr>
          <a:xfrm>
            <a:off x="245808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Google Shape;380;p28"/>
          <p:cNvSpPr/>
          <p:nvPr/>
        </p:nvSpPr>
        <p:spPr>
          <a:xfrm>
            <a:off x="296352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Google Shape;381;p28"/>
          <p:cNvSpPr/>
          <p:nvPr/>
        </p:nvSpPr>
        <p:spPr>
          <a:xfrm>
            <a:off x="346896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Google Shape;382;p28"/>
          <p:cNvSpPr/>
          <p:nvPr/>
        </p:nvSpPr>
        <p:spPr>
          <a:xfrm>
            <a:off x="397440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Google Shape;383;p28"/>
          <p:cNvSpPr/>
          <p:nvPr/>
        </p:nvSpPr>
        <p:spPr>
          <a:xfrm>
            <a:off x="5491080" y="40726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 &lt; 3 →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Things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Bubbles. I want more bubbles.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PlaceHolder 2"/>
          <p:cNvSpPr>
            <a:spLocks noGrp="1"/>
          </p:cNvSpPr>
          <p:nvPr>
            <p:ph type="sldNum" idx="1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C651D90-6F67-4DF6-A949-007D7D4CA798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1" name="Google Shape;390;p29"/>
          <p:cNvSpPr/>
          <p:nvPr/>
        </p:nvSpPr>
        <p:spPr>
          <a:xfrm>
            <a:off x="94140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Google Shape;391;p29"/>
          <p:cNvSpPr/>
          <p:nvPr/>
        </p:nvSpPr>
        <p:spPr>
          <a:xfrm>
            <a:off x="1446840" y="15228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Google Shape;392;p29"/>
          <p:cNvSpPr/>
          <p:nvPr/>
        </p:nvSpPr>
        <p:spPr>
          <a:xfrm>
            <a:off x="1952640" y="15228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Google Shape;393;p29"/>
          <p:cNvSpPr/>
          <p:nvPr/>
        </p:nvSpPr>
        <p:spPr>
          <a:xfrm>
            <a:off x="245808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Google Shape;394;p29"/>
          <p:cNvSpPr/>
          <p:nvPr/>
        </p:nvSpPr>
        <p:spPr>
          <a:xfrm>
            <a:off x="296352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Google Shape;395;p29"/>
          <p:cNvSpPr/>
          <p:nvPr/>
        </p:nvSpPr>
        <p:spPr>
          <a:xfrm>
            <a:off x="346896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Google Shape;396;p29"/>
          <p:cNvSpPr/>
          <p:nvPr/>
        </p:nvSpPr>
        <p:spPr>
          <a:xfrm>
            <a:off x="397440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Google Shape;397;p29"/>
          <p:cNvSpPr/>
          <p:nvPr/>
        </p:nvSpPr>
        <p:spPr>
          <a:xfrm>
            <a:off x="5491080" y="1559160"/>
            <a:ext cx="292680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3 &gt; 0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Google Shape;398;p29"/>
          <p:cNvSpPr/>
          <p:nvPr/>
        </p:nvSpPr>
        <p:spPr>
          <a:xfrm>
            <a:off x="94140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Google Shape;399;p29"/>
          <p:cNvSpPr/>
          <p:nvPr/>
        </p:nvSpPr>
        <p:spPr>
          <a:xfrm>
            <a:off x="1446840" y="232092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Google Shape;400;p29"/>
          <p:cNvSpPr/>
          <p:nvPr/>
        </p:nvSpPr>
        <p:spPr>
          <a:xfrm>
            <a:off x="1952640" y="232092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Google Shape;401;p29"/>
          <p:cNvSpPr/>
          <p:nvPr/>
        </p:nvSpPr>
        <p:spPr>
          <a:xfrm>
            <a:off x="245808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Google Shape;402;p29"/>
          <p:cNvSpPr/>
          <p:nvPr/>
        </p:nvSpPr>
        <p:spPr>
          <a:xfrm>
            <a:off x="296352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Google Shape;403;p29"/>
          <p:cNvSpPr/>
          <p:nvPr/>
        </p:nvSpPr>
        <p:spPr>
          <a:xfrm>
            <a:off x="346896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Google Shape;404;p29"/>
          <p:cNvSpPr/>
          <p:nvPr/>
        </p:nvSpPr>
        <p:spPr>
          <a:xfrm>
            <a:off x="397440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Google Shape;405;p29"/>
          <p:cNvSpPr/>
          <p:nvPr/>
        </p:nvSpPr>
        <p:spPr>
          <a:xfrm>
            <a:off x="5491080" y="23572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0 &lt; 3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Google Shape;406;p29"/>
          <p:cNvSpPr/>
          <p:nvPr/>
        </p:nvSpPr>
        <p:spPr>
          <a:xfrm>
            <a:off x="94140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Google Shape;407;p29"/>
          <p:cNvSpPr/>
          <p:nvPr/>
        </p:nvSpPr>
        <p:spPr>
          <a:xfrm>
            <a:off x="144684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Google Shape;408;p29"/>
          <p:cNvSpPr/>
          <p:nvPr/>
        </p:nvSpPr>
        <p:spPr>
          <a:xfrm>
            <a:off x="1952640" y="311868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Google Shape;409;p29"/>
          <p:cNvSpPr/>
          <p:nvPr/>
        </p:nvSpPr>
        <p:spPr>
          <a:xfrm>
            <a:off x="2458080" y="311868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Google Shape;410;p29"/>
          <p:cNvSpPr/>
          <p:nvPr/>
        </p:nvSpPr>
        <p:spPr>
          <a:xfrm>
            <a:off x="296352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Google Shape;411;p29"/>
          <p:cNvSpPr/>
          <p:nvPr/>
        </p:nvSpPr>
        <p:spPr>
          <a:xfrm>
            <a:off x="346896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Google Shape;412;p29"/>
          <p:cNvSpPr/>
          <p:nvPr/>
        </p:nvSpPr>
        <p:spPr>
          <a:xfrm>
            <a:off x="397440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Google Shape;413;p29"/>
          <p:cNvSpPr/>
          <p:nvPr/>
        </p:nvSpPr>
        <p:spPr>
          <a:xfrm>
            <a:off x="5491080" y="315504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3 &gt; 2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Google Shape;414;p29"/>
          <p:cNvSpPr/>
          <p:nvPr/>
        </p:nvSpPr>
        <p:spPr>
          <a:xfrm>
            <a:off x="94140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Google Shape;415;p29"/>
          <p:cNvSpPr/>
          <p:nvPr/>
        </p:nvSpPr>
        <p:spPr>
          <a:xfrm>
            <a:off x="144684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Google Shape;416;p29"/>
          <p:cNvSpPr/>
          <p:nvPr/>
        </p:nvSpPr>
        <p:spPr>
          <a:xfrm>
            <a:off x="1952640" y="403632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Google Shape;417;p29"/>
          <p:cNvSpPr/>
          <p:nvPr/>
        </p:nvSpPr>
        <p:spPr>
          <a:xfrm>
            <a:off x="2458080" y="403632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Google Shape;418;p29"/>
          <p:cNvSpPr/>
          <p:nvPr/>
        </p:nvSpPr>
        <p:spPr>
          <a:xfrm>
            <a:off x="296352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Google Shape;419;p29"/>
          <p:cNvSpPr/>
          <p:nvPr/>
        </p:nvSpPr>
        <p:spPr>
          <a:xfrm>
            <a:off x="346896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Google Shape;420;p29"/>
          <p:cNvSpPr/>
          <p:nvPr/>
        </p:nvSpPr>
        <p:spPr>
          <a:xfrm>
            <a:off x="397440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Google Shape;421;p29"/>
          <p:cNvSpPr/>
          <p:nvPr/>
        </p:nvSpPr>
        <p:spPr>
          <a:xfrm>
            <a:off x="5491080" y="40726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2 &lt; 3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Bubbles. I want more bubbles.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 type="sldNum" idx="1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0A5398-9DF5-432B-A4DA-990C31310174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5" name="Google Shape;428;p30"/>
          <p:cNvSpPr/>
          <p:nvPr/>
        </p:nvSpPr>
        <p:spPr>
          <a:xfrm>
            <a:off x="941400" y="15228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Google Shape;429;p30"/>
          <p:cNvSpPr/>
          <p:nvPr/>
        </p:nvSpPr>
        <p:spPr>
          <a:xfrm>
            <a:off x="1446840" y="15228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Google Shape;430;p30"/>
          <p:cNvSpPr/>
          <p:nvPr/>
        </p:nvSpPr>
        <p:spPr>
          <a:xfrm>
            <a:off x="19526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Google Shape;431;p30"/>
          <p:cNvSpPr/>
          <p:nvPr/>
        </p:nvSpPr>
        <p:spPr>
          <a:xfrm>
            <a:off x="245808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Google Shape;432;p30"/>
          <p:cNvSpPr/>
          <p:nvPr/>
        </p:nvSpPr>
        <p:spPr>
          <a:xfrm>
            <a:off x="296352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Google Shape;433;p30"/>
          <p:cNvSpPr/>
          <p:nvPr/>
        </p:nvSpPr>
        <p:spPr>
          <a:xfrm>
            <a:off x="346896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Google Shape;434;p30"/>
          <p:cNvSpPr/>
          <p:nvPr/>
        </p:nvSpPr>
        <p:spPr>
          <a:xfrm>
            <a:off x="397440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Google Shape;435;p30"/>
          <p:cNvSpPr/>
          <p:nvPr/>
        </p:nvSpPr>
        <p:spPr>
          <a:xfrm>
            <a:off x="5491080" y="1559160"/>
            <a:ext cx="292680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 &gt; 0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Google Shape;436;p30"/>
          <p:cNvSpPr/>
          <p:nvPr/>
        </p:nvSpPr>
        <p:spPr>
          <a:xfrm>
            <a:off x="941400" y="23209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Google Shape;437;p30"/>
          <p:cNvSpPr/>
          <p:nvPr/>
        </p:nvSpPr>
        <p:spPr>
          <a:xfrm>
            <a:off x="1446840" y="23209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Google Shape;438;p30"/>
          <p:cNvSpPr/>
          <p:nvPr/>
        </p:nvSpPr>
        <p:spPr>
          <a:xfrm>
            <a:off x="195264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Google Shape;439;p30"/>
          <p:cNvSpPr/>
          <p:nvPr/>
        </p:nvSpPr>
        <p:spPr>
          <a:xfrm>
            <a:off x="245808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Google Shape;440;p30"/>
          <p:cNvSpPr/>
          <p:nvPr/>
        </p:nvSpPr>
        <p:spPr>
          <a:xfrm>
            <a:off x="296352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Google Shape;441;p30"/>
          <p:cNvSpPr/>
          <p:nvPr/>
        </p:nvSpPr>
        <p:spPr>
          <a:xfrm>
            <a:off x="346896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Google Shape;442;p30"/>
          <p:cNvSpPr/>
          <p:nvPr/>
        </p:nvSpPr>
        <p:spPr>
          <a:xfrm>
            <a:off x="397440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Google Shape;443;p30"/>
          <p:cNvSpPr/>
          <p:nvPr/>
        </p:nvSpPr>
        <p:spPr>
          <a:xfrm>
            <a:off x="5491080" y="23572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0 &lt; 1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Google Shape;444;p30"/>
          <p:cNvSpPr/>
          <p:nvPr/>
        </p:nvSpPr>
        <p:spPr>
          <a:xfrm>
            <a:off x="94140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Google Shape;445;p30"/>
          <p:cNvSpPr/>
          <p:nvPr/>
        </p:nvSpPr>
        <p:spPr>
          <a:xfrm>
            <a:off x="1446840" y="311868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Google Shape;446;p30"/>
          <p:cNvSpPr/>
          <p:nvPr/>
        </p:nvSpPr>
        <p:spPr>
          <a:xfrm>
            <a:off x="1952640" y="311868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Google Shape;447;p30"/>
          <p:cNvSpPr/>
          <p:nvPr/>
        </p:nvSpPr>
        <p:spPr>
          <a:xfrm>
            <a:off x="245808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Google Shape;448;p30"/>
          <p:cNvSpPr/>
          <p:nvPr/>
        </p:nvSpPr>
        <p:spPr>
          <a:xfrm>
            <a:off x="296352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Google Shape;449;p30"/>
          <p:cNvSpPr/>
          <p:nvPr/>
        </p:nvSpPr>
        <p:spPr>
          <a:xfrm>
            <a:off x="346896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Google Shape;450;p30"/>
          <p:cNvSpPr/>
          <p:nvPr/>
        </p:nvSpPr>
        <p:spPr>
          <a:xfrm>
            <a:off x="397440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Google Shape;451;p30"/>
          <p:cNvSpPr/>
          <p:nvPr/>
        </p:nvSpPr>
        <p:spPr>
          <a:xfrm>
            <a:off x="5491080" y="315504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 &gt; 2 →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Things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Google Shape;452;p30"/>
          <p:cNvSpPr/>
          <p:nvPr/>
        </p:nvSpPr>
        <p:spPr>
          <a:xfrm>
            <a:off x="941400" y="40363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Google Shape;453;p30"/>
          <p:cNvSpPr/>
          <p:nvPr/>
        </p:nvSpPr>
        <p:spPr>
          <a:xfrm>
            <a:off x="1446840" y="40363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Google Shape;454;p30"/>
          <p:cNvSpPr/>
          <p:nvPr/>
        </p:nvSpPr>
        <p:spPr>
          <a:xfrm>
            <a:off x="195264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Google Shape;455;p30"/>
          <p:cNvSpPr/>
          <p:nvPr/>
        </p:nvSpPr>
        <p:spPr>
          <a:xfrm>
            <a:off x="245808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Google Shape;456;p30"/>
          <p:cNvSpPr/>
          <p:nvPr/>
        </p:nvSpPr>
        <p:spPr>
          <a:xfrm>
            <a:off x="296352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Google Shape;457;p30"/>
          <p:cNvSpPr/>
          <p:nvPr/>
        </p:nvSpPr>
        <p:spPr>
          <a:xfrm>
            <a:off x="346896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Google Shape;458;p30"/>
          <p:cNvSpPr/>
          <p:nvPr/>
        </p:nvSpPr>
        <p:spPr>
          <a:xfrm>
            <a:off x="397440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Google Shape;459;p30"/>
          <p:cNvSpPr/>
          <p:nvPr/>
        </p:nvSpPr>
        <p:spPr>
          <a:xfrm>
            <a:off x="5491080" y="40726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0 &lt; 1 →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Things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Bubbles. I want more bubbles.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PlaceHolder 2"/>
          <p:cNvSpPr>
            <a:spLocks noGrp="1"/>
          </p:cNvSpPr>
          <p:nvPr>
            <p:ph type="sldNum" idx="2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0E9FD0F-F17A-40DE-9C93-95D04DDA7662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" name="Google Shape;466;p31"/>
          <p:cNvSpPr/>
          <p:nvPr/>
        </p:nvSpPr>
        <p:spPr>
          <a:xfrm>
            <a:off x="94140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Google Shape;467;p31"/>
          <p:cNvSpPr/>
          <p:nvPr/>
        </p:nvSpPr>
        <p:spPr>
          <a:xfrm>
            <a:off x="144684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Google Shape;468;p31"/>
          <p:cNvSpPr/>
          <p:nvPr/>
        </p:nvSpPr>
        <p:spPr>
          <a:xfrm>
            <a:off x="195264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Google Shape;469;p31"/>
          <p:cNvSpPr/>
          <p:nvPr/>
        </p:nvSpPr>
        <p:spPr>
          <a:xfrm>
            <a:off x="245808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Google Shape;470;p31"/>
          <p:cNvSpPr/>
          <p:nvPr/>
        </p:nvSpPr>
        <p:spPr>
          <a:xfrm>
            <a:off x="296352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Google Shape;471;p31"/>
          <p:cNvSpPr/>
          <p:nvPr/>
        </p:nvSpPr>
        <p:spPr>
          <a:xfrm>
            <a:off x="346896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Google Shape;472;p31"/>
          <p:cNvSpPr/>
          <p:nvPr/>
        </p:nvSpPr>
        <p:spPr>
          <a:xfrm>
            <a:off x="397440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Google Shape;473;p31"/>
          <p:cNvSpPr/>
          <p:nvPr/>
        </p:nvSpPr>
        <p:spPr>
          <a:xfrm>
            <a:off x="5491080" y="1559160"/>
            <a:ext cx="292680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Done!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Google Shape;474;p31"/>
          <p:cNvSpPr/>
          <p:nvPr/>
        </p:nvSpPr>
        <p:spPr>
          <a:xfrm>
            <a:off x="948240" y="2332800"/>
            <a:ext cx="7587720" cy="236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Really slow, isn’t it?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How “much” would this take to sort one million integers?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As Obama has said, “Bubble sort is the wrong way to go [when it comes to sorting one million integers]”.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[</a:t>
            </a:r>
            <a:r>
              <a:rPr b="0" lang="el" sz="1600" spc="-1" strike="noStrike" u="sng">
                <a:solidFill>
                  <a:schemeClr val="hlink"/>
                </a:solidFill>
                <a:uFillTx/>
                <a:latin typeface="Lato"/>
                <a:ea typeface="Lato"/>
                <a:hlinkClick r:id="rId1"/>
              </a:rPr>
              <a:t>source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Can you think of something faster?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9" dur="indefinite" restart="never" nodeType="tmRoot">
          <p:childTnLst>
            <p:seq>
              <p:cTn id="110" dur="indefinite" nodeType="mainSeq">
                <p:childTnLst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Divide and Conquer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PlaceHolder 2"/>
          <p:cNvSpPr>
            <a:spLocks noGrp="1"/>
          </p:cNvSpPr>
          <p:nvPr>
            <p:ph type="sldNum" idx="2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D80B1CC-B7A3-4693-9C26-93BB863A0C3F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" name="Google Shape;481;p32"/>
          <p:cNvSpPr/>
          <p:nvPr/>
        </p:nvSpPr>
        <p:spPr>
          <a:xfrm>
            <a:off x="94140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Google Shape;482;p32"/>
          <p:cNvSpPr/>
          <p:nvPr/>
        </p:nvSpPr>
        <p:spPr>
          <a:xfrm>
            <a:off x="14468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Google Shape;483;p32"/>
          <p:cNvSpPr/>
          <p:nvPr/>
        </p:nvSpPr>
        <p:spPr>
          <a:xfrm>
            <a:off x="19526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Google Shape;484;p32"/>
          <p:cNvSpPr/>
          <p:nvPr/>
        </p:nvSpPr>
        <p:spPr>
          <a:xfrm>
            <a:off x="245808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Google Shape;485;p32"/>
          <p:cNvSpPr/>
          <p:nvPr/>
        </p:nvSpPr>
        <p:spPr>
          <a:xfrm>
            <a:off x="296352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Google Shape;486;p32"/>
          <p:cNvSpPr/>
          <p:nvPr/>
        </p:nvSpPr>
        <p:spPr>
          <a:xfrm>
            <a:off x="346896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Google Shape;487;p32"/>
          <p:cNvSpPr/>
          <p:nvPr/>
        </p:nvSpPr>
        <p:spPr>
          <a:xfrm>
            <a:off x="397440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Google Shape;488;p32"/>
          <p:cNvSpPr/>
          <p:nvPr/>
        </p:nvSpPr>
        <p:spPr>
          <a:xfrm>
            <a:off x="5491080" y="155916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Start with the same list…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Google Shape;489;p32"/>
          <p:cNvSpPr/>
          <p:nvPr/>
        </p:nvSpPr>
        <p:spPr>
          <a:xfrm>
            <a:off x="712800" y="228456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Google Shape;490;p32"/>
          <p:cNvSpPr/>
          <p:nvPr/>
        </p:nvSpPr>
        <p:spPr>
          <a:xfrm>
            <a:off x="1294560" y="228456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Google Shape;491;p32"/>
          <p:cNvSpPr/>
          <p:nvPr/>
        </p:nvSpPr>
        <p:spPr>
          <a:xfrm>
            <a:off x="1876320" y="228456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Google Shape;492;p32"/>
          <p:cNvSpPr/>
          <p:nvPr/>
        </p:nvSpPr>
        <p:spPr>
          <a:xfrm>
            <a:off x="2458080" y="228456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Google Shape;493;p32"/>
          <p:cNvSpPr/>
          <p:nvPr/>
        </p:nvSpPr>
        <p:spPr>
          <a:xfrm>
            <a:off x="3039840" y="228456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Google Shape;494;p32"/>
          <p:cNvSpPr/>
          <p:nvPr/>
        </p:nvSpPr>
        <p:spPr>
          <a:xfrm>
            <a:off x="3621240" y="228456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Google Shape;495;p32"/>
          <p:cNvSpPr/>
          <p:nvPr/>
        </p:nvSpPr>
        <p:spPr>
          <a:xfrm>
            <a:off x="4203000" y="228456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Google Shape;496;p32"/>
          <p:cNvSpPr/>
          <p:nvPr/>
        </p:nvSpPr>
        <p:spPr>
          <a:xfrm>
            <a:off x="5491080" y="23572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Split things to unitary blocks…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Google Shape;497;p32"/>
          <p:cNvSpPr/>
          <p:nvPr/>
        </p:nvSpPr>
        <p:spPr>
          <a:xfrm>
            <a:off x="789120" y="30600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Google Shape;498;p32"/>
          <p:cNvSpPr/>
          <p:nvPr/>
        </p:nvSpPr>
        <p:spPr>
          <a:xfrm>
            <a:off x="1294560" y="30600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Google Shape;499;p32"/>
          <p:cNvSpPr/>
          <p:nvPr/>
        </p:nvSpPr>
        <p:spPr>
          <a:xfrm>
            <a:off x="1876320" y="30600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Google Shape;500;p32"/>
          <p:cNvSpPr/>
          <p:nvPr/>
        </p:nvSpPr>
        <p:spPr>
          <a:xfrm>
            <a:off x="2458080" y="30600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Google Shape;501;p32"/>
          <p:cNvSpPr/>
          <p:nvPr/>
        </p:nvSpPr>
        <p:spPr>
          <a:xfrm>
            <a:off x="3039840" y="30600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Google Shape;502;p32"/>
          <p:cNvSpPr/>
          <p:nvPr/>
        </p:nvSpPr>
        <p:spPr>
          <a:xfrm>
            <a:off x="3621240" y="30600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Google Shape;503;p32"/>
          <p:cNvSpPr/>
          <p:nvPr/>
        </p:nvSpPr>
        <p:spPr>
          <a:xfrm>
            <a:off x="4203000" y="30600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Google Shape;504;p32"/>
          <p:cNvSpPr/>
          <p:nvPr/>
        </p:nvSpPr>
        <p:spPr>
          <a:xfrm>
            <a:off x="5491080" y="300240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Merge the first two, respecting order…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Google Shape;505;p32"/>
          <p:cNvSpPr/>
          <p:nvPr/>
        </p:nvSpPr>
        <p:spPr>
          <a:xfrm>
            <a:off x="789120" y="386316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Google Shape;506;p32"/>
          <p:cNvSpPr/>
          <p:nvPr/>
        </p:nvSpPr>
        <p:spPr>
          <a:xfrm>
            <a:off x="1294560" y="386316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Google Shape;507;p32"/>
          <p:cNvSpPr/>
          <p:nvPr/>
        </p:nvSpPr>
        <p:spPr>
          <a:xfrm>
            <a:off x="1952640" y="386316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Google Shape;508;p32"/>
          <p:cNvSpPr/>
          <p:nvPr/>
        </p:nvSpPr>
        <p:spPr>
          <a:xfrm>
            <a:off x="2458080" y="386316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Google Shape;509;p32"/>
          <p:cNvSpPr/>
          <p:nvPr/>
        </p:nvSpPr>
        <p:spPr>
          <a:xfrm>
            <a:off x="3039840" y="386316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Google Shape;510;p32"/>
          <p:cNvSpPr/>
          <p:nvPr/>
        </p:nvSpPr>
        <p:spPr>
          <a:xfrm>
            <a:off x="3621240" y="386316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Google Shape;511;p32"/>
          <p:cNvSpPr/>
          <p:nvPr/>
        </p:nvSpPr>
        <p:spPr>
          <a:xfrm>
            <a:off x="4203000" y="386316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Google Shape;512;p32"/>
          <p:cNvSpPr/>
          <p:nvPr/>
        </p:nvSpPr>
        <p:spPr>
          <a:xfrm>
            <a:off x="5491080" y="387612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Merge the next two, respecting order…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Divide and Conquer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PlaceHolder 2"/>
          <p:cNvSpPr>
            <a:spLocks noGrp="1"/>
          </p:cNvSpPr>
          <p:nvPr>
            <p:ph type="sldNum" idx="2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5AAC67-775C-4F04-B365-8B5D104D1BED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" name="Google Shape;519;p33"/>
          <p:cNvSpPr/>
          <p:nvPr/>
        </p:nvSpPr>
        <p:spPr>
          <a:xfrm>
            <a:off x="789120" y="14472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Google Shape;520;p33"/>
          <p:cNvSpPr/>
          <p:nvPr/>
        </p:nvSpPr>
        <p:spPr>
          <a:xfrm>
            <a:off x="1294560" y="14472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Google Shape;521;p33"/>
          <p:cNvSpPr/>
          <p:nvPr/>
        </p:nvSpPr>
        <p:spPr>
          <a:xfrm>
            <a:off x="1952640" y="14472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Google Shape;522;p33"/>
          <p:cNvSpPr/>
          <p:nvPr/>
        </p:nvSpPr>
        <p:spPr>
          <a:xfrm>
            <a:off x="2458080" y="14472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Google Shape;523;p33"/>
          <p:cNvSpPr/>
          <p:nvPr/>
        </p:nvSpPr>
        <p:spPr>
          <a:xfrm>
            <a:off x="3039840" y="14472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Google Shape;524;p33"/>
          <p:cNvSpPr/>
          <p:nvPr/>
        </p:nvSpPr>
        <p:spPr>
          <a:xfrm>
            <a:off x="3545280" y="14472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Google Shape;525;p33"/>
          <p:cNvSpPr/>
          <p:nvPr/>
        </p:nvSpPr>
        <p:spPr>
          <a:xfrm>
            <a:off x="4203000" y="14472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Google Shape;526;p33"/>
          <p:cNvSpPr/>
          <p:nvPr/>
        </p:nvSpPr>
        <p:spPr>
          <a:xfrm>
            <a:off x="5491080" y="146016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Merge the next two, respecting order…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Google Shape;527;p33"/>
          <p:cNvSpPr/>
          <p:nvPr/>
        </p:nvSpPr>
        <p:spPr>
          <a:xfrm>
            <a:off x="941400" y="26586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Google Shape;528;p33"/>
          <p:cNvSpPr/>
          <p:nvPr/>
        </p:nvSpPr>
        <p:spPr>
          <a:xfrm>
            <a:off x="1446840" y="26586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Google Shape;529;p33"/>
          <p:cNvSpPr/>
          <p:nvPr/>
        </p:nvSpPr>
        <p:spPr>
          <a:xfrm>
            <a:off x="1952640" y="26586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Google Shape;530;p33"/>
          <p:cNvSpPr/>
          <p:nvPr/>
        </p:nvSpPr>
        <p:spPr>
          <a:xfrm>
            <a:off x="2458080" y="26586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Google Shape;531;p33"/>
          <p:cNvSpPr/>
          <p:nvPr/>
        </p:nvSpPr>
        <p:spPr>
          <a:xfrm>
            <a:off x="3039840" y="26586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Google Shape;532;p33"/>
          <p:cNvSpPr/>
          <p:nvPr/>
        </p:nvSpPr>
        <p:spPr>
          <a:xfrm>
            <a:off x="3545280" y="26586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Google Shape;533;p33"/>
          <p:cNvSpPr/>
          <p:nvPr/>
        </p:nvSpPr>
        <p:spPr>
          <a:xfrm>
            <a:off x="4203000" y="26586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Google Shape;534;p33"/>
          <p:cNvSpPr/>
          <p:nvPr/>
        </p:nvSpPr>
        <p:spPr>
          <a:xfrm>
            <a:off x="5491080" y="267156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Merge the next two, respecting order…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70" name="Google Shape;535;p33"/>
          <p:cNvCxnSpPr>
            <a:stCxn id="554" idx="2"/>
            <a:endCxn id="563" idx="0"/>
          </p:cNvCxnSpPr>
          <p:nvPr/>
        </p:nvCxnSpPr>
        <p:spPr>
          <a:xfrm>
            <a:off x="1041480" y="1948680"/>
            <a:ext cx="658080" cy="7102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571" name="Google Shape;536;p33"/>
          <p:cNvCxnSpPr>
            <a:stCxn id="555" idx="2"/>
            <a:endCxn id="564" idx="0"/>
          </p:cNvCxnSpPr>
          <p:nvPr/>
        </p:nvCxnSpPr>
        <p:spPr>
          <a:xfrm>
            <a:off x="1546920" y="1948680"/>
            <a:ext cx="658440" cy="7102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572" name="Google Shape;537;p33"/>
          <p:cNvCxnSpPr>
            <a:stCxn id="556" idx="2"/>
            <a:endCxn id="562" idx="0"/>
          </p:cNvCxnSpPr>
          <p:nvPr/>
        </p:nvCxnSpPr>
        <p:spPr>
          <a:xfrm flipH="1">
            <a:off x="1193760" y="1948680"/>
            <a:ext cx="1011600" cy="7102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sp>
        <p:nvSpPr>
          <p:cNvPr id="573" name="Google Shape;538;p33"/>
          <p:cNvSpPr/>
          <p:nvPr/>
        </p:nvSpPr>
        <p:spPr>
          <a:xfrm>
            <a:off x="941400" y="36745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Google Shape;539;p33"/>
          <p:cNvSpPr/>
          <p:nvPr/>
        </p:nvSpPr>
        <p:spPr>
          <a:xfrm>
            <a:off x="1446840" y="36745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Google Shape;540;p33"/>
          <p:cNvSpPr/>
          <p:nvPr/>
        </p:nvSpPr>
        <p:spPr>
          <a:xfrm>
            <a:off x="1952640" y="36745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Google Shape;541;p33"/>
          <p:cNvSpPr/>
          <p:nvPr/>
        </p:nvSpPr>
        <p:spPr>
          <a:xfrm>
            <a:off x="2458080" y="36745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Google Shape;542;p33"/>
          <p:cNvSpPr/>
          <p:nvPr/>
        </p:nvSpPr>
        <p:spPr>
          <a:xfrm>
            <a:off x="3039840" y="36745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Google Shape;543;p33"/>
          <p:cNvSpPr/>
          <p:nvPr/>
        </p:nvSpPr>
        <p:spPr>
          <a:xfrm>
            <a:off x="3545280" y="36745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Google Shape;544;p33"/>
          <p:cNvSpPr/>
          <p:nvPr/>
        </p:nvSpPr>
        <p:spPr>
          <a:xfrm>
            <a:off x="4050720" y="36745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Google Shape;545;p33"/>
          <p:cNvSpPr/>
          <p:nvPr/>
        </p:nvSpPr>
        <p:spPr>
          <a:xfrm>
            <a:off x="5491080" y="36874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Merge the next two, respecting order…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81" name="Google Shape;546;p33"/>
          <p:cNvCxnSpPr>
            <a:stCxn id="566" idx="2"/>
            <a:endCxn id="577" idx="0"/>
          </p:cNvCxnSpPr>
          <p:nvPr/>
        </p:nvCxnSpPr>
        <p:spPr>
          <a:xfrm>
            <a:off x="3292200" y="3160080"/>
            <a:ext cx="360" cy="51480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582" name="Google Shape;547;p33"/>
          <p:cNvCxnSpPr>
            <a:stCxn id="557" idx="2"/>
            <a:endCxn id="565" idx="0"/>
          </p:cNvCxnSpPr>
          <p:nvPr/>
        </p:nvCxnSpPr>
        <p:spPr>
          <a:xfrm>
            <a:off x="2710440" y="1948680"/>
            <a:ext cx="360" cy="7102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583" name="Google Shape;548;p33"/>
          <p:cNvCxnSpPr>
            <a:stCxn id="567" idx="2"/>
            <a:endCxn id="579" idx="0"/>
          </p:cNvCxnSpPr>
          <p:nvPr/>
        </p:nvCxnSpPr>
        <p:spPr>
          <a:xfrm>
            <a:off x="3797640" y="3160080"/>
            <a:ext cx="505800" cy="51480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584" name="Google Shape;549;p33"/>
          <p:cNvCxnSpPr>
            <a:stCxn id="568" idx="2"/>
            <a:endCxn id="578" idx="0"/>
          </p:cNvCxnSpPr>
          <p:nvPr/>
        </p:nvCxnSpPr>
        <p:spPr>
          <a:xfrm flipH="1">
            <a:off x="3797640" y="3160080"/>
            <a:ext cx="658080" cy="51480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Divide and Conquer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PlaceHolder 2"/>
          <p:cNvSpPr>
            <a:spLocks noGrp="1"/>
          </p:cNvSpPr>
          <p:nvPr>
            <p:ph type="sldNum" idx="2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E48693C-3909-4BCF-9444-8C2EDB4A6301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19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" name="Google Shape;556;p34"/>
          <p:cNvSpPr/>
          <p:nvPr/>
        </p:nvSpPr>
        <p:spPr>
          <a:xfrm>
            <a:off x="941400" y="14940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Google Shape;557;p34"/>
          <p:cNvSpPr/>
          <p:nvPr/>
        </p:nvSpPr>
        <p:spPr>
          <a:xfrm>
            <a:off x="1446840" y="14940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Google Shape;558;p34"/>
          <p:cNvSpPr/>
          <p:nvPr/>
        </p:nvSpPr>
        <p:spPr>
          <a:xfrm>
            <a:off x="1952640" y="14940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Google Shape;559;p34"/>
          <p:cNvSpPr/>
          <p:nvPr/>
        </p:nvSpPr>
        <p:spPr>
          <a:xfrm>
            <a:off x="2458080" y="14940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Google Shape;560;p34"/>
          <p:cNvSpPr/>
          <p:nvPr/>
        </p:nvSpPr>
        <p:spPr>
          <a:xfrm>
            <a:off x="3039840" y="14940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Google Shape;561;p34"/>
          <p:cNvSpPr/>
          <p:nvPr/>
        </p:nvSpPr>
        <p:spPr>
          <a:xfrm>
            <a:off x="3545280" y="14940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Google Shape;562;p34"/>
          <p:cNvSpPr/>
          <p:nvPr/>
        </p:nvSpPr>
        <p:spPr>
          <a:xfrm>
            <a:off x="4050720" y="14940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Google Shape;563;p34"/>
          <p:cNvSpPr/>
          <p:nvPr/>
        </p:nvSpPr>
        <p:spPr>
          <a:xfrm>
            <a:off x="5491080" y="150696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[Repeating from previous slide]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Google Shape;564;p34"/>
          <p:cNvSpPr/>
          <p:nvPr/>
        </p:nvSpPr>
        <p:spPr>
          <a:xfrm>
            <a:off x="941400" y="276768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Google Shape;565;p34"/>
          <p:cNvSpPr/>
          <p:nvPr/>
        </p:nvSpPr>
        <p:spPr>
          <a:xfrm>
            <a:off x="1446840" y="276768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Google Shape;566;p34"/>
          <p:cNvSpPr/>
          <p:nvPr/>
        </p:nvSpPr>
        <p:spPr>
          <a:xfrm>
            <a:off x="1952640" y="276768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Google Shape;567;p34"/>
          <p:cNvSpPr/>
          <p:nvPr/>
        </p:nvSpPr>
        <p:spPr>
          <a:xfrm>
            <a:off x="2458080" y="276768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Google Shape;568;p34"/>
          <p:cNvSpPr/>
          <p:nvPr/>
        </p:nvSpPr>
        <p:spPr>
          <a:xfrm>
            <a:off x="2963520" y="276768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Google Shape;569;p34"/>
          <p:cNvSpPr/>
          <p:nvPr/>
        </p:nvSpPr>
        <p:spPr>
          <a:xfrm>
            <a:off x="3468960" y="276768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Google Shape;570;p34"/>
          <p:cNvSpPr/>
          <p:nvPr/>
        </p:nvSpPr>
        <p:spPr>
          <a:xfrm>
            <a:off x="3974400" y="276768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Google Shape;571;p34"/>
          <p:cNvSpPr/>
          <p:nvPr/>
        </p:nvSpPr>
        <p:spPr>
          <a:xfrm>
            <a:off x="5491080" y="278100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Merge the next two, respecting order…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03" name="Google Shape;572;p34"/>
          <p:cNvCxnSpPr>
            <a:stCxn id="587" idx="2"/>
            <a:endCxn id="596" idx="0"/>
          </p:cNvCxnSpPr>
          <p:nvPr/>
        </p:nvCxnSpPr>
        <p:spPr>
          <a:xfrm>
            <a:off x="1193760" y="1995480"/>
            <a:ext cx="505800" cy="7725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604" name="Google Shape;573;p34"/>
          <p:cNvCxnSpPr>
            <a:stCxn id="588" idx="2"/>
            <a:endCxn id="598" idx="0"/>
          </p:cNvCxnSpPr>
          <p:nvPr/>
        </p:nvCxnSpPr>
        <p:spPr>
          <a:xfrm>
            <a:off x="1699200" y="1995480"/>
            <a:ext cx="1011600" cy="7725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605" name="Google Shape;574;p34"/>
          <p:cNvCxnSpPr>
            <a:stCxn id="589" idx="2"/>
            <a:endCxn id="599" idx="0"/>
          </p:cNvCxnSpPr>
          <p:nvPr/>
        </p:nvCxnSpPr>
        <p:spPr>
          <a:xfrm>
            <a:off x="2205000" y="1995480"/>
            <a:ext cx="1011240" cy="7725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606" name="Google Shape;575;p34"/>
          <p:cNvCxnSpPr>
            <a:stCxn id="590" idx="2"/>
            <a:endCxn id="600" idx="0"/>
          </p:cNvCxnSpPr>
          <p:nvPr/>
        </p:nvCxnSpPr>
        <p:spPr>
          <a:xfrm>
            <a:off x="2710440" y="1995480"/>
            <a:ext cx="1011240" cy="7725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607" name="Google Shape;576;p34"/>
          <p:cNvCxnSpPr>
            <a:stCxn id="591" idx="2"/>
            <a:endCxn id="595" idx="0"/>
          </p:cNvCxnSpPr>
          <p:nvPr/>
        </p:nvCxnSpPr>
        <p:spPr>
          <a:xfrm flipH="1">
            <a:off x="1193760" y="1995480"/>
            <a:ext cx="2098800" cy="7725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608" name="Google Shape;577;p34"/>
          <p:cNvCxnSpPr>
            <a:stCxn id="592" idx="2"/>
            <a:endCxn id="597" idx="0"/>
          </p:cNvCxnSpPr>
          <p:nvPr/>
        </p:nvCxnSpPr>
        <p:spPr>
          <a:xfrm flipH="1">
            <a:off x="2205000" y="1995480"/>
            <a:ext cx="1593000" cy="7725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609" name="Google Shape;578;p34"/>
          <p:cNvCxnSpPr>
            <a:stCxn id="593" idx="2"/>
            <a:endCxn id="601" idx="0"/>
          </p:cNvCxnSpPr>
          <p:nvPr/>
        </p:nvCxnSpPr>
        <p:spPr>
          <a:xfrm flipH="1">
            <a:off x="4226760" y="1995480"/>
            <a:ext cx="76680" cy="7725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sp>
        <p:nvSpPr>
          <p:cNvPr id="610" name="Google Shape;579;p34"/>
          <p:cNvSpPr/>
          <p:nvPr/>
        </p:nvSpPr>
        <p:spPr>
          <a:xfrm>
            <a:off x="1045440" y="3565080"/>
            <a:ext cx="7372440" cy="11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Is this any better?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How much time does it take to merge lists respecting their order?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Let’s compare them…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Measuring time complexity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Open ‘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sorting_cpp/sorting.cpp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’.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Try to make some sense of the purpose of this file.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[Try a bit more…]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Okay, now, compile and run it!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was the output?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Run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plotter.py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(in the same folder).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does the plot say?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PlaceHolder 3"/>
          <p:cNvSpPr>
            <a:spLocks noGrp="1"/>
          </p:cNvSpPr>
          <p:nvPr>
            <p:ph type="sldNum" idx="2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54E437-BC25-4251-8639-6DFE446EEAA0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20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1" dur="indefinite" restart="never" nodeType="tmRoot">
          <p:childTnLst>
            <p:seq>
              <p:cTn id="132" dur="indefinite" nodeType="mainSeq">
                <p:childTnLst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Hopefully, what you see looks like that…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PlaceHolder 2"/>
          <p:cNvSpPr>
            <a:spLocks noGrp="1"/>
          </p:cNvSpPr>
          <p:nvPr>
            <p:ph type="sldNum" idx="2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E2CEC7-840B-426A-99D0-DC5DD7326E34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16" name="Google Shape;593;p36" descr=""/>
          <p:cNvPicPr/>
          <p:nvPr/>
        </p:nvPicPr>
        <p:blipFill>
          <a:blip r:embed="rId1"/>
          <a:stretch/>
        </p:blipFill>
        <p:spPr>
          <a:xfrm>
            <a:off x="2372400" y="1266480"/>
            <a:ext cx="4402440" cy="3731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So…?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Which algorithm do you think is better?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are some problems with comparing algorithms this way?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My machine might be worse / better than yours.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Random noise from other processes running at the same time.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Bad luck might influence execution duration - what if the lists we have generated were inappropriate for bubble sort?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With statistics you can never be really-really sure…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PlaceHolder 3"/>
          <p:cNvSpPr>
            <a:spLocks noGrp="1"/>
          </p:cNvSpPr>
          <p:nvPr>
            <p:ph type="sldNum" idx="2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9FE0A4-5605-401E-B425-1BDADE86F48A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1" dur="indefinite" restart="never" nodeType="tmRoot">
          <p:childTnLst>
            <p:seq>
              <p:cTn id="162" dur="indefinite" nodeType="mainSeq">
                <p:childTnLst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 and Complexity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short, Bubble-sort looks like this: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swapped = True, j = 1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while swapped: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for i = 0,1,..., n - j: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arr[i] &gt; arr[i + 1]: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swap arr[i] and arr[i + 1]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swapped = True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j++;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arr has been sorted!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about (worst-case) complexity?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PlaceHolder 3"/>
          <p:cNvSpPr>
            <a:spLocks noGrp="1"/>
          </p:cNvSpPr>
          <p:nvPr>
            <p:ph type="sldNum" idx="2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A39CD0-3AE7-49BC-A0D8-87258025E90F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1" dur="indefinite" restart="never" nodeType="tmRoot">
          <p:childTnLst>
            <p:seq>
              <p:cTn id="192" dur="indefinite" nodeType="mainSeq">
                <p:childTnLst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 and Complexity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short, Bubble-sort looks like this: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swapped = True, j = 1</a:t>
            </a:r>
            <a:br>
              <a:rPr sz="1600"/>
            </a:br>
            <a:r>
              <a:rPr b="0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while swapped: ← This will be executed at most </a:t>
            </a:r>
            <a:r>
              <a:rPr b="1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n-1</a:t>
            </a:r>
            <a:r>
              <a:rPr b="0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 times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for i = 0,1,..., n - j: ← This is roughly </a:t>
            </a:r>
            <a:r>
              <a:rPr b="1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n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 iterations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arr[i] &gt; arr[i + 1]: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swap arr[i] and arr[i + 1]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swapped = True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j++;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arr has been sorted!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Worst case complexity: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O(n x (n-1)) = O(n^2)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PlaceHolder 3"/>
          <p:cNvSpPr>
            <a:spLocks noGrp="1"/>
          </p:cNvSpPr>
          <p:nvPr>
            <p:ph type="sldNum" idx="2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3E84EB0-ED53-47AC-898B-16D9C338E511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626" name="Google Shape;615;p39"/>
          <p:cNvGrpSpPr/>
          <p:nvPr/>
        </p:nvGrpSpPr>
        <p:grpSpPr>
          <a:xfrm>
            <a:off x="5418000" y="2889720"/>
            <a:ext cx="213480" cy="538200"/>
            <a:chOff x="5418000" y="2889720"/>
            <a:chExt cx="213480" cy="538200"/>
          </a:xfrm>
        </p:grpSpPr>
        <p:cxnSp>
          <p:nvCxnSpPr>
            <p:cNvPr id="627" name="Google Shape;616;p39"/>
            <p:cNvCxnSpPr/>
            <p:nvPr/>
          </p:nvCxnSpPr>
          <p:spPr>
            <a:xfrm>
              <a:off x="5418000" y="2907360"/>
              <a:ext cx="213840" cy="360"/>
            </a:xfrm>
            <a:prstGeom prst="straightConnector1">
              <a:avLst/>
            </a:prstGeom>
            <a:ln w="38100">
              <a:solidFill>
                <a:srgbClr val="1a9988"/>
              </a:solidFill>
              <a:round/>
            </a:ln>
          </p:spPr>
        </p:cxnSp>
        <p:cxnSp>
          <p:nvCxnSpPr>
            <p:cNvPr id="628" name="Google Shape;617;p39"/>
            <p:cNvCxnSpPr/>
            <p:nvPr/>
          </p:nvCxnSpPr>
          <p:spPr>
            <a:xfrm>
              <a:off x="5418000" y="3410640"/>
              <a:ext cx="213840" cy="360"/>
            </a:xfrm>
            <a:prstGeom prst="straightConnector1">
              <a:avLst/>
            </a:prstGeom>
            <a:ln w="38100">
              <a:solidFill>
                <a:srgbClr val="1a9988"/>
              </a:solidFill>
              <a:round/>
            </a:ln>
          </p:spPr>
        </p:cxnSp>
        <p:cxnSp>
          <p:nvCxnSpPr>
            <p:cNvPr id="629" name="Google Shape;618;p39"/>
            <p:cNvCxnSpPr/>
            <p:nvPr/>
          </p:nvCxnSpPr>
          <p:spPr>
            <a:xfrm>
              <a:off x="5623200" y="2889720"/>
              <a:ext cx="3600" cy="538560"/>
            </a:xfrm>
            <a:prstGeom prst="straightConnector1">
              <a:avLst/>
            </a:prstGeom>
            <a:ln w="38100">
              <a:solidFill>
                <a:srgbClr val="1a9988"/>
              </a:solidFill>
              <a:round/>
            </a:ln>
          </p:spPr>
        </p:cxnSp>
      </p:grpSp>
      <p:sp>
        <p:nvSpPr>
          <p:cNvPr id="630" name="Google Shape;619;p39"/>
          <p:cNvSpPr/>
          <p:nvPr/>
        </p:nvSpPr>
        <p:spPr>
          <a:xfrm>
            <a:off x="5631840" y="2889720"/>
            <a:ext cx="1808280" cy="53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l" sz="1300" spc="-1" strike="noStrike">
                <a:solidFill>
                  <a:schemeClr val="dk1"/>
                </a:solidFill>
                <a:latin typeface="Lato"/>
                <a:ea typeface="Lato"/>
              </a:rPr>
              <a:t>Elementary</a:t>
            </a:r>
            <a:br>
              <a:rPr sz="1300"/>
            </a:br>
            <a:r>
              <a:rPr b="1" lang="el" sz="1300" spc="-1" strike="noStrike">
                <a:solidFill>
                  <a:schemeClr val="dk1"/>
                </a:solidFill>
                <a:latin typeface="Lato"/>
                <a:ea typeface="Lato"/>
              </a:rPr>
              <a:t>Operation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7" dur="indefinite" restart="never" nodeType="tmRoot">
          <p:childTnLst>
            <p:seq>
              <p:cTn id="218" dur="indefinite" nodeType="mainSeq">
                <p:childTnLst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Merging and Complexity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short, Merge-sort looks like this: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n = len(arr)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for i = 0, 1, …, log(len(arr)):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for j = 0, 1, …, n: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left = arr[j : j+2^i]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right = arr[j+2^i : j+2^(i+1)]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merge(left, right)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n = n / 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arr has been sorted!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about (worst-case) complexity?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PlaceHolder 3"/>
          <p:cNvSpPr>
            <a:spLocks noGrp="1"/>
          </p:cNvSpPr>
          <p:nvPr>
            <p:ph type="sldNum" idx="2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38EB5E-08CA-4D77-99FC-9D7FEB8A5F9F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1" dur="indefinite" restart="never" nodeType="tmRoot">
          <p:childTnLst>
            <p:seq>
              <p:cTn id="232" dur="indefinite" nodeType="mainSeq">
                <p:childTnLst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Merging and Complexity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6000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short, Merge-sort looks like this: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n = len(arr)</a:t>
            </a:r>
            <a:br>
              <a:rPr sz="1600"/>
            </a:br>
            <a:r>
              <a:rPr b="0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for i = 0, 1, …, log(len(arr)): ← This is repeated </a:t>
            </a:r>
            <a:r>
              <a:rPr b="1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log(n)</a:t>
            </a:r>
            <a:r>
              <a:rPr b="0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 times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2"/>
                </a:solidFill>
                <a:latin typeface="Consolas"/>
                <a:ea typeface="Consolas"/>
              </a:rPr>
              <a:t>for j = 0, 1, …, n: ← Don’t fall for this!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left = arr[j : j+2^i]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right = arr[j+2^i : j+2^(i+1)]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merge(left, right) ← len(left) + len(right) EO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n = n / 2                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which means </a:t>
            </a:r>
            <a:r>
              <a:rPr b="1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n 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EO per iteration.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arr has been sorted!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Worst case complexity: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O(nlog(n))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sldNum" idx="3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E1DC83-040B-47FA-8D65-E51E9A5F79D4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49" dur="indefinite" restart="never" nodeType="tmRoot">
          <p:childTnLst>
            <p:seq>
              <p:cTn id="250" dur="indefinite" nodeType="mainSeq">
                <p:childTnLst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Why merge log(n) times?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4000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a list of length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8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= 2^3 (just for convenience). Once broken into pieces of length == 1, you have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8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tiny lists of one element each.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29480" indent="-30996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Every time you merge you are left with exactly half (±1) tiny lists (of roughly double size)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29480" indent="-30996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So, after how many “merge runs” will you be left with just one (the initial) list?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29480" indent="-30996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8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tiny lists → 4 tiny lists → 2 tiny lists → 1 large list.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29480" indent="-30996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At each step you divide by two, so, essentially, you are looking for the number of consecutive divisions by 2 required to reach 1, starting from 8.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29480" indent="-30996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Reading this right to left, we can count the number of multiplications by 2 required to reach 8 from 1, i.e., if m is that number, we want an m such that: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2^m ==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8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29480" indent="-30996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This is exactly the definition of log(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8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) (log = logarithm base 2)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29480" indent="-30996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Substitute 8 with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and you get (roughly)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m = log(n)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sldNum" idx="3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5AECD1-04B9-469E-B3B1-9202D208FB75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Insertion Sort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the following sorting algorithm: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 = 1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while i &lt; len(arr):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j = i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while j &gt; 0 and arr[j] &lt; arr[j - 1]: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swap arr[j] and arr[j-1]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j--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i++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arr has been sorted!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about worst-case complexity?</a:t>
            </a:r>
            <a:br>
              <a:rPr sz="1600"/>
            </a:b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sldNum" idx="3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FA906E3-C935-4E5A-BBFB-9B1BE57374AE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7" dur="indefinite" restart="never" nodeType="tmRoot">
          <p:childTnLst>
            <p:seq>
              <p:cTn id="268" dur="indefinite" nodeType="mainSeq">
                <p:childTnLst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Insertion Sort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4000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the following sorting algorithm: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 = 1</a:t>
            </a:r>
            <a:br>
              <a:rPr sz="1600"/>
            </a:br>
            <a:r>
              <a:rPr b="0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while i &lt; len(arr): ← This is repeated </a:t>
            </a:r>
            <a:r>
              <a:rPr b="1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n</a:t>
            </a:r>
            <a:r>
              <a:rPr b="0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 times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j = i</a:t>
            </a:r>
            <a:br>
              <a:rPr sz="1600"/>
            </a:b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while j &gt; 0 and arr[j] &lt; arr[j - 1]: ← At most </a:t>
            </a:r>
            <a:r>
              <a:rPr b="1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n - 1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 times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swap arr[j] and arr[j-1]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j--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i++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arr has been sorted!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Worst-case complexity: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O(n x (n-1)) = O(n^2)</a:t>
            </a:r>
            <a:br>
              <a:rPr sz="1600"/>
            </a:b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sldNum" idx="3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4D1235-403A-4EAB-9FF1-73C5CEECEB86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29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85" dur="indefinite" restart="never" nodeType="tmRoot">
          <p:childTnLst>
            <p:seq>
              <p:cTn id="286" dur="indefinite" nodeType="mainSeq">
                <p:childTnLst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Bogus – Bogus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the following sorting algorithm: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while arr is not sorted: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randomly shuffle arr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arr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arr is sorted!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about worst-case time complexity?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sldNum" idx="3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B6210F-688A-490A-A0B7-CE45670CB9F4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30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3" dur="indefinite" restart="never" nodeType="tmRoot">
          <p:childTnLst>
            <p:seq>
              <p:cTn id="304" dur="indefinite" nodeType="mainSeq">
                <p:childTnLst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Bogus – Bogus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7000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the following sorting algorithm: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while arr is not sorted: ← There are </a:t>
            </a:r>
            <a:r>
              <a:rPr b="1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n!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 different permutations</a:t>
            </a:r>
            <a:br>
              <a:rPr sz="1600"/>
            </a:br>
            <a:r>
              <a:rPr b="0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randomly shuffle arr ← Each shuffling takes roughly </a:t>
            </a:r>
            <a:r>
              <a:rPr b="1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O(n)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arr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arr is sorted!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43160" indent="-32004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the worst case, arr will never be shuffled correctly, so infinite time!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43160" indent="-32004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On average, O((n-1)n!) (n! = 1·2·3·…·n), so, much (much) slower than everything we have seen so far!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PlaceHolder 3"/>
          <p:cNvSpPr>
            <a:spLocks noGrp="1"/>
          </p:cNvSpPr>
          <p:nvPr>
            <p:ph type="sldNum" idx="3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10D5253-85B3-4747-9DC0-2ADEBCBE11BE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1" dur="indefinite" restart="never" nodeType="tmRoot">
          <p:childTnLst>
            <p:seq>
              <p:cTn id="322" dur="indefinite" nodeType="mainSeq">
                <p:childTnLst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3600" spc="-1" strike="noStrike">
                <a:solidFill>
                  <a:schemeClr val="lt1"/>
                </a:solidFill>
                <a:latin typeface="Lato"/>
                <a:ea typeface="Lato"/>
              </a:rPr>
              <a:t>Fibonacci Numbers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PlaceHolder 2"/>
          <p:cNvSpPr>
            <a:spLocks noGrp="1"/>
          </p:cNvSpPr>
          <p:nvPr>
            <p:ph type="sldNum" idx="3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921873-6E12-4ED8-A364-1204048E827B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32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Fibonacci numbers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 really popular sequence of numbers (</a:t>
            </a:r>
            <a:r>
              <a:rPr b="0" lang="el" sz="1600" spc="-1" strike="noStrike" u="sng">
                <a:solidFill>
                  <a:schemeClr val="hlink"/>
                </a:solidFill>
                <a:uFillTx/>
                <a:latin typeface="Lato"/>
                <a:ea typeface="Lato"/>
                <a:hlinkClick r:id="rId1"/>
              </a:rPr>
              <a:t>Wikipedia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 first terms of the sequence are: 0, 1, 1, 2, 3, 5, 8, 13, 21, 34, 55, 89, 144, …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f(0) = 0, f(1) = 1.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f(2) = f(1) + f(0) = 1.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f(3) = f(2) + f(1) = 3.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Each term (except for the first two) is the sum of the two terms right before it.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f(n) = f(n-1) + f(n-2).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PlaceHolder 3"/>
          <p:cNvSpPr>
            <a:spLocks noGrp="1"/>
          </p:cNvSpPr>
          <p:nvPr>
            <p:ph type="sldNum" idx="3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F6EE98B-AC8A-4EEE-BCAC-BA454797F053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43" dur="indefinite" restart="never" nodeType="tmRoot">
          <p:childTnLst>
            <p:seq>
              <p:cTn id="344" dur="indefinite" nodeType="mainSeq">
                <p:childTnLst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" fill="hold">
                      <p:stCondLst>
                        <p:cond delay="indefinite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id="4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" fill="hold">
                      <p:stCondLst>
                        <p:cond delay="indefinite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One way to compute them all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4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7000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the following python script (‘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fibonacci/fib.py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’). How does it work? How long will it take to execute to compute the n-th Fibonacci number? Any better ideas?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def fib(n):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result = 0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f = [n]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while f: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current = f.pop()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current in [0, 1]: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result += current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else: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f += [current - 1, current - 2] 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result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PlaceHolder 3"/>
          <p:cNvSpPr>
            <a:spLocks noGrp="1"/>
          </p:cNvSpPr>
          <p:nvPr>
            <p:ph type="sldNum" idx="3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596F23C-A14A-4936-928F-6C837AAE8BF1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09" dur="indefinite" restart="never" nodeType="tmRoot">
          <p:childTnLst>
            <p:seq>
              <p:cTn id="410" dur="indefinite" nodeType="mainSeq">
                <p:childTnLst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>
                      <p:stCondLst>
                        <p:cond delay="indefinite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An Example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948120" cy="2178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7000"/>
          </a:bodyPr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def fib(n):</a:t>
            </a:r>
            <a:br>
              <a:rPr sz="1100"/>
            </a:b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result = 0</a:t>
            </a:r>
            <a:br>
              <a:rPr sz="1100"/>
            </a:b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f = [n]</a:t>
            </a:r>
            <a:br>
              <a:rPr sz="1100"/>
            </a:b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while f:</a:t>
            </a:r>
            <a:br>
              <a:rPr sz="1100"/>
            </a:b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current = f.pop()</a:t>
            </a:r>
            <a:br>
              <a:rPr sz="1100"/>
            </a:b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if current in [0, 1]:</a:t>
            </a:r>
            <a:br>
              <a:rPr sz="1100"/>
            </a:b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result += current</a:t>
            </a:r>
            <a:br>
              <a:rPr sz="1100"/>
            </a:b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else:</a:t>
            </a:r>
            <a:br>
              <a:rPr sz="1100"/>
            </a:b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f += [current - 1, current - 2] </a:t>
            </a:r>
            <a:br>
              <a:rPr sz="1100"/>
            </a:b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result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PlaceHolder 3"/>
          <p:cNvSpPr>
            <a:spLocks noGrp="1"/>
          </p:cNvSpPr>
          <p:nvPr>
            <p:ph type="sldNum" idx="3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B79AA1-8333-4614-A7C3-96AD109FDEA3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663" name="Google Shape;696;p50"/>
          <p:cNvGraphicFramePr/>
          <p:nvPr/>
        </p:nvGraphicFramePr>
        <p:xfrm>
          <a:off x="4677840" y="1107000"/>
          <a:ext cx="4070880" cy="3508920"/>
        </p:xfrm>
        <a:graphic>
          <a:graphicData uri="http://schemas.openxmlformats.org/drawingml/2006/table">
            <a:tbl>
              <a:tblPr/>
              <a:tblGrid>
                <a:gridCol w="1017720"/>
                <a:gridCol w="1017720"/>
                <a:gridCol w="1017720"/>
                <a:gridCol w="1017720"/>
              </a:tblGrid>
              <a:tr h="3715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f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current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result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in [0,1]?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715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[3]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715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[]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False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715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[2, 1]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715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[2]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True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715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[]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False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715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[1,0]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715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[1]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True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715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[]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True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64" name="Google Shape;697;p50"/>
          <p:cNvSpPr/>
          <p:nvPr/>
        </p:nvSpPr>
        <p:spPr>
          <a:xfrm>
            <a:off x="729360" y="3762360"/>
            <a:ext cx="3884040" cy="689760"/>
          </a:xfrm>
          <a:prstGeom prst="rect">
            <a:avLst/>
          </a:prstGeom>
          <a:solidFill>
            <a:srgbClr val="fce5cd"/>
          </a:solidFill>
          <a:ln w="19050">
            <a:solidFill>
              <a:srgbClr val="eb56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Whenever we encounter anything other than 0 or 1, we add two to f…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27" dur="indefinite" restart="never" nodeType="tmRoot">
          <p:childTnLst>
            <p:seq>
              <p:cTn id="428" dur="indefinite" nodeType="mainSeq">
                <p:childTnLst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An Example (cont’d)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PlaceHolder 2"/>
          <p:cNvSpPr>
            <a:spLocks noGrp="1"/>
          </p:cNvSpPr>
          <p:nvPr>
            <p:ph type="sldNum" idx="4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1F7744-A6BD-43F3-8C81-85A269178213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" name="Google Shape;704;p51"/>
          <p:cNvSpPr/>
          <p:nvPr/>
        </p:nvSpPr>
        <p:spPr>
          <a:xfrm>
            <a:off x="808920" y="1434600"/>
            <a:ext cx="2579040" cy="331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For n = 8: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6]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5, 4]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5, 3, </a:t>
            </a:r>
            <a:r>
              <a:rPr b="1" lang="el" sz="1300" spc="-1" strike="noStrike">
                <a:solidFill>
                  <a:schemeClr val="accent3"/>
                </a:solidFill>
                <a:latin typeface="Consolas"/>
                <a:ea typeface="Consolas"/>
              </a:rPr>
              <a:t>2</a:t>
            </a: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5, 3, 1, 0]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5, 3,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5, 3]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5, </a:t>
            </a:r>
            <a:r>
              <a:rPr b="1" lang="el" sz="1300" spc="-1" strike="noStrike">
                <a:solidFill>
                  <a:schemeClr val="accent3"/>
                </a:solidFill>
                <a:latin typeface="Consolas"/>
                <a:ea typeface="Consolas"/>
              </a:rPr>
              <a:t>2</a:t>
            </a: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5, </a:t>
            </a:r>
            <a:r>
              <a:rPr b="1" lang="el" sz="1300" spc="-1" strike="noStrike">
                <a:solidFill>
                  <a:schemeClr val="accent3"/>
                </a:solidFill>
                <a:latin typeface="Consolas"/>
                <a:ea typeface="Consolas"/>
              </a:rPr>
              <a:t>2</a:t>
            </a: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5, </a:t>
            </a:r>
            <a:r>
              <a:rPr b="1" lang="el" sz="1300" spc="-1" strike="noStrike">
                <a:solidFill>
                  <a:schemeClr val="accent3"/>
                </a:solidFill>
                <a:latin typeface="Consolas"/>
                <a:ea typeface="Consolas"/>
              </a:rPr>
              <a:t>2</a:t>
            </a: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5, 1, 0]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4, 3]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3, </a:t>
            </a:r>
            <a:r>
              <a:rPr b="1" lang="el" sz="1300" spc="-1" strike="noStrike">
                <a:solidFill>
                  <a:schemeClr val="accent3"/>
                </a:solidFill>
                <a:latin typeface="Consolas"/>
                <a:ea typeface="Consolas"/>
              </a:rPr>
              <a:t>2</a:t>
            </a: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Google Shape;705;p51"/>
          <p:cNvSpPr/>
          <p:nvPr/>
        </p:nvSpPr>
        <p:spPr>
          <a:xfrm>
            <a:off x="3556080" y="1434600"/>
            <a:ext cx="2579040" cy="331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3, </a:t>
            </a:r>
            <a:r>
              <a:rPr b="1" lang="el" sz="1300" spc="-1" strike="noStrike">
                <a:solidFill>
                  <a:schemeClr val="accent3"/>
                </a:solidFill>
                <a:latin typeface="Consolas"/>
                <a:ea typeface="Consolas"/>
              </a:rPr>
              <a:t>2</a:t>
            </a: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3, 1, 0]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3,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3]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</a:t>
            </a:r>
            <a:r>
              <a:rPr b="1" lang="el" sz="1300" spc="-1" strike="noStrike">
                <a:solidFill>
                  <a:schemeClr val="accent3"/>
                </a:solidFill>
                <a:latin typeface="Consolas"/>
                <a:ea typeface="Consolas"/>
              </a:rPr>
              <a:t>2</a:t>
            </a: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</a:t>
            </a:r>
            <a:r>
              <a:rPr b="1" lang="el" sz="1300" spc="-1" strike="noStrike">
                <a:solidFill>
                  <a:schemeClr val="accent3"/>
                </a:solidFill>
                <a:latin typeface="Consolas"/>
                <a:ea typeface="Consolas"/>
              </a:rPr>
              <a:t>2</a:t>
            </a: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1, 0]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6, 5]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6, 4, 3]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6, 3, </a:t>
            </a:r>
            <a:r>
              <a:rPr b="1" lang="el" sz="1300" spc="-1" strike="noStrike">
                <a:solidFill>
                  <a:schemeClr val="accent3"/>
                </a:solidFill>
                <a:latin typeface="Consolas"/>
                <a:ea typeface="Consolas"/>
              </a:rPr>
              <a:t>2</a:t>
            </a: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6, 3, 2]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6, 3, 1, 0]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6, 3,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6, 3]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Google Shape;706;p51"/>
          <p:cNvSpPr/>
          <p:nvPr/>
        </p:nvSpPr>
        <p:spPr>
          <a:xfrm>
            <a:off x="6303600" y="1503360"/>
            <a:ext cx="2058480" cy="331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Why 2 appears more than once?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Why all numbers (will) appear more than once?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Because this is a silly way to compute the 8th Fibonacci number!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Overall, exponentially many operations, O(2^n).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33" dur="indefinite" restart="never" nodeType="tmRoot">
          <p:childTnLst>
            <p:seq>
              <p:cTn id="434" dur="indefinite" nodeType="mainSeq">
                <p:childTnLst>
                  <p:par>
                    <p:cTn id="435" fill="hold">
                      <p:stCondLst>
                        <p:cond delay="indefinite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>
                      <p:stCondLst>
                        <p:cond delay="indefinite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>
                      <p:stCondLst>
                        <p:cond delay="indefinite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5" fill="hold">
                      <p:stCondLst>
                        <p:cond delay="indefinite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7" fill="hold">
                      <p:stCondLst>
                        <p:cond delay="indefinite"/>
                      </p:stCondLst>
                      <p:childTnLst>
                        <p:par>
                          <p:cTn id="468" fill="hold">
                            <p:stCondLst>
                              <p:cond delay="0"/>
                            </p:stCondLst>
                            <p:childTnLst>
                              <p:par>
                                <p:cTn id="4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>
                      <p:stCondLst>
                        <p:cond delay="indefinite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5" fill="hold">
                      <p:stCondLst>
                        <p:cond delay="indefinite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9" fill="hold">
                      <p:stCondLst>
                        <p:cond delay="indefinite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>
                      <p:stCondLst>
                        <p:cond delay="indefinite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7" fill="hold">
                      <p:stCondLst>
                        <p:cond delay="indefinite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id="4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1" fill="hold">
                      <p:stCondLst>
                        <p:cond delay="indefinite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>
                      <p:stCondLst>
                        <p:cond delay="indefinite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3" fill="hold">
                      <p:stCondLst>
                        <p:cond delay="indefinite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7" fill="hold">
                      <p:stCondLst>
                        <p:cond delay="indefinite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1" fill="hold">
                      <p:stCondLst>
                        <p:cond delay="indefinite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5" fill="hold">
                      <p:stCondLst>
                        <p:cond delay="indefinite"/>
                      </p:stCondLst>
                      <p:childTnLst>
                        <p:par>
                          <p:cTn id="516" fill="hold">
                            <p:stCondLst>
                              <p:cond delay="0"/>
                            </p:stCondLst>
                            <p:childTnLst>
                              <p:par>
                                <p:cTn id="5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9" fill="hold">
                      <p:stCondLst>
                        <p:cond delay="indefinite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3" fill="hold">
                      <p:stCondLst>
                        <p:cond delay="indefinite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id="5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7" fill="hold">
                      <p:stCondLst>
                        <p:cond delay="indefinite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id="5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1" fill="hold">
                      <p:stCondLst>
                        <p:cond delay="indefinite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5" fill="hold">
                      <p:stCondLst>
                        <p:cond delay="indefinite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9" fill="hold">
                      <p:stCondLst>
                        <p:cond delay="indefinite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3" fill="hold">
                      <p:stCondLst>
                        <p:cond delay="indefinite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7" fill="hold">
                      <p:stCondLst>
                        <p:cond delay="indefinite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id="5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1" fill="hold">
                      <p:stCondLst>
                        <p:cond delay="indefinite"/>
                      </p:stCondLst>
                      <p:childTnLst>
                        <p:par>
                          <p:cTn id="552" fill="hold">
                            <p:stCondLst>
                              <p:cond delay="0"/>
                            </p:stCondLst>
                            <p:childTnLst>
                              <p:par>
                                <p:cTn id="5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5" fill="hold">
                      <p:stCondLst>
                        <p:cond delay="indefinite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9" fill="hold">
                      <p:stCondLst>
                        <p:cond delay="indefinite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par>
                                <p:cTn id="5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3" fill="hold">
                      <p:stCondLst>
                        <p:cond delay="indefinite"/>
                      </p:stCondLst>
                      <p:childTnLst>
                        <p:par>
                          <p:cTn id="564" fill="hold">
                            <p:stCondLst>
                              <p:cond delay="0"/>
                            </p:stCondLst>
                            <p:childTnLst>
                              <p:par>
                                <p:cTn id="5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7" fill="hold">
                      <p:stCondLst>
                        <p:cond delay="indefinite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1" fill="hold">
                      <p:stCondLst>
                        <p:cond delay="indefinite"/>
                      </p:stCondLst>
                      <p:childTnLst>
                        <p:par>
                          <p:cTn id="572" fill="hold">
                            <p:stCondLst>
                              <p:cond delay="0"/>
                            </p:stCondLst>
                            <p:childTnLst>
                              <p:par>
                                <p:cTn id="5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5" fill="hold">
                      <p:stCondLst>
                        <p:cond delay="indefinite"/>
                      </p:stCondLst>
                      <p:childTnLst>
                        <p:par>
                          <p:cTn id="576" fill="hold">
                            <p:stCondLst>
                              <p:cond delay="0"/>
                            </p:stCondLst>
                            <p:childTnLst>
                              <p:par>
                                <p:cTn id="5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Recursion-acci!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the following script. How long will it take to execute? (in O(n) terms)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def fib(n):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n == 0 or n == 1: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n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fib(n-1) + fib(n-2)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Is this any better?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No!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PlaceHolder 3"/>
          <p:cNvSpPr>
            <a:spLocks noGrp="1"/>
          </p:cNvSpPr>
          <p:nvPr>
            <p:ph type="sldNum" idx="4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3905DD2-DD3F-448F-8E01-8D5516BA58AB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79" dur="indefinite" restart="never" nodeType="tmRoot">
          <p:childTnLst>
            <p:seq>
              <p:cTn id="580" dur="indefinite" nodeType="mainSeq">
                <p:childTnLst>
                  <p:par>
                    <p:cTn id="581" fill="hold">
                      <p:stCondLst>
                        <p:cond delay="indefinite"/>
                      </p:stCondLst>
                      <p:childTnLst>
                        <p:par>
                          <p:cTn id="582" fill="hold">
                            <p:stCondLst>
                              <p:cond delay="0"/>
                            </p:stCondLst>
                            <p:childTnLst>
                              <p:par>
                                <p:cTn id="5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5" fill="hold">
                      <p:stCondLst>
                        <p:cond delay="indefinite"/>
                      </p:stCondLst>
                      <p:childTnLst>
                        <p:par>
                          <p:cTn id="586" fill="hold">
                            <p:stCondLst>
                              <p:cond delay="0"/>
                            </p:stCondLst>
                            <p:childTnLst>
                              <p:par>
                                <p:cTn id="5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9" fill="hold">
                      <p:stCondLst>
                        <p:cond delay="indefinite"/>
                      </p:stCondLst>
                      <p:childTnLst>
                        <p:par>
                          <p:cTn id="590" fill="hold">
                            <p:stCondLst>
                              <p:cond delay="0"/>
                            </p:stCondLst>
                            <p:childTnLst>
                              <p:par>
                                <p:cTn id="5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3" fill="hold">
                      <p:stCondLst>
                        <p:cond delay="indefinite"/>
                      </p:stCondLst>
                      <p:childTnLst>
                        <p:par>
                          <p:cTn id="594" fill="hold">
                            <p:stCondLst>
                              <p:cond delay="0"/>
                            </p:stCondLst>
                            <p:childTnLst>
                              <p:par>
                                <p:cTn id="5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Recursion-acci!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PlaceHolder 2"/>
          <p:cNvSpPr>
            <a:spLocks noGrp="1"/>
          </p:cNvSpPr>
          <p:nvPr>
            <p:ph type="sldNum" idx="4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343B5C5-C2DE-432F-91ED-4DB79AC362E6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" name="Google Shape;720;p53"/>
          <p:cNvSpPr/>
          <p:nvPr/>
        </p:nvSpPr>
        <p:spPr>
          <a:xfrm>
            <a:off x="326520" y="2729880"/>
            <a:ext cx="694080" cy="32004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fib(6)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Google Shape;721;p53"/>
          <p:cNvSpPr/>
          <p:nvPr/>
        </p:nvSpPr>
        <p:spPr>
          <a:xfrm>
            <a:off x="1476360" y="20822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fib(5)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Google Shape;722;p53"/>
          <p:cNvSpPr/>
          <p:nvPr/>
        </p:nvSpPr>
        <p:spPr>
          <a:xfrm>
            <a:off x="1476360" y="337788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fib(4)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Google Shape;723;p53"/>
          <p:cNvSpPr/>
          <p:nvPr/>
        </p:nvSpPr>
        <p:spPr>
          <a:xfrm>
            <a:off x="2570400" y="14522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fib(4)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Google Shape;724;p53"/>
          <p:cNvSpPr/>
          <p:nvPr/>
        </p:nvSpPr>
        <p:spPr>
          <a:xfrm>
            <a:off x="2570400" y="20822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fib(3)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Google Shape;725;p53"/>
          <p:cNvSpPr/>
          <p:nvPr/>
        </p:nvSpPr>
        <p:spPr>
          <a:xfrm>
            <a:off x="2570400" y="337788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fib(3)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Google Shape;726;p53"/>
          <p:cNvSpPr/>
          <p:nvPr/>
        </p:nvSpPr>
        <p:spPr>
          <a:xfrm>
            <a:off x="2570400" y="39938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fib(2)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Google Shape;727;p53"/>
          <p:cNvSpPr/>
          <p:nvPr/>
        </p:nvSpPr>
        <p:spPr>
          <a:xfrm>
            <a:off x="3699000" y="39938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Google Shape;728;p53"/>
          <p:cNvSpPr/>
          <p:nvPr/>
        </p:nvSpPr>
        <p:spPr>
          <a:xfrm>
            <a:off x="3699000" y="437472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Google Shape;729;p53"/>
          <p:cNvSpPr/>
          <p:nvPr/>
        </p:nvSpPr>
        <p:spPr>
          <a:xfrm>
            <a:off x="3699000" y="337788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Google Shape;730;p53"/>
          <p:cNvSpPr/>
          <p:nvPr/>
        </p:nvSpPr>
        <p:spPr>
          <a:xfrm>
            <a:off x="3699000" y="297648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fib(2)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Google Shape;731;p53"/>
          <p:cNvSpPr/>
          <p:nvPr/>
        </p:nvSpPr>
        <p:spPr>
          <a:xfrm>
            <a:off x="3699000" y="20822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fib(2)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Google Shape;732;p53"/>
          <p:cNvSpPr/>
          <p:nvPr/>
        </p:nvSpPr>
        <p:spPr>
          <a:xfrm>
            <a:off x="3699000" y="247392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Google Shape;733;p53"/>
          <p:cNvSpPr/>
          <p:nvPr/>
        </p:nvSpPr>
        <p:spPr>
          <a:xfrm>
            <a:off x="3699000" y="14522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fib(2)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Google Shape;734;p53"/>
          <p:cNvSpPr/>
          <p:nvPr/>
        </p:nvSpPr>
        <p:spPr>
          <a:xfrm>
            <a:off x="3699000" y="107856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fib(3)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Google Shape;735;p53"/>
          <p:cNvSpPr/>
          <p:nvPr/>
        </p:nvSpPr>
        <p:spPr>
          <a:xfrm>
            <a:off x="4875840" y="339552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Google Shape;736;p53"/>
          <p:cNvSpPr/>
          <p:nvPr/>
        </p:nvSpPr>
        <p:spPr>
          <a:xfrm>
            <a:off x="4875840" y="379728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Google Shape;737;p53"/>
          <p:cNvSpPr/>
          <p:nvPr/>
        </p:nvSpPr>
        <p:spPr>
          <a:xfrm>
            <a:off x="4875840" y="25016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Google Shape;738;p53"/>
          <p:cNvSpPr/>
          <p:nvPr/>
        </p:nvSpPr>
        <p:spPr>
          <a:xfrm>
            <a:off x="4875840" y="29030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Google Shape;739;p53"/>
          <p:cNvSpPr/>
          <p:nvPr/>
        </p:nvSpPr>
        <p:spPr>
          <a:xfrm>
            <a:off x="4875840" y="14522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Google Shape;740;p53"/>
          <p:cNvSpPr/>
          <p:nvPr/>
        </p:nvSpPr>
        <p:spPr>
          <a:xfrm>
            <a:off x="4875840" y="185400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Google Shape;741;p53"/>
          <p:cNvSpPr/>
          <p:nvPr/>
        </p:nvSpPr>
        <p:spPr>
          <a:xfrm>
            <a:off x="4875840" y="70488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fib(2)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Google Shape;742;p53"/>
          <p:cNvSpPr/>
          <p:nvPr/>
        </p:nvSpPr>
        <p:spPr>
          <a:xfrm>
            <a:off x="4875840" y="107856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Google Shape;743;p53"/>
          <p:cNvSpPr/>
          <p:nvPr/>
        </p:nvSpPr>
        <p:spPr>
          <a:xfrm>
            <a:off x="5969880" y="70488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Google Shape;744;p53"/>
          <p:cNvSpPr/>
          <p:nvPr/>
        </p:nvSpPr>
        <p:spPr>
          <a:xfrm>
            <a:off x="5969880" y="107856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00" name="Google Shape;745;p53"/>
          <p:cNvCxnSpPr/>
          <p:nvPr/>
        </p:nvCxnSpPr>
        <p:spPr>
          <a:xfrm flipV="1">
            <a:off x="975960" y="2422800"/>
            <a:ext cx="519480" cy="2980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01" name="Google Shape;746;p53"/>
          <p:cNvCxnSpPr/>
          <p:nvPr/>
        </p:nvCxnSpPr>
        <p:spPr>
          <a:xfrm>
            <a:off x="975960" y="3059640"/>
            <a:ext cx="519480" cy="2980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02" name="Google Shape;747;p53"/>
          <p:cNvCxnSpPr/>
          <p:nvPr/>
        </p:nvCxnSpPr>
        <p:spPr>
          <a:xfrm flipV="1">
            <a:off x="2173680" y="1792800"/>
            <a:ext cx="477720" cy="30492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03" name="Google Shape;748;p53"/>
          <p:cNvCxnSpPr/>
          <p:nvPr/>
        </p:nvCxnSpPr>
        <p:spPr>
          <a:xfrm>
            <a:off x="2092680" y="3697920"/>
            <a:ext cx="477720" cy="30492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04" name="Google Shape;749;p53"/>
          <p:cNvCxnSpPr>
            <a:stCxn id="676" idx="3"/>
            <a:endCxn id="679" idx="1"/>
          </p:cNvCxnSpPr>
          <p:nvPr/>
        </p:nvCxnSpPr>
        <p:spPr>
          <a:xfrm>
            <a:off x="2170440" y="2242080"/>
            <a:ext cx="40032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05" name="Google Shape;750;p53"/>
          <p:cNvCxnSpPr>
            <a:stCxn id="677" idx="3"/>
            <a:endCxn id="680" idx="1"/>
          </p:cNvCxnSpPr>
          <p:nvPr/>
        </p:nvCxnSpPr>
        <p:spPr>
          <a:xfrm>
            <a:off x="2170440" y="3537720"/>
            <a:ext cx="40032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06" name="Google Shape;751;p53"/>
          <p:cNvCxnSpPr>
            <a:stCxn id="679" idx="3"/>
            <a:endCxn id="686" idx="1"/>
          </p:cNvCxnSpPr>
          <p:nvPr/>
        </p:nvCxnSpPr>
        <p:spPr>
          <a:xfrm>
            <a:off x="3264480" y="2242080"/>
            <a:ext cx="43488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07" name="Google Shape;752;p53"/>
          <p:cNvCxnSpPr>
            <a:stCxn id="680" idx="3"/>
            <a:endCxn id="684" idx="1"/>
          </p:cNvCxnSpPr>
          <p:nvPr/>
        </p:nvCxnSpPr>
        <p:spPr>
          <a:xfrm>
            <a:off x="3264480" y="3537720"/>
            <a:ext cx="43488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08" name="Google Shape;753;p53"/>
          <p:cNvCxnSpPr>
            <a:stCxn id="678" idx="3"/>
            <a:endCxn id="688" idx="1"/>
          </p:cNvCxnSpPr>
          <p:nvPr/>
        </p:nvCxnSpPr>
        <p:spPr>
          <a:xfrm>
            <a:off x="3264480" y="1612080"/>
            <a:ext cx="43488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09" name="Google Shape;754;p53"/>
          <p:cNvCxnSpPr>
            <a:stCxn id="681" idx="3"/>
            <a:endCxn id="682" idx="1"/>
          </p:cNvCxnSpPr>
          <p:nvPr/>
        </p:nvCxnSpPr>
        <p:spPr>
          <a:xfrm>
            <a:off x="3264480" y="4153680"/>
            <a:ext cx="43488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10" name="Google Shape;755;p53"/>
          <p:cNvCxnSpPr>
            <a:endCxn id="683" idx="1"/>
          </p:cNvCxnSpPr>
          <p:nvPr/>
        </p:nvCxnSpPr>
        <p:spPr>
          <a:xfrm>
            <a:off x="3260520" y="4312440"/>
            <a:ext cx="438840" cy="2224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11" name="Google Shape;756;p53"/>
          <p:cNvCxnSpPr>
            <a:endCxn id="685" idx="1"/>
          </p:cNvCxnSpPr>
          <p:nvPr/>
        </p:nvCxnSpPr>
        <p:spPr>
          <a:xfrm flipV="1">
            <a:off x="3267360" y="3136320"/>
            <a:ext cx="432000" cy="26280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12" name="Google Shape;757;p53"/>
          <p:cNvCxnSpPr>
            <a:endCxn id="687" idx="1"/>
          </p:cNvCxnSpPr>
          <p:nvPr/>
        </p:nvCxnSpPr>
        <p:spPr>
          <a:xfrm>
            <a:off x="3225960" y="2395080"/>
            <a:ext cx="473400" cy="23904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13" name="Google Shape;758;p53"/>
          <p:cNvCxnSpPr>
            <a:endCxn id="689" idx="1"/>
          </p:cNvCxnSpPr>
          <p:nvPr/>
        </p:nvCxnSpPr>
        <p:spPr>
          <a:xfrm flipV="1">
            <a:off x="3246480" y="1238400"/>
            <a:ext cx="452880" cy="23652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14" name="Google Shape;759;p53"/>
          <p:cNvCxnSpPr>
            <a:endCxn id="690" idx="1"/>
          </p:cNvCxnSpPr>
          <p:nvPr/>
        </p:nvCxnSpPr>
        <p:spPr>
          <a:xfrm>
            <a:off x="4388760" y="3295080"/>
            <a:ext cx="487440" cy="26064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15" name="Google Shape;760;p53"/>
          <p:cNvCxnSpPr>
            <a:endCxn id="691" idx="1"/>
          </p:cNvCxnSpPr>
          <p:nvPr/>
        </p:nvCxnSpPr>
        <p:spPr>
          <a:xfrm>
            <a:off x="4395600" y="3281400"/>
            <a:ext cx="480600" cy="6760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16" name="Google Shape;761;p53"/>
          <p:cNvCxnSpPr>
            <a:endCxn id="692" idx="1"/>
          </p:cNvCxnSpPr>
          <p:nvPr/>
        </p:nvCxnSpPr>
        <p:spPr>
          <a:xfrm>
            <a:off x="4375080" y="2387880"/>
            <a:ext cx="501120" cy="2739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17" name="Google Shape;762;p53"/>
          <p:cNvCxnSpPr>
            <a:endCxn id="693" idx="1"/>
          </p:cNvCxnSpPr>
          <p:nvPr/>
        </p:nvCxnSpPr>
        <p:spPr>
          <a:xfrm>
            <a:off x="4402440" y="2395080"/>
            <a:ext cx="473760" cy="6681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18" name="Google Shape;763;p53"/>
          <p:cNvCxnSpPr>
            <a:stCxn id="688" idx="3"/>
            <a:endCxn id="695" idx="1"/>
          </p:cNvCxnSpPr>
          <p:nvPr/>
        </p:nvCxnSpPr>
        <p:spPr>
          <a:xfrm>
            <a:off x="4393080" y="1612080"/>
            <a:ext cx="483120" cy="40212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19" name="Google Shape;764;p53"/>
          <p:cNvCxnSpPr>
            <a:endCxn id="694" idx="1"/>
          </p:cNvCxnSpPr>
          <p:nvPr/>
        </p:nvCxnSpPr>
        <p:spPr>
          <a:xfrm flipV="1">
            <a:off x="4393080" y="1612080"/>
            <a:ext cx="483120" cy="72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20" name="Google Shape;765;p53"/>
          <p:cNvCxnSpPr>
            <a:stCxn id="689" idx="3"/>
            <a:endCxn id="697" idx="1"/>
          </p:cNvCxnSpPr>
          <p:nvPr/>
        </p:nvCxnSpPr>
        <p:spPr>
          <a:xfrm>
            <a:off x="4393080" y="1238400"/>
            <a:ext cx="48312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21" name="Google Shape;766;p53"/>
          <p:cNvCxnSpPr>
            <a:endCxn id="696" idx="1"/>
          </p:cNvCxnSpPr>
          <p:nvPr/>
        </p:nvCxnSpPr>
        <p:spPr>
          <a:xfrm flipV="1">
            <a:off x="4381920" y="864720"/>
            <a:ext cx="494280" cy="2152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22" name="Google Shape;767;p53"/>
          <p:cNvCxnSpPr>
            <a:stCxn id="696" idx="3"/>
            <a:endCxn id="698" idx="1"/>
          </p:cNvCxnSpPr>
          <p:nvPr/>
        </p:nvCxnSpPr>
        <p:spPr>
          <a:xfrm>
            <a:off x="5569920" y="864720"/>
            <a:ext cx="40032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23" name="Google Shape;768;p53"/>
          <p:cNvCxnSpPr>
            <a:endCxn id="699" idx="1"/>
          </p:cNvCxnSpPr>
          <p:nvPr/>
        </p:nvCxnSpPr>
        <p:spPr>
          <a:xfrm>
            <a:off x="5572440" y="989640"/>
            <a:ext cx="397800" cy="24912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sp>
        <p:nvSpPr>
          <p:cNvPr id="724" name="Google Shape;769;p53"/>
          <p:cNvSpPr/>
          <p:nvPr/>
        </p:nvSpPr>
        <p:spPr>
          <a:xfrm>
            <a:off x="6036480" y="1702800"/>
            <a:ext cx="2685600" cy="29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Each function makes 2 recursive calls → Exponential complexity, O(2^n).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Observe how many times we end up computing the same values f(n).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Something better?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Simple yet fast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the following script. What is its time complexity?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def fib(n):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n in [0,1]: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n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 = 0, b = 1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for i = 1, ..., n-1: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c = a + b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 = b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b = c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Worst case complexity?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PlaceHolder 3"/>
          <p:cNvSpPr>
            <a:spLocks noGrp="1"/>
          </p:cNvSpPr>
          <p:nvPr>
            <p:ph type="sldNum" idx="4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0EE588-F70F-4238-B773-0B644B1A1106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39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97" dur="indefinite" restart="never" nodeType="tmRoot">
          <p:childTnLst>
            <p:seq>
              <p:cTn id="598" dur="indefinite" nodeType="mainSeq">
                <p:childTnLst>
                  <p:par>
                    <p:cTn id="599" fill="hold">
                      <p:stCondLst>
                        <p:cond delay="indefinite"/>
                      </p:stCondLst>
                      <p:childTnLst>
                        <p:par>
                          <p:cTn id="600" fill="hold">
                            <p:stCondLst>
                              <p:cond delay="0"/>
                            </p:stCondLst>
                            <p:childTnLst>
                              <p:par>
                                <p:cTn id="6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3" fill="hold">
                      <p:stCondLst>
                        <p:cond delay="indefinite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7" fill="hold">
                      <p:stCondLst>
                        <p:cond delay="indefinite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id="6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Simple yet fast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the following script. What is its time complexity?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def fib(n):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n in [0,1]: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n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 = 0, b = 1</a:t>
            </a:r>
            <a:br>
              <a:rPr sz="1600"/>
            </a:b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for i = 1, ..., n-1: ← This repeats </a:t>
            </a:r>
            <a:r>
              <a:rPr b="1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n-1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 times.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c = a + b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 = b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b = c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Worst case complexity: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O(n)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PlaceHolder 3"/>
          <p:cNvSpPr>
            <a:spLocks noGrp="1"/>
          </p:cNvSpPr>
          <p:nvPr>
            <p:ph type="sldNum" idx="4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A56920F-2CB2-40AF-A18E-DBA15F6912D1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40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11" dur="indefinite" restart="never" nodeType="tmRoot">
          <p:childTnLst>
            <p:seq>
              <p:cTn id="612" dur="indefinite" nodeType="mainSeq">
                <p:childTnLst>
                  <p:par>
                    <p:cTn id="613" fill="hold">
                      <p:stCondLst>
                        <p:cond delay="indefinite"/>
                      </p:stCondLst>
                      <p:childTnLst>
                        <p:par>
                          <p:cTn id="614" fill="hold">
                            <p:stCondLst>
                              <p:cond delay="0"/>
                            </p:stCondLst>
                            <p:childTnLst>
                              <p:par>
                                <p:cTn id="6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7" fill="hold">
                      <p:stCondLst>
                        <p:cond delay="indefinite"/>
                      </p:stCondLst>
                      <p:childTnLst>
                        <p:par>
                          <p:cTn id="618" fill="hold">
                            <p:stCondLst>
                              <p:cond delay="0"/>
                            </p:stCondLst>
                            <p:childTnLst>
                              <p:par>
                                <p:cTn id="6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1" fill="hold">
                      <p:stCondLst>
                        <p:cond delay="indefinite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3600" spc="-1" strike="noStrike">
                <a:solidFill>
                  <a:schemeClr val="lt1"/>
                </a:solidFill>
                <a:latin typeface="Lato"/>
                <a:ea typeface="Lato"/>
              </a:rPr>
              <a:t>Then, what?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PlaceHolder 2"/>
          <p:cNvSpPr>
            <a:spLocks noGrp="1"/>
          </p:cNvSpPr>
          <p:nvPr>
            <p:ph type="sldNum" idx="4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F935372-8709-4058-9E87-B8E1CEEBDE14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41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Big Questions, Big Oh(s)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would be a reasonably “elementary” operation for you?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Walking?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Breathing?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Heart-beats?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Cellular respiration?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Protein expression?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There’s no clear answer, as you see.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about a computer?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PlaceHolder 3"/>
          <p:cNvSpPr>
            <a:spLocks noGrp="1"/>
          </p:cNvSpPr>
          <p:nvPr>
            <p:ph type="sldNum" idx="4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FA0C2B-2212-4268-9622-D6DC614FAE38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25" dur="indefinite" restart="never" nodeType="tmRoot">
          <p:childTnLst>
            <p:seq>
              <p:cTn id="626" dur="indefinite" nodeType="mainSeq">
                <p:childTnLst>
                  <p:par>
                    <p:cTn id="627" fill="hold">
                      <p:stCondLst>
                        <p:cond delay="indefinite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1" fill="hold">
                      <p:stCondLst>
                        <p:cond delay="indefinite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id="6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5" fill="hold">
                      <p:stCondLst>
                        <p:cond delay="indefinite"/>
                      </p:stCondLst>
                      <p:childTnLst>
                        <p:par>
                          <p:cTn id="636" fill="hold">
                            <p:stCondLst>
                              <p:cond delay="0"/>
                            </p:stCondLst>
                            <p:childTnLst>
                              <p:par>
                                <p:cTn id="6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9" fill="hold">
                      <p:stCondLst>
                        <p:cond delay="indefinite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3" fill="hold">
                      <p:stCondLst>
                        <p:cond delay="indefinite"/>
                      </p:stCondLst>
                      <p:childTnLst>
                        <p:par>
                          <p:cTn id="644" fill="hold">
                            <p:stCondLst>
                              <p:cond delay="0"/>
                            </p:stCondLst>
                            <p:childTnLst>
                              <p:par>
                                <p:cTn id="6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7" fill="hold">
                      <p:stCondLst>
                        <p:cond delay="indefinite"/>
                      </p:stCondLst>
                      <p:childTnLst>
                        <p:par>
                          <p:cTn id="648" fill="hold">
                            <p:stCondLst>
                              <p:cond delay="0"/>
                            </p:stCondLst>
                            <p:childTnLst>
                              <p:par>
                                <p:cTn id="6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1" fill="hold">
                      <p:stCondLst>
                        <p:cond delay="indefinite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5" fill="hold">
                      <p:stCondLst>
                        <p:cond delay="indefinite"/>
                      </p:stCondLst>
                      <p:childTnLst>
                        <p:par>
                          <p:cTn id="656" fill="hold">
                            <p:stCondLst>
                              <p:cond delay="0"/>
                            </p:stCondLst>
                            <p:childTnLst>
                              <p:par>
                                <p:cTn id="6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9" fill="hold">
                      <p:stCondLst>
                        <p:cond delay="indefinite"/>
                      </p:stCondLst>
                      <p:childTnLst>
                        <p:par>
                          <p:cTn id="660" fill="hold">
                            <p:stCondLst>
                              <p:cond delay="0"/>
                            </p:stCondLst>
                            <p:childTnLst>
                              <p:par>
                                <p:cTn id="6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Big Questions, Big Oh(s)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9000"/>
          </a:bodyPr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Well, some elementary computer things might include: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Multiplication?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Addition?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Comparison?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Accessing memory locations?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Bit shifts?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There’s no clear answer, as you see (^.-).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However, this is no real problem when it comes to comparing algorithms.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PlaceHolder 3"/>
          <p:cNvSpPr>
            <a:spLocks noGrp="1"/>
          </p:cNvSpPr>
          <p:nvPr>
            <p:ph type="sldNum" idx="4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3E4FD4-2764-4023-926C-F82F727C4488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63" dur="indefinite" restart="never" nodeType="tmRoot">
          <p:childTnLst>
            <p:seq>
              <p:cTn id="664" dur="indefinite" nodeType="mainSeq">
                <p:childTnLst>
                  <p:par>
                    <p:cTn id="665" fill="hold">
                      <p:stCondLst>
                        <p:cond delay="indefinite"/>
                      </p:stCondLst>
                      <p:childTnLst>
                        <p:par>
                          <p:cTn id="666" fill="hold">
                            <p:stCondLst>
                              <p:cond delay="0"/>
                            </p:stCondLst>
                            <p:childTnLst>
                              <p:par>
                                <p:cTn id="6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9" fill="hold">
                      <p:stCondLst>
                        <p:cond delay="indefinite"/>
                      </p:stCondLst>
                      <p:childTnLst>
                        <p:par>
                          <p:cTn id="670" fill="hold">
                            <p:stCondLst>
                              <p:cond delay="0"/>
                            </p:stCondLst>
                            <p:childTnLst>
                              <p:par>
                                <p:cTn id="6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3" fill="hold">
                      <p:stCondLst>
                        <p:cond delay="indefinite"/>
                      </p:stCondLst>
                      <p:childTnLst>
                        <p:par>
                          <p:cTn id="674" fill="hold">
                            <p:stCondLst>
                              <p:cond delay="0"/>
                            </p:stCondLst>
                            <p:childTnLst>
                              <p:par>
                                <p:cTn id="6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7" fill="hold">
                      <p:stCondLst>
                        <p:cond delay="indefinite"/>
                      </p:stCondLst>
                      <p:childTnLst>
                        <p:par>
                          <p:cTn id="678" fill="hold">
                            <p:stCondLst>
                              <p:cond delay="0"/>
                            </p:stCondLst>
                            <p:childTnLst>
                              <p:par>
                                <p:cTn id="6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1" fill="hold">
                      <p:stCondLst>
                        <p:cond delay="indefinite"/>
                      </p:stCondLst>
                      <p:childTnLst>
                        <p:par>
                          <p:cTn id="682" fill="hold">
                            <p:stCondLst>
                              <p:cond delay="0"/>
                            </p:stCondLst>
                            <p:childTnLst>
                              <p:par>
                                <p:cTn id="6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5" fill="hold">
                      <p:stCondLst>
                        <p:cond delay="indefinite"/>
                      </p:stCondLst>
                      <p:childTnLst>
                        <p:par>
                          <p:cTn id="686" fill="hold">
                            <p:stCondLst>
                              <p:cond delay="0"/>
                            </p:stCondLst>
                            <p:childTnLst>
                              <p:par>
                                <p:cTn id="6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9" fill="hold">
                      <p:stCondLst>
                        <p:cond delay="indefinite"/>
                      </p:stCondLst>
                      <p:childTnLst>
                        <p:par>
                          <p:cTn id="690" fill="hold">
                            <p:stCondLst>
                              <p:cond delay="0"/>
                            </p:stCondLst>
                            <p:childTnLst>
                              <p:par>
                                <p:cTn id="6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3" fill="hold">
                      <p:stCondLst>
                        <p:cond delay="indefinite"/>
                      </p:stCondLst>
                      <p:childTnLst>
                        <p:par>
                          <p:cTn id="694" fill="hold">
                            <p:stCondLst>
                              <p:cond delay="0"/>
                            </p:stCondLst>
                            <p:childTnLst>
                              <p:par>
                                <p:cTn id="6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7" fill="hold">
                      <p:stCondLst>
                        <p:cond delay="indefinite"/>
                      </p:stCondLst>
                      <p:childTnLst>
                        <p:par>
                          <p:cTn id="698" fill="hold">
                            <p:stCondLst>
                              <p:cond delay="0"/>
                            </p:stCondLst>
                            <p:childTnLst>
                              <p:par>
                                <p:cTn id="6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1" fill="hold">
                      <p:stCondLst>
                        <p:cond delay="indefinite"/>
                      </p:stCondLst>
                      <p:childTnLst>
                        <p:par>
                          <p:cTn id="702" fill="hold">
                            <p:stCondLst>
                              <p:cond delay="0"/>
                            </p:stCondLst>
                            <p:childTnLst>
                              <p:par>
                                <p:cTn id="7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Big Questions, Big Oh(s)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Bubble sort and Merge sort from before.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Assume that our elementary operation is accessing an element in the array to move it around etc.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If we remain faithful to our decision, we can compare our algorithms on that basis - it would be unfair to use different elementary operations for each algorithm.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We can prove this formally, but, do we want to?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PlaceHolder 3"/>
          <p:cNvSpPr>
            <a:spLocks noGrp="1"/>
          </p:cNvSpPr>
          <p:nvPr>
            <p:ph type="sldNum" idx="4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56115C0-13C4-4D78-9B98-AF297A684020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05" dur="indefinite" restart="never" nodeType="tmRoot">
          <p:childTnLst>
            <p:seq>
              <p:cTn id="706" dur="indefinite" nodeType="mainSeq">
                <p:childTnLst>
                  <p:par>
                    <p:cTn id="707" fill="hold">
                      <p:stCondLst>
                        <p:cond delay="indefinite"/>
                      </p:stCondLst>
                      <p:childTnLst>
                        <p:par>
                          <p:cTn id="708" fill="hold">
                            <p:stCondLst>
                              <p:cond delay="0"/>
                            </p:stCondLst>
                            <p:childTnLst>
                              <p:par>
                                <p:cTn id="7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1" fill="hold">
                      <p:stCondLst>
                        <p:cond delay="indefinite"/>
                      </p:stCondLst>
                      <p:childTnLst>
                        <p:par>
                          <p:cTn id="712" fill="hold">
                            <p:stCondLst>
                              <p:cond delay="0"/>
                            </p:stCondLst>
                            <p:childTnLst>
                              <p:par>
                                <p:cTn id="7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5" fill="hold">
                      <p:stCondLst>
                        <p:cond delay="indefinite"/>
                      </p:stCondLst>
                      <p:childTnLst>
                        <p:par>
                          <p:cTn id="716" fill="hold">
                            <p:stCondLst>
                              <p:cond delay="0"/>
                            </p:stCondLst>
                            <p:childTnLst>
                              <p:par>
                                <p:cTn id="7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9" fill="hold">
                      <p:stCondLst>
                        <p:cond delay="indefinite"/>
                      </p:stCondLst>
                      <p:childTnLst>
                        <p:par>
                          <p:cTn id="720" fill="hold">
                            <p:stCondLst>
                              <p:cond delay="0"/>
                            </p:stCondLst>
                            <p:childTnLst>
                              <p:par>
                                <p:cTn id="7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Time Complexity: Bubble sort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a list of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elements that is the worst case scenario for bubble sort (i.e., we need to take as many steps as possible).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At the first iteration we need to run throughout all the elements of the list, so we need to make roughly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elementary operations (EO).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Next, we need to make one less, since the last element is fixed, so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- 1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EO.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Next, we need to make one less, since the last two elements are fixed, so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- 2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EO.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total, we need to make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+ (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- 1) + (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- 2) + … + (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- 9).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Or, more clearly: 1 + 2 + … +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=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* (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+ 1) / 2 = 55 EO.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PlaceHolder 3"/>
          <p:cNvSpPr>
            <a:spLocks noGrp="1"/>
          </p:cNvSpPr>
          <p:nvPr>
            <p:ph type="sldNum" idx="4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AC5CEF-815C-4CB7-990B-CADA975C9850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23" dur="indefinite" restart="never" nodeType="tmRoot">
          <p:childTnLst>
            <p:seq>
              <p:cTn id="724" dur="indefinite" nodeType="mainSeq">
                <p:childTnLst>
                  <p:par>
                    <p:cTn id="725" fill="hold">
                      <p:stCondLst>
                        <p:cond delay="indefinite"/>
                      </p:stCondLst>
                      <p:childTnLst>
                        <p:par>
                          <p:cTn id="726" fill="hold">
                            <p:stCondLst>
                              <p:cond delay="0"/>
                            </p:stCondLst>
                            <p:childTnLst>
                              <p:par>
                                <p:cTn id="7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9" fill="hold">
                      <p:stCondLst>
                        <p:cond delay="indefinite"/>
                      </p:stCondLst>
                      <p:childTnLst>
                        <p:par>
                          <p:cTn id="730" fill="hold">
                            <p:stCondLst>
                              <p:cond delay="0"/>
                            </p:stCondLst>
                            <p:childTnLst>
                              <p:par>
                                <p:cTn id="7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3" fill="hold">
                      <p:stCondLst>
                        <p:cond delay="indefinite"/>
                      </p:stCondLst>
                      <p:childTnLst>
                        <p:par>
                          <p:cTn id="734" fill="hold">
                            <p:stCondLst>
                              <p:cond delay="0"/>
                            </p:stCondLst>
                            <p:childTnLst>
                              <p:par>
                                <p:cTn id="7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7" fill="hold">
                      <p:stCondLst>
                        <p:cond delay="indefinite"/>
                      </p:stCondLst>
                      <p:childTnLst>
                        <p:par>
                          <p:cTn id="738" fill="hold">
                            <p:stCondLst>
                              <p:cond delay="0"/>
                            </p:stCondLst>
                            <p:childTnLst>
                              <p:par>
                                <p:cTn id="7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1" fill="hold">
                      <p:stCondLst>
                        <p:cond delay="indefinite"/>
                      </p:stCondLst>
                      <p:childTnLst>
                        <p:par>
                          <p:cTn id="742" fill="hold">
                            <p:stCondLst>
                              <p:cond delay="0"/>
                            </p:stCondLst>
                            <p:childTnLst>
                              <p:par>
                                <p:cTn id="7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5" fill="hold">
                      <p:stCondLst>
                        <p:cond delay="indefinite"/>
                      </p:stCondLst>
                      <p:childTnLst>
                        <p:par>
                          <p:cTn id="746" fill="hold">
                            <p:stCondLst>
                              <p:cond delay="0"/>
                            </p:stCondLst>
                            <p:childTnLst>
                              <p:par>
                                <p:cTn id="7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9" fill="hold">
                      <p:stCondLst>
                        <p:cond delay="indefinite"/>
                      </p:stCondLst>
                      <p:childTnLst>
                        <p:par>
                          <p:cTn id="750" fill="hold">
                            <p:stCondLst>
                              <p:cond delay="0"/>
                            </p:stCondLst>
                            <p:childTnLst>
                              <p:par>
                                <p:cTn id="7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Time Complexity: Bubble sort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a list of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elements that is the worst case scenario for bubble sort (i.e., we need to take as many steps as possible).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At the first iteration we need to run throughout all the elements of the list, so we need to make roughly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elementary operations (EO).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Next, we need to make one less, since the last element is fixed, so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- 1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EO.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Next, we need to make one less, since the last two elements are fixed, so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- 2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EO.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total, we need to make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+ (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- 1) + (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- 2) + … + (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- 9).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Or, more clearly: 1 + 2 + … +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=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* (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+ 1) / 2 =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(n^2 + n) / 2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EO.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PlaceHolder 3"/>
          <p:cNvSpPr>
            <a:spLocks noGrp="1"/>
          </p:cNvSpPr>
          <p:nvPr>
            <p:ph type="sldNum" idx="5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DC6C5A-CAA8-4580-958A-2356CE1B923D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53" dur="indefinite" restart="never" nodeType="tmRoot">
          <p:childTnLst>
            <p:seq>
              <p:cTn id="754" dur="indefinite" nodeType="mainSeq">
                <p:childTnLst>
                  <p:par>
                    <p:cTn id="755" fill="hold">
                      <p:stCondLst>
                        <p:cond delay="indefinite"/>
                      </p:stCondLst>
                      <p:childTnLst>
                        <p:par>
                          <p:cTn id="756" fill="hold">
                            <p:stCondLst>
                              <p:cond delay="0"/>
                            </p:stCondLst>
                            <p:childTnLst>
                              <p:par>
                                <p:cTn id="7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9" fill="hold">
                      <p:stCondLst>
                        <p:cond delay="indefinite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3" fill="hold">
                      <p:stCondLst>
                        <p:cond delay="indefinite"/>
                      </p:stCondLst>
                      <p:childTnLst>
                        <p:par>
                          <p:cTn id="764" fill="hold">
                            <p:stCondLst>
                              <p:cond delay="0"/>
                            </p:stCondLst>
                            <p:childTnLst>
                              <p:par>
                                <p:cTn id="7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7" fill="hold">
                      <p:stCondLst>
                        <p:cond delay="indefinite"/>
                      </p:stCondLst>
                      <p:childTnLst>
                        <p:par>
                          <p:cTn id="768" fill="hold">
                            <p:stCondLst>
                              <p:cond delay="0"/>
                            </p:stCondLst>
                            <p:childTnLst>
                              <p:par>
                                <p:cTn id="7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1" fill="hold">
                      <p:stCondLst>
                        <p:cond delay="indefinite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5" fill="hold">
                      <p:stCondLst>
                        <p:cond delay="indefinite"/>
                      </p:stCondLst>
                      <p:childTnLst>
                        <p:par>
                          <p:cTn id="776" fill="hold">
                            <p:stCondLst>
                              <p:cond delay="0"/>
                            </p:stCondLst>
                            <p:childTnLst>
                              <p:par>
                                <p:cTn id="7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9" fill="hold">
                      <p:stCondLst>
                        <p:cond delay="indefinite"/>
                      </p:stCondLst>
                      <p:childTnLst>
                        <p:par>
                          <p:cTn id="780" fill="hold">
                            <p:stCondLst>
                              <p:cond delay="0"/>
                            </p:stCondLst>
                            <p:childTnLst>
                              <p:par>
                                <p:cTn id="7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Do we need to be that precise?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Well, we haven’t been so far, so no…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Let’s look again at our result: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(n^2 + n) / 2 = n^2 / 2 + n / 2.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As n grows indefinitely, n^2 is much much larger than n, so we can omit it, resulting to: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n^2 / 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Also, as n grows indefinitely, what’s the point of “/2”. The half of a trillion is still really large. So, we can just keep: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n^2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PlaceHolder 3"/>
          <p:cNvSpPr>
            <a:spLocks noGrp="1"/>
          </p:cNvSpPr>
          <p:nvPr>
            <p:ph type="sldNum" idx="5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2688A1B-214D-492D-A5DA-DAF20F4DA81D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83" dur="indefinite" restart="never" nodeType="tmRoot">
          <p:childTnLst>
            <p:seq>
              <p:cTn id="784" dur="indefinite" nodeType="mainSeq">
                <p:childTnLst>
                  <p:par>
                    <p:cTn id="785" fill="hold">
                      <p:stCondLst>
                        <p:cond delay="indefinite"/>
                      </p:stCondLst>
                      <p:childTnLst>
                        <p:par>
                          <p:cTn id="786" fill="hold">
                            <p:stCondLst>
                              <p:cond delay="0"/>
                            </p:stCondLst>
                            <p:childTnLst>
                              <p:par>
                                <p:cTn id="7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9" fill="hold">
                      <p:stCondLst>
                        <p:cond delay="indefinite"/>
                      </p:stCondLst>
                      <p:childTnLst>
                        <p:par>
                          <p:cTn id="790" fill="hold">
                            <p:stCondLst>
                              <p:cond delay="0"/>
                            </p:stCondLst>
                            <p:childTnLst>
                              <p:par>
                                <p:cTn id="7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3" fill="hold">
                      <p:stCondLst>
                        <p:cond delay="indefinite"/>
                      </p:stCondLst>
                      <p:childTnLst>
                        <p:par>
                          <p:cTn id="794" fill="hold">
                            <p:stCondLst>
                              <p:cond delay="0"/>
                            </p:stCondLst>
                            <p:childTnLst>
                              <p:par>
                                <p:cTn id="7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7" fill="hold">
                      <p:stCondLst>
                        <p:cond delay="indefinite"/>
                      </p:stCondLst>
                      <p:childTnLst>
                        <p:par>
                          <p:cTn id="798" fill="hold">
                            <p:stCondLst>
                              <p:cond delay="0"/>
                            </p:stCondLst>
                            <p:childTnLst>
                              <p:par>
                                <p:cTn id="7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1" fill="hold">
                      <p:stCondLst>
                        <p:cond delay="indefinite"/>
                      </p:stCondLst>
                      <p:childTnLst>
                        <p:par>
                          <p:cTn id="802" fill="hold">
                            <p:stCondLst>
                              <p:cond delay="0"/>
                            </p:stCondLst>
                            <p:childTnLst>
                              <p:par>
                                <p:cTn id="8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5" fill="hold">
                      <p:stCondLst>
                        <p:cond delay="indefinite"/>
                      </p:stCondLst>
                      <p:childTnLst>
                        <p:par>
                          <p:cTn id="806" fill="hold">
                            <p:stCondLst>
                              <p:cond delay="0"/>
                            </p:stCondLst>
                            <p:childTnLst>
                              <p:par>
                                <p:cTn id="8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9" fill="hold">
                      <p:stCondLst>
                        <p:cond delay="indefinite"/>
                      </p:stCondLst>
                      <p:childTnLst>
                        <p:par>
                          <p:cTn id="810" fill="hold">
                            <p:stCondLst>
                              <p:cond delay="0"/>
                            </p:stCondLst>
                            <p:childTnLst>
                              <p:par>
                                <p:cTn id="8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Do we need to be that precise?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So, we can say that, roughly, on an input of size n (measured in a reasonable manner), Bubble sort requires roughly n^2 EO to complete.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This means, roughly: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100 EO for n = 10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10,000 EO for n = 100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1,000,000 EO for n = 1,000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100,000,000 EO for n = 10,000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1,000,000,000 EO for n = 100,000.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We say, in more formal language, that Bubble sort is of worst-case time complexity O(n^2).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PlaceHolder 3"/>
          <p:cNvSpPr>
            <a:spLocks noGrp="1"/>
          </p:cNvSpPr>
          <p:nvPr>
            <p:ph type="sldNum" idx="5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16716F3-8B00-4F3A-9801-1A8DA05A3CE2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13" dur="indefinite" restart="never" nodeType="tmRoot">
          <p:childTnLst>
            <p:seq>
              <p:cTn id="814" dur="indefinite" nodeType="mainSeq">
                <p:childTnLst>
                  <p:par>
                    <p:cTn id="815" fill="hold">
                      <p:stCondLst>
                        <p:cond delay="indefinite"/>
                      </p:stCondLst>
                      <p:childTnLst>
                        <p:par>
                          <p:cTn id="816" fill="hold">
                            <p:stCondLst>
                              <p:cond delay="0"/>
                            </p:stCondLst>
                            <p:childTnLst>
                              <p:par>
                                <p:cTn id="8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9" fill="hold">
                      <p:stCondLst>
                        <p:cond delay="indefinite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3" fill="hold">
                      <p:stCondLst>
                        <p:cond delay="indefinite"/>
                      </p:stCondLst>
                      <p:childTnLst>
                        <p:par>
                          <p:cTn id="824" fill="hold">
                            <p:stCondLst>
                              <p:cond delay="0"/>
                            </p:stCondLst>
                            <p:childTnLst>
                              <p:par>
                                <p:cTn id="8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7" fill="hold">
                      <p:stCondLst>
                        <p:cond delay="indefinite"/>
                      </p:stCondLst>
                      <p:childTnLst>
                        <p:par>
                          <p:cTn id="828" fill="hold">
                            <p:stCondLst>
                              <p:cond delay="0"/>
                            </p:stCondLst>
                            <p:childTnLst>
                              <p:par>
                                <p:cTn id="8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1" fill="hold">
                      <p:stCondLst>
                        <p:cond delay="indefinite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5" fill="hold">
                      <p:stCondLst>
                        <p:cond delay="indefinite"/>
                      </p:stCondLst>
                      <p:childTnLst>
                        <p:par>
                          <p:cTn id="836" fill="hold">
                            <p:stCondLst>
                              <p:cond delay="0"/>
                            </p:stCondLst>
                            <p:childTnLst>
                              <p:par>
                                <p:cTn id="8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9" fill="hold">
                      <p:stCondLst>
                        <p:cond delay="indefinite"/>
                      </p:stCondLst>
                      <p:childTnLst>
                        <p:par>
                          <p:cTn id="840" fill="hold">
                            <p:stCondLst>
                              <p:cond delay="0"/>
                            </p:stCondLst>
                            <p:childTnLst>
                              <p:par>
                                <p:cTn id="8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3" fill="hold">
                      <p:stCondLst>
                        <p:cond delay="indefinite"/>
                      </p:stCondLst>
                      <p:childTnLst>
                        <p:par>
                          <p:cTn id="844" fill="hold">
                            <p:stCondLst>
                              <p:cond delay="0"/>
                            </p:stCondLst>
                            <p:childTnLst>
                              <p:par>
                                <p:cTn id="8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Being more precise…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4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general, we say that a function f(n) is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O(g(n)) 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for some other function g(n) if there exist M &gt; 0 and n_0 such that |f(n)| &lt;= Mg(n) for every n &gt; n_0.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Forget about  that. We say that a function f(n) is O(g(n)) for some other function g(n) if as n grows indefinitely, f(n) is not larger than g(n), even if we make g(n) really small using some positive constant.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For instance: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0.3589*n^2 is O(n^2), since they are roughly the same as n → Infinity.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0.3589*n^3 is not O(n^2) since n^3 grows “faster” than n^2 or any multiple of n^2.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1,000,000 * n is O(n^2) as n^2 eventually grows faster than any multiple of 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PlaceHolder 3"/>
          <p:cNvSpPr>
            <a:spLocks noGrp="1"/>
          </p:cNvSpPr>
          <p:nvPr>
            <p:ph type="sldNum" idx="5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B96FB91-E3D8-4343-A2B9-88606FC448CA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49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47" dur="indefinite" restart="never" nodeType="tmRoot">
          <p:childTnLst>
            <p:seq>
              <p:cTn id="848" dur="indefinite" nodeType="mainSeq">
                <p:childTnLst>
                  <p:par>
                    <p:cTn id="849" fill="hold">
                      <p:stCondLst>
                        <p:cond delay="indefinite"/>
                      </p:stCondLst>
                      <p:childTnLst>
                        <p:par>
                          <p:cTn id="850" fill="hold">
                            <p:stCondLst>
                              <p:cond delay="0"/>
                            </p:stCondLst>
                            <p:childTnLst>
                              <p:par>
                                <p:cTn id="8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3" fill="hold">
                      <p:stCondLst>
                        <p:cond delay="indefinite"/>
                      </p:stCondLst>
                      <p:childTnLst>
                        <p:par>
                          <p:cTn id="854" fill="hold">
                            <p:stCondLst>
                              <p:cond delay="0"/>
                            </p:stCondLst>
                            <p:childTnLst>
                              <p:par>
                                <p:cTn id="8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7" fill="hold">
                      <p:stCondLst>
                        <p:cond delay="indefinite"/>
                      </p:stCondLst>
                      <p:childTnLst>
                        <p:par>
                          <p:cTn id="858" fill="hold">
                            <p:stCondLst>
                              <p:cond delay="0"/>
                            </p:stCondLst>
                            <p:childTnLst>
                              <p:par>
                                <p:cTn id="8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1" fill="hold">
                      <p:stCondLst>
                        <p:cond delay="indefinite"/>
                      </p:stCondLst>
                      <p:childTnLst>
                        <p:par>
                          <p:cTn id="862" fill="hold">
                            <p:stCondLst>
                              <p:cond delay="0"/>
                            </p:stCondLst>
                            <p:childTnLst>
                              <p:par>
                                <p:cTn id="8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5" fill="hold">
                      <p:stCondLst>
                        <p:cond delay="indefinite"/>
                      </p:stCondLst>
                      <p:childTnLst>
                        <p:par>
                          <p:cTn id="866" fill="hold">
                            <p:stCondLst>
                              <p:cond delay="0"/>
                            </p:stCondLst>
                            <p:childTnLst>
                              <p:par>
                                <p:cTn id="8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9" fill="hold">
                      <p:stCondLst>
                        <p:cond delay="indefinite"/>
                      </p:stCondLst>
                      <p:childTnLst>
                        <p:par>
                          <p:cTn id="870" fill="hold">
                            <p:stCondLst>
                              <p:cond delay="0"/>
                            </p:stCondLst>
                            <p:childTnLst>
                              <p:par>
                                <p:cTn id="8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A rule of thumb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PlaceHolder 2"/>
          <p:cNvSpPr>
            <a:spLocks noGrp="1"/>
          </p:cNvSpPr>
          <p:nvPr>
            <p:ph type="sldNum" idx="5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5649E0-7374-4B90-AD8B-DCFAF9E9403F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50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59" name="Google Shape;852;p65" descr=""/>
          <p:cNvPicPr/>
          <p:nvPr/>
        </p:nvPicPr>
        <p:blipFill>
          <a:blip r:embed="rId1"/>
          <a:stretch/>
        </p:blipFill>
        <p:spPr>
          <a:xfrm>
            <a:off x="2163960" y="1328760"/>
            <a:ext cx="4819320" cy="329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What about Merge sort?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4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For a list of size n, splitting things up (first step) requires roughly n EO.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Then, we repeat some times a merging process, swapping at most once each element, so, each merging sequence requires (at most) n EO.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But, how many times we repeat those merging sequences?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[Take some time to think…]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If we have 8 elements in our list, we split once, (2 lists of 4), another once (4 lists of 2) and another once (8 lists of 1). So, three times.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8, 3, splitting in 2: How to combine all those?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2³ = 8 → 3 = log(8), where log is base-2 logarithm.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So, log(n) in the general case.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Overall: nlog(n) + n, which is O(nlog(n)).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PlaceHolder 3"/>
          <p:cNvSpPr>
            <a:spLocks noGrp="1"/>
          </p:cNvSpPr>
          <p:nvPr>
            <p:ph type="sldNum" idx="5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271E31-30B4-480E-BAB9-72AC0E8FE500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73" dur="indefinite" restart="never" nodeType="tmRoot">
          <p:childTnLst>
            <p:seq>
              <p:cTn id="874" dur="indefinite" nodeType="mainSeq">
                <p:childTnLst>
                  <p:par>
                    <p:cTn id="875" fill="hold">
                      <p:stCondLst>
                        <p:cond delay="indefinite"/>
                      </p:stCondLst>
                      <p:childTnLst>
                        <p:par>
                          <p:cTn id="876" fill="hold">
                            <p:stCondLst>
                              <p:cond delay="0"/>
                            </p:stCondLst>
                            <p:childTnLst>
                              <p:par>
                                <p:cTn id="8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9" fill="hold">
                      <p:stCondLst>
                        <p:cond delay="indefinite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3" fill="hold">
                      <p:stCondLst>
                        <p:cond delay="indefinite"/>
                      </p:stCondLst>
                      <p:childTnLst>
                        <p:par>
                          <p:cTn id="884" fill="hold">
                            <p:stCondLst>
                              <p:cond delay="0"/>
                            </p:stCondLst>
                            <p:childTnLst>
                              <p:par>
                                <p:cTn id="8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7" fill="hold">
                      <p:stCondLst>
                        <p:cond delay="indefinite"/>
                      </p:stCondLst>
                      <p:childTnLst>
                        <p:par>
                          <p:cTn id="888" fill="hold">
                            <p:stCondLst>
                              <p:cond delay="0"/>
                            </p:stCondLst>
                            <p:childTnLst>
                              <p:par>
                                <p:cTn id="8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1" fill="hold">
                      <p:stCondLst>
                        <p:cond delay="indefinite"/>
                      </p:stCondLst>
                      <p:childTnLst>
                        <p:par>
                          <p:cTn id="892" fill="hold">
                            <p:stCondLst>
                              <p:cond delay="0"/>
                            </p:stCondLst>
                            <p:childTnLst>
                              <p:par>
                                <p:cTn id="8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5" fill="hold">
                      <p:stCondLst>
                        <p:cond delay="indefinite"/>
                      </p:stCondLst>
                      <p:childTnLst>
                        <p:par>
                          <p:cTn id="896" fill="hold">
                            <p:stCondLst>
                              <p:cond delay="0"/>
                            </p:stCondLst>
                            <p:childTnLst>
                              <p:par>
                                <p:cTn id="8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9" fill="hold">
                      <p:stCondLst>
                        <p:cond delay="indefinite"/>
                      </p:stCondLst>
                      <p:childTnLst>
                        <p:par>
                          <p:cTn id="900" fill="hold">
                            <p:stCondLst>
                              <p:cond delay="0"/>
                            </p:stCondLst>
                            <p:childTnLst>
                              <p:par>
                                <p:cTn id="9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3" fill="hold">
                      <p:stCondLst>
                        <p:cond delay="indefinite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7" fill="hold">
                      <p:stCondLst>
                        <p:cond delay="indefinite"/>
                      </p:stCondLst>
                      <p:childTnLst>
                        <p:par>
                          <p:cTn id="908" fill="hold">
                            <p:stCondLst>
                              <p:cond delay="0"/>
                            </p:stCondLst>
                            <p:childTnLst>
                              <p:par>
                                <p:cTn id="9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Any Questions?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PlaceHolder 2"/>
          <p:cNvSpPr>
            <a:spLocks noGrp="1"/>
          </p:cNvSpPr>
          <p:nvPr>
            <p:ph type="subTitle"/>
          </p:nvPr>
        </p:nvSpPr>
        <p:spPr>
          <a:xfrm>
            <a:off x="725040" y="3161520"/>
            <a:ext cx="3300480" cy="758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Don’t forget to fill-in the questionnaire! (check right)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PlaceHolder 3"/>
          <p:cNvSpPr>
            <a:spLocks noGrp="1"/>
          </p:cNvSpPr>
          <p:nvPr>
            <p:ph/>
          </p:nvPr>
        </p:nvSpPr>
        <p:spPr>
          <a:xfrm>
            <a:off x="4707360" y="3983400"/>
            <a:ext cx="4361040" cy="398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 algn="ctr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 u="sng">
                <a:solidFill>
                  <a:schemeClr val="hlink"/>
                </a:solidFill>
                <a:uFillTx/>
                <a:latin typeface="Consolas"/>
                <a:ea typeface="Consolas"/>
                <a:hlinkClick r:id="rId1"/>
              </a:rPr>
              <a:t>https://forms.gle/zezKMVzhaT4xyJgk8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6" name="Google Shape;867;p67" descr="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5459400" y="1063080"/>
            <a:ext cx="2857320" cy="2857320"/>
          </a:xfrm>
          <a:prstGeom prst="rect">
            <a:avLst/>
          </a:prstGeom>
          <a:ln w="0">
            <a:noFill/>
          </a:ln>
        </p:spPr>
      </p:pic>
      <p:sp>
        <p:nvSpPr>
          <p:cNvPr id="767" name="PlaceHolder 4"/>
          <p:cNvSpPr>
            <a:spLocks noGrp="1"/>
          </p:cNvSpPr>
          <p:nvPr>
            <p:ph type="sldNum" idx="5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6D47A6-9310-4D66-8F4D-30E9D1B4AD45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2025-12-15T12:52:27Z</dcterms:modified>
  <cp:revision>2</cp:revision>
  <dc:subject/>
  <dc:title/>
</cp:coreProperties>
</file>