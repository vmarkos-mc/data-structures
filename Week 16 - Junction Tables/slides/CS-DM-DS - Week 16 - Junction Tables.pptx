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3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81E548B6-2169-4675-A180-CB9579ACBC1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DDE4204-0011-4F67-AC62-06421EE8EA0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E96D4425-FF9F-4C6B-A56A-EED6668119D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7A16ED1-AE3F-4C09-91DE-4A04462DFA0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9CCD53AF-77AB-4AE6-A7A2-7A1C75EC65D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E2F38D1-DCE5-4751-A0F8-B6084596469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5E9CA975-0AF8-4987-9FC2-B7082F88B5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2F85477F-CF96-4FC7-A589-B3C0D39A784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891E5899-6317-49D1-A72A-9FDD719B0A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8169996F-CE00-43E1-972D-6DEC512CB5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AFE18D0A-3201-486D-B4CF-DB8393EB5F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BA9FF7D-CB00-4331-94B2-AE8041D388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6197D02-BB72-48B4-BB0D-02C95271B81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5BD1145-8AED-4834-8F42-A69FB88F07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74856A6-3CA3-48D3-BEC9-1463D68CBB4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B593556-40B2-44E7-B841-A71851AB9F0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C7E65D4-6464-40D6-9AD5-30A29C171E0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E1437C3-8CDC-404B-8E0C-7C03032AE2B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D5A972C-24BE-41AC-89F5-78616D1EE5E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1786FDA-1E7C-495A-8F07-C0D77C597A2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B3374C8-A5F0-493D-A400-1FAA692F464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59A59DE-2C5D-4196-9135-9F090354D76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35D4714-5E72-45A5-BC5A-C813BE8963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A7A5731-04FC-4D3A-9D84-AC5AFFB9C50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9172B4-9398-4402-B5FB-8FF8ED164A4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FA02B43-E321-4BAC-85AA-F35BA11566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9945DEE-2BCA-4081-8606-B436C75AAC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C2A8129-AEE9-41F6-A440-1D13A78834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6278E81-393F-435A-B597-A355C7169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49DFDF2-7BE2-48A8-8624-EDF69E541DE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B5A71A0-7AB7-4BB7-B11A-0E856E5FC6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5503AA2-8527-40D0-B5C0-F1957318577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F8F86D3-C36D-4F16-AA35-E4D87B93229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C16530A-7F15-425C-BEC8-10064437260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6412957-51C3-4421-8FE9-3253D933120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085CBCA-7619-4C13-AA63-E1CAAABE98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8078077-7FA6-4DE1-9374-B6E2E38F26D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1AE70D8-B2AD-4190-A0C9-51E617BE632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47FF03A3-1748-4F2F-819F-59662F8BCAF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E07EAF69-A7AD-432D-8C5C-515B44489F0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F5BBAFAF-7738-4C8D-9A01-CB798D2F3F5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F3329930-E881-4E38-8C70-8FDC86BC4CC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1C500902-A10B-42D5-848A-43DAF1B90C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D1F992F-898F-4B10-A7A3-1C18EC92BC3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9704D201-0B46-45C6-982F-D2A69EFDA25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98D0F632-1F39-4A8D-9E9B-3FD65CC9AE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33EBA210-5DB0-4436-A4E8-08DEB81D765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C1306B2B-9FC2-482E-A300-384B347AFF3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;p2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" name="Google Shape;12;p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3;p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4;p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buNone/>
            </a:pPr>
            <a:r>
              <a:rPr lang="en-US" sz="4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2C3235-B394-4A99-BD49-89DB5A977E59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Google Shape;18;p2"/>
          <p:cNvSpPr/>
          <p:nvPr/>
        </p:nvSpPr>
        <p:spPr>
          <a:xfrm>
            <a:off x="6590880" y="3867120"/>
            <a:ext cx="1945080" cy="73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21;p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5" name="Google Shape;22;p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23;p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1124765-27C4-4434-9CFD-7BF99622F5D5}" type="slidenum">
              <a:rPr lang="el" sz="1000" b="0" strike="noStrike" spc="-1">
                <a:solidFill>
                  <a:schemeClr val="lt1"/>
                </a:solidFill>
                <a:latin typeface="Lato"/>
                <a:ea typeface="Lato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27;p4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" name="Google Shape;28;p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88" name="Google Shape;29;p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30;p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buNone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505902A-E3EA-4FBA-A8C3-E57A093A4211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92;p12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oogle Shape;93;p1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31" name="Google Shape;94;p1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Google Shape;95;p1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buNone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74000"/>
          </a:bodyPr>
          <a:lstStyle/>
          <a:p>
            <a:pPr marL="319680" indent="-239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639360" lvl="1" indent="-239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959040" lvl="2" indent="-213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278720" lvl="3" indent="-159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1598400" lvl="4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1918080" lvl="5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237760" lvl="6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805B689-8691-49FB-9F33-A3E980AEA1A5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office/troubleshoot/access/define-table-relationships" TargetMode="External"/><Relationship Id="rId2" Type="http://schemas.openxmlformats.org/officeDocument/2006/relationships/hyperlink" Target="https://ittrainingcontent.iu.edu/training/accsd/files/pc/using-junction-tables.html" TargetMode="Externa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office/vba/api/overview/access" TargetMode="External"/><Relationship Id="rId2" Type="http://schemas.openxmlformats.org/officeDocument/2006/relationships/hyperlink" Target="https://support.microsoft.com/en-au/office/introduction-to-access-programming-92eb616b-3204-4121-9277-70649e33be4f" TargetMode="Externa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orms.gle/edpsrRjMWJwPtv3U9" TargetMode="Externa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4200" b="1" strike="noStrike" spc="-1">
                <a:solidFill>
                  <a:schemeClr val="dk2"/>
                </a:solidFill>
                <a:latin typeface="Lato"/>
                <a:ea typeface="Lato"/>
              </a:rPr>
              <a:t>Computer Systems, Data Management &amp; Data Structures</a:t>
            </a:r>
            <a:endParaRPr lang="en-US" sz="4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729720" y="3173040"/>
            <a:ext cx="7687800" cy="738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Markos Vassilis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Mediterranean College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118;p16"/>
          <p:cNvSpPr/>
          <p:nvPr/>
        </p:nvSpPr>
        <p:spPr>
          <a:xfrm>
            <a:off x="6029640" y="4001400"/>
            <a:ext cx="2387520" cy="61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ubTitle"/>
          </p:nvPr>
        </p:nvSpPr>
        <p:spPr>
          <a:xfrm>
            <a:off x="6057000" y="3821760"/>
            <a:ext cx="2360520" cy="112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algn="r">
              <a:lnSpc>
                <a:spcPct val="115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l" sz="1300" b="0" strike="noStrike" spc="-1">
                <a:solidFill>
                  <a:schemeClr val="accent1"/>
                </a:solidFill>
                <a:latin typeface="Lato"/>
                <a:ea typeface="Lato"/>
              </a:rPr>
              <a:t>Week 16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3600" b="1" strike="noStrike" spc="-1">
                <a:solidFill>
                  <a:schemeClr val="lt1"/>
                </a:solidFill>
                <a:latin typeface="Lato"/>
                <a:ea typeface="Lato"/>
              </a:rPr>
              <a:t>Junction Tables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4660B2A-4B37-436C-AAAF-DC4DB5B31011}" type="slidenum">
              <a:rPr lang="el" sz="1000" b="0" strike="noStrike" spc="-1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(Reminder) Data Models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012320"/>
          </a:xfrm>
          <a:prstGeom prst="rect">
            <a:avLst/>
          </a:prstGeom>
          <a:solidFill>
            <a:srgbClr val="FCE5CD"/>
          </a:solidFill>
          <a:ln w="19080">
            <a:solidFill>
              <a:srgbClr val="EB5600"/>
            </a:solidFill>
            <a:prstDash val="dash"/>
            <a:round/>
          </a:ln>
        </p:spPr>
        <p:txBody>
          <a:bodyPr tIns="91440" bIns="9144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A </a:t>
            </a:r>
            <a:r>
              <a:rPr lang="el" sz="1600" b="1" strike="noStrike" spc="-1">
                <a:solidFill>
                  <a:schemeClr val="accent3"/>
                </a:solidFill>
                <a:latin typeface="Lato"/>
                <a:ea typeface="Lato"/>
              </a:rPr>
              <a:t>data model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is a collection of conceptual tools for describing data, data relationships, data semantics, and consistency constraints. A data model provides a way to describe the design of a database at the physical, logical, and view level.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132;p18"/>
          <p:cNvSpPr/>
          <p:nvPr/>
        </p:nvSpPr>
        <p:spPr>
          <a:xfrm>
            <a:off x="736200" y="2790360"/>
            <a:ext cx="7688520" cy="139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Essentially, data models provide the structure “under the hood” of a DB at: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The </a:t>
            </a: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physical level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 i.e., the primitive data structures used to physically store data.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The </a:t>
            </a: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logical level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 i.e., the higher level constructs used to organise stored data.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The </a:t>
            </a: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view level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 i.e., the constructs used for partial sharing of DB data.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FC4158A-BE12-4C91-A24D-6C3936FA1E71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3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(Reminder) Data Models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539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There are four broad categories of data models: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Relational Model: 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Data are organised in </a:t>
            </a:r>
            <a:r>
              <a:rPr lang="el" sz="1600" b="1" strike="noStrike" spc="-1">
                <a:solidFill>
                  <a:schemeClr val="dk1"/>
                </a:solidFill>
                <a:latin typeface="Lato"/>
                <a:ea typeface="Lato"/>
              </a:rPr>
              <a:t>tables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(relations) representing both data and their relationships. Each table corresponds to records of a certain type, whose attributes are the </a:t>
            </a:r>
            <a:r>
              <a:rPr lang="el" sz="1600" b="0" strike="noStrike" spc="-1">
                <a:solidFill>
                  <a:schemeClr val="accent3"/>
                </a:solidFill>
                <a:latin typeface="Lato"/>
                <a:ea typeface="Lato"/>
              </a:rPr>
              <a:t>columns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of the table.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4" name="Google Shape;140;p19"/>
          <p:cNvGraphicFramePr/>
          <p:nvPr/>
        </p:nvGraphicFramePr>
        <p:xfrm>
          <a:off x="952560" y="3000240"/>
          <a:ext cx="7238880" cy="1523520"/>
        </p:xfrm>
        <a:graphic>
          <a:graphicData uri="http://schemas.openxmlformats.org/drawingml/2006/table">
            <a:tbl>
              <a:tblPr/>
              <a:tblGrid>
                <a:gridCol w="180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ID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Surname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Programme of Study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6132489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John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Doe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Computer Science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2380935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Jane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Dan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Accounting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4357923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Alice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Null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300" b="0" strike="noStrike" spc="-1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Law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5" name="Google Shape;141;p19"/>
          <p:cNvSpPr/>
          <p:nvPr/>
        </p:nvSpPr>
        <p:spPr>
          <a:xfrm rot="16200000">
            <a:off x="261360" y="3594240"/>
            <a:ext cx="681120" cy="33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l" sz="1600" b="1" strike="noStrike" spc="-1">
                <a:solidFill>
                  <a:schemeClr val="dk1"/>
                </a:solidFill>
                <a:latin typeface="Lato"/>
                <a:ea typeface="Lato"/>
              </a:rPr>
              <a:t>Table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6" name="Google Shape;142;p19"/>
          <p:cNvGrpSpPr/>
          <p:nvPr/>
        </p:nvGrpSpPr>
        <p:grpSpPr>
          <a:xfrm>
            <a:off x="394920" y="4326480"/>
            <a:ext cx="1504440" cy="687240"/>
            <a:chOff x="394920" y="4326480"/>
            <a:chExt cx="1504440" cy="687240"/>
          </a:xfrm>
        </p:grpSpPr>
        <p:sp>
          <p:nvSpPr>
            <p:cNvPr id="187" name="Google Shape;143;p19"/>
            <p:cNvSpPr/>
            <p:nvPr/>
          </p:nvSpPr>
          <p:spPr>
            <a:xfrm>
              <a:off x="1009080" y="4686840"/>
              <a:ext cx="890280" cy="32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l" sz="1600" b="1" strike="noStrike" spc="-1">
                  <a:solidFill>
                    <a:schemeClr val="accent2"/>
                  </a:solidFill>
                  <a:latin typeface="Lato"/>
                  <a:ea typeface="Lato"/>
                </a:rPr>
                <a:t>Record</a:t>
              </a:r>
              <a:endParaRPr lang="en-US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" name="Google Shape;144;p19"/>
            <p:cNvSpPr/>
            <p:nvPr/>
          </p:nvSpPr>
          <p:spPr>
            <a:xfrm>
              <a:off x="394920" y="4326480"/>
              <a:ext cx="613440" cy="572400"/>
            </a:xfrm>
            <a:custGeom>
              <a:avLst/>
              <a:gdLst>
                <a:gd name="textAreaLeft" fmla="*/ 0 w 613440"/>
                <a:gd name="textAreaRight" fmla="*/ 613800 w 613440"/>
                <a:gd name="textAreaTop" fmla="*/ 0 h 572400"/>
                <a:gd name="textAreaBottom" fmla="*/ 572760 h 572400"/>
              </a:gdLst>
              <a:ahLst/>
              <a:cxnLst/>
              <a:rect l="textAreaLeft" t="textAreaTop" r="textAreaRight" b="textAreaBottom"/>
              <a:pathLst>
                <a:path w="24557" h="22906">
                  <a:moveTo>
                    <a:pt x="24557" y="22906"/>
                  </a:moveTo>
                  <a:cubicBezTo>
                    <a:pt x="20800" y="21755"/>
                    <a:pt x="5530" y="19452"/>
                    <a:pt x="2015" y="15998"/>
                  </a:cubicBezTo>
                  <a:cubicBezTo>
                    <a:pt x="-1499" y="12544"/>
                    <a:pt x="198" y="4848"/>
                    <a:pt x="3470" y="2182"/>
                  </a:cubicBezTo>
                  <a:cubicBezTo>
                    <a:pt x="6742" y="-484"/>
                    <a:pt x="18619" y="364"/>
                    <a:pt x="21649" y="0"/>
                  </a:cubicBezTo>
                </a:path>
              </a:pathLst>
            </a:custGeom>
            <a:noFill/>
            <a:ln w="28575">
              <a:solidFill>
                <a:srgbClr val="6AA4C8"/>
              </a:solidFill>
              <a:prstDash val="dash"/>
              <a:round/>
              <a:tailEnd type="stealth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9" name="Google Shape;145;p19"/>
          <p:cNvGrpSpPr/>
          <p:nvPr/>
        </p:nvGrpSpPr>
        <p:grpSpPr>
          <a:xfrm>
            <a:off x="7608960" y="2486520"/>
            <a:ext cx="1302120" cy="787320"/>
            <a:chOff x="7608960" y="2486520"/>
            <a:chExt cx="1302120" cy="787320"/>
          </a:xfrm>
        </p:grpSpPr>
        <p:sp>
          <p:nvSpPr>
            <p:cNvPr id="190" name="Google Shape;146;p19"/>
            <p:cNvSpPr/>
            <p:nvPr/>
          </p:nvSpPr>
          <p:spPr>
            <a:xfrm>
              <a:off x="7608960" y="2486520"/>
              <a:ext cx="115488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l" sz="1600" b="1" strike="noStrike" spc="-1">
                  <a:solidFill>
                    <a:schemeClr val="accent3"/>
                  </a:solidFill>
                  <a:latin typeface="Lato"/>
                  <a:ea typeface="Lato"/>
                </a:rPr>
                <a:t>Attributes</a:t>
              </a:r>
              <a:endParaRPr lang="en-US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" name="Google Shape;147;p19"/>
            <p:cNvSpPr/>
            <p:nvPr/>
          </p:nvSpPr>
          <p:spPr>
            <a:xfrm>
              <a:off x="8253360" y="2717640"/>
              <a:ext cx="657720" cy="556200"/>
            </a:xfrm>
            <a:custGeom>
              <a:avLst/>
              <a:gdLst>
                <a:gd name="textAreaLeft" fmla="*/ 0 w 657720"/>
                <a:gd name="textAreaRight" fmla="*/ 658080 w 657720"/>
                <a:gd name="textAreaTop" fmla="*/ 0 h 556200"/>
                <a:gd name="textAreaBottom" fmla="*/ 556560 h 556200"/>
              </a:gdLst>
              <a:ahLst/>
              <a:cxnLst/>
              <a:rect l="textAreaLeft" t="textAreaTop" r="textAreaRight" b="textAreaBottom"/>
              <a:pathLst>
                <a:path w="26330" h="22256">
                  <a:moveTo>
                    <a:pt x="18179" y="0"/>
                  </a:moveTo>
                  <a:cubicBezTo>
                    <a:pt x="19512" y="2242"/>
                    <a:pt x="26784" y="9816"/>
                    <a:pt x="26178" y="13452"/>
                  </a:cubicBezTo>
                  <a:cubicBezTo>
                    <a:pt x="25572" y="17088"/>
                    <a:pt x="18906" y="20542"/>
                    <a:pt x="14543" y="21815"/>
                  </a:cubicBezTo>
                  <a:cubicBezTo>
                    <a:pt x="10180" y="23088"/>
                    <a:pt x="2424" y="21209"/>
                    <a:pt x="0" y="21088"/>
                  </a:cubicBezTo>
                </a:path>
              </a:pathLst>
            </a:custGeom>
            <a:noFill/>
            <a:ln w="28575">
              <a:solidFill>
                <a:srgbClr val="EB5600"/>
              </a:solidFill>
              <a:prstDash val="dash"/>
              <a:round/>
              <a:tailEnd type="stealth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2" name="PlaceHolder 3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FDB3123-FFDE-4107-9514-AE7187B33708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4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(Reminder) Data Models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021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Entity-Relationship Model: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Data are organized on the basis of </a:t>
            </a:r>
            <a:r>
              <a:rPr lang="el" sz="1600" b="1" strike="noStrike" spc="-1">
                <a:solidFill>
                  <a:schemeClr val="accent3"/>
                </a:solidFill>
                <a:latin typeface="Lato"/>
                <a:ea typeface="Lato"/>
              </a:rPr>
              <a:t>entities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 which correspond to 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things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or 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objects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of the real world (e.g., a course at the XYZ university or a faculty member), and </a:t>
            </a:r>
            <a:r>
              <a:rPr lang="el" sz="1600" b="1" strike="noStrike" spc="-1">
                <a:solidFill>
                  <a:schemeClr val="dk1"/>
                </a:solidFill>
                <a:latin typeface="Lato"/>
                <a:ea typeface="Lato"/>
              </a:rPr>
              <a:t>relationships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among those entities.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5" name="Google Shape;155;p20"/>
          <p:cNvGrpSpPr/>
          <p:nvPr/>
        </p:nvGrpSpPr>
        <p:grpSpPr>
          <a:xfrm>
            <a:off x="190800" y="2631960"/>
            <a:ext cx="8451000" cy="2174040"/>
            <a:chOff x="190800" y="2631960"/>
            <a:chExt cx="8451000" cy="2174040"/>
          </a:xfrm>
        </p:grpSpPr>
        <p:sp>
          <p:nvSpPr>
            <p:cNvPr id="196" name="Google Shape;156;p20"/>
            <p:cNvSpPr/>
            <p:nvPr/>
          </p:nvSpPr>
          <p:spPr>
            <a:xfrm>
              <a:off x="1790640" y="3372120"/>
              <a:ext cx="1235880" cy="43596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600" b="0" strike="noStrike" spc="-1">
                  <a:solidFill>
                    <a:srgbClr val="000000"/>
                  </a:solidFill>
                  <a:latin typeface="Consolas"/>
                  <a:ea typeface="Consolas"/>
                </a:rPr>
                <a:t>Student</a:t>
              </a:r>
              <a:endParaRPr lang="en-US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" name="Google Shape;157;p20"/>
            <p:cNvSpPr/>
            <p:nvPr/>
          </p:nvSpPr>
          <p:spPr>
            <a:xfrm>
              <a:off x="5842440" y="3372120"/>
              <a:ext cx="1235880" cy="43596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600" b="0" strike="noStrike" spc="-1">
                  <a:solidFill>
                    <a:srgbClr val="000000"/>
                  </a:solidFill>
                  <a:latin typeface="Consolas"/>
                  <a:ea typeface="Consolas"/>
                </a:rPr>
                <a:t>Course</a:t>
              </a:r>
              <a:endParaRPr lang="en-US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" name="Google Shape;158;p20"/>
            <p:cNvSpPr/>
            <p:nvPr/>
          </p:nvSpPr>
          <p:spPr>
            <a:xfrm>
              <a:off x="3590640" y="3372120"/>
              <a:ext cx="1789920" cy="435960"/>
            </a:xfrm>
            <a:prstGeom prst="flowChartDecision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400" b="0" strike="noStrike" spc="-1">
                  <a:solidFill>
                    <a:srgbClr val="000000"/>
                  </a:solidFill>
                  <a:latin typeface="Consolas"/>
                  <a:ea typeface="Consolas"/>
                </a:rPr>
                <a:t>Attends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99" name="Google Shape;159;p20"/>
            <p:cNvCxnSpPr>
              <a:stCxn id="196" idx="3"/>
              <a:endCxn id="198" idx="1"/>
            </p:cNvCxnSpPr>
            <p:nvPr/>
          </p:nvCxnSpPr>
          <p:spPr>
            <a:xfrm>
              <a:off x="3026520" y="3589920"/>
              <a:ext cx="564480" cy="360"/>
            </a:xfrm>
            <a:prstGeom prst="straightConnector1">
              <a:avLst/>
            </a:prstGeom>
            <a:ln w="9525">
              <a:solidFill>
                <a:srgbClr val="1A1A1A"/>
              </a:solidFill>
              <a:round/>
            </a:ln>
          </p:spPr>
        </p:cxnSp>
        <p:cxnSp>
          <p:nvCxnSpPr>
            <p:cNvPr id="200" name="Google Shape;160;p20"/>
            <p:cNvCxnSpPr>
              <a:stCxn id="198" idx="3"/>
              <a:endCxn id="197" idx="1"/>
            </p:cNvCxnSpPr>
            <p:nvPr/>
          </p:nvCxnSpPr>
          <p:spPr>
            <a:xfrm>
              <a:off x="5380560" y="3589920"/>
              <a:ext cx="462240" cy="360"/>
            </a:xfrm>
            <a:prstGeom prst="straightConnector1">
              <a:avLst/>
            </a:prstGeom>
            <a:ln w="9525">
              <a:solidFill>
                <a:srgbClr val="1A1A1A"/>
              </a:solidFill>
              <a:round/>
            </a:ln>
          </p:spPr>
        </p:cxnSp>
        <p:sp>
          <p:nvSpPr>
            <p:cNvPr id="201" name="Google Shape;161;p20"/>
            <p:cNvSpPr/>
            <p:nvPr/>
          </p:nvSpPr>
          <p:spPr>
            <a:xfrm>
              <a:off x="3026880" y="3220920"/>
              <a:ext cx="299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l" sz="1200" b="0" strike="noStrike" spc="-1">
                  <a:solidFill>
                    <a:srgbClr val="000000"/>
                  </a:solidFill>
                  <a:latin typeface="Lato"/>
                  <a:ea typeface="Lato"/>
                </a:rPr>
                <a:t>1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" name="Google Shape;162;p20"/>
            <p:cNvSpPr/>
            <p:nvPr/>
          </p:nvSpPr>
          <p:spPr>
            <a:xfrm>
              <a:off x="5542200" y="3220920"/>
              <a:ext cx="299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l" sz="1200" b="0" strike="noStrike" spc="-1">
                  <a:solidFill>
                    <a:srgbClr val="000000"/>
                  </a:solidFill>
                  <a:latin typeface="Lato"/>
                  <a:ea typeface="Lato"/>
                </a:rPr>
                <a:t>n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" name="Google Shape;163;p20"/>
            <p:cNvSpPr/>
            <p:nvPr/>
          </p:nvSpPr>
          <p:spPr>
            <a:xfrm>
              <a:off x="190800" y="3220920"/>
              <a:ext cx="781560" cy="3690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100" b="0" strike="noStrike" spc="-1">
                  <a:solidFill>
                    <a:srgbClr val="000000"/>
                  </a:solidFill>
                  <a:latin typeface="Consolas"/>
                  <a:ea typeface="Consolas"/>
                </a:rPr>
                <a:t>name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" name="Google Shape;164;p20"/>
            <p:cNvSpPr/>
            <p:nvPr/>
          </p:nvSpPr>
          <p:spPr>
            <a:xfrm>
              <a:off x="190800" y="2670480"/>
              <a:ext cx="781560" cy="3690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100" b="0" strike="noStrike" spc="-1">
                  <a:solidFill>
                    <a:srgbClr val="000000"/>
                  </a:solidFill>
                  <a:latin typeface="Consolas"/>
                  <a:ea typeface="Consolas"/>
                </a:rPr>
                <a:t>id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" name="Google Shape;165;p20"/>
            <p:cNvSpPr/>
            <p:nvPr/>
          </p:nvSpPr>
          <p:spPr>
            <a:xfrm>
              <a:off x="190800" y="3771720"/>
              <a:ext cx="781560" cy="3690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" name="Google Shape;166;p20"/>
            <p:cNvSpPr/>
            <p:nvPr/>
          </p:nvSpPr>
          <p:spPr>
            <a:xfrm>
              <a:off x="190800" y="4322160"/>
              <a:ext cx="781560" cy="3690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l" sz="1000" b="0" strike="noStrike" spc="-1">
                  <a:solidFill>
                    <a:srgbClr val="000000"/>
                  </a:solidFill>
                  <a:latin typeface="Consolas"/>
                  <a:ea typeface="Consolas"/>
                </a:rPr>
                <a:t>prog.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Google Shape;167;p20"/>
            <p:cNvSpPr/>
            <p:nvPr/>
          </p:nvSpPr>
          <p:spPr>
            <a:xfrm>
              <a:off x="194400" y="3771720"/>
              <a:ext cx="781560" cy="43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100" b="0" strike="noStrike" spc="-1">
                  <a:solidFill>
                    <a:srgbClr val="000000"/>
                  </a:solidFill>
                  <a:latin typeface="Consolas"/>
                  <a:ea typeface="Consolas"/>
                </a:rPr>
                <a:t>surname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08" name="Google Shape;168;p20"/>
            <p:cNvCxnSpPr>
              <a:stCxn id="196" idx="1"/>
              <a:endCxn id="204" idx="6"/>
            </p:cNvCxnSpPr>
            <p:nvPr/>
          </p:nvCxnSpPr>
          <p:spPr>
            <a:xfrm rot="10800000">
              <a:off x="972000" y="2854800"/>
              <a:ext cx="818640" cy="735120"/>
            </a:xfrm>
            <a:prstGeom prst="bentConnector3">
              <a:avLst>
                <a:gd name="adj1" fmla="val 50021"/>
              </a:avLst>
            </a:prstGeom>
            <a:ln w="9525">
              <a:solidFill>
                <a:srgbClr val="1A1A1A"/>
              </a:solidFill>
              <a:round/>
            </a:ln>
          </p:spPr>
        </p:cxnSp>
        <p:cxnSp>
          <p:nvCxnSpPr>
            <p:cNvPr id="209" name="Google Shape;169;p20"/>
            <p:cNvCxnSpPr>
              <a:stCxn id="196" idx="1"/>
              <a:endCxn id="203" idx="6"/>
            </p:cNvCxnSpPr>
            <p:nvPr/>
          </p:nvCxnSpPr>
          <p:spPr>
            <a:xfrm rot="10800000">
              <a:off x="972000" y="3405600"/>
              <a:ext cx="818640" cy="184680"/>
            </a:xfrm>
            <a:prstGeom prst="bentConnector3">
              <a:avLst>
                <a:gd name="adj1" fmla="val 50021"/>
              </a:avLst>
            </a:prstGeom>
            <a:ln w="9525">
              <a:solidFill>
                <a:srgbClr val="1A1A1A"/>
              </a:solidFill>
              <a:round/>
            </a:ln>
          </p:spPr>
        </p:cxnSp>
        <p:cxnSp>
          <p:nvCxnSpPr>
            <p:cNvPr id="210" name="Google Shape;170;p20"/>
            <p:cNvCxnSpPr>
              <a:stCxn id="196" idx="1"/>
              <a:endCxn id="207" idx="3"/>
            </p:cNvCxnSpPr>
            <p:nvPr/>
          </p:nvCxnSpPr>
          <p:spPr>
            <a:xfrm rot="10800000" flipV="1">
              <a:off x="975600" y="3589920"/>
              <a:ext cx="815040" cy="399960"/>
            </a:xfrm>
            <a:prstGeom prst="bentConnector3">
              <a:avLst>
                <a:gd name="adj1" fmla="val 50331"/>
              </a:avLst>
            </a:prstGeom>
            <a:ln w="9525">
              <a:solidFill>
                <a:srgbClr val="1A1A1A"/>
              </a:solidFill>
              <a:round/>
            </a:ln>
          </p:spPr>
        </p:cxnSp>
        <p:cxnSp>
          <p:nvCxnSpPr>
            <p:cNvPr id="211" name="Google Shape;171;p20"/>
            <p:cNvCxnSpPr>
              <a:stCxn id="196" idx="1"/>
              <a:endCxn id="206" idx="6"/>
            </p:cNvCxnSpPr>
            <p:nvPr/>
          </p:nvCxnSpPr>
          <p:spPr>
            <a:xfrm rot="10800000" flipV="1">
              <a:off x="972000" y="3589560"/>
              <a:ext cx="818640" cy="917280"/>
            </a:xfrm>
            <a:prstGeom prst="bentConnector3">
              <a:avLst>
                <a:gd name="adj1" fmla="val 50021"/>
              </a:avLst>
            </a:prstGeom>
            <a:ln w="9525">
              <a:solidFill>
                <a:srgbClr val="1A1A1A"/>
              </a:solidFill>
              <a:round/>
            </a:ln>
          </p:spPr>
        </p:cxnSp>
        <p:sp>
          <p:nvSpPr>
            <p:cNvPr id="212" name="Google Shape;172;p20"/>
            <p:cNvSpPr/>
            <p:nvPr/>
          </p:nvSpPr>
          <p:spPr>
            <a:xfrm>
              <a:off x="7860240" y="2631960"/>
              <a:ext cx="781560" cy="3690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100" b="0" strike="noStrike" spc="-1">
                  <a:solidFill>
                    <a:srgbClr val="000000"/>
                  </a:solidFill>
                  <a:latin typeface="Consolas"/>
                  <a:ea typeface="Consolas"/>
                </a:rPr>
                <a:t>id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Google Shape;173;p20"/>
            <p:cNvSpPr/>
            <p:nvPr/>
          </p:nvSpPr>
          <p:spPr>
            <a:xfrm>
              <a:off x="7860240" y="3233520"/>
              <a:ext cx="781560" cy="3690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100" b="0" strike="noStrike" spc="-1">
                  <a:solidFill>
                    <a:srgbClr val="000000"/>
                  </a:solidFill>
                  <a:latin typeface="Consolas"/>
                  <a:ea typeface="Consolas"/>
                </a:rPr>
                <a:t>name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" name="Google Shape;174;p20"/>
            <p:cNvSpPr/>
            <p:nvPr/>
          </p:nvSpPr>
          <p:spPr>
            <a:xfrm>
              <a:off x="7860240" y="3835440"/>
              <a:ext cx="781560" cy="3690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100" b="0" strike="noStrike" spc="-1">
                  <a:solidFill>
                    <a:srgbClr val="000000"/>
                  </a:solidFill>
                  <a:latin typeface="Consolas"/>
                  <a:ea typeface="Consolas"/>
                </a:rPr>
                <a:t>room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" name="Google Shape;175;p20"/>
            <p:cNvSpPr/>
            <p:nvPr/>
          </p:nvSpPr>
          <p:spPr>
            <a:xfrm>
              <a:off x="7860240" y="4437000"/>
              <a:ext cx="781560" cy="3690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100" b="0" strike="noStrike" spc="-1">
                  <a:solidFill>
                    <a:srgbClr val="000000"/>
                  </a:solidFill>
                  <a:latin typeface="Consolas"/>
                  <a:ea typeface="Consolas"/>
                </a:rPr>
                <a:t>type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16" name="Google Shape;176;p20"/>
            <p:cNvCxnSpPr>
              <a:stCxn id="197" idx="3"/>
              <a:endCxn id="212" idx="2"/>
            </p:cNvCxnSpPr>
            <p:nvPr/>
          </p:nvCxnSpPr>
          <p:spPr>
            <a:xfrm flipV="1">
              <a:off x="7078320" y="2816640"/>
              <a:ext cx="782280" cy="773640"/>
            </a:xfrm>
            <a:prstGeom prst="bentConnector3">
              <a:avLst>
                <a:gd name="adj1" fmla="val 49953"/>
              </a:avLst>
            </a:prstGeom>
            <a:ln w="9525">
              <a:solidFill>
                <a:srgbClr val="1A1A1A"/>
              </a:solidFill>
              <a:round/>
            </a:ln>
          </p:spPr>
        </p:cxnSp>
        <p:cxnSp>
          <p:nvCxnSpPr>
            <p:cNvPr id="217" name="Google Shape;177;p20"/>
            <p:cNvCxnSpPr>
              <a:stCxn id="197" idx="3"/>
              <a:endCxn id="213" idx="2"/>
            </p:cNvCxnSpPr>
            <p:nvPr/>
          </p:nvCxnSpPr>
          <p:spPr>
            <a:xfrm flipV="1">
              <a:off x="7078320" y="3418200"/>
              <a:ext cx="782280" cy="172080"/>
            </a:xfrm>
            <a:prstGeom prst="bentConnector3">
              <a:avLst>
                <a:gd name="adj1" fmla="val 49953"/>
              </a:avLst>
            </a:prstGeom>
            <a:ln w="9525">
              <a:solidFill>
                <a:srgbClr val="1A1A1A"/>
              </a:solidFill>
              <a:round/>
            </a:ln>
          </p:spPr>
        </p:cxnSp>
        <p:cxnSp>
          <p:nvCxnSpPr>
            <p:cNvPr id="218" name="Google Shape;178;p20"/>
            <p:cNvCxnSpPr>
              <a:stCxn id="197" idx="3"/>
              <a:endCxn id="214" idx="2"/>
            </p:cNvCxnSpPr>
            <p:nvPr/>
          </p:nvCxnSpPr>
          <p:spPr>
            <a:xfrm>
              <a:off x="7078320" y="3589920"/>
              <a:ext cx="782280" cy="430560"/>
            </a:xfrm>
            <a:prstGeom prst="bentConnector3">
              <a:avLst>
                <a:gd name="adj1" fmla="val 49953"/>
              </a:avLst>
            </a:prstGeom>
            <a:ln w="9525">
              <a:solidFill>
                <a:srgbClr val="1A1A1A"/>
              </a:solidFill>
              <a:round/>
            </a:ln>
          </p:spPr>
        </p:cxnSp>
        <p:cxnSp>
          <p:nvCxnSpPr>
            <p:cNvPr id="219" name="Google Shape;179;p20"/>
            <p:cNvCxnSpPr>
              <a:stCxn id="197" idx="3"/>
              <a:endCxn id="215" idx="2"/>
            </p:cNvCxnSpPr>
            <p:nvPr/>
          </p:nvCxnSpPr>
          <p:spPr>
            <a:xfrm>
              <a:off x="7078320" y="3589920"/>
              <a:ext cx="782280" cy="1032120"/>
            </a:xfrm>
            <a:prstGeom prst="bentConnector3">
              <a:avLst>
                <a:gd name="adj1" fmla="val 49953"/>
              </a:avLst>
            </a:prstGeom>
            <a:ln w="9525">
              <a:solidFill>
                <a:srgbClr val="1A1A1A"/>
              </a:solidFill>
              <a:round/>
            </a:ln>
          </p:spPr>
        </p:cxnSp>
      </p:grpSp>
      <p:sp>
        <p:nvSpPr>
          <p:cNvPr id="220" name="PlaceHolder 3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5A4835-C80A-436A-AE57-D237F1515167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5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Relationships Without… Relationships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In a relational DB can we have…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…one–to–one relationships?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  <a:tabLst>
                <a:tab pos="0" algn="l"/>
              </a:tabLst>
            </a:pPr>
            <a:r>
              <a:rPr lang="el" sz="1600" b="1" strike="noStrike" spc="-1">
                <a:solidFill>
                  <a:schemeClr val="dk1"/>
                </a:solidFill>
                <a:latin typeface="Lato"/>
                <a:ea typeface="Lato"/>
              </a:rPr>
              <a:t>Yes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 by properly using foreign / primary keys.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…one–to–many relationships?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  <a:tabLst>
                <a:tab pos="0" algn="l"/>
              </a:tabLst>
            </a:pPr>
            <a:r>
              <a:rPr lang="el" sz="1600" b="1" strike="noStrike" spc="-1">
                <a:solidFill>
                  <a:schemeClr val="dk1"/>
                </a:solidFill>
                <a:latin typeface="Lato"/>
                <a:ea typeface="Lato"/>
              </a:rPr>
              <a:t>Yes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 by properly using foreign / primary keys.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…many–to–many relationships?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  <a:tabLst>
                <a:tab pos="0" algn="l"/>
              </a:tabLst>
            </a:pPr>
            <a:r>
              <a:rPr lang="el" sz="1600" b="1" strike="noStrike" spc="-1">
                <a:solidFill>
                  <a:schemeClr val="accent3"/>
                </a:solidFill>
                <a:latin typeface="Lato"/>
                <a:ea typeface="Lato"/>
              </a:rPr>
              <a:t>No!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So, what to do in such cases?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D30303-8849-4736-A1D9-C13C4BBB7646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6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Relationships as… Relationships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Well, as you might know from some Maths course, a binary relationship between two (finite) sets, 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A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and 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B,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is just a subset of their cartesian product, 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A 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×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 B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. So, essentially, any many–to–many relationship between entities from sets 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A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and 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B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can be thought of as a set of pairs of the form: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{(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a</a:t>
            </a:r>
            <a:r>
              <a:rPr lang="el" sz="1600" b="0" i="1" strike="noStrike" spc="-1" baseline="-25000">
                <a:solidFill>
                  <a:schemeClr val="accent1"/>
                </a:solidFill>
                <a:latin typeface="Lato"/>
                <a:ea typeface="Lato"/>
              </a:rPr>
              <a:t>1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b</a:t>
            </a:r>
            <a:r>
              <a:rPr lang="el" sz="1600" b="0" i="1" strike="noStrike" spc="-1" baseline="-25000">
                <a:solidFill>
                  <a:schemeClr val="accent1"/>
                </a:solidFill>
                <a:latin typeface="Lato"/>
                <a:ea typeface="Lato"/>
              </a:rPr>
              <a:t>1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), (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a</a:t>
            </a:r>
            <a:r>
              <a:rPr lang="el" sz="1600" b="0" i="1" strike="noStrike" spc="-1" baseline="-25000">
                <a:solidFill>
                  <a:schemeClr val="accent1"/>
                </a:solidFill>
                <a:latin typeface="Lato"/>
                <a:ea typeface="Lato"/>
              </a:rPr>
              <a:t>2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b</a:t>
            </a:r>
            <a:r>
              <a:rPr lang="el" sz="1600" b="0" i="1" strike="noStrike" spc="-1" baseline="-25000">
                <a:solidFill>
                  <a:schemeClr val="accent1"/>
                </a:solidFill>
                <a:latin typeface="Lato"/>
                <a:ea typeface="Lato"/>
              </a:rPr>
              <a:t>2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), …, (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a</a:t>
            </a:r>
            <a:r>
              <a:rPr lang="el" sz="1600" b="0" i="1" strike="noStrike" spc="-1" baseline="-25000">
                <a:solidFill>
                  <a:schemeClr val="accent1"/>
                </a:solidFill>
                <a:latin typeface="Lato"/>
                <a:ea typeface="Lato"/>
              </a:rPr>
              <a:t>n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b</a:t>
            </a:r>
            <a:r>
              <a:rPr lang="el" sz="1600" b="0" i="1" strike="noStrike" spc="-1" baseline="-25000">
                <a:solidFill>
                  <a:schemeClr val="accent1"/>
                </a:solidFill>
                <a:latin typeface="Lato"/>
                <a:ea typeface="Lato"/>
              </a:rPr>
              <a:t>n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)}.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So, how does this help to represent many–to–many relationships in a relational DB?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F25196-F3E4-4D89-8B14-C5897F71F894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7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Junction Tables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84228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lstStyle/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Just use a table to represent all such pairs of a many–to–many relationship.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Those are called </a:t>
            </a: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Junction Tables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For instance, say that we want to represent the relationship, R, shown right between sets A = {1, 2, 3} and B = {2, 4, 6, 8} using a junction table.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Which pairs should that contain?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40EA846-2CE2-43A5-9EEF-7980CC5CEE7F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8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230" name="Google Shape;202;p23"/>
          <p:cNvGrpSpPr/>
          <p:nvPr/>
        </p:nvGrpSpPr>
        <p:grpSpPr>
          <a:xfrm>
            <a:off x="5546880" y="885960"/>
            <a:ext cx="2225520" cy="2550240"/>
            <a:chOff x="5546880" y="885960"/>
            <a:chExt cx="2225520" cy="2550240"/>
          </a:xfrm>
        </p:grpSpPr>
        <p:sp>
          <p:nvSpPr>
            <p:cNvPr id="231" name="Google Shape;203;p23"/>
            <p:cNvSpPr/>
            <p:nvPr/>
          </p:nvSpPr>
          <p:spPr>
            <a:xfrm>
              <a:off x="5546880" y="1779480"/>
              <a:ext cx="1118520" cy="1656720"/>
            </a:xfrm>
            <a:prstGeom prst="roundRect">
              <a:avLst>
                <a:gd name="adj" fmla="val 16667"/>
              </a:avLst>
            </a:prstGeom>
            <a:solidFill>
              <a:srgbClr val="FCE5CD">
                <a:alpha val="30000"/>
              </a:srgbClr>
            </a:solidFill>
            <a:ln w="9525">
              <a:solidFill>
                <a:srgbClr val="1A1A1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" name="Google Shape;204;p23"/>
            <p:cNvSpPr/>
            <p:nvPr/>
          </p:nvSpPr>
          <p:spPr>
            <a:xfrm>
              <a:off x="7131600" y="885960"/>
              <a:ext cx="640800" cy="345600"/>
            </a:xfrm>
            <a:prstGeom prst="rect">
              <a:avLst/>
            </a:prstGeom>
            <a:solidFill>
              <a:srgbClr val="FCE5CD"/>
            </a:solidFill>
            <a:ln w="19050">
              <a:solidFill>
                <a:srgbClr val="EB5600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300" b="0" strike="noStrike" spc="-1">
                  <a:solidFill>
                    <a:schemeClr val="accent1"/>
                  </a:solidFill>
                  <a:latin typeface="Lato"/>
                  <a:ea typeface="Lato"/>
                </a:rPr>
                <a:t>Α × B</a:t>
              </a:r>
              <a:endParaRPr lang="en-US" sz="13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33" name="Google Shape;205;p23"/>
            <p:cNvCxnSpPr>
              <a:stCxn id="232" idx="1"/>
              <a:endCxn id="231" idx="0"/>
            </p:cNvCxnSpPr>
            <p:nvPr/>
          </p:nvCxnSpPr>
          <p:spPr>
            <a:xfrm rot="10800000" flipV="1">
              <a:off x="6105600" y="1058760"/>
              <a:ext cx="1026000" cy="721080"/>
            </a:xfrm>
            <a:prstGeom prst="curvedConnector2">
              <a:avLst/>
            </a:prstGeom>
            <a:ln w="19050">
              <a:solidFill>
                <a:srgbClr val="EB5600"/>
              </a:solidFill>
              <a:prstDash val="dash"/>
              <a:round/>
              <a:tailEnd type="triangle" w="med" len="med"/>
            </a:ln>
          </p:spPr>
        </p:cxnSp>
      </p:grpSp>
      <p:grpSp>
        <p:nvGrpSpPr>
          <p:cNvPr id="234" name="Google Shape;206;p23"/>
          <p:cNvGrpSpPr/>
          <p:nvPr/>
        </p:nvGrpSpPr>
        <p:grpSpPr>
          <a:xfrm>
            <a:off x="5579280" y="1805400"/>
            <a:ext cx="2546280" cy="1504800"/>
            <a:chOff x="5579280" y="1805400"/>
            <a:chExt cx="2546280" cy="1504800"/>
          </a:xfrm>
        </p:grpSpPr>
        <p:sp>
          <p:nvSpPr>
            <p:cNvPr id="235" name="Google Shape;207;p23"/>
            <p:cNvSpPr/>
            <p:nvPr/>
          </p:nvSpPr>
          <p:spPr>
            <a:xfrm>
              <a:off x="5579280" y="1805400"/>
              <a:ext cx="1058400" cy="1504800"/>
            </a:xfrm>
            <a:custGeom>
              <a:avLst/>
              <a:gdLst>
                <a:gd name="textAreaLeft" fmla="*/ 0 w 1058400"/>
                <a:gd name="textAreaRight" fmla="*/ 1058760 w 1058400"/>
                <a:gd name="textAreaTop" fmla="*/ 0 h 1504800"/>
                <a:gd name="textAreaBottom" fmla="*/ 1505160 h 1504800"/>
              </a:gdLst>
              <a:ahLst/>
              <a:cxnLst/>
              <a:rect l="textAreaLeft" t="textAreaTop" r="textAreaRight" b="textAreaBottom"/>
              <a:pathLst>
                <a:path w="42351" h="60211">
                  <a:moveTo>
                    <a:pt x="2446" y="6741"/>
                  </a:moveTo>
                  <a:cubicBezTo>
                    <a:pt x="3119" y="3387"/>
                    <a:pt x="7582" y="-1357"/>
                    <a:pt x="10515" y="402"/>
                  </a:cubicBezTo>
                  <a:cubicBezTo>
                    <a:pt x="15257" y="3245"/>
                    <a:pt x="10167" y="14502"/>
                    <a:pt x="15413" y="16250"/>
                  </a:cubicBezTo>
                  <a:cubicBezTo>
                    <a:pt x="23393" y="18909"/>
                    <a:pt x="33912" y="13880"/>
                    <a:pt x="40482" y="19132"/>
                  </a:cubicBezTo>
                  <a:cubicBezTo>
                    <a:pt x="42658" y="20871"/>
                    <a:pt x="40877" y="24731"/>
                    <a:pt x="40482" y="27488"/>
                  </a:cubicBezTo>
                  <a:cubicBezTo>
                    <a:pt x="39998" y="30865"/>
                    <a:pt x="42771" y="34209"/>
                    <a:pt x="42211" y="37574"/>
                  </a:cubicBezTo>
                  <a:cubicBezTo>
                    <a:pt x="41553" y="41523"/>
                    <a:pt x="35518" y="45201"/>
                    <a:pt x="31838" y="43625"/>
                  </a:cubicBezTo>
                  <a:cubicBezTo>
                    <a:pt x="28166" y="42052"/>
                    <a:pt x="32646" y="34636"/>
                    <a:pt x="29821" y="31811"/>
                  </a:cubicBezTo>
                  <a:cubicBezTo>
                    <a:pt x="25876" y="27866"/>
                    <a:pt x="18236" y="28749"/>
                    <a:pt x="13108" y="30946"/>
                  </a:cubicBezTo>
                  <a:cubicBezTo>
                    <a:pt x="6939" y="33589"/>
                    <a:pt x="15175" y="44209"/>
                    <a:pt x="16278" y="50829"/>
                  </a:cubicBezTo>
                  <a:cubicBezTo>
                    <a:pt x="16981" y="55050"/>
                    <a:pt x="11566" y="59345"/>
                    <a:pt x="7345" y="60049"/>
                  </a:cubicBezTo>
                  <a:cubicBezTo>
                    <a:pt x="-400" y="61340"/>
                    <a:pt x="4" y="45030"/>
                    <a:pt x="1294" y="37285"/>
                  </a:cubicBezTo>
                  <a:cubicBezTo>
                    <a:pt x="3177" y="25978"/>
                    <a:pt x="-4211" y="11107"/>
                    <a:pt x="3887" y="2995"/>
                  </a:cubicBezTo>
                </a:path>
              </a:pathLst>
            </a:custGeom>
            <a:noFill/>
            <a:ln w="28575">
              <a:solidFill>
                <a:srgbClr val="EB5600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36" name="Google Shape;208;p23"/>
            <p:cNvGrpSpPr/>
            <p:nvPr/>
          </p:nvGrpSpPr>
          <p:grpSpPr>
            <a:xfrm>
              <a:off x="6065640" y="2391840"/>
              <a:ext cx="2059920" cy="626400"/>
              <a:chOff x="6065640" y="2391840"/>
              <a:chExt cx="2059920" cy="626400"/>
            </a:xfrm>
          </p:grpSpPr>
          <p:sp>
            <p:nvSpPr>
              <p:cNvPr id="237" name="Google Shape;209;p23"/>
              <p:cNvSpPr/>
              <p:nvPr/>
            </p:nvSpPr>
            <p:spPr>
              <a:xfrm>
                <a:off x="7632720" y="2391840"/>
                <a:ext cx="492840" cy="345600"/>
              </a:xfrm>
              <a:prstGeom prst="rect">
                <a:avLst/>
              </a:prstGeom>
              <a:solidFill>
                <a:srgbClr val="FCE5CD"/>
              </a:solidFill>
              <a:ln w="19050">
                <a:solidFill>
                  <a:srgbClr val="EB5600"/>
                </a:solidFill>
                <a:prstDash val="dash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3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R</a:t>
                </a:r>
                <a:endParaRPr lang="en-US" sz="13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238" name="Google Shape;210;p23"/>
              <p:cNvCxnSpPr/>
              <p:nvPr/>
            </p:nvCxnSpPr>
            <p:spPr>
              <a:xfrm rot="10800000" flipV="1">
                <a:off x="6065280" y="2737440"/>
                <a:ext cx="1813680" cy="281160"/>
              </a:xfrm>
              <a:prstGeom prst="curvedConnector3">
                <a:avLst>
                  <a:gd name="adj1" fmla="val 24995"/>
                </a:avLst>
              </a:prstGeom>
              <a:ln w="19050">
                <a:solidFill>
                  <a:srgbClr val="EB5600"/>
                </a:solidFill>
                <a:prstDash val="dash"/>
                <a:round/>
                <a:tailEnd type="triangle" w="med" len="med"/>
              </a:ln>
            </p:spPr>
          </p:cxnSp>
        </p:grpSp>
      </p:grpSp>
      <p:grpSp>
        <p:nvGrpSpPr>
          <p:cNvPr id="239" name="Google Shape;211;p23"/>
          <p:cNvGrpSpPr/>
          <p:nvPr/>
        </p:nvGrpSpPr>
        <p:grpSpPr>
          <a:xfrm>
            <a:off x="4792680" y="1289160"/>
            <a:ext cx="3863228" cy="3030120"/>
            <a:chOff x="4792680" y="1289160"/>
            <a:chExt cx="3863228" cy="3030120"/>
          </a:xfrm>
        </p:grpSpPr>
        <p:grpSp>
          <p:nvGrpSpPr>
            <p:cNvPr id="240" name="Google Shape;212;p23"/>
            <p:cNvGrpSpPr/>
            <p:nvPr/>
          </p:nvGrpSpPr>
          <p:grpSpPr>
            <a:xfrm>
              <a:off x="4850027" y="1289160"/>
              <a:ext cx="3805881" cy="2700000"/>
              <a:chOff x="4850027" y="1289160"/>
              <a:chExt cx="3805881" cy="2700000"/>
            </a:xfrm>
          </p:grpSpPr>
          <p:cxnSp>
            <p:nvCxnSpPr>
              <p:cNvPr id="241" name="Google Shape;213;p23"/>
              <p:cNvCxnSpPr/>
              <p:nvPr/>
            </p:nvCxnSpPr>
            <p:spPr>
              <a:xfrm>
                <a:off x="5323320" y="1289160"/>
                <a:ext cx="360" cy="2550960"/>
              </a:xfrm>
              <a:prstGeom prst="straightConnector1">
                <a:avLst/>
              </a:prstGeom>
              <a:ln w="9525">
                <a:solidFill>
                  <a:srgbClr val="1A1A1A"/>
                </a:solidFill>
                <a:round/>
                <a:headEnd type="triangle" w="med" len="med"/>
              </a:ln>
            </p:spPr>
          </p:cxnSp>
          <p:cxnSp>
            <p:nvCxnSpPr>
              <p:cNvPr id="242" name="Google Shape;214;p23"/>
              <p:cNvCxnSpPr>
                <a:cxnSpLocks/>
              </p:cNvCxnSpPr>
              <p:nvPr/>
            </p:nvCxnSpPr>
            <p:spPr>
              <a:xfrm flipH="1">
                <a:off x="4850027" y="3527854"/>
                <a:ext cx="3805881" cy="0"/>
              </a:xfrm>
              <a:prstGeom prst="straightConnector1">
                <a:avLst/>
              </a:prstGeom>
              <a:ln w="9525">
                <a:solidFill>
                  <a:srgbClr val="1A1A1A"/>
                </a:solidFill>
                <a:round/>
                <a:headEnd type="triangle" w="med" len="med"/>
              </a:ln>
            </p:spPr>
          </p:cxnSp>
          <p:sp>
            <p:nvSpPr>
              <p:cNvPr id="243" name="Google Shape;215;p23"/>
              <p:cNvSpPr/>
              <p:nvPr/>
            </p:nvSpPr>
            <p:spPr>
              <a:xfrm>
                <a:off x="5575680" y="3596040"/>
                <a:ext cx="309600" cy="39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3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1</a:t>
                </a:r>
                <a:endParaRPr lang="en-US" sz="13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4" name="Google Shape;216;p23"/>
              <p:cNvSpPr/>
              <p:nvPr/>
            </p:nvSpPr>
            <p:spPr>
              <a:xfrm>
                <a:off x="5965920" y="3596040"/>
                <a:ext cx="309600" cy="39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3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2</a:t>
                </a:r>
                <a:endParaRPr lang="en-US" sz="13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5" name="Google Shape;217;p23"/>
              <p:cNvSpPr/>
              <p:nvPr/>
            </p:nvSpPr>
            <p:spPr>
              <a:xfrm>
                <a:off x="6355800" y="3596040"/>
                <a:ext cx="309600" cy="39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3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3</a:t>
                </a:r>
                <a:endParaRPr lang="en-US" sz="13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6" name="Google Shape;218;p23"/>
              <p:cNvSpPr/>
              <p:nvPr/>
            </p:nvSpPr>
            <p:spPr>
              <a:xfrm>
                <a:off x="6746040" y="3596040"/>
                <a:ext cx="309600" cy="39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3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4</a:t>
                </a:r>
                <a:endParaRPr lang="en-US" sz="13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7" name="Google Shape;219;p23"/>
              <p:cNvSpPr/>
              <p:nvPr/>
            </p:nvSpPr>
            <p:spPr>
              <a:xfrm>
                <a:off x="5013720" y="2991960"/>
                <a:ext cx="309600" cy="39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3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2</a:t>
                </a:r>
                <a:endParaRPr lang="en-US" sz="13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8" name="Google Shape;220;p23"/>
              <p:cNvSpPr/>
              <p:nvPr/>
            </p:nvSpPr>
            <p:spPr>
              <a:xfrm>
                <a:off x="5013720" y="2590560"/>
                <a:ext cx="309600" cy="39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3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4</a:t>
                </a:r>
                <a:endParaRPr lang="en-US" sz="13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9" name="Google Shape;221;p23"/>
              <p:cNvSpPr/>
              <p:nvPr/>
            </p:nvSpPr>
            <p:spPr>
              <a:xfrm>
                <a:off x="5013720" y="2189160"/>
                <a:ext cx="309600" cy="39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3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6</a:t>
                </a:r>
                <a:endParaRPr lang="en-US" sz="13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0" name="Google Shape;222;p23"/>
              <p:cNvSpPr/>
              <p:nvPr/>
            </p:nvSpPr>
            <p:spPr>
              <a:xfrm>
                <a:off x="5013720" y="1788120"/>
                <a:ext cx="309600" cy="39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3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8</a:t>
                </a:r>
                <a:endParaRPr lang="en-US" sz="13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1" name="Google Shape;223;p23"/>
              <p:cNvSpPr/>
              <p:nvPr/>
            </p:nvSpPr>
            <p:spPr>
              <a:xfrm>
                <a:off x="5685840" y="31438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2" name="Google Shape;224;p23"/>
              <p:cNvSpPr/>
              <p:nvPr/>
            </p:nvSpPr>
            <p:spPr>
              <a:xfrm>
                <a:off x="6075000" y="31438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3" name="Google Shape;225;p23"/>
              <p:cNvSpPr/>
              <p:nvPr/>
            </p:nvSpPr>
            <p:spPr>
              <a:xfrm>
                <a:off x="6464520" y="31438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4" name="Google Shape;226;p23"/>
              <p:cNvSpPr/>
              <p:nvPr/>
            </p:nvSpPr>
            <p:spPr>
              <a:xfrm>
                <a:off x="6853680" y="31438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5" name="Google Shape;227;p23"/>
              <p:cNvSpPr/>
              <p:nvPr/>
            </p:nvSpPr>
            <p:spPr>
              <a:xfrm>
                <a:off x="5685840" y="27424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6" name="Google Shape;228;p23"/>
              <p:cNvSpPr/>
              <p:nvPr/>
            </p:nvSpPr>
            <p:spPr>
              <a:xfrm>
                <a:off x="6075000" y="27424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7" name="Google Shape;229;p23"/>
              <p:cNvSpPr/>
              <p:nvPr/>
            </p:nvSpPr>
            <p:spPr>
              <a:xfrm>
                <a:off x="6464520" y="27424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8" name="Google Shape;230;p23"/>
              <p:cNvSpPr/>
              <p:nvPr/>
            </p:nvSpPr>
            <p:spPr>
              <a:xfrm>
                <a:off x="6853680" y="27424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9" name="Google Shape;231;p23"/>
              <p:cNvSpPr/>
              <p:nvPr/>
            </p:nvSpPr>
            <p:spPr>
              <a:xfrm>
                <a:off x="5685840" y="23410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0" name="Google Shape;232;p23"/>
              <p:cNvSpPr/>
              <p:nvPr/>
            </p:nvSpPr>
            <p:spPr>
              <a:xfrm>
                <a:off x="6075000" y="23410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1" name="Google Shape;233;p23"/>
              <p:cNvSpPr/>
              <p:nvPr/>
            </p:nvSpPr>
            <p:spPr>
              <a:xfrm>
                <a:off x="6464520" y="23410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2" name="Google Shape;234;p23"/>
              <p:cNvSpPr/>
              <p:nvPr/>
            </p:nvSpPr>
            <p:spPr>
              <a:xfrm>
                <a:off x="6853680" y="23410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3" name="Google Shape;235;p23"/>
              <p:cNvSpPr/>
              <p:nvPr/>
            </p:nvSpPr>
            <p:spPr>
              <a:xfrm>
                <a:off x="5685840" y="19396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4" name="Google Shape;236;p23"/>
              <p:cNvSpPr/>
              <p:nvPr/>
            </p:nvSpPr>
            <p:spPr>
              <a:xfrm>
                <a:off x="6075000" y="19396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5" name="Google Shape;237;p23"/>
              <p:cNvSpPr/>
              <p:nvPr/>
            </p:nvSpPr>
            <p:spPr>
              <a:xfrm>
                <a:off x="6464520" y="19396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6" name="Google Shape;238;p23"/>
              <p:cNvSpPr/>
              <p:nvPr/>
            </p:nvSpPr>
            <p:spPr>
              <a:xfrm>
                <a:off x="6853680" y="1939680"/>
                <a:ext cx="89640" cy="89640"/>
              </a:xfrm>
              <a:prstGeom prst="ellipse">
                <a:avLst/>
              </a:prstGeom>
              <a:solidFill>
                <a:schemeClr val="lt2"/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67" name="Google Shape;239;p23"/>
            <p:cNvSpPr/>
            <p:nvPr/>
          </p:nvSpPr>
          <p:spPr>
            <a:xfrm>
              <a:off x="5618880" y="3637800"/>
              <a:ext cx="993960" cy="288000"/>
            </a:xfrm>
            <a:prstGeom prst="rect">
              <a:avLst/>
            </a:prstGeom>
            <a:solidFill>
              <a:srgbClr val="D9EAD3">
                <a:alpha val="30000"/>
              </a:srgbClr>
            </a:solidFill>
            <a:ln w="19050">
              <a:solidFill>
                <a:srgbClr val="1A9988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8" name="Google Shape;240;p23"/>
            <p:cNvSpPr/>
            <p:nvPr/>
          </p:nvSpPr>
          <p:spPr>
            <a:xfrm>
              <a:off x="5864040" y="3926160"/>
              <a:ext cx="504000" cy="39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400" b="0" strike="noStrike" spc="-1">
                  <a:solidFill>
                    <a:schemeClr val="accent1"/>
                  </a:solidFill>
                  <a:latin typeface="Lato"/>
                  <a:ea typeface="Lato"/>
                </a:rPr>
                <a:t>A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" name="Google Shape;241;p23"/>
            <p:cNvSpPr/>
            <p:nvPr/>
          </p:nvSpPr>
          <p:spPr>
            <a:xfrm>
              <a:off x="5064120" y="1815480"/>
              <a:ext cx="223200" cy="1591920"/>
            </a:xfrm>
            <a:prstGeom prst="rect">
              <a:avLst/>
            </a:prstGeom>
            <a:solidFill>
              <a:srgbClr val="FCE5CD">
                <a:alpha val="30000"/>
              </a:srgbClr>
            </a:solidFill>
            <a:ln w="19050">
              <a:solidFill>
                <a:srgbClr val="EB5600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0" name="Google Shape;242;p23"/>
            <p:cNvSpPr/>
            <p:nvPr/>
          </p:nvSpPr>
          <p:spPr>
            <a:xfrm>
              <a:off x="4792680" y="2374920"/>
              <a:ext cx="271080" cy="39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l" sz="1400" b="0" strike="noStrike" spc="-1">
                  <a:solidFill>
                    <a:schemeClr val="accent1"/>
                  </a:solidFill>
                  <a:latin typeface="Lato"/>
                  <a:ea typeface="Lato"/>
                </a:rPr>
                <a:t>B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Junction Tables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ldNum" idx="1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8115FB-77DF-4BE8-8CC6-6CE328943AB6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9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273" name="Google Shape;249;p24"/>
          <p:cNvGraphicFramePr/>
          <p:nvPr/>
        </p:nvGraphicFramePr>
        <p:xfrm>
          <a:off x="729360" y="1508760"/>
          <a:ext cx="3388320" cy="3047040"/>
        </p:xfrm>
        <a:graphic>
          <a:graphicData uri="http://schemas.openxmlformats.org/drawingml/2006/table">
            <a:tbl>
              <a:tblPr/>
              <a:tblGrid>
                <a:gridCol w="169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A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B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595959"/>
                      </a:solidFill>
                    </a:lnL>
                    <a:lnR w="936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9360">
                      <a:solidFill>
                        <a:srgbClr val="59595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l" sz="1600" b="0" strike="noStrike" spc="-1">
                          <a:solidFill>
                            <a:schemeClr val="accent1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74" name="Google Shape;250;p24"/>
          <p:cNvGrpSpPr/>
          <p:nvPr/>
        </p:nvGrpSpPr>
        <p:grpSpPr>
          <a:xfrm>
            <a:off x="4738816" y="885960"/>
            <a:ext cx="3626708" cy="3433320"/>
            <a:chOff x="4738816" y="885960"/>
            <a:chExt cx="3626708" cy="3433320"/>
          </a:xfrm>
        </p:grpSpPr>
        <p:grpSp>
          <p:nvGrpSpPr>
            <p:cNvPr id="275" name="Google Shape;251;p24"/>
            <p:cNvGrpSpPr/>
            <p:nvPr/>
          </p:nvGrpSpPr>
          <p:grpSpPr>
            <a:xfrm>
              <a:off x="5546880" y="885960"/>
              <a:ext cx="2225520" cy="2550240"/>
              <a:chOff x="5546880" y="885960"/>
              <a:chExt cx="2225520" cy="2550240"/>
            </a:xfrm>
          </p:grpSpPr>
          <p:sp>
            <p:nvSpPr>
              <p:cNvPr id="276" name="Google Shape;252;p24"/>
              <p:cNvSpPr/>
              <p:nvPr/>
            </p:nvSpPr>
            <p:spPr>
              <a:xfrm>
                <a:off x="5546880" y="1779480"/>
                <a:ext cx="1118520" cy="1656720"/>
              </a:xfrm>
              <a:prstGeom prst="roundRect">
                <a:avLst>
                  <a:gd name="adj" fmla="val 16667"/>
                </a:avLst>
              </a:prstGeom>
              <a:solidFill>
                <a:srgbClr val="FCE5CD">
                  <a:alpha val="30000"/>
                </a:srgbClr>
              </a:solidFill>
              <a:ln w="9525">
                <a:solidFill>
                  <a:srgbClr val="1A1A1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7" name="Google Shape;253;p24"/>
              <p:cNvSpPr/>
              <p:nvPr/>
            </p:nvSpPr>
            <p:spPr>
              <a:xfrm>
                <a:off x="7131600" y="885960"/>
                <a:ext cx="640800" cy="345600"/>
              </a:xfrm>
              <a:prstGeom prst="rect">
                <a:avLst/>
              </a:prstGeom>
              <a:solidFill>
                <a:srgbClr val="FCE5CD"/>
              </a:solidFill>
              <a:ln w="19050">
                <a:solidFill>
                  <a:srgbClr val="EB5600"/>
                </a:solidFill>
                <a:prstDash val="dash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3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Α × B</a:t>
                </a:r>
                <a:endParaRPr lang="en-US" sz="13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278" name="Google Shape;254;p24"/>
              <p:cNvCxnSpPr/>
              <p:nvPr/>
            </p:nvCxnSpPr>
            <p:spPr>
              <a:xfrm rot="10800000" flipV="1">
                <a:off x="6106320" y="1058400"/>
                <a:ext cx="1025640" cy="720720"/>
              </a:xfrm>
              <a:prstGeom prst="curvedConnector3">
                <a:avLst>
                  <a:gd name="adj1" fmla="val 25000"/>
                </a:avLst>
              </a:prstGeom>
              <a:ln w="19050">
                <a:solidFill>
                  <a:srgbClr val="EB5600"/>
                </a:solidFill>
                <a:prstDash val="dash"/>
                <a:round/>
                <a:tailEnd type="triangle" w="med" len="med"/>
              </a:ln>
            </p:spPr>
          </p:cxnSp>
        </p:grpSp>
        <p:grpSp>
          <p:nvGrpSpPr>
            <p:cNvPr id="279" name="Google Shape;255;p24"/>
            <p:cNvGrpSpPr/>
            <p:nvPr/>
          </p:nvGrpSpPr>
          <p:grpSpPr>
            <a:xfrm>
              <a:off x="5579280" y="1805400"/>
              <a:ext cx="2546280" cy="1504800"/>
              <a:chOff x="5579280" y="1805400"/>
              <a:chExt cx="2546280" cy="1504800"/>
            </a:xfrm>
          </p:grpSpPr>
          <p:sp>
            <p:nvSpPr>
              <p:cNvPr id="280" name="Google Shape;256;p24"/>
              <p:cNvSpPr/>
              <p:nvPr/>
            </p:nvSpPr>
            <p:spPr>
              <a:xfrm>
                <a:off x="5579280" y="1805400"/>
                <a:ext cx="1058400" cy="1504800"/>
              </a:xfrm>
              <a:custGeom>
                <a:avLst/>
                <a:gdLst>
                  <a:gd name="textAreaLeft" fmla="*/ 0 w 1058400"/>
                  <a:gd name="textAreaRight" fmla="*/ 1058760 w 1058400"/>
                  <a:gd name="textAreaTop" fmla="*/ 0 h 1504800"/>
                  <a:gd name="textAreaBottom" fmla="*/ 1505160 h 1504800"/>
                </a:gdLst>
                <a:ahLst/>
                <a:cxnLst/>
                <a:rect l="textAreaLeft" t="textAreaTop" r="textAreaRight" b="textAreaBottom"/>
                <a:pathLst>
                  <a:path w="42351" h="60211">
                    <a:moveTo>
                      <a:pt x="2446" y="6741"/>
                    </a:moveTo>
                    <a:cubicBezTo>
                      <a:pt x="3119" y="3387"/>
                      <a:pt x="7582" y="-1357"/>
                      <a:pt x="10515" y="402"/>
                    </a:cubicBezTo>
                    <a:cubicBezTo>
                      <a:pt x="15257" y="3245"/>
                      <a:pt x="10167" y="14502"/>
                      <a:pt x="15413" y="16250"/>
                    </a:cubicBezTo>
                    <a:cubicBezTo>
                      <a:pt x="23393" y="18909"/>
                      <a:pt x="33912" y="13880"/>
                      <a:pt x="40482" y="19132"/>
                    </a:cubicBezTo>
                    <a:cubicBezTo>
                      <a:pt x="42658" y="20871"/>
                      <a:pt x="40877" y="24731"/>
                      <a:pt x="40482" y="27488"/>
                    </a:cubicBezTo>
                    <a:cubicBezTo>
                      <a:pt x="39998" y="30865"/>
                      <a:pt x="42771" y="34209"/>
                      <a:pt x="42211" y="37574"/>
                    </a:cubicBezTo>
                    <a:cubicBezTo>
                      <a:pt x="41553" y="41523"/>
                      <a:pt x="35518" y="45201"/>
                      <a:pt x="31838" y="43625"/>
                    </a:cubicBezTo>
                    <a:cubicBezTo>
                      <a:pt x="28166" y="42052"/>
                      <a:pt x="32646" y="34636"/>
                      <a:pt x="29821" y="31811"/>
                    </a:cubicBezTo>
                    <a:cubicBezTo>
                      <a:pt x="25876" y="27866"/>
                      <a:pt x="18236" y="28749"/>
                      <a:pt x="13108" y="30946"/>
                    </a:cubicBezTo>
                    <a:cubicBezTo>
                      <a:pt x="6939" y="33589"/>
                      <a:pt x="15175" y="44209"/>
                      <a:pt x="16278" y="50829"/>
                    </a:cubicBezTo>
                    <a:cubicBezTo>
                      <a:pt x="16981" y="55050"/>
                      <a:pt x="11566" y="59345"/>
                      <a:pt x="7345" y="60049"/>
                    </a:cubicBezTo>
                    <a:cubicBezTo>
                      <a:pt x="-400" y="61340"/>
                      <a:pt x="4" y="45030"/>
                      <a:pt x="1294" y="37285"/>
                    </a:cubicBezTo>
                    <a:cubicBezTo>
                      <a:pt x="3177" y="25978"/>
                      <a:pt x="-4211" y="11107"/>
                      <a:pt x="3887" y="2995"/>
                    </a:cubicBezTo>
                  </a:path>
                </a:pathLst>
              </a:custGeom>
              <a:noFill/>
              <a:ln w="28575">
                <a:solidFill>
                  <a:srgbClr val="EB5600"/>
                </a:solidFill>
                <a:prstDash val="dash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81" name="Google Shape;257;p24"/>
              <p:cNvGrpSpPr/>
              <p:nvPr/>
            </p:nvGrpSpPr>
            <p:grpSpPr>
              <a:xfrm>
                <a:off x="6065640" y="2391840"/>
                <a:ext cx="2059920" cy="626400"/>
                <a:chOff x="6065640" y="2391840"/>
                <a:chExt cx="2059920" cy="626400"/>
              </a:xfrm>
            </p:grpSpPr>
            <p:sp>
              <p:nvSpPr>
                <p:cNvPr id="282" name="Google Shape;258;p24"/>
                <p:cNvSpPr/>
                <p:nvPr/>
              </p:nvSpPr>
              <p:spPr>
                <a:xfrm>
                  <a:off x="7632720" y="2391840"/>
                  <a:ext cx="492840" cy="345600"/>
                </a:xfrm>
                <a:prstGeom prst="rect">
                  <a:avLst/>
                </a:prstGeom>
                <a:solidFill>
                  <a:srgbClr val="FCE5CD"/>
                </a:solidFill>
                <a:ln w="19050">
                  <a:solidFill>
                    <a:srgbClr val="EB5600"/>
                  </a:solidFill>
                  <a:prstDash val="dash"/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l" sz="1300" b="0" strike="noStrike" spc="-1">
                      <a:solidFill>
                        <a:schemeClr val="accent1"/>
                      </a:solidFill>
                      <a:latin typeface="Lato"/>
                      <a:ea typeface="Lato"/>
                    </a:rPr>
                    <a:t>R</a:t>
                  </a:r>
                  <a:endParaRPr lang="en-US" sz="13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cxnSp>
              <p:nvCxnSpPr>
                <p:cNvPr id="283" name="Google Shape;259;p24"/>
                <p:cNvCxnSpPr/>
                <p:nvPr/>
              </p:nvCxnSpPr>
              <p:spPr>
                <a:xfrm rot="10800000" flipV="1">
                  <a:off x="6065280" y="2737440"/>
                  <a:ext cx="1813680" cy="281160"/>
                </a:xfrm>
                <a:prstGeom prst="curvedConnector3">
                  <a:avLst>
                    <a:gd name="adj1" fmla="val 24995"/>
                  </a:avLst>
                </a:prstGeom>
                <a:ln w="19050">
                  <a:solidFill>
                    <a:srgbClr val="EB5600"/>
                  </a:solidFill>
                  <a:prstDash val="dash"/>
                  <a:round/>
                  <a:tailEnd type="triangle" w="med" len="med"/>
                </a:ln>
              </p:spPr>
            </p:cxnSp>
          </p:grpSp>
        </p:grpSp>
        <p:grpSp>
          <p:nvGrpSpPr>
            <p:cNvPr id="284" name="Google Shape;260;p24"/>
            <p:cNvGrpSpPr/>
            <p:nvPr/>
          </p:nvGrpSpPr>
          <p:grpSpPr>
            <a:xfrm>
              <a:off x="4738816" y="1289160"/>
              <a:ext cx="3626708" cy="3030120"/>
              <a:chOff x="4738816" y="1289160"/>
              <a:chExt cx="3626708" cy="3030120"/>
            </a:xfrm>
          </p:grpSpPr>
          <p:grpSp>
            <p:nvGrpSpPr>
              <p:cNvPr id="285" name="Google Shape;261;p24"/>
              <p:cNvGrpSpPr/>
              <p:nvPr/>
            </p:nvGrpSpPr>
            <p:grpSpPr>
              <a:xfrm>
                <a:off x="4738816" y="1289160"/>
                <a:ext cx="3626708" cy="2700000"/>
                <a:chOff x="4738816" y="1289160"/>
                <a:chExt cx="3626708" cy="2700000"/>
              </a:xfrm>
            </p:grpSpPr>
            <p:cxnSp>
              <p:nvCxnSpPr>
                <p:cNvPr id="286" name="Google Shape;262;p24"/>
                <p:cNvCxnSpPr/>
                <p:nvPr/>
              </p:nvCxnSpPr>
              <p:spPr>
                <a:xfrm>
                  <a:off x="5323320" y="1289160"/>
                  <a:ext cx="360" cy="2550960"/>
                </a:xfrm>
                <a:prstGeom prst="straightConnector1">
                  <a:avLst/>
                </a:prstGeom>
                <a:ln w="9525">
                  <a:solidFill>
                    <a:srgbClr val="1A1A1A"/>
                  </a:solidFill>
                  <a:round/>
                  <a:headEnd type="triangle" w="med" len="med"/>
                </a:ln>
              </p:spPr>
            </p:cxnSp>
            <p:cxnSp>
              <p:nvCxnSpPr>
                <p:cNvPr id="287" name="Google Shape;263;p24"/>
                <p:cNvCxnSpPr>
                  <a:cxnSpLocks/>
                </p:cNvCxnSpPr>
                <p:nvPr/>
              </p:nvCxnSpPr>
              <p:spPr>
                <a:xfrm flipH="1">
                  <a:off x="4738816" y="3527854"/>
                  <a:ext cx="3626708" cy="0"/>
                </a:xfrm>
                <a:prstGeom prst="straightConnector1">
                  <a:avLst/>
                </a:prstGeom>
                <a:ln w="9525">
                  <a:solidFill>
                    <a:srgbClr val="1A1A1A"/>
                  </a:solidFill>
                  <a:round/>
                  <a:headEnd type="triangle" w="med" len="med"/>
                </a:ln>
              </p:spPr>
            </p:cxnSp>
            <p:sp>
              <p:nvSpPr>
                <p:cNvPr id="288" name="Google Shape;264;p24"/>
                <p:cNvSpPr/>
                <p:nvPr/>
              </p:nvSpPr>
              <p:spPr>
                <a:xfrm>
                  <a:off x="5575680" y="3596040"/>
                  <a:ext cx="309600" cy="393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l" sz="1300" b="0" strike="noStrike" spc="-1">
                      <a:solidFill>
                        <a:schemeClr val="accent1"/>
                      </a:solidFill>
                      <a:latin typeface="Lato"/>
                      <a:ea typeface="Lato"/>
                    </a:rPr>
                    <a:t>1</a:t>
                  </a:r>
                  <a:endParaRPr lang="en-US" sz="13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89" name="Google Shape;265;p24"/>
                <p:cNvSpPr/>
                <p:nvPr/>
              </p:nvSpPr>
              <p:spPr>
                <a:xfrm>
                  <a:off x="5965920" y="3596040"/>
                  <a:ext cx="309600" cy="393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l" sz="1300" b="0" strike="noStrike" spc="-1">
                      <a:solidFill>
                        <a:schemeClr val="accent1"/>
                      </a:solidFill>
                      <a:latin typeface="Lato"/>
                      <a:ea typeface="Lato"/>
                    </a:rPr>
                    <a:t>2</a:t>
                  </a:r>
                  <a:endParaRPr lang="en-US" sz="13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0" name="Google Shape;266;p24"/>
                <p:cNvSpPr/>
                <p:nvPr/>
              </p:nvSpPr>
              <p:spPr>
                <a:xfrm>
                  <a:off x="6355800" y="3596040"/>
                  <a:ext cx="309600" cy="393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l" sz="1300" b="0" strike="noStrike" spc="-1">
                      <a:solidFill>
                        <a:schemeClr val="accent1"/>
                      </a:solidFill>
                      <a:latin typeface="Lato"/>
                      <a:ea typeface="Lato"/>
                    </a:rPr>
                    <a:t>3</a:t>
                  </a:r>
                  <a:endParaRPr lang="en-US" sz="13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1" name="Google Shape;267;p24"/>
                <p:cNvSpPr/>
                <p:nvPr/>
              </p:nvSpPr>
              <p:spPr>
                <a:xfrm>
                  <a:off x="6746040" y="3596040"/>
                  <a:ext cx="309600" cy="393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l" sz="1300" b="0" strike="noStrike" spc="-1">
                      <a:solidFill>
                        <a:schemeClr val="accent1"/>
                      </a:solidFill>
                      <a:latin typeface="Lato"/>
                      <a:ea typeface="Lato"/>
                    </a:rPr>
                    <a:t>4</a:t>
                  </a:r>
                  <a:endParaRPr lang="en-US" sz="13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2" name="Google Shape;268;p24"/>
                <p:cNvSpPr/>
                <p:nvPr/>
              </p:nvSpPr>
              <p:spPr>
                <a:xfrm>
                  <a:off x="5013720" y="2991960"/>
                  <a:ext cx="309600" cy="393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l" sz="1300" b="0" strike="noStrike" spc="-1">
                      <a:solidFill>
                        <a:schemeClr val="accent1"/>
                      </a:solidFill>
                      <a:latin typeface="Lato"/>
                      <a:ea typeface="Lato"/>
                    </a:rPr>
                    <a:t>2</a:t>
                  </a:r>
                  <a:endParaRPr lang="en-US" sz="13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3" name="Google Shape;269;p24"/>
                <p:cNvSpPr/>
                <p:nvPr/>
              </p:nvSpPr>
              <p:spPr>
                <a:xfrm>
                  <a:off x="5013720" y="2590560"/>
                  <a:ext cx="309600" cy="393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l" sz="1300" b="0" strike="noStrike" spc="-1">
                      <a:solidFill>
                        <a:schemeClr val="accent1"/>
                      </a:solidFill>
                      <a:latin typeface="Lato"/>
                      <a:ea typeface="Lato"/>
                    </a:rPr>
                    <a:t>4</a:t>
                  </a:r>
                  <a:endParaRPr lang="en-US" sz="13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4" name="Google Shape;270;p24"/>
                <p:cNvSpPr/>
                <p:nvPr/>
              </p:nvSpPr>
              <p:spPr>
                <a:xfrm>
                  <a:off x="5013720" y="2189160"/>
                  <a:ext cx="309600" cy="393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l" sz="1300" b="0" strike="noStrike" spc="-1">
                      <a:solidFill>
                        <a:schemeClr val="accent1"/>
                      </a:solidFill>
                      <a:latin typeface="Lato"/>
                      <a:ea typeface="Lato"/>
                    </a:rPr>
                    <a:t>6</a:t>
                  </a:r>
                  <a:endParaRPr lang="en-US" sz="13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5" name="Google Shape;271;p24"/>
                <p:cNvSpPr/>
                <p:nvPr/>
              </p:nvSpPr>
              <p:spPr>
                <a:xfrm>
                  <a:off x="5013720" y="1788120"/>
                  <a:ext cx="309600" cy="393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l" sz="1300" b="0" strike="noStrike" spc="-1">
                      <a:solidFill>
                        <a:schemeClr val="accent1"/>
                      </a:solidFill>
                      <a:latin typeface="Lato"/>
                      <a:ea typeface="Lato"/>
                    </a:rPr>
                    <a:t>8</a:t>
                  </a:r>
                  <a:endParaRPr lang="en-US" sz="13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6" name="Google Shape;272;p24"/>
                <p:cNvSpPr/>
                <p:nvPr/>
              </p:nvSpPr>
              <p:spPr>
                <a:xfrm>
                  <a:off x="5685840" y="31438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7" name="Google Shape;273;p24"/>
                <p:cNvSpPr/>
                <p:nvPr/>
              </p:nvSpPr>
              <p:spPr>
                <a:xfrm>
                  <a:off x="6075000" y="31438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8" name="Google Shape;274;p24"/>
                <p:cNvSpPr/>
                <p:nvPr/>
              </p:nvSpPr>
              <p:spPr>
                <a:xfrm>
                  <a:off x="6464520" y="31438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9" name="Google Shape;275;p24"/>
                <p:cNvSpPr/>
                <p:nvPr/>
              </p:nvSpPr>
              <p:spPr>
                <a:xfrm>
                  <a:off x="6853680" y="31438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0" name="Google Shape;276;p24"/>
                <p:cNvSpPr/>
                <p:nvPr/>
              </p:nvSpPr>
              <p:spPr>
                <a:xfrm>
                  <a:off x="5685840" y="27424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1" name="Google Shape;277;p24"/>
                <p:cNvSpPr/>
                <p:nvPr/>
              </p:nvSpPr>
              <p:spPr>
                <a:xfrm>
                  <a:off x="6075000" y="27424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2" name="Google Shape;278;p24"/>
                <p:cNvSpPr/>
                <p:nvPr/>
              </p:nvSpPr>
              <p:spPr>
                <a:xfrm>
                  <a:off x="6464520" y="27424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3" name="Google Shape;279;p24"/>
                <p:cNvSpPr/>
                <p:nvPr/>
              </p:nvSpPr>
              <p:spPr>
                <a:xfrm>
                  <a:off x="6853680" y="27424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4" name="Google Shape;280;p24"/>
                <p:cNvSpPr/>
                <p:nvPr/>
              </p:nvSpPr>
              <p:spPr>
                <a:xfrm>
                  <a:off x="5685840" y="23410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5" name="Google Shape;281;p24"/>
                <p:cNvSpPr/>
                <p:nvPr/>
              </p:nvSpPr>
              <p:spPr>
                <a:xfrm>
                  <a:off x="6075000" y="23410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6" name="Google Shape;282;p24"/>
                <p:cNvSpPr/>
                <p:nvPr/>
              </p:nvSpPr>
              <p:spPr>
                <a:xfrm>
                  <a:off x="6464520" y="23410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7" name="Google Shape;283;p24"/>
                <p:cNvSpPr/>
                <p:nvPr/>
              </p:nvSpPr>
              <p:spPr>
                <a:xfrm>
                  <a:off x="6853680" y="23410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8" name="Google Shape;284;p24"/>
                <p:cNvSpPr/>
                <p:nvPr/>
              </p:nvSpPr>
              <p:spPr>
                <a:xfrm>
                  <a:off x="5685840" y="19396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9" name="Google Shape;285;p24"/>
                <p:cNvSpPr/>
                <p:nvPr/>
              </p:nvSpPr>
              <p:spPr>
                <a:xfrm>
                  <a:off x="6075000" y="19396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10" name="Google Shape;286;p24"/>
                <p:cNvSpPr/>
                <p:nvPr/>
              </p:nvSpPr>
              <p:spPr>
                <a:xfrm>
                  <a:off x="6464520" y="19396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11" name="Google Shape;287;p24"/>
                <p:cNvSpPr/>
                <p:nvPr/>
              </p:nvSpPr>
              <p:spPr>
                <a:xfrm>
                  <a:off x="6853680" y="1939680"/>
                  <a:ext cx="89640" cy="89640"/>
                </a:xfrm>
                <a:prstGeom prst="ellipse">
                  <a:avLst/>
                </a:prstGeom>
                <a:solidFill>
                  <a:schemeClr val="lt2"/>
                </a:solidFill>
                <a:ln w="9525">
                  <a:solidFill>
                    <a:srgbClr val="1A1A1A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1680" bIns="3168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312" name="Google Shape;288;p24"/>
              <p:cNvSpPr/>
              <p:nvPr/>
            </p:nvSpPr>
            <p:spPr>
              <a:xfrm>
                <a:off x="5618880" y="3637800"/>
                <a:ext cx="993960" cy="288000"/>
              </a:xfrm>
              <a:prstGeom prst="rect">
                <a:avLst/>
              </a:prstGeom>
              <a:solidFill>
                <a:srgbClr val="D9EAD3">
                  <a:alpha val="30000"/>
                </a:srgbClr>
              </a:solidFill>
              <a:ln w="19050">
                <a:solidFill>
                  <a:srgbClr val="1A9988"/>
                </a:solidFill>
                <a:prstDash val="dash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3" name="Google Shape;289;p24"/>
              <p:cNvSpPr/>
              <p:nvPr/>
            </p:nvSpPr>
            <p:spPr>
              <a:xfrm>
                <a:off x="5864040" y="3926160"/>
                <a:ext cx="504000" cy="39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4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A</a:t>
                </a: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4" name="Google Shape;290;p24"/>
              <p:cNvSpPr/>
              <p:nvPr/>
            </p:nvSpPr>
            <p:spPr>
              <a:xfrm>
                <a:off x="5064120" y="1815480"/>
                <a:ext cx="223200" cy="1591920"/>
              </a:xfrm>
              <a:prstGeom prst="rect">
                <a:avLst/>
              </a:prstGeom>
              <a:solidFill>
                <a:srgbClr val="FCE5CD">
                  <a:alpha val="30000"/>
                </a:srgbClr>
              </a:solidFill>
              <a:ln w="19050">
                <a:solidFill>
                  <a:srgbClr val="EB5600"/>
                </a:solidFill>
                <a:prstDash val="dash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5" name="Google Shape;291;p24"/>
              <p:cNvSpPr/>
              <p:nvPr/>
            </p:nvSpPr>
            <p:spPr>
              <a:xfrm>
                <a:off x="4792680" y="2374920"/>
                <a:ext cx="271080" cy="39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l" sz="1400" b="0" strike="noStrike" spc="-1">
                    <a:solidFill>
                      <a:schemeClr val="accent1"/>
                    </a:solidFill>
                    <a:latin typeface="Lato"/>
                    <a:ea typeface="Lato"/>
                  </a:rPr>
                  <a:t>B</a:t>
                </a:r>
                <a:endParaRPr lang="en-US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Additional Resources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On Junction Tables: </a:t>
            </a:r>
            <a:r>
              <a:rPr lang="el" sz="1600" b="0" u="sng" strike="noStrike" spc="-1">
                <a:solidFill>
                  <a:schemeClr val="hlink"/>
                </a:solidFill>
                <a:uFillTx/>
                <a:latin typeface="Lato"/>
                <a:ea typeface="Lato"/>
                <a:hlinkClick r:id="rId2"/>
              </a:rPr>
              <a:t>https://ittrainingcontent.iu.edu/training/accsd/files/pc/using-junction-tables.html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Relationships in MS Access: </a:t>
            </a:r>
            <a:r>
              <a:rPr lang="el" sz="1600" b="0" u="sng" strike="noStrike" spc="-1">
                <a:solidFill>
                  <a:schemeClr val="hlink"/>
                </a:solidFill>
                <a:uFillTx/>
                <a:latin typeface="Lato"/>
                <a:ea typeface="Lato"/>
                <a:hlinkClick r:id="rId3"/>
              </a:rPr>
              <a:t>https://learn.microsoft.com/en-us/office/troubleshoot/access/define-table-relationships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‘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./Resources/Access_Essentials_Book-1.pdf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’ by University of York.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1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4509B97-6100-4C4A-A797-5209021E8303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10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3600" b="1" strike="noStrike" spc="-1">
                <a:solidFill>
                  <a:schemeClr val="lt1"/>
                </a:solidFill>
                <a:latin typeface="Lato"/>
                <a:ea typeface="Lato"/>
              </a:rPr>
              <a:t>Fun Time!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sldNum" idx="1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BDC2DEE-B183-42A8-86A4-FC9E504101D4}" type="slidenum">
              <a:rPr lang="el" sz="1000" b="0" strike="noStrike" spc="-1">
                <a:solidFill>
                  <a:schemeClr val="lt1"/>
                </a:solidFill>
                <a:latin typeface="Lato"/>
                <a:ea typeface="Lato"/>
              </a:rPr>
              <a:t>11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Today’s Lab(s): VBA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In case you have not completed any previous labs / homework, now it’s time to do so!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Otherwise, follow this tutorial: </a:t>
            </a:r>
            <a:r>
              <a:rPr lang="el" sz="1600" b="0" u="sng" strike="noStrike" spc="-1">
                <a:solidFill>
                  <a:schemeClr val="hlink"/>
                </a:solidFill>
                <a:uFillTx/>
                <a:latin typeface="Lato"/>
                <a:ea typeface="Lato"/>
                <a:hlinkClick r:id="rId2"/>
              </a:rPr>
              <a:t>https://support.microsoft.com/en-au/office/introduction-to-access-programming-92eb616b-3204-4121-9277-70649e33be4f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You might find this useful: </a:t>
            </a:r>
            <a:r>
              <a:rPr lang="el" sz="1600" b="0" u="sng" strike="noStrike" spc="-1">
                <a:solidFill>
                  <a:schemeClr val="hlink"/>
                </a:solidFill>
                <a:uFillTx/>
                <a:latin typeface="Lato"/>
                <a:ea typeface="Lato"/>
                <a:hlinkClick r:id="rId3"/>
              </a:rPr>
              <a:t>https://learn.microsoft.com/en-us/office/vba/api/overview/access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8A1562-BE75-4BB7-B013-89CA2D7CA8C4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12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Today’s Lab(s): MS Access, Queries, SQL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Study the following files under ‘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./Derby Stuff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’: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‘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Lecture 15 – Junction Tables.pdf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’.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Any files in the ‘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Lecture Demo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’ directory.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Under the ‘./Labs’ folder, follow any instruction files found there as follows: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Consolas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1 SQL Simple SELECT Queries.pdf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Consolas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2 Filtering and Sorting Query Results.pdf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Consolas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3 Multi-table Queries with JOIN.pdf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Consolas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4 Queries with Expressions.pdf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5277165-4BA1-4973-82B8-7C340C92A8D9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13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Any Questions?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subTitle"/>
          </p:nvPr>
        </p:nvSpPr>
        <p:spPr>
          <a:xfrm>
            <a:off x="725040" y="3161520"/>
            <a:ext cx="3300480" cy="758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Don’t forget to fill-in the questionnaire! (check right)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9" name="Google Shape;325;p29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5457240" y="1143000"/>
            <a:ext cx="2857320" cy="2857320"/>
          </a:xfrm>
          <a:prstGeom prst="rect">
            <a:avLst/>
          </a:prstGeom>
          <a:ln w="0">
            <a:noFill/>
          </a:ln>
        </p:spPr>
      </p:pic>
      <p:sp>
        <p:nvSpPr>
          <p:cNvPr id="330" name="Google Shape;326;p29"/>
          <p:cNvSpPr/>
          <p:nvPr/>
        </p:nvSpPr>
        <p:spPr>
          <a:xfrm>
            <a:off x="4729320" y="4077360"/>
            <a:ext cx="4312440" cy="45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l" sz="1600" b="0" u="sng" strike="noStrike" spc="-1">
                <a:solidFill>
                  <a:schemeClr val="hlink"/>
                </a:solidFill>
                <a:uFillTx/>
                <a:latin typeface="Consolas"/>
                <a:ea typeface="Consolas"/>
                <a:hlinkClick r:id="rId2"/>
              </a:rPr>
              <a:t>https://forms.gle/edpsrRjMWJwPtv3U9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CBD4E4A-87C2-4E22-85B8-0B4F58BC7816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14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823</Words>
  <Application>Microsoft Office PowerPoint</Application>
  <PresentationFormat>On-screen Show (16:9)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Consolas</vt:lpstr>
      <vt:lpstr>Lato</vt:lpstr>
      <vt:lpstr>Symbol</vt:lpstr>
      <vt:lpstr>Times New Roman</vt:lpstr>
      <vt:lpstr>Wingdings</vt:lpstr>
      <vt:lpstr>Streamline</vt:lpstr>
      <vt:lpstr>Streamline</vt:lpstr>
      <vt:lpstr>Streamline</vt:lpstr>
      <vt:lpstr>Streamline</vt:lpstr>
      <vt:lpstr>Computer Systems, Data Management &amp; Data Structures</vt:lpstr>
      <vt:lpstr>Junction Tables</vt:lpstr>
      <vt:lpstr>(Reminder) Data Models </vt:lpstr>
      <vt:lpstr>(Reminder) Data Models</vt:lpstr>
      <vt:lpstr>(Reminder) Data Models </vt:lpstr>
      <vt:lpstr>Relationships Without… Relationships</vt:lpstr>
      <vt:lpstr>Relationships as… Relationships</vt:lpstr>
      <vt:lpstr>Junction Tables</vt:lpstr>
      <vt:lpstr>Junction Tables</vt:lpstr>
      <vt:lpstr>Additional Resources</vt:lpstr>
      <vt:lpstr>Fun Time!</vt:lpstr>
      <vt:lpstr>Today’s Lab(s): VBA</vt:lpstr>
      <vt:lpstr>Today’s Lab(s): MS Access, Queries, SQL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Μπενέτου Παρασκευή</cp:lastModifiedBy>
  <cp:revision>4</cp:revision>
  <dcterms:modified xsi:type="dcterms:W3CDTF">2026-02-25T10:43:00Z</dcterms:modified>
  <dc:language>en-US</dc:language>
</cp:coreProperties>
</file>