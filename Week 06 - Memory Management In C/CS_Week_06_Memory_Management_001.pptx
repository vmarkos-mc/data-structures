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40.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34.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42.xml.rels" ContentType="application/vnd.openxmlformats-package.relationships+xml"/>
  <Override PartName="/ppt/slides/_rels/slide51.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27.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6.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52.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38.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53.xml.rels" ContentType="application/vnd.openxmlformats-package.relationships+xml"/>
  <Override PartName="/ppt/slides/_rels/slide40.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48.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slide30.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8514EBEE-B439-44BF-ACF4-F32025242B2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0345C0BA-5826-44B5-96CF-A0BB3D6FE7FC}"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594BA9B9-55E7-404D-9CD5-269CD1D9F345}"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BE98537F-140A-4E2B-96F8-443278BE6810}"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48C3093D-F079-49F2-B0E1-BE6B7DD92AE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E5421E81-F522-422F-9529-7D0F0CBA923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44E9B835-4C68-4A04-97B8-CE4C18989016}"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AD9FFA91-D4CB-46D1-8197-61D0AC4512E4}"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E844C4F8-85AA-452C-9A14-770F681A1B7D}"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2E384CE4-5BB2-45A9-9E6B-5E393AB32289}"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9EB736B4-FF2D-4D5C-A830-2CEAA0024E53}"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AB834F6C-C646-4BBF-99CF-EBD263FE18E8}"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698166B-A572-4E2B-A44C-5E7E2B76C94F}"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87F87C11-3853-4041-8BBD-487766AFDF74}"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68129C79-EBE0-4641-A47A-44002E7D3262}"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BC75264A-DC12-4A4B-854C-A91DE1B481A7}"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20860E2D-A6D2-4B69-A367-999855DA1DBE}"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C24DE419-0492-4074-B2F7-7F6797871A28}"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34EFD837-2A40-44F3-81A0-6E2AB4B90F5A}"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3AB614E6-11D0-468C-8F0B-48761B7EE78F}"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168D77D6-09A8-4B25-B9FC-6A6905562E6B}"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19572825-731E-4887-B151-13FDA62B5A64}"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DA0C5D10-BEE0-4ACC-8F5C-CB2FBD90BDFA}"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4E0EE6C5-495A-41D4-A1CD-5BC651F2450D}"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B4A18128-8CA9-4E45-8554-862A0830BDD1}"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8FCC16AD-3F96-41E3-89B3-27301F723B2F}"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7C57785A-B418-49D9-8C33-07817E8B7138}"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711E7A69-BECE-490A-9CCB-C30E1BBD054B}"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07DF2278-15FA-47DC-BB22-AF574C33FC6C}"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B05A710B-94B5-4DB2-9AD0-EDC0609473E0}"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57F7CD9F-A260-44CE-B7A7-66C7135226A7}"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68F921C1-055F-4089-A1AD-7A6C5B68CE75}"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2953E8DF-CD8F-4AE2-AD58-AC6C65108E61}"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FE52DAB5-2BE6-4F60-B4C2-8F765C922449}"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22787C32-517F-4845-93A8-0D329A5B9BF1}"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5F08365E-EFA2-4C14-BC62-C27C3878A302}"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F5C45D33-1F3F-4925-BA03-4F2E7538174F}"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6D52A3F7-F316-48E2-AAEB-5C3013F8CA57}"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6AA781A8-FAC9-4DDC-B789-2EB34D728A25}"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29B807E2-CFBB-4DEA-A501-FBF021855A99}"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D1A563D6-B122-4D7B-8552-439F1316A325}"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6276CF79-7C4E-47F0-85E7-B78802A1CF10}"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B77B274F-4F2E-4551-B1D5-B9A102F45014}"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FF4E2A1E-2E04-437E-BD94-C4461CE775C9}"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89F7694B-A4D9-4B04-A81E-E8826F93D257}"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78B57FF0-BAF2-4176-A470-7494A206F2BA}"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1696FE6B-94BB-4FA8-8DDD-B85B977B7EC0}"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71489106-0BE5-44B1-BCCB-7DA8778DAE35}"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2"/>
          <p:cNvGrpSpPr/>
          <p:nvPr/>
        </p:nvGrpSpPr>
        <p:grpSpPr>
          <a:xfrm>
            <a:off x="530280" y="1205640"/>
            <a:ext cx="1342800" cy="17280"/>
            <a:chOff x="530280" y="1205640"/>
            <a:chExt cx="1342800" cy="17280"/>
          </a:xfrm>
        </p:grpSpPr>
        <p:sp>
          <p:nvSpPr>
            <p:cNvPr id="2" name="Google Shape;13;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CB10CA6-A103-4A1E-8EB3-76FFACE18703}"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2"/>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3"/>
          <p:cNvGrpSpPr/>
          <p:nvPr/>
        </p:nvGrpSpPr>
        <p:grpSpPr>
          <a:xfrm>
            <a:off x="530280" y="1205640"/>
            <a:ext cx="1342800" cy="17280"/>
            <a:chOff x="530280" y="1205640"/>
            <a:chExt cx="1342800" cy="17280"/>
          </a:xfrm>
        </p:grpSpPr>
        <p:sp>
          <p:nvSpPr>
            <p:cNvPr id="45" name="Google Shape;22;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0BA593A3-B003-4D1D-BD30-414BCE33C6D3}"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4"/>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4"/>
          <p:cNvGrpSpPr/>
          <p:nvPr/>
        </p:nvGrpSpPr>
        <p:grpSpPr>
          <a:xfrm>
            <a:off x="530280" y="1205640"/>
            <a:ext cx="1342800" cy="17280"/>
            <a:chOff x="530280" y="1205640"/>
            <a:chExt cx="1342800" cy="17280"/>
          </a:xfrm>
        </p:grpSpPr>
        <p:sp>
          <p:nvSpPr>
            <p:cNvPr id="88" name="Google Shape;29;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E497804-ACF5-4E0F-802D-6D343C7175BC}"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92;p12"/>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93;p12"/>
          <p:cNvGrpSpPr/>
          <p:nvPr/>
        </p:nvGrpSpPr>
        <p:grpSpPr>
          <a:xfrm>
            <a:off x="530280" y="1205640"/>
            <a:ext cx="1342800" cy="17280"/>
            <a:chOff x="530280" y="1205640"/>
            <a:chExt cx="1342800" cy="17280"/>
          </a:xfrm>
        </p:grpSpPr>
        <p:sp>
          <p:nvSpPr>
            <p:cNvPr id="131" name="Google Shape;94;p1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95;p1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A3D346C-DBD8-4BF6-AB9C-843E137D5BCB}"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hyperlink" Target="https://greenteapress.com/thinkos/thinkos.pdf" TargetMode="External"/><Relationship Id="rId2" Type="http://schemas.openxmlformats.org/officeDocument/2006/relationships/slideLayout" Target="../slideLayouts/slideLayout2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4.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Computer Systems, et al.</a:t>
            </a:r>
            <a:br>
              <a:rPr sz="4200"/>
            </a:br>
            <a:r>
              <a:rPr b="0" lang="el" sz="1600" spc="-1" strike="noStrike">
                <a:solidFill>
                  <a:schemeClr val="accent1"/>
                </a:solidFill>
                <a:latin typeface="Lato"/>
                <a:ea typeface="Lato"/>
              </a:rPr>
              <a:t>Memory Management (in C)</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6"/>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07</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C Structures (</a:t>
            </a:r>
            <a:r>
              <a:rPr b="1" lang="el" sz="3600" spc="-1" strike="noStrike">
                <a:solidFill>
                  <a:schemeClr val="lt1"/>
                </a:solidFill>
                <a:latin typeface="Consolas"/>
                <a:ea typeface="Consolas"/>
              </a:rPr>
              <a:t>struct</a:t>
            </a:r>
            <a:r>
              <a:rPr b="1" lang="el" sz="3600" spc="-1" strike="noStrike">
                <a:solidFill>
                  <a:schemeClr val="lt1"/>
                </a:solidFill>
                <a:latin typeface="Lato"/>
                <a:ea typeface="Lato"/>
              </a:rPr>
              <a:t>)</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D7C0360B-F3B6-4681-8F1E-D29859211B80}"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Example</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7688520" cy="2961720"/>
          </a:xfrm>
          <a:prstGeom prst="rect">
            <a:avLst/>
          </a:prstGeom>
          <a:noFill/>
          <a:ln w="0">
            <a:noFill/>
          </a:ln>
        </p:spPr>
        <p:txBody>
          <a:bodyPr tIns="91440" bIns="91440" anchor="t">
            <a:normAutofit fontScale="86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"x: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y: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15000"/>
              </a:lnSpc>
              <a:spcAft>
                <a:spcPts val="1199"/>
              </a:spcAft>
              <a:buNone/>
              <a:tabLst>
                <a:tab algn="l" pos="0"/>
              </a:tabLst>
            </a:pPr>
            <a:endParaRPr b="0" lang="en-US" sz="160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9CEB81B-CF0B-42C9-89DF-F38AD0717A01}"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Using Header Files</a:t>
            </a:r>
            <a:endParaRPr b="0" lang="en-US" sz="2600" spc="-1" strike="noStrike">
              <a:solidFill>
                <a:srgbClr val="000000"/>
              </a:solidFill>
              <a:latin typeface="Arial"/>
            </a:endParaRPr>
          </a:p>
        </p:txBody>
      </p:sp>
      <p:sp>
        <p:nvSpPr>
          <p:cNvPr id="182" name="PlaceHolder 2"/>
          <p:cNvSpPr>
            <a:spLocks noGrp="1"/>
          </p:cNvSpPr>
          <p:nvPr>
            <p:ph/>
          </p:nvPr>
        </p:nvSpPr>
        <p:spPr>
          <a:xfrm>
            <a:off x="729360" y="1378080"/>
            <a:ext cx="4931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source/structs_002.c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r>
              <a:rPr b="0" lang="el" sz="1050" spc="-1" strike="noStrike">
                <a:solidFill>
                  <a:srgbClr val="0000ff"/>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Global includes --&gt; &lt;...&gt;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"structs_002.h"</a:t>
            </a:r>
            <a:r>
              <a:rPr b="0" lang="el" sz="1050" spc="-1" strike="noStrike">
                <a:solidFill>
                  <a:srgbClr val="0000ff"/>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Local includes --&gt; "..."</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"x: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y: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15000"/>
              </a:lnSpc>
              <a:spcAft>
                <a:spcPts val="1199"/>
              </a:spcAft>
              <a:buNone/>
              <a:tabLst>
                <a:tab algn="l" pos="0"/>
              </a:tabLst>
            </a:pPr>
            <a:endParaRPr b="0" lang="en-US" sz="1600" spc="-1" strike="noStrike">
              <a:solidFill>
                <a:srgbClr val="000000"/>
              </a:solidFill>
              <a:latin typeface="Arial"/>
            </a:endParaRPr>
          </a:p>
        </p:txBody>
      </p:sp>
      <p:sp>
        <p:nvSpPr>
          <p:cNvPr id="183"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CF37D6C-536B-45F3-9385-54A0005B5EAC}"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
        <p:nvSpPr>
          <p:cNvPr id="184" name="PlaceHolder 4"/>
          <p:cNvSpPr>
            <a:spLocks noGrp="1"/>
          </p:cNvSpPr>
          <p:nvPr>
            <p:ph/>
          </p:nvPr>
        </p:nvSpPr>
        <p:spPr>
          <a:xfrm>
            <a:off x="5661000" y="1378080"/>
            <a:ext cx="2753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source/structs_002.h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15000"/>
              </a:lnSpc>
              <a:spcAft>
                <a:spcPts val="1199"/>
              </a:spcAft>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structs As struct Fields</a:t>
            </a:r>
            <a:endParaRPr b="0" lang="en-US" sz="2600" spc="-1" strike="noStrike">
              <a:solidFill>
                <a:srgbClr val="000000"/>
              </a:solidFill>
              <a:latin typeface="Arial"/>
            </a:endParaRPr>
          </a:p>
        </p:txBody>
      </p:sp>
      <p:sp>
        <p:nvSpPr>
          <p:cNvPr id="186" name="PlaceHolder 2"/>
          <p:cNvSpPr>
            <a:spLocks noGrp="1"/>
          </p:cNvSpPr>
          <p:nvPr>
            <p:ph/>
          </p:nvPr>
        </p:nvSpPr>
        <p:spPr>
          <a:xfrm>
            <a:off x="729360" y="1378080"/>
            <a:ext cx="4762080" cy="2961720"/>
          </a:xfrm>
          <a:prstGeom prst="rect">
            <a:avLst/>
          </a:prstGeom>
          <a:noFill/>
          <a:ln w="0">
            <a:noFill/>
          </a:ln>
        </p:spPr>
        <p:txBody>
          <a:bodyPr tIns="91440" bIns="91440" anchor="t">
            <a:normAutofit fontScale="76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source/structs_003.c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"structs_003.h"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2</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"from: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to: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7"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F27AC2F-D7B9-4858-8712-D1C04F5BD1A6}"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
        <p:nvSpPr>
          <p:cNvPr id="188" name="PlaceHolder 4"/>
          <p:cNvSpPr>
            <a:spLocks noGrp="1"/>
          </p:cNvSpPr>
          <p:nvPr>
            <p:ph/>
          </p:nvPr>
        </p:nvSpPr>
        <p:spPr>
          <a:xfrm>
            <a:off x="5492160" y="1378080"/>
            <a:ext cx="29221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source/structs_003.h</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Using typedef</a:t>
            </a:r>
            <a:endParaRPr b="0" lang="en-US" sz="2600" spc="-1" strike="noStrike">
              <a:solidFill>
                <a:srgbClr val="000000"/>
              </a:solidFill>
              <a:latin typeface="Arial"/>
            </a:endParaRPr>
          </a:p>
        </p:txBody>
      </p:sp>
      <p:sp>
        <p:nvSpPr>
          <p:cNvPr id="190" name="PlaceHolder 2"/>
          <p:cNvSpPr>
            <a:spLocks noGrp="1"/>
          </p:cNvSpPr>
          <p:nvPr>
            <p:ph/>
          </p:nvPr>
        </p:nvSpPr>
        <p:spPr>
          <a:xfrm>
            <a:off x="729360" y="1378080"/>
            <a:ext cx="4521960" cy="2961720"/>
          </a:xfrm>
          <a:prstGeom prst="rect">
            <a:avLst/>
          </a:prstGeom>
          <a:noFill/>
          <a:ln w="0">
            <a:noFill/>
          </a:ln>
        </p:spPr>
        <p:txBody>
          <a:bodyPr tIns="91440" bIns="91440" anchor="t">
            <a:normAutofit fontScale="76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source/structs_004.c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"structs_004h"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To save us some typing</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To save us some typing</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No `struct` anymore!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2</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No `struct anymore!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a</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b</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"from: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to: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91"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E11A91F-C693-4444-BF43-52FBB45BDB6B}"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
        <p:nvSpPr>
          <p:cNvPr id="192" name="PlaceHolder 4"/>
          <p:cNvSpPr>
            <a:spLocks noGrp="1"/>
          </p:cNvSpPr>
          <p:nvPr>
            <p:ph/>
          </p:nvPr>
        </p:nvSpPr>
        <p:spPr>
          <a:xfrm>
            <a:off x="5251680" y="1378080"/>
            <a:ext cx="32104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source/structs_004.h</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vector</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start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end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15000"/>
              </a:lnSpc>
              <a:spcAft>
                <a:spcPts val="1199"/>
              </a:spcAft>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194" name="PlaceHolder 2"/>
          <p:cNvSpPr>
            <a:spLocks noGrp="1"/>
          </p:cNvSpPr>
          <p:nvPr>
            <p:ph/>
          </p:nvPr>
        </p:nvSpPr>
        <p:spPr>
          <a:xfrm>
            <a:off x="729360" y="1378080"/>
            <a:ext cx="3842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source/structs_005.c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"structs_005.h"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95"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552E3BF-F62D-4A17-9F2D-60222D77F661}"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
        <p:nvSpPr>
          <p:cNvPr id="196" name="PlaceHolder 4"/>
          <p:cNvSpPr>
            <a:spLocks noGrp="1"/>
          </p:cNvSpPr>
          <p:nvPr>
            <p:ph/>
          </p:nvPr>
        </p:nvSpPr>
        <p:spPr>
          <a:xfrm>
            <a:off x="4572000" y="1378080"/>
            <a:ext cx="3842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source/structs_005.h</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&lt;stdbool.h&gt;</a:t>
            </a:r>
            <a:r>
              <a:rPr b="0" lang="el" sz="1050" spc="-1" strike="noStrike">
                <a:solidFill>
                  <a:srgbClr val="0000ff"/>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Access booleans...</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bool</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is_nice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a:t>
            </a:r>
            <a:endParaRPr b="0" lang="en-US" sz="2600" spc="-1" strike="noStrike">
              <a:solidFill>
                <a:srgbClr val="000000"/>
              </a:solidFill>
              <a:latin typeface="Arial"/>
            </a:endParaRPr>
          </a:p>
        </p:txBody>
      </p:sp>
      <p:sp>
        <p:nvSpPr>
          <p:cNvPr id="19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It must have printed 12, but why?</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Each int is 4 bytes, so 8 in total.</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Each bool is 1 byte (true / false), so 8 + 1 = 9 bytes of memory.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Why 12, then?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In general, when it comes to structs, the C compiler will add some </a:t>
            </a:r>
            <a:r>
              <a:rPr b="1" lang="el" sz="1600" spc="-1" strike="noStrike">
                <a:solidFill>
                  <a:schemeClr val="accent1"/>
                </a:solidFill>
                <a:latin typeface="Lato"/>
                <a:ea typeface="Lato"/>
              </a:rPr>
              <a:t>padding</a:t>
            </a:r>
            <a:r>
              <a:rPr b="0" lang="el" sz="1600" spc="-1" strike="noStrike">
                <a:solidFill>
                  <a:schemeClr val="accent1"/>
                </a:solidFill>
                <a:latin typeface="Lato"/>
                <a:ea typeface="Lato"/>
              </a:rPr>
              <a:t> around some data types (char, bool → 1 byte each) to ensure easier access.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This is an </a:t>
            </a:r>
            <a:r>
              <a:rPr b="1" lang="el" sz="1600" spc="-1" strike="noStrike">
                <a:solidFill>
                  <a:schemeClr val="accent1"/>
                </a:solidFill>
                <a:latin typeface="Lato"/>
                <a:ea typeface="Lato"/>
              </a:rPr>
              <a:t>OS specific behaviour</a:t>
            </a:r>
            <a:r>
              <a:rPr b="0" lang="el" sz="1600" spc="-1" strike="noStrike">
                <a:solidFill>
                  <a:schemeClr val="accent1"/>
                </a:solidFill>
                <a:latin typeface="Lato"/>
                <a:ea typeface="Lato"/>
              </a:rPr>
              <a:t>, but usually an OS prefers to have memory chunked in pieces of 4 bytes each, so smaller data types get a bonus padding.</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But, what if we do not to waste that memory as padding?</a:t>
            </a:r>
            <a:endParaRPr b="0" lang="en-US" sz="1600" spc="-1" strike="noStrike">
              <a:solidFill>
                <a:srgbClr val="000000"/>
              </a:solidFill>
              <a:latin typeface="Arial"/>
            </a:endParaRPr>
          </a:p>
        </p:txBody>
      </p:sp>
      <p:sp>
        <p:nvSpPr>
          <p:cNvPr id="199"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CBB6CF9-D22D-4F4A-9F72-ABE27AB57314}"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9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Packed structs</a:t>
            </a:r>
            <a:endParaRPr b="0" lang="en-US" sz="2600" spc="-1" strike="noStrike">
              <a:solidFill>
                <a:srgbClr val="000000"/>
              </a:solidFill>
              <a:latin typeface="Arial"/>
            </a:endParaRPr>
          </a:p>
        </p:txBody>
      </p:sp>
      <p:sp>
        <p:nvSpPr>
          <p:cNvPr id="201" name="PlaceHolder 2"/>
          <p:cNvSpPr>
            <a:spLocks noGrp="1"/>
          </p:cNvSpPr>
          <p:nvPr>
            <p:ph/>
          </p:nvPr>
        </p:nvSpPr>
        <p:spPr>
          <a:xfrm>
            <a:off x="729360" y="1378080"/>
            <a:ext cx="3842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source/structs_006.c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"structs_006.h"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2"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18EB465-7D91-468C-A2F1-FA7157B0AFBF}"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
        <p:nvSpPr>
          <p:cNvPr id="203" name="PlaceHolder 4"/>
          <p:cNvSpPr>
            <a:spLocks noGrp="1"/>
          </p:cNvSpPr>
          <p:nvPr>
            <p:ph/>
          </p:nvPr>
        </p:nvSpPr>
        <p:spPr>
          <a:xfrm>
            <a:off x="4572000" y="1378080"/>
            <a:ext cx="3842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source/structs_006.h</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&lt;stdbool.h&gt;</a:t>
            </a:r>
            <a:r>
              <a:rPr b="0" lang="el" sz="1050" spc="-1" strike="noStrike">
                <a:solidFill>
                  <a:srgbClr val="0000ff"/>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Access booleans...</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point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x;</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y;</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bool</a:t>
            </a:r>
            <a:r>
              <a:rPr b="0" lang="el" sz="1050" spc="-1" strike="noStrike">
                <a:solidFill>
                  <a:srgbClr val="000000"/>
                </a:solidFill>
                <a:highlight>
                  <a:srgbClr val="ffffff"/>
                </a:highlight>
                <a:latin typeface="Courier New"/>
                <a:ea typeface="Courier New"/>
              </a:rPr>
              <a:t> is_nice;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r>
              <a:rPr b="0" lang="el" sz="1050" spc="-1" strike="noStrike">
                <a:solidFill>
                  <a:srgbClr val="795e26"/>
                </a:solidFill>
                <a:highlight>
                  <a:srgbClr val="ffffff"/>
                </a:highlight>
                <a:latin typeface="Courier New"/>
                <a:ea typeface="Courier New"/>
              </a:rPr>
              <a:t>__attribute__</a:t>
            </a:r>
            <a:r>
              <a:rPr b="0" lang="el" sz="1050" spc="-1" strike="noStrike">
                <a:solidFill>
                  <a:srgbClr val="000000"/>
                </a:solidFill>
                <a:highlight>
                  <a:srgbClr val="ffffff"/>
                </a:highlight>
                <a:latin typeface="Courier New"/>
                <a:ea typeface="Courier New"/>
              </a:rPr>
              <a:t>((packed)) point;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structs And Functions</a:t>
            </a:r>
            <a:endParaRPr b="0" lang="en-US" sz="2600" spc="-1" strike="noStrike">
              <a:solidFill>
                <a:srgbClr val="000000"/>
              </a:solidFill>
              <a:latin typeface="Arial"/>
            </a:endParaRPr>
          </a:p>
        </p:txBody>
      </p:sp>
      <p:sp>
        <p:nvSpPr>
          <p:cNvPr id="205" name="PlaceHolder 2"/>
          <p:cNvSpPr>
            <a:spLocks noGrp="1"/>
          </p:cNvSpPr>
          <p:nvPr>
            <p:ph/>
          </p:nvPr>
        </p:nvSpPr>
        <p:spPr>
          <a:xfrm>
            <a:off x="729360" y="1378080"/>
            <a:ext cx="4922280" cy="3765240"/>
          </a:xfrm>
          <a:prstGeom prst="rect">
            <a:avLst/>
          </a:prstGeom>
          <a:noFill/>
          <a:ln w="0">
            <a:noFill/>
          </a:ln>
        </p:spPr>
        <p:txBody>
          <a:bodyPr tIns="91440" bIns="91440" anchor="t">
            <a:normAutofit fontScale="98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source/structs_007.c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"structs_007.h"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This is always pass by value!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q</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q</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q</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6"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D4C2B61-F853-44C4-8BB5-F66BFF700341}"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
        <p:nvSpPr>
          <p:cNvPr id="207" name="PlaceHolder 4"/>
          <p:cNvSpPr>
            <a:spLocks noGrp="1"/>
          </p:cNvSpPr>
          <p:nvPr>
            <p:ph/>
          </p:nvPr>
        </p:nvSpPr>
        <p:spPr>
          <a:xfrm>
            <a:off x="5652360" y="1378080"/>
            <a:ext cx="306216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source/structs_007.h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point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x;</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y;</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point;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Pass By “Reference”?</a:t>
            </a:r>
            <a:endParaRPr b="0" lang="en-US" sz="2600" spc="-1" strike="noStrike">
              <a:solidFill>
                <a:srgbClr val="000000"/>
              </a:solidFill>
              <a:latin typeface="Arial"/>
            </a:endParaRPr>
          </a:p>
        </p:txBody>
      </p:sp>
      <p:sp>
        <p:nvSpPr>
          <p:cNvPr id="209" name="PlaceHolder 2"/>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C13857E-E842-43C4-AE73-0E2DB4857C61}"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
        <p:nvSpPr>
          <p:cNvPr id="210" name="PlaceHolder 3"/>
          <p:cNvSpPr>
            <a:spLocks noGrp="1"/>
          </p:cNvSpPr>
          <p:nvPr>
            <p:ph/>
          </p:nvPr>
        </p:nvSpPr>
        <p:spPr>
          <a:xfrm>
            <a:off x="729360" y="1378080"/>
            <a:ext cx="3842280" cy="2961720"/>
          </a:xfrm>
          <a:prstGeom prst="rect">
            <a:avLst/>
          </a:prstGeom>
          <a:noFill/>
          <a:ln w="0">
            <a:noFill/>
          </a:ln>
        </p:spPr>
        <p:txBody>
          <a:bodyPr tIns="91440" bIns="91440" anchor="t">
            <a:normAutofit fontScale="81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source/structs_008.c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"structs_008.h"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This is "pass by pointer"...</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(&amp;</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11" name="PlaceHolder 4"/>
          <p:cNvSpPr>
            <a:spLocks noGrp="1"/>
          </p:cNvSpPr>
          <p:nvPr>
            <p:ph/>
          </p:nvPr>
        </p:nvSpPr>
        <p:spPr>
          <a:xfrm>
            <a:off x="4572000" y="1378080"/>
            <a:ext cx="384228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source/structs_008.h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Key C vs C++ Differences</a:t>
            </a:r>
            <a:endParaRPr b="0" lang="en-US" sz="2600" spc="-1" strike="noStrike">
              <a:solidFill>
                <a:srgbClr val="000000"/>
              </a:solidFill>
              <a:latin typeface="Arial"/>
            </a:endParaRPr>
          </a:p>
        </p:txBody>
      </p:sp>
      <p:sp>
        <p:nvSpPr>
          <p:cNvPr id="21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There are no references in C!</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 has pointers, so use them as “mock” references.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But we do not have this pass-by-reference / value scheme as in 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 classes assume privacy, C structs assume publicity!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That is, everything, as we just saw, is accessible from outside a C struct </a:t>
            </a:r>
            <a:r>
              <a:rPr b="1" lang="el" sz="1600" spc="-1" strike="noStrike">
                <a:solidFill>
                  <a:schemeClr val="accent1"/>
                </a:solidFill>
                <a:latin typeface="Lato"/>
                <a:ea typeface="Lato"/>
              </a:rPr>
              <a:t>by default.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In C++, the opposite is true: everything is private by default!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 is not tailored for OOP, so we can safely think procedurally, just with tiny bits of OOP when it comes to structures (in terms of Data Abstraction).</a:t>
            </a:r>
            <a:endParaRPr b="0" lang="en-US" sz="1600" spc="-1" strike="noStrike">
              <a:solidFill>
                <a:srgbClr val="000000"/>
              </a:solidFill>
              <a:latin typeface="Arial"/>
            </a:endParaRPr>
          </a:p>
        </p:txBody>
      </p:sp>
      <p:sp>
        <p:nvSpPr>
          <p:cNvPr id="214"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1F2308C-B0E4-4929-9438-96FE4FD9B743}"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213">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13">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213">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213">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213">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213">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13">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structs and Member Functions</a:t>
            </a:r>
            <a:endParaRPr b="0" lang="en-US" sz="2600" spc="-1" strike="noStrike">
              <a:solidFill>
                <a:srgbClr val="000000"/>
              </a:solidFill>
              <a:latin typeface="Arial"/>
            </a:endParaRPr>
          </a:p>
        </p:txBody>
      </p:sp>
      <p:sp>
        <p:nvSpPr>
          <p:cNvPr id="21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We cannot define member functions in C structs.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But we can sort of hack our way to member functions…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idea is that we pass as a struct field a pointer to a function.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Then we implement a function “acting” as a member function and pass a pointer to our struct as an argument.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This is also an approach adopted by some C libraries, especially Windows-related ones.</a:t>
            </a:r>
            <a:endParaRPr b="0" lang="en-US" sz="1600" spc="-1" strike="noStrike">
              <a:solidFill>
                <a:srgbClr val="000000"/>
              </a:solidFill>
              <a:latin typeface="Arial"/>
            </a:endParaRPr>
          </a:p>
        </p:txBody>
      </p:sp>
      <p:sp>
        <p:nvSpPr>
          <p:cNvPr id="217"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0DBF136-00B4-4FCD-8B2D-2686B388D7FD}"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216">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216">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16">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1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structs and Member Functions</a:t>
            </a:r>
            <a:endParaRPr b="0" lang="en-US" sz="2600" spc="-1" strike="noStrike">
              <a:solidFill>
                <a:srgbClr val="000000"/>
              </a:solidFill>
              <a:latin typeface="Arial"/>
            </a:endParaRPr>
          </a:p>
        </p:txBody>
      </p:sp>
      <p:sp>
        <p:nvSpPr>
          <p:cNvPr id="219" name="PlaceHolder 2"/>
          <p:cNvSpPr>
            <a:spLocks noGrp="1"/>
          </p:cNvSpPr>
          <p:nvPr>
            <p:ph/>
          </p:nvPr>
        </p:nvSpPr>
        <p:spPr>
          <a:xfrm>
            <a:off x="729360" y="1378080"/>
            <a:ext cx="4771080" cy="3465720"/>
          </a:xfrm>
          <a:prstGeom prst="rect">
            <a:avLst/>
          </a:prstGeom>
          <a:noFill/>
          <a:ln w="0">
            <a:noFill/>
          </a:ln>
        </p:spPr>
        <p:txBody>
          <a:bodyPr tIns="91440" bIns="91440" anchor="t">
            <a:normAutofit fontScale="95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source/structs_009.c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"structs_009.h"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self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self</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(&amp;</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20"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7B36CA8-6567-49FA-B8BF-00F77F41A6DF}"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
        <p:nvSpPr>
          <p:cNvPr id="221" name="PlaceHolder 4"/>
          <p:cNvSpPr>
            <a:spLocks noGrp="1"/>
          </p:cNvSpPr>
          <p:nvPr>
            <p:ph/>
          </p:nvPr>
        </p:nvSpPr>
        <p:spPr>
          <a:xfrm>
            <a:off x="5500800" y="1378080"/>
            <a:ext cx="29167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source/structs_009.h</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translate_x</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 self,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dx);</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point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 (Part I)</a:t>
            </a:r>
            <a:endParaRPr b="0" lang="en-US" sz="3600" spc="-1" strike="noStrike">
              <a:solidFill>
                <a:srgbClr val="000000"/>
              </a:solidFill>
              <a:latin typeface="Arial"/>
            </a:endParaRPr>
          </a:p>
        </p:txBody>
      </p:sp>
      <p:sp>
        <p:nvSpPr>
          <p:cNvPr id="223" name="PlaceHolder 2"/>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C27FE444-5883-43EC-BE6A-06DFF2EF4A0B}" type="slidenum">
              <a:rPr b="0" lang="el" sz="1000" spc="-1" strike="noStrike">
                <a:solidFill>
                  <a:schemeClr val="l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#001</a:t>
            </a:r>
            <a:endParaRPr b="0" lang="en-US" sz="2600" spc="-1" strike="noStrike">
              <a:solidFill>
                <a:srgbClr val="000000"/>
              </a:solidFill>
              <a:latin typeface="Arial"/>
            </a:endParaRPr>
          </a:p>
        </p:txBody>
      </p:sp>
      <p:sp>
        <p:nvSpPr>
          <p:cNvPr id="22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Creating and Accessing a Struct: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Define a struct named Person with members for name, age, and height.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Create a variable of type Person and initialize its members with appropriate values.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Print the values of the members using the dot operator (.).</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Demonstrate the behaviour of your class using header and source files appropriately.</a:t>
            </a:r>
            <a:endParaRPr b="0" lang="en-US" sz="1600" spc="-1" strike="noStrike">
              <a:solidFill>
                <a:srgbClr val="000000"/>
              </a:solidFill>
              <a:latin typeface="Arial"/>
            </a:endParaRPr>
          </a:p>
        </p:txBody>
      </p:sp>
      <p:sp>
        <p:nvSpPr>
          <p:cNvPr id="226"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AE856CE-4E43-408E-ACD3-A9D34E6AAE5A}"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#002</a:t>
            </a:r>
            <a:endParaRPr b="0" lang="en-US" sz="2600" spc="-1" strike="noStrike">
              <a:solidFill>
                <a:srgbClr val="000000"/>
              </a:solidFill>
              <a:latin typeface="Arial"/>
            </a:endParaRPr>
          </a:p>
        </p:txBody>
      </p:sp>
      <p:sp>
        <p:nvSpPr>
          <p:cNvPr id="22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This is a follow up of Exercise #001.</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Create a function that takes a Person struct as an argument and prints its information.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Call the function with the Person variable you created in Exercise 1.</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Again, use header and source files appropriately.</a:t>
            </a:r>
            <a:endParaRPr b="0" lang="en-US" sz="1600" spc="-1" strike="noStrike">
              <a:solidFill>
                <a:srgbClr val="000000"/>
              </a:solidFill>
              <a:latin typeface="Arial"/>
            </a:endParaRPr>
          </a:p>
        </p:txBody>
      </p:sp>
      <p:sp>
        <p:nvSpPr>
          <p:cNvPr id="229"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2F0AAC7-0094-4278-A1B0-F7A76DAEB641}"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#003</a:t>
            </a:r>
            <a:endParaRPr b="0" lang="en-US" sz="2600" spc="-1" strike="noStrike">
              <a:solidFill>
                <a:srgbClr val="000000"/>
              </a:solidFill>
              <a:latin typeface="Arial"/>
            </a:endParaRPr>
          </a:p>
        </p:txBody>
      </p:sp>
      <p:sp>
        <p:nvSpPr>
          <p:cNvPr id="23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Create a function that returns a Person struct. Feel free to design any function you want, e.g., a function that returns struct information in a structured way (e.g., as a string) instead of printing 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Initialise the struct within the function and return 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information of the returned struct.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As always, use header and source files adequately.</a:t>
            </a:r>
            <a:endParaRPr b="0" lang="en-US" sz="1600" spc="-1" strike="noStrike">
              <a:solidFill>
                <a:srgbClr val="000000"/>
              </a:solidFill>
              <a:latin typeface="Arial"/>
            </a:endParaRPr>
          </a:p>
        </p:txBody>
      </p:sp>
      <p:sp>
        <p:nvSpPr>
          <p:cNvPr id="232"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17CC4D2-BB51-4311-9386-846E4378D537}"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#004</a:t>
            </a:r>
            <a:endParaRPr b="0" lang="en-US" sz="2600" spc="-1" strike="noStrike">
              <a:solidFill>
                <a:srgbClr val="000000"/>
              </a:solidFill>
              <a:latin typeface="Arial"/>
            </a:endParaRPr>
          </a:p>
        </p:txBody>
      </p:sp>
      <p:sp>
        <p:nvSpPr>
          <p:cNvPr id="23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Let’s play around with arrays and structs (you can look around the web for more info on that):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Create an array of Person structs.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Initialize the members of each struct with different values.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Iterate through the array and print the information of each person.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You can also utilise machinery from previous exercises to showcase more complex behaviour.</a:t>
            </a:r>
            <a:endParaRPr b="0" lang="en-US" sz="1600" spc="-1" strike="noStrike">
              <a:solidFill>
                <a:srgbClr val="000000"/>
              </a:solidFill>
              <a:latin typeface="Arial"/>
            </a:endParaRPr>
          </a:p>
        </p:txBody>
      </p:sp>
      <p:sp>
        <p:nvSpPr>
          <p:cNvPr id="235"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A91925D-840D-467C-AEA8-8327942ADB93}"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#005</a:t>
            </a:r>
            <a:endParaRPr b="0" lang="en-US" sz="2600" spc="-1" strike="noStrike">
              <a:solidFill>
                <a:srgbClr val="000000"/>
              </a:solidFill>
              <a:latin typeface="Arial"/>
            </a:endParaRPr>
          </a:p>
        </p:txBody>
      </p:sp>
      <p:sp>
        <p:nvSpPr>
          <p:cNvPr id="23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Define a struct named Address with members for street, city, and state.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Modify the Person struct to include an address member of type Address.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Create a Person struct and initialize its members, including the address members.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information of the Person, including the address information.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Again, use (multiple) header and source files appropriately.</a:t>
            </a:r>
            <a:endParaRPr b="0" lang="en-US" sz="1600" spc="-1" strike="noStrike">
              <a:solidFill>
                <a:srgbClr val="000000"/>
              </a:solidFill>
              <a:latin typeface="Arial"/>
            </a:endParaRPr>
          </a:p>
        </p:txBody>
      </p:sp>
      <p:sp>
        <p:nvSpPr>
          <p:cNvPr id="238"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F3CD848-C37C-4C9D-9529-6CB651A631FA}"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#006</a:t>
            </a:r>
            <a:endParaRPr b="0" lang="en-US" sz="2600" spc="-1" strike="noStrike">
              <a:solidFill>
                <a:srgbClr val="000000"/>
              </a:solidFill>
              <a:latin typeface="Arial"/>
            </a:endParaRPr>
          </a:p>
        </p:txBody>
      </p:sp>
      <p:sp>
        <p:nvSpPr>
          <p:cNvPr id="24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Create a point struct as the one we have defined in most of today’s examples, i.e., use integers as coordinates (for simplicity).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Add a “member” function compare() which compares points based on their distance from O(0,0) (the larger that distance, the larger the point).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Create an array of points.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a function merge_sort() that: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takes an array of points as argument, and;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returns the array sorted based on the output of compare(), as defined above.</a:t>
            </a:r>
            <a:endParaRPr b="0" lang="en-US" sz="1600" spc="-1" strike="noStrike">
              <a:solidFill>
                <a:srgbClr val="000000"/>
              </a:solidFill>
              <a:latin typeface="Arial"/>
            </a:endParaRPr>
          </a:p>
        </p:txBody>
      </p:sp>
      <p:sp>
        <p:nvSpPr>
          <p:cNvPr id="241"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DF337B4-52CB-4AC3-B239-1203AB381CF1}"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Memory Management in C</a:t>
            </a:r>
            <a:endParaRPr b="0" lang="en-US" sz="3600" spc="-1" strike="noStrike">
              <a:solidFill>
                <a:srgbClr val="000000"/>
              </a:solidFill>
              <a:latin typeface="Arial"/>
            </a:endParaRPr>
          </a:p>
        </p:txBody>
      </p:sp>
      <p:sp>
        <p:nvSpPr>
          <p:cNvPr id="243" name="PlaceHolder 2"/>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3FABC690-BF03-4C44-9E40-4486128D5088}" type="slidenum">
              <a:rPr b="0" lang="el" sz="1000" spc="-1" strike="noStrike">
                <a:solidFill>
                  <a:schemeClr val="l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Few Notes, First</a:t>
            </a:r>
            <a:endParaRPr b="0" lang="en-US" sz="2600" spc="-1" strike="noStrike">
              <a:solidFill>
                <a:srgbClr val="000000"/>
              </a:solidFill>
              <a:latin typeface="Arial"/>
            </a:endParaRPr>
          </a:p>
        </p:txBody>
      </p:sp>
      <p:sp>
        <p:nvSpPr>
          <p:cNvPr id="24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Most of this part of the course is based on an excellent book on Operating Systems:</a:t>
            </a:r>
            <a:endParaRPr b="0" lang="en-US" sz="1600" spc="-1" strike="noStrike">
              <a:solidFill>
                <a:srgbClr val="000000"/>
              </a:solidFill>
              <a:latin typeface="Arial"/>
            </a:endParaRPr>
          </a:p>
          <a:p>
            <a:pPr indent="0" algn="ctr">
              <a:lnSpc>
                <a:spcPct val="115000"/>
              </a:lnSpc>
              <a:spcBef>
                <a:spcPts val="1199"/>
              </a:spcBef>
              <a:buNone/>
              <a:tabLst>
                <a:tab algn="l" pos="0"/>
              </a:tabLst>
            </a:pPr>
            <a:r>
              <a:rPr b="0" i="1" lang="el" sz="1600" spc="-1" strike="noStrike">
                <a:solidFill>
                  <a:schemeClr val="accent1"/>
                </a:solidFill>
                <a:latin typeface="Lato"/>
                <a:ea typeface="Lato"/>
              </a:rPr>
              <a:t>A., B., Downey, (2015), </a:t>
            </a:r>
            <a:r>
              <a:rPr b="1" i="1" lang="el" sz="1600" spc="-1" strike="noStrike">
                <a:solidFill>
                  <a:schemeClr val="accent1"/>
                </a:solidFill>
                <a:latin typeface="Lato"/>
                <a:ea typeface="Lato"/>
              </a:rPr>
              <a:t>Think OS: A Brief Introduction to Operating Systems</a:t>
            </a:r>
            <a:r>
              <a:rPr b="0" i="1" lang="el" sz="1600" spc="-1" strike="noStrike">
                <a:solidFill>
                  <a:schemeClr val="accent1"/>
                </a:solidFill>
                <a:latin typeface="Lato"/>
                <a:ea typeface="Lato"/>
              </a:rPr>
              <a:t>, v.0.7.4, Green Tea Press</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So, you can also use this book if you need further information on aspects of Systems Programming we discuss in this course. It is available online here:</a:t>
            </a:r>
            <a:endParaRPr b="0" lang="en-US" sz="16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l" sz="1600" spc="-1" strike="noStrike" u="sng">
                <a:solidFill>
                  <a:schemeClr val="hlink"/>
                </a:solidFill>
                <a:uFillTx/>
                <a:latin typeface="Lato"/>
                <a:ea typeface="Lato"/>
                <a:hlinkClick r:id="rId1"/>
              </a:rPr>
              <a:t>https://greenteapress.com/thinkos/thinkos.pdf</a:t>
            </a:r>
            <a:endParaRPr b="0" lang="en-US" sz="1600" spc="-1" strike="noStrike">
              <a:solidFill>
                <a:srgbClr val="000000"/>
              </a:solidFill>
              <a:latin typeface="Arial"/>
            </a:endParaRPr>
          </a:p>
        </p:txBody>
      </p:sp>
      <p:sp>
        <p:nvSpPr>
          <p:cNvPr id="246"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A442C6F-1985-4F48-87A3-1E2BA6FC7BF6}"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Memory Allocation in C</a:t>
            </a:r>
            <a:endParaRPr b="0" lang="en-US" sz="2600" spc="-1" strike="noStrike">
              <a:solidFill>
                <a:srgbClr val="000000"/>
              </a:solidFill>
              <a:latin typeface="Arial"/>
            </a:endParaRPr>
          </a:p>
        </p:txBody>
      </p:sp>
      <p:sp>
        <p:nvSpPr>
          <p:cNvPr id="24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Consider this C script:</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8000"/>
                </a:solidFill>
                <a:highlight>
                  <a:srgbClr val="ffffff"/>
                </a:highlight>
                <a:latin typeface="Courier New"/>
                <a:ea typeface="Courier New"/>
              </a:rPr>
              <a:t>// source/malloc_001.c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z</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z</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49"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671FC3D-E6A0-4971-9249-B847A8AD284D}"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Memory Allocation in C</a:t>
            </a:r>
            <a:endParaRPr b="0" lang="en-US" sz="2600" spc="-1" strike="noStrike">
              <a:solidFill>
                <a:srgbClr val="000000"/>
              </a:solidFill>
              <a:latin typeface="Arial"/>
            </a:endParaRPr>
          </a:p>
        </p:txBody>
      </p:sp>
      <p:sp>
        <p:nvSpPr>
          <p:cNvPr id="251" name="PlaceHolder 2"/>
          <p:cNvSpPr>
            <a:spLocks noGrp="1"/>
          </p:cNvSpPr>
          <p:nvPr>
            <p:ph/>
          </p:nvPr>
        </p:nvSpPr>
        <p:spPr>
          <a:xfrm>
            <a:off x="729360" y="1378080"/>
            <a:ext cx="7688520" cy="2961720"/>
          </a:xfrm>
          <a:prstGeom prst="rect">
            <a:avLst/>
          </a:prstGeom>
          <a:noFill/>
          <a:ln w="0">
            <a:noFill/>
          </a:ln>
        </p:spPr>
        <p:txBody>
          <a:bodyPr tIns="91440" bIns="91440" anchor="t">
            <a:normAutofit fontScale="81000"/>
          </a:bodyPr>
          <a:p>
            <a:pPr indent="0">
              <a:lnSpc>
                <a:spcPct val="115000"/>
              </a:lnSpc>
              <a:buNone/>
              <a:tabLst>
                <a:tab algn="l" pos="0"/>
              </a:tabLst>
            </a:pPr>
            <a:r>
              <a:rPr b="0" lang="el" sz="1600" spc="-1" strike="noStrike">
                <a:solidFill>
                  <a:schemeClr val="accent1"/>
                </a:solidFill>
                <a:latin typeface="Lato"/>
                <a:ea typeface="Lato"/>
              </a:rPr>
              <a:t>What’s different with this C script:</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8000"/>
                </a:solidFill>
                <a:highlight>
                  <a:srgbClr val="ffffff"/>
                </a:highlight>
                <a:latin typeface="Courier New"/>
                <a:ea typeface="Courier New"/>
              </a:rPr>
              <a:t>// source/malloc_002.c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z</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y</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z</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52"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85D92E4-864D-4CFA-B711-35756D7C2AAE}"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Static And Automatic Memory Allocation</a:t>
            </a:r>
            <a:endParaRPr b="0" lang="en-US" sz="2600" spc="-1" strike="noStrike">
              <a:solidFill>
                <a:srgbClr val="000000"/>
              </a:solidFill>
              <a:latin typeface="Arial"/>
            </a:endParaRPr>
          </a:p>
        </p:txBody>
      </p:sp>
      <p:sp>
        <p:nvSpPr>
          <p:cNvPr id="25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Static allocation</a:t>
            </a:r>
            <a:r>
              <a:rPr b="0" lang="el" sz="1600" spc="-1" strike="noStrike">
                <a:solidFill>
                  <a:schemeClr val="accent1"/>
                </a:solidFill>
                <a:latin typeface="Lato"/>
                <a:ea typeface="Lato"/>
              </a:rPr>
              <a:t> is what happens when you declare a static or global variable. Each static or global variable defines one block of space, of a fixed size. The space is allocated once, when your program is started (part of the exec operation), and is never freed.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Automatic allocation</a:t>
            </a:r>
            <a:r>
              <a:rPr b="0" lang="el" sz="1600" spc="-1" strike="noStrike">
                <a:solidFill>
                  <a:schemeClr val="accent1"/>
                </a:solidFill>
                <a:latin typeface="Lato"/>
                <a:ea typeface="Lato"/>
              </a:rPr>
              <a:t> happens when you declare an automatic variable, such as a function argument or a local variable. The space for an automatic variable is allocated when the compound statement containing the declaration is entered, and is freed when that compound statement is exited.</a:t>
            </a:r>
            <a:endParaRPr b="0" lang="en-US" sz="1600" spc="-1" strike="noStrike">
              <a:solidFill>
                <a:srgbClr val="000000"/>
              </a:solidFill>
              <a:latin typeface="Arial"/>
            </a:endParaRPr>
          </a:p>
        </p:txBody>
      </p:sp>
      <p:sp>
        <p:nvSpPr>
          <p:cNvPr id="255"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925B6C0-4873-4C88-A4F6-652B5719F9DC}"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But…</a:t>
            </a:r>
            <a:endParaRPr b="0" lang="en-US" sz="2600" spc="-1" strike="noStrike">
              <a:solidFill>
                <a:srgbClr val="000000"/>
              </a:solidFill>
              <a:latin typeface="Arial"/>
            </a:endParaRPr>
          </a:p>
        </p:txBody>
      </p:sp>
      <p:sp>
        <p:nvSpPr>
          <p:cNvPr id="25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There are cases when we want to take control of how the system allocates memory resources.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For instance, when we are dealing with complex objects (structs) which point to other objects - especially, instances of the same class.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Or, when we have multiple pointers pointing to the same object and want to keep track of when to delete all those pointers.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 such cases, default C ways of dealing with a process’s memory do not suffice…</a:t>
            </a:r>
            <a:endParaRPr b="0" lang="en-US" sz="1600" spc="-1" strike="noStrike">
              <a:solidFill>
                <a:srgbClr val="000000"/>
              </a:solidFill>
              <a:latin typeface="Arial"/>
            </a:endParaRPr>
          </a:p>
        </p:txBody>
      </p:sp>
      <p:sp>
        <p:nvSpPr>
          <p:cNvPr id="258"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7FD1B2F-C8FE-4B3E-93FF-9B08F1541C93}" type="slidenum">
              <a:rPr b="0" lang="el" sz="1000" spc="-1" strike="noStrike">
                <a:solidFill>
                  <a:schemeClr val="accent1"/>
                </a:solidFill>
                <a:latin typeface="Lato"/>
                <a:ea typeface="Lato"/>
              </a:rPr>
              <a:t>27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257">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257">
                                            <p:txEl>
                                              <p:pRg st="1" end="1"/>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257">
                                            <p:txEl>
                                              <p:pRg st="2" end="2"/>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5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Dynamic Memory Allocation</a:t>
            </a:r>
            <a:endParaRPr b="0" lang="en-US" sz="2600" spc="-1" strike="noStrike">
              <a:solidFill>
                <a:srgbClr val="000000"/>
              </a:solidFill>
              <a:latin typeface="Arial"/>
            </a:endParaRPr>
          </a:p>
        </p:txBody>
      </p:sp>
      <p:sp>
        <p:nvSpPr>
          <p:cNvPr id="26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(Most) C compilers also offer dynamic memory allocation, which is roughly when we let some memory allocation to be decided at runtime. More formally:</a:t>
            </a:r>
            <a:endParaRPr b="0" lang="en-US" sz="1600" spc="-1" strike="noStrike">
              <a:solidFill>
                <a:srgbClr val="000000"/>
              </a:solidFill>
              <a:latin typeface="Arial"/>
            </a:endParaRPr>
          </a:p>
          <a:p>
            <a:pPr indent="0">
              <a:lnSpc>
                <a:spcPct val="115000"/>
              </a:lnSpc>
              <a:spcBef>
                <a:spcPts val="1199"/>
              </a:spcBef>
              <a:buNone/>
              <a:tabLst>
                <a:tab algn="l" pos="0"/>
              </a:tabLst>
            </a:pPr>
            <a:r>
              <a:rPr b="1" i="1" lang="el" sz="1600" spc="-1" strike="noStrike">
                <a:solidFill>
                  <a:schemeClr val="accent1"/>
                </a:solidFill>
                <a:latin typeface="Lato"/>
                <a:ea typeface="Lato"/>
              </a:rPr>
              <a:t>Dynamic memory</a:t>
            </a:r>
            <a:r>
              <a:rPr b="0" i="1" lang="el" sz="1600" spc="-1" strike="noStrike">
                <a:solidFill>
                  <a:schemeClr val="accent1"/>
                </a:solidFill>
                <a:latin typeface="Lato"/>
                <a:ea typeface="Lato"/>
              </a:rPr>
              <a:t> allocation is a technique in which programs determine as they are running where to store some information. You need dynamic allocation when the amount of memory you need, or how long you continue to need it, depends on factors that are not known before the program runs.</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In practice, any complex enough C program will require some sort of dynamic memory allocation.</a:t>
            </a:r>
            <a:endParaRPr b="0" lang="en-US" sz="1600" spc="-1" strike="noStrike">
              <a:solidFill>
                <a:srgbClr val="000000"/>
              </a:solidFill>
              <a:latin typeface="Arial"/>
            </a:endParaRPr>
          </a:p>
        </p:txBody>
      </p:sp>
      <p:sp>
        <p:nvSpPr>
          <p:cNvPr id="261"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7251784-B5FA-4672-BE33-2D37A8F7FAE4}" type="slidenum">
              <a:rPr b="0" lang="el" sz="1000" spc="-1" strike="noStrike">
                <a:solidFill>
                  <a:schemeClr val="accent1"/>
                </a:solidFill>
                <a:latin typeface="Lato"/>
                <a:ea typeface="Lato"/>
              </a:rPr>
              <a:t>28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Dynamic Memory Allocation Machinery</a:t>
            </a:r>
            <a:endParaRPr b="0" lang="en-US" sz="2600" spc="-1" strike="noStrike">
              <a:solidFill>
                <a:srgbClr val="000000"/>
              </a:solidFill>
              <a:latin typeface="Arial"/>
            </a:endParaRPr>
          </a:p>
        </p:txBody>
      </p:sp>
      <p:sp>
        <p:nvSpPr>
          <p:cNvPr id="263"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There are four major functions for dynamic memory allocation in C:</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Consolas"/>
                <a:ea typeface="Consolas"/>
              </a:rPr>
              <a:t>malloc()</a:t>
            </a:r>
            <a:r>
              <a:rPr b="0" lang="el" sz="1600" spc="-1" strike="noStrike">
                <a:solidFill>
                  <a:schemeClr val="accent1"/>
                </a:solidFill>
                <a:latin typeface="Lato"/>
                <a:ea typeface="Lato"/>
              </a:rPr>
              <a:t>, which takes an integer size, in bytes, and returns a pointer to a newly-allocated chunk of memory with (at least) the given size. If it can’t satisfy the request, it returns the special pointer value </a:t>
            </a:r>
            <a:r>
              <a:rPr b="0" lang="el" sz="1600" spc="-1" strike="noStrike">
                <a:solidFill>
                  <a:schemeClr val="accent1"/>
                </a:solidFill>
                <a:latin typeface="Consolas"/>
                <a:ea typeface="Consolas"/>
              </a:rPr>
              <a:t>NULL</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Consolas"/>
                <a:ea typeface="Consolas"/>
              </a:rPr>
              <a:t>calloc()</a:t>
            </a:r>
            <a:r>
              <a:rPr b="0" lang="el" sz="1600" spc="-1" strike="noStrike">
                <a:solidFill>
                  <a:schemeClr val="accent1"/>
                </a:solidFill>
                <a:latin typeface="Lato"/>
                <a:ea typeface="Lato"/>
              </a:rPr>
              <a:t>, which is the same as malloc except that it also clears the newly allocated chunk; that is, it sets all bytes in the chunk to 0.</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Consolas"/>
                <a:ea typeface="Consolas"/>
              </a:rPr>
              <a:t>free()</a:t>
            </a:r>
            <a:r>
              <a:rPr b="0" lang="el" sz="1600" spc="-1" strike="noStrike">
                <a:solidFill>
                  <a:schemeClr val="accent1"/>
                </a:solidFill>
                <a:latin typeface="Lato"/>
                <a:ea typeface="Lato"/>
              </a:rPr>
              <a:t>, which takes a pointer to a previously allocated chunk and deallocates it; that is, it makes the space available for future allocation.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Consolas"/>
                <a:ea typeface="Consolas"/>
              </a:rPr>
              <a:t>realloc()</a:t>
            </a:r>
            <a:r>
              <a:rPr b="0" lang="el" sz="1600" spc="-1" strike="noStrike">
                <a:solidFill>
                  <a:schemeClr val="accent1"/>
                </a:solidFill>
                <a:latin typeface="Lato"/>
                <a:ea typeface="Lato"/>
              </a:rPr>
              <a:t>, which takes a pointer to a previously allocated chunk and a new size. It allocates a chunk of memory with the new size, copies data from the old chunk to the new, frees the old chunk, and returns a pointer to the new chunk.</a:t>
            </a:r>
            <a:endParaRPr b="0" lang="en-US" sz="1600" spc="-1" strike="noStrike">
              <a:solidFill>
                <a:srgbClr val="000000"/>
              </a:solidFill>
              <a:latin typeface="Arial"/>
            </a:endParaRPr>
          </a:p>
        </p:txBody>
      </p:sp>
      <p:sp>
        <p:nvSpPr>
          <p:cNvPr id="264"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AE3C2E3-8D4A-4616-92FB-E032D90415B6}" type="slidenum">
              <a:rPr b="0" lang="el" sz="1000" spc="-1" strike="noStrike">
                <a:solidFill>
                  <a:schemeClr val="accent1"/>
                </a:solidFill>
                <a:latin typeface="Lato"/>
                <a:ea typeface="Lato"/>
              </a:rPr>
              <a:t>29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263">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263">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263">
                                            <p:txEl>
                                              <p:pRg st="2" end="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263">
                                            <p:txEl>
                                              <p:pRg st="3" end="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
                                  <p:stCondLst>
                                    <p:cond delay="0"/>
                                  </p:stCondLst>
                                  <p:childTnLst>
                                    <p:set>
                                      <p:cBhvr>
                                        <p:cTn id="122" dur="1" fill="hold">
                                          <p:stCondLst>
                                            <p:cond delay="0"/>
                                          </p:stCondLst>
                                        </p:cTn>
                                        <p:tgtEl>
                                          <p:spTgt spid="263">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Example</a:t>
            </a:r>
            <a:endParaRPr b="0" lang="en-US" sz="2600" spc="-1" strike="noStrike">
              <a:solidFill>
                <a:srgbClr val="000000"/>
              </a:solidFill>
              <a:latin typeface="Arial"/>
            </a:endParaRPr>
          </a:p>
        </p:txBody>
      </p:sp>
      <p:sp>
        <p:nvSpPr>
          <p:cNvPr id="26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source/malloc_003.c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malloc</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free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67" name="PlaceHolder 3"/>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5EFDD8-8C11-4A4D-94EB-D14EDBA1FE08}" type="slidenum">
              <a:rPr b="0" lang="el" sz="1000" spc="-1" strike="noStrike">
                <a:solidFill>
                  <a:schemeClr val="accent1"/>
                </a:solidFill>
                <a:latin typeface="Lato"/>
                <a:ea typeface="Lato"/>
              </a:rPr>
              <a:t>30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Allocating An Array</a:t>
            </a:r>
            <a:endParaRPr b="0" lang="en-US" sz="2600" spc="-1" strike="noStrike">
              <a:solidFill>
                <a:srgbClr val="000000"/>
              </a:solidFill>
              <a:latin typeface="Arial"/>
            </a:endParaRPr>
          </a:p>
        </p:txBody>
      </p:sp>
      <p:sp>
        <p:nvSpPr>
          <p:cNvPr id="269"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source/malloc_004.c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malloc</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free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70" name="PlaceHolder 3"/>
          <p:cNvSpPr>
            <a:spLocks noGrp="1"/>
          </p:cNvSpPr>
          <p:nvPr>
            <p:ph type="sldNum" idx="3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A647F5A-A1A2-4E2E-A79F-5DE0C93B9FAE}" type="slidenum">
              <a:rPr b="0" lang="el" sz="1000" spc="-1" strike="noStrike">
                <a:solidFill>
                  <a:schemeClr val="accent1"/>
                </a:solidFill>
                <a:latin typeface="Lato"/>
                <a:ea typeface="Lato"/>
              </a:rPr>
              <a:t>31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72"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source/malloc_005.c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calloc</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free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73" name="PlaceHolder 3"/>
          <p:cNvSpPr>
            <a:spLocks noGrp="1"/>
          </p:cNvSpPr>
          <p:nvPr>
            <p:ph type="sldNum" idx="3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2813A53-99AA-4C93-B43D-5BB7C29F4FA8}" type="slidenum">
              <a:rPr b="0" lang="el" sz="1000" spc="-1" strike="noStrike">
                <a:solidFill>
                  <a:schemeClr val="accent1"/>
                </a:solidFill>
                <a:latin typeface="Lato"/>
                <a:ea typeface="Lato"/>
              </a:rPr>
              <a:t>32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75" name="PlaceHolder 2"/>
          <p:cNvSpPr>
            <a:spLocks noGrp="1"/>
          </p:cNvSpPr>
          <p:nvPr>
            <p:ph/>
          </p:nvPr>
        </p:nvSpPr>
        <p:spPr>
          <a:xfrm>
            <a:off x="729360" y="1378080"/>
            <a:ext cx="7688520" cy="3764880"/>
          </a:xfrm>
          <a:prstGeom prst="rect">
            <a:avLst/>
          </a:prstGeom>
          <a:noFill/>
          <a:ln w="0">
            <a:noFill/>
          </a:ln>
        </p:spPr>
        <p:txBody>
          <a:bodyPr tIns="91440" bIns="91440" anchor="t">
            <a:normAutofit fontScale="98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source/malloc_006.c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calloc</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3</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realloc</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7</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42</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421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2</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5</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free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ptrx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76" name="PlaceHolder 3"/>
          <p:cNvSpPr>
            <a:spLocks noGrp="1"/>
          </p:cNvSpPr>
          <p:nvPr>
            <p:ph type="sldNum" idx="3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3120C69-ACBB-4671-A486-79145FDE2DC5}" type="slidenum">
              <a:rPr b="0" lang="el" sz="1000" spc="-1" strike="noStrike">
                <a:solidFill>
                  <a:schemeClr val="accent1"/>
                </a:solidFill>
                <a:latin typeface="Lato"/>
                <a:ea typeface="Lato"/>
              </a:rPr>
              <a:t>33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Typical Memory Management Errors</a:t>
            </a:r>
            <a:endParaRPr b="0" lang="en-US" sz="2600" spc="-1" strike="noStrike">
              <a:solidFill>
                <a:srgbClr val="000000"/>
              </a:solidFill>
              <a:latin typeface="Arial"/>
            </a:endParaRPr>
          </a:p>
        </p:txBody>
      </p:sp>
      <p:sp>
        <p:nvSpPr>
          <p:cNvPr id="278"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If you access (read or write) any chunk that has not been allocated, that’s a memory management error.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you free an allocated chunk and then access it, that’s a memory management error.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you try to free a chunk that has not been allocated, that’s a memory management error.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you free the same chunk more than once, that’s a memory management error.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you call realloc with a chunk that was not allocated, or was allocated and then freed, that’s a memory management error.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Sometimes (rarely), the compiler will detect that and complain to you, in general, however, you are on your own on that… :/</a:t>
            </a:r>
            <a:endParaRPr b="0" lang="en-US" sz="1600" spc="-1" strike="noStrike">
              <a:solidFill>
                <a:srgbClr val="000000"/>
              </a:solidFill>
              <a:latin typeface="Arial"/>
            </a:endParaRPr>
          </a:p>
        </p:txBody>
      </p:sp>
      <p:sp>
        <p:nvSpPr>
          <p:cNvPr id="279" name="PlaceHolder 3"/>
          <p:cNvSpPr>
            <a:spLocks noGrp="1"/>
          </p:cNvSpPr>
          <p:nvPr>
            <p:ph type="sldNum" idx="3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BA9A14E-0808-4A16-AD20-EC8090849410}" type="slidenum">
              <a:rPr b="0" lang="el" sz="1000" spc="-1" strike="noStrike">
                <a:solidFill>
                  <a:schemeClr val="accent1"/>
                </a:solidFill>
                <a:latin typeface="Lato"/>
                <a:ea typeface="Lato"/>
              </a:rPr>
              <a:t>34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278">
                                            <p:txEl>
                                              <p:pRg st="0" end="0"/>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278">
                                            <p:txEl>
                                              <p:pRg st="1" end="1"/>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278">
                                            <p:txEl>
                                              <p:pRg st="2" end="2"/>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278">
                                            <p:txEl>
                                              <p:pRg st="3" end="3"/>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278">
                                            <p:txEl>
                                              <p:pRg st="4" end="4"/>
                                            </p:txEl>
                                          </p:spTgt>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278">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Nasty Memory Management Errors: #001</a:t>
            </a:r>
            <a:endParaRPr b="0" lang="en-US" sz="2600" spc="-1" strike="noStrike">
              <a:solidFill>
                <a:srgbClr val="000000"/>
              </a:solidFill>
              <a:latin typeface="Arial"/>
            </a:endParaRPr>
          </a:p>
        </p:txBody>
      </p:sp>
      <p:sp>
        <p:nvSpPr>
          <p:cNvPr id="28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If you read a value from an unallocated chunk, than: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the system might detect the error, trigger a runtime error called a “segmentation fault”, and stop the program.</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Or, the program might read unallocated memory without detecting the error;</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in that case, the value it gets is whatever happened to be stored at the accessed location, which is unpredictable, and might be different each time the program runs.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This is, especially if you are not used to C debugging, quite a frustrating process…</a:t>
            </a:r>
            <a:endParaRPr b="0" lang="en-US" sz="1600" spc="-1" strike="noStrike">
              <a:solidFill>
                <a:srgbClr val="000000"/>
              </a:solidFill>
              <a:latin typeface="Arial"/>
            </a:endParaRPr>
          </a:p>
        </p:txBody>
      </p:sp>
      <p:sp>
        <p:nvSpPr>
          <p:cNvPr id="282" name="PlaceHolder 3"/>
          <p:cNvSpPr>
            <a:spLocks noGrp="1"/>
          </p:cNvSpPr>
          <p:nvPr>
            <p:ph type="sldNum" idx="3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55A2F4D-8930-4B4D-A5DA-BC235FFC8A08}" type="slidenum">
              <a:rPr b="0" lang="el" sz="1000" spc="-1" strike="noStrike">
                <a:solidFill>
                  <a:schemeClr val="accent1"/>
                </a:solidFill>
                <a:latin typeface="Lato"/>
                <a:ea typeface="Lato"/>
              </a:rPr>
              <a:t>35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49" dur="indefinite" restart="never" nodeType="tmRoot">
          <p:childTnLst>
            <p:seq>
              <p:cTn id="150" dur="indefinite" nodeType="mainSeq">
                <p:childTnLst>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281">
                                            <p:txEl>
                                              <p:pRg st="0" end="0"/>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281">
                                            <p:txEl>
                                              <p:pRg st="1" end="1"/>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281">
                                            <p:txEl>
                                              <p:pRg st="2" end="2"/>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281">
                                            <p:txEl>
                                              <p:pRg st="3" end="3"/>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281">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Nasty Memory Management Errors: #002</a:t>
            </a:r>
            <a:endParaRPr b="0" lang="en-US" sz="2600" spc="-1" strike="noStrike">
              <a:solidFill>
                <a:srgbClr val="000000"/>
              </a:solidFill>
              <a:latin typeface="Arial"/>
            </a:endParaRPr>
          </a:p>
        </p:txBody>
      </p:sp>
      <p:sp>
        <p:nvSpPr>
          <p:cNvPr id="28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If you write a value to an unallocated chunk, and don’t get a segmentation fault, things are even worse!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After you write a value to an invalid location, a long time might pass before it is read and causes problems….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 that point it will be very difficult to find the source of the problem.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Which means, you might spend hours or even days without noticing or being able to sport the root cause of such leaks…</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600" spc="-1" strike="noStrike">
              <a:solidFill>
                <a:srgbClr val="000000"/>
              </a:solidFill>
              <a:latin typeface="Arial"/>
            </a:endParaRPr>
          </a:p>
        </p:txBody>
      </p:sp>
      <p:sp>
        <p:nvSpPr>
          <p:cNvPr id="285" name="PlaceHolder 3"/>
          <p:cNvSpPr>
            <a:spLocks noGrp="1"/>
          </p:cNvSpPr>
          <p:nvPr>
            <p:ph type="sldNum" idx="3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7D46185-EC6B-4EFD-A719-155C1F803940}" type="slidenum">
              <a:rPr b="0" lang="el" sz="1000" spc="-1" strike="noStrike">
                <a:solidFill>
                  <a:schemeClr val="accent1"/>
                </a:solidFill>
                <a:latin typeface="Lato"/>
                <a:ea typeface="Lato"/>
              </a:rPr>
              <a:t>36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284">
                                            <p:txEl>
                                              <p:pRg st="0" end="0"/>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nodeType="clickEffect" fill="hold" presetClass="entr" presetID="1">
                                  <p:stCondLst>
                                    <p:cond delay="0"/>
                                  </p:stCondLst>
                                  <p:childTnLst>
                                    <p:set>
                                      <p:cBhvr>
                                        <p:cTn id="180" dur="1" fill="hold">
                                          <p:stCondLst>
                                            <p:cond delay="0"/>
                                          </p:stCondLst>
                                        </p:cTn>
                                        <p:tgtEl>
                                          <p:spTgt spid="284">
                                            <p:txEl>
                                              <p:pRg st="1" end="1"/>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284">
                                            <p:txEl>
                                              <p:pRg st="2" end="2"/>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
                                  <p:stCondLst>
                                    <p:cond delay="0"/>
                                  </p:stCondLst>
                                  <p:childTnLst>
                                    <p:set>
                                      <p:cBhvr>
                                        <p:cTn id="188" dur="1" fill="hold">
                                          <p:stCondLst>
                                            <p:cond delay="0"/>
                                          </p:stCondLst>
                                        </p:cTn>
                                        <p:tgtEl>
                                          <p:spTgt spid="284">
                                            <p:txEl>
                                              <p:pRg st="3" end="3"/>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nodeType="clickEffect" fill="hold" presetClass="entr" presetID="1">
                                  <p:stCondLst>
                                    <p:cond delay="0"/>
                                  </p:stCondLst>
                                  <p:childTnLst>
                                    <p:set>
                                      <p:cBhvr>
                                        <p:cTn id="192" dur="1" fill="hold">
                                          <p:stCondLst>
                                            <p:cond delay="0"/>
                                          </p:stCondLst>
                                        </p:cTn>
                                        <p:tgtEl>
                                          <p:spTgt spid="284">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Nasty Memory Management Errors: #003</a:t>
            </a:r>
            <a:endParaRPr b="0" lang="en-US" sz="2600" spc="-1" strike="noStrike">
              <a:solidFill>
                <a:srgbClr val="000000"/>
              </a:solidFill>
              <a:latin typeface="Arial"/>
            </a:endParaRPr>
          </a:p>
        </p:txBody>
      </p:sp>
      <p:sp>
        <p:nvSpPr>
          <p:cNvPr id="287" name="PlaceHolder 2"/>
          <p:cNvSpPr>
            <a:spLocks noGrp="1"/>
          </p:cNvSpPr>
          <p:nvPr>
            <p:ph/>
          </p:nvPr>
        </p:nvSpPr>
        <p:spPr>
          <a:xfrm>
            <a:off x="729360" y="1378080"/>
            <a:ext cx="7688520" cy="35906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One of the most common problems with C-style memory management is that the data structures used to implement malloc and free are often stored along with the allocated chunks.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 if you accidentally write past the end of a dynamically allocated chunk, you are likely to mangle these data structures.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Which, as you might suspect, wrecks havoc…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system usually won’t detect the problem until later, when you call malloc or free, and those functions fail in some inscrutable way.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Which, again, as you might imagine, is a debugging nightmare…</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600" spc="-1" strike="noStrike">
              <a:solidFill>
                <a:srgbClr val="000000"/>
              </a:solidFill>
              <a:latin typeface="Arial"/>
            </a:endParaRPr>
          </a:p>
        </p:txBody>
      </p:sp>
      <p:sp>
        <p:nvSpPr>
          <p:cNvPr id="288" name="PlaceHolder 3"/>
          <p:cNvSpPr>
            <a:spLocks noGrp="1"/>
          </p:cNvSpPr>
          <p:nvPr>
            <p:ph type="sldNum" idx="4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85130E1-CC8C-465B-9E6F-CF17967C9601}" type="slidenum">
              <a:rPr b="0" lang="el" sz="1000" spc="-1" strike="noStrike">
                <a:solidFill>
                  <a:schemeClr val="accent1"/>
                </a:solidFill>
                <a:latin typeface="Lato"/>
                <a:ea typeface="Lato"/>
              </a:rPr>
              <a:t>37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3" dur="indefinite" restart="never" nodeType="tmRoot">
          <p:childTnLst>
            <p:seq>
              <p:cTn id="194" dur="indefinite" nodeType="mainSeq">
                <p:childTnLst>
                  <p:par>
                    <p:cTn id="195" fill="hold">
                      <p:stCondLst>
                        <p:cond delay="indefinite"/>
                      </p:stCondLst>
                      <p:childTnLst>
                        <p:par>
                          <p:cTn id="196" fill="hold">
                            <p:stCondLst>
                              <p:cond delay="0"/>
                            </p:stCondLst>
                            <p:childTnLst>
                              <p:par>
                                <p:cTn id="197" nodeType="clickEffect" fill="hold" presetClass="entr" presetID="1">
                                  <p:stCondLst>
                                    <p:cond delay="0"/>
                                  </p:stCondLst>
                                  <p:childTnLst>
                                    <p:set>
                                      <p:cBhvr>
                                        <p:cTn id="198" dur="1" fill="hold">
                                          <p:stCondLst>
                                            <p:cond delay="0"/>
                                          </p:stCondLst>
                                        </p:cTn>
                                        <p:tgtEl>
                                          <p:spTgt spid="287">
                                            <p:txEl>
                                              <p:pRg st="0" end="0"/>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nodeType="clickEffect" fill="hold" presetClass="entr" presetID="1">
                                  <p:stCondLst>
                                    <p:cond delay="0"/>
                                  </p:stCondLst>
                                  <p:childTnLst>
                                    <p:set>
                                      <p:cBhvr>
                                        <p:cTn id="202" dur="1" fill="hold">
                                          <p:stCondLst>
                                            <p:cond delay="0"/>
                                          </p:stCondLst>
                                        </p:cTn>
                                        <p:tgtEl>
                                          <p:spTgt spid="287">
                                            <p:txEl>
                                              <p:pRg st="1" end="1"/>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287">
                                            <p:txEl>
                                              <p:pRg st="2" end="2"/>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1">
                                  <p:stCondLst>
                                    <p:cond delay="0"/>
                                  </p:stCondLst>
                                  <p:childTnLst>
                                    <p:set>
                                      <p:cBhvr>
                                        <p:cTn id="210" dur="1" fill="hold">
                                          <p:stCondLst>
                                            <p:cond delay="0"/>
                                          </p:stCondLst>
                                        </p:cTn>
                                        <p:tgtEl>
                                          <p:spTgt spid="287">
                                            <p:txEl>
                                              <p:pRg st="3" end="3"/>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287">
                                            <p:txEl>
                                              <p:pRg st="4" end="4"/>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287">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Bound Checking: A Remedy For Common Pitfalls</a:t>
            </a:r>
            <a:endParaRPr b="0" lang="en-US" sz="2600" spc="-1" strike="noStrike">
              <a:solidFill>
                <a:srgbClr val="000000"/>
              </a:solidFill>
              <a:latin typeface="Arial"/>
            </a:endParaRPr>
          </a:p>
        </p:txBody>
      </p:sp>
      <p:sp>
        <p:nvSpPr>
          <p:cNvPr id="29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 </a:t>
            </a:r>
            <a:r>
              <a:rPr b="0" lang="el" sz="1600" spc="-1" strike="noStrike">
                <a:solidFill>
                  <a:schemeClr val="accent1"/>
                </a:solidFill>
                <a:latin typeface="Lato"/>
                <a:ea typeface="Lato"/>
              </a:rPr>
              <a:t>As you might have observed, the most common source of memory errors is writing beyond the bounds of an array.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obvious remedy for this problem is bounds checking.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That is, every access to the array should check whether the index is out of bounds.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High-level libraries that provide array-like structures usually perform bounds checking.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But C arrays and </a:t>
            </a:r>
            <a:r>
              <a:rPr b="1" lang="el" sz="1600" spc="-1" strike="noStrike">
                <a:solidFill>
                  <a:schemeClr val="accent1"/>
                </a:solidFill>
                <a:latin typeface="Lato"/>
                <a:ea typeface="Lato"/>
              </a:rPr>
              <a:t>most low-level libraries do not…</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600" spc="-1" strike="noStrike">
              <a:solidFill>
                <a:srgbClr val="000000"/>
              </a:solidFill>
              <a:latin typeface="Arial"/>
            </a:endParaRPr>
          </a:p>
        </p:txBody>
      </p:sp>
      <p:sp>
        <p:nvSpPr>
          <p:cNvPr id="291" name="PlaceHolder 3"/>
          <p:cNvSpPr>
            <a:spLocks noGrp="1"/>
          </p:cNvSpPr>
          <p:nvPr>
            <p:ph type="sldNum" idx="4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0116983-FA08-4AB3-B92B-E7B5294B9008}" type="slidenum">
              <a:rPr b="0" lang="el" sz="1000" spc="-1" strike="noStrike">
                <a:solidFill>
                  <a:schemeClr val="accent1"/>
                </a:solidFill>
                <a:latin typeface="Lato"/>
                <a:ea typeface="Lato"/>
              </a:rPr>
              <a:t>38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19" dur="indefinite" restart="never" nodeType="tmRoot">
          <p:childTnLst>
            <p:seq>
              <p:cTn id="220" dur="indefinite" nodeType="mainSeq">
                <p:childTnLst>
                  <p:par>
                    <p:cTn id="221" fill="hold">
                      <p:stCondLst>
                        <p:cond delay="indefinite"/>
                      </p:stCondLst>
                      <p:childTnLst>
                        <p:par>
                          <p:cTn id="222" fill="hold">
                            <p:stCondLst>
                              <p:cond delay="0"/>
                            </p:stCondLst>
                            <p:childTnLst>
                              <p:par>
                                <p:cTn id="223" nodeType="clickEffect" fill="hold" presetClass="entr" presetID="1">
                                  <p:stCondLst>
                                    <p:cond delay="0"/>
                                  </p:stCondLst>
                                  <p:childTnLst>
                                    <p:set>
                                      <p:cBhvr>
                                        <p:cTn id="224" dur="1" fill="hold">
                                          <p:stCondLst>
                                            <p:cond delay="0"/>
                                          </p:stCondLst>
                                        </p:cTn>
                                        <p:tgtEl>
                                          <p:spTgt spid="290">
                                            <p:txEl>
                                              <p:pRg st="0" end="0"/>
                                            </p:txEl>
                                          </p:spTgt>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nodeType="clickEffect" fill="hold" presetClass="entr" presetID="1">
                                  <p:stCondLst>
                                    <p:cond delay="0"/>
                                  </p:stCondLst>
                                  <p:childTnLst>
                                    <p:set>
                                      <p:cBhvr>
                                        <p:cTn id="228" dur="1" fill="hold">
                                          <p:stCondLst>
                                            <p:cond delay="0"/>
                                          </p:stCondLst>
                                        </p:cTn>
                                        <p:tgtEl>
                                          <p:spTgt spid="290">
                                            <p:txEl>
                                              <p:pRg st="1" end="1"/>
                                            </p:txEl>
                                          </p:spTgt>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nodeType="clickEffect" fill="hold" presetClass="entr" presetID="1">
                                  <p:stCondLst>
                                    <p:cond delay="0"/>
                                  </p:stCondLst>
                                  <p:childTnLst>
                                    <p:set>
                                      <p:cBhvr>
                                        <p:cTn id="232" dur="1" fill="hold">
                                          <p:stCondLst>
                                            <p:cond delay="0"/>
                                          </p:stCondLst>
                                        </p:cTn>
                                        <p:tgtEl>
                                          <p:spTgt spid="290">
                                            <p:txEl>
                                              <p:pRg st="2" end="2"/>
                                            </p:txEl>
                                          </p:spTgt>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290">
                                            <p:txEl>
                                              <p:pRg st="3" end="3"/>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1">
                                  <p:stCondLst>
                                    <p:cond delay="0"/>
                                  </p:stCondLst>
                                  <p:childTnLst>
                                    <p:set>
                                      <p:cBhvr>
                                        <p:cTn id="240" dur="1" fill="hold">
                                          <p:stCondLst>
                                            <p:cond delay="0"/>
                                          </p:stCondLst>
                                        </p:cTn>
                                        <p:tgtEl>
                                          <p:spTgt spid="290">
                                            <p:txEl>
                                              <p:pRg st="4" end="4"/>
                                            </p:txEl>
                                          </p:spTgt>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nodeType="clickEffect" fill="hold" presetClass="entr" presetID="1">
                                  <p:stCondLst>
                                    <p:cond delay="0"/>
                                  </p:stCondLst>
                                  <p:childTnLst>
                                    <p:set>
                                      <p:cBhvr>
                                        <p:cTn id="244" dur="1" fill="hold">
                                          <p:stCondLst>
                                            <p:cond delay="0"/>
                                          </p:stCondLst>
                                        </p:cTn>
                                        <p:tgtEl>
                                          <p:spTgt spid="290">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Memory Leaks</a:t>
            </a:r>
            <a:endParaRPr b="0" lang="en-US" sz="2600" spc="-1" strike="noStrike">
              <a:solidFill>
                <a:srgbClr val="000000"/>
              </a:solidFill>
              <a:latin typeface="Arial"/>
            </a:endParaRPr>
          </a:p>
        </p:txBody>
      </p:sp>
      <p:sp>
        <p:nvSpPr>
          <p:cNvPr id="29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When do memory leaks occur?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you allocate a chunk of memory and never free 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Are they always bad?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Well, it depends…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If your program allocates memory, performs computations on it, and then exits, it is probably not necessary to free the allocated memory. When the program exits, all of its memory is deallocated by the operating system.</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But, this might not always be the case…</a:t>
            </a:r>
            <a:endParaRPr b="0" lang="en-US" sz="1600" spc="-1" strike="noStrike">
              <a:solidFill>
                <a:srgbClr val="000000"/>
              </a:solidFill>
              <a:latin typeface="Arial"/>
            </a:endParaRPr>
          </a:p>
        </p:txBody>
      </p:sp>
      <p:sp>
        <p:nvSpPr>
          <p:cNvPr id="294" name="PlaceHolder 3"/>
          <p:cNvSpPr>
            <a:spLocks noGrp="1"/>
          </p:cNvSpPr>
          <p:nvPr>
            <p:ph type="sldNum" idx="4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34004B8-86D3-4BB5-9BD6-C0A8CF1E001F}" type="slidenum">
              <a:rPr b="0" lang="el" sz="1000" spc="-1" strike="noStrike">
                <a:solidFill>
                  <a:schemeClr val="accent1"/>
                </a:solidFill>
                <a:latin typeface="Lato"/>
                <a:ea typeface="Lato"/>
              </a:rPr>
              <a:t>39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45" dur="indefinite" restart="never" nodeType="tmRoot">
          <p:childTnLst>
            <p:seq>
              <p:cTn id="246" dur="indefinite" nodeType="mainSeq">
                <p:childTnLst>
                  <p:par>
                    <p:cTn id="247" fill="hold">
                      <p:stCondLst>
                        <p:cond delay="indefinite"/>
                      </p:stCondLst>
                      <p:childTnLst>
                        <p:par>
                          <p:cTn id="248" fill="hold">
                            <p:stCondLst>
                              <p:cond delay="0"/>
                            </p:stCondLst>
                            <p:childTnLst>
                              <p:par>
                                <p:cTn id="249" nodeType="clickEffect" fill="hold" presetClass="entr" presetID="1">
                                  <p:stCondLst>
                                    <p:cond delay="0"/>
                                  </p:stCondLst>
                                  <p:childTnLst>
                                    <p:set>
                                      <p:cBhvr>
                                        <p:cTn id="250" dur="1" fill="hold">
                                          <p:stCondLst>
                                            <p:cond delay="0"/>
                                          </p:stCondLst>
                                        </p:cTn>
                                        <p:tgtEl>
                                          <p:spTgt spid="293">
                                            <p:txEl>
                                              <p:pRg st="0" end="0"/>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
                                  <p:stCondLst>
                                    <p:cond delay="0"/>
                                  </p:stCondLst>
                                  <p:childTnLst>
                                    <p:set>
                                      <p:cBhvr>
                                        <p:cTn id="254" dur="1" fill="hold">
                                          <p:stCondLst>
                                            <p:cond delay="0"/>
                                          </p:stCondLst>
                                        </p:cTn>
                                        <p:tgtEl>
                                          <p:spTgt spid="293">
                                            <p:txEl>
                                              <p:pRg st="1" end="1"/>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293">
                                            <p:txEl>
                                              <p:pRg st="2" end="2"/>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293">
                                            <p:txEl>
                                              <p:pRg st="3" end="3"/>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293">
                                            <p:txEl>
                                              <p:pRg st="4" end="4"/>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1">
                                  <p:stCondLst>
                                    <p:cond delay="0"/>
                                  </p:stCondLst>
                                  <p:childTnLst>
                                    <p:set>
                                      <p:cBhvr>
                                        <p:cTn id="270" dur="1" fill="hold">
                                          <p:stCondLst>
                                            <p:cond delay="0"/>
                                          </p:stCondLst>
                                        </p:cTn>
                                        <p:tgtEl>
                                          <p:spTgt spid="293">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Happens With Harmful Memory Leaks?</a:t>
            </a:r>
            <a:endParaRPr b="0" lang="en-US" sz="2600" spc="-1" strike="noStrike">
              <a:solidFill>
                <a:srgbClr val="000000"/>
              </a:solidFill>
              <a:latin typeface="Arial"/>
            </a:endParaRPr>
          </a:p>
        </p:txBody>
      </p:sp>
      <p:sp>
        <p:nvSpPr>
          <p:cNvPr id="296" name="PlaceHolder 2"/>
          <p:cNvSpPr>
            <a:spLocks noGrp="1"/>
          </p:cNvSpPr>
          <p:nvPr>
            <p:ph/>
          </p:nvPr>
        </p:nvSpPr>
        <p:spPr>
          <a:xfrm>
            <a:off x="729360" y="1378080"/>
            <a:ext cx="7688520" cy="34686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Scenario 1:</a:t>
            </a:r>
            <a:r>
              <a:rPr b="0" lang="el" sz="1600" spc="-1" strike="noStrike">
                <a:solidFill>
                  <a:schemeClr val="accent1"/>
                </a:solidFill>
                <a:latin typeface="Lato"/>
                <a:ea typeface="Lato"/>
              </a:rPr>
              <a:t> At some point, the system runs out of physical memory. On systems without virtual memory, the next call to malloc will fail, returning NULL.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Scenario 2:</a:t>
            </a:r>
            <a:r>
              <a:rPr b="0" lang="el" sz="1600" spc="-1" strike="noStrike">
                <a:solidFill>
                  <a:schemeClr val="accent1"/>
                </a:solidFill>
                <a:latin typeface="Lato"/>
                <a:ea typeface="Lato"/>
              </a:rPr>
              <a:t> On systems with virtual memory, the operating system can move another process’s pages from memory to disk and then allocate more space to the leaking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Scenario 3:</a:t>
            </a:r>
            <a:r>
              <a:rPr b="0" lang="el" sz="1600" spc="-1" strike="noStrike">
                <a:solidFill>
                  <a:schemeClr val="accent1"/>
                </a:solidFill>
                <a:latin typeface="Lato"/>
                <a:ea typeface="Lato"/>
              </a:rPr>
              <a:t> There might be a limit on the amount of space a single process can allocate; beyond that, malloc returns NULL.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Scenario 4:</a:t>
            </a:r>
            <a:r>
              <a:rPr b="0" lang="el" sz="1600" spc="-1" strike="noStrike">
                <a:solidFill>
                  <a:schemeClr val="accent1"/>
                </a:solidFill>
                <a:latin typeface="Lato"/>
                <a:ea typeface="Lato"/>
              </a:rPr>
              <a:t> Eventually, a process might fill its virtual address space (or the usable part). After that, there are no more addresses to allocate, so malloc returns NULL.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Whenever malloc returns NULL, we get a </a:t>
            </a:r>
            <a:r>
              <a:rPr b="1" lang="el" sz="1600" spc="-1" strike="noStrike">
                <a:solidFill>
                  <a:schemeClr val="accent1"/>
                </a:solidFill>
                <a:latin typeface="Lato"/>
                <a:ea typeface="Lato"/>
              </a:rPr>
              <a:t>segmentation fault.</a:t>
            </a:r>
            <a:endParaRPr b="0" lang="en-US" sz="1600" spc="-1" strike="noStrike">
              <a:solidFill>
                <a:srgbClr val="000000"/>
              </a:solidFill>
              <a:latin typeface="Arial"/>
            </a:endParaRPr>
          </a:p>
        </p:txBody>
      </p:sp>
      <p:sp>
        <p:nvSpPr>
          <p:cNvPr id="297" name="PlaceHolder 3"/>
          <p:cNvSpPr>
            <a:spLocks noGrp="1"/>
          </p:cNvSpPr>
          <p:nvPr>
            <p:ph type="sldNum" idx="4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1B06D9C-84F2-4684-8FFA-6C343973A884}" type="slidenum">
              <a:rPr b="0" lang="el" sz="1000" spc="-1" strike="noStrike">
                <a:solidFill>
                  <a:schemeClr val="accent1"/>
                </a:solidFill>
                <a:latin typeface="Lato"/>
                <a:ea typeface="Lato"/>
              </a:rPr>
              <a:t>40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71" dur="indefinite" restart="never" nodeType="tmRoot">
          <p:childTnLst>
            <p:seq>
              <p:cTn id="272" dur="indefinite" nodeType="mainSeq">
                <p:childTnLst>
                  <p:par>
                    <p:cTn id="273" fill="hold">
                      <p:stCondLst>
                        <p:cond delay="indefinite"/>
                      </p:stCondLst>
                      <p:childTnLst>
                        <p:par>
                          <p:cTn id="274" fill="hold">
                            <p:stCondLst>
                              <p:cond delay="0"/>
                            </p:stCondLst>
                            <p:childTnLst>
                              <p:par>
                                <p:cTn id="275" nodeType="clickEffect" fill="hold" presetClass="entr" presetID="1">
                                  <p:stCondLst>
                                    <p:cond delay="0"/>
                                  </p:stCondLst>
                                  <p:childTnLst>
                                    <p:set>
                                      <p:cBhvr>
                                        <p:cTn id="276" dur="1" fill="hold">
                                          <p:stCondLst>
                                            <p:cond delay="0"/>
                                          </p:stCondLst>
                                        </p:cTn>
                                        <p:tgtEl>
                                          <p:spTgt spid="296">
                                            <p:txEl>
                                              <p:pRg st="0" end="0"/>
                                            </p:txEl>
                                          </p:spTgt>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1">
                                  <p:stCondLst>
                                    <p:cond delay="0"/>
                                  </p:stCondLst>
                                  <p:childTnLst>
                                    <p:set>
                                      <p:cBhvr>
                                        <p:cTn id="280" dur="1" fill="hold">
                                          <p:stCondLst>
                                            <p:cond delay="0"/>
                                          </p:stCondLst>
                                        </p:cTn>
                                        <p:tgtEl>
                                          <p:spTgt spid="296">
                                            <p:txEl>
                                              <p:pRg st="1" end="1"/>
                                            </p:txEl>
                                          </p:spTgt>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nodeType="clickEffect" fill="hold" presetClass="entr" presetID="1">
                                  <p:stCondLst>
                                    <p:cond delay="0"/>
                                  </p:stCondLst>
                                  <p:childTnLst>
                                    <p:set>
                                      <p:cBhvr>
                                        <p:cTn id="284" dur="1" fill="hold">
                                          <p:stCondLst>
                                            <p:cond delay="0"/>
                                          </p:stCondLst>
                                        </p:cTn>
                                        <p:tgtEl>
                                          <p:spTgt spid="296">
                                            <p:txEl>
                                              <p:pRg st="2" end="2"/>
                                            </p:txEl>
                                          </p:spTgt>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
                                  <p:stCondLst>
                                    <p:cond delay="0"/>
                                  </p:stCondLst>
                                  <p:childTnLst>
                                    <p:set>
                                      <p:cBhvr>
                                        <p:cTn id="288" dur="1" fill="hold">
                                          <p:stCondLst>
                                            <p:cond delay="0"/>
                                          </p:stCondLst>
                                        </p:cTn>
                                        <p:tgtEl>
                                          <p:spTgt spid="296">
                                            <p:txEl>
                                              <p:pRg st="3" end="3"/>
                                            </p:txEl>
                                          </p:spTgt>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nodeType="clickEffect" fill="hold" presetClass="entr" presetID="1">
                                  <p:stCondLst>
                                    <p:cond delay="0"/>
                                  </p:stCondLst>
                                  <p:childTnLst>
                                    <p:set>
                                      <p:cBhvr>
                                        <p:cTn id="292" dur="1" fill="hold">
                                          <p:stCondLst>
                                            <p:cond delay="0"/>
                                          </p:stCondLst>
                                        </p:cTn>
                                        <p:tgtEl>
                                          <p:spTgt spid="29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Checking For Segmentation Faults</a:t>
            </a:r>
            <a:endParaRPr b="0" lang="en-US" sz="2600" spc="-1" strike="noStrike">
              <a:solidFill>
                <a:srgbClr val="000000"/>
              </a:solidFill>
              <a:latin typeface="Arial"/>
            </a:endParaRPr>
          </a:p>
        </p:txBody>
      </p:sp>
      <p:sp>
        <p:nvSpPr>
          <p:cNvPr id="299" name="PlaceHolder 2"/>
          <p:cNvSpPr>
            <a:spLocks noGrp="1"/>
          </p:cNvSpPr>
          <p:nvPr>
            <p:ph/>
          </p:nvPr>
        </p:nvSpPr>
        <p:spPr>
          <a:xfrm>
            <a:off x="729360" y="1378080"/>
            <a:ext cx="7688520" cy="3765240"/>
          </a:xfrm>
          <a:prstGeom prst="rect">
            <a:avLst/>
          </a:prstGeom>
          <a:noFill/>
          <a:ln w="0">
            <a:noFill/>
          </a:ln>
        </p:spPr>
        <p:txBody>
          <a:bodyPr tIns="91440" bIns="91440" anchor="t">
            <a:normAutofit fontScale="97000"/>
          </a:bodyPr>
          <a:p>
            <a:pPr indent="0">
              <a:lnSpc>
                <a:spcPct val="115000"/>
              </a:lnSpc>
              <a:buNone/>
              <a:tabLst>
                <a:tab algn="l" pos="0"/>
              </a:tabLst>
            </a:pPr>
            <a:r>
              <a:rPr b="0" lang="el" sz="1600" spc="-1" strike="noStrike">
                <a:solidFill>
                  <a:schemeClr val="accent1"/>
                </a:solidFill>
                <a:latin typeface="Lato"/>
                <a:ea typeface="Lato"/>
              </a:rPr>
              <a:t>One way of catching and handling malloc’s NULLs  is through the following general purpose code:</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00ff"/>
                </a:solidFill>
                <a:highlight>
                  <a:srgbClr val="ffffff"/>
                </a:highlight>
                <a:latin typeface="Consolas"/>
                <a:ea typeface="Consolas"/>
              </a:rPr>
              <a:t>void</a:t>
            </a:r>
            <a:r>
              <a:rPr b="0" lang="el" sz="1050" spc="-1" strike="noStrike">
                <a:solidFill>
                  <a:srgbClr val="000000"/>
                </a:solidFill>
                <a:highlight>
                  <a:srgbClr val="ffffff"/>
                </a:highlight>
                <a:latin typeface="Consolas"/>
                <a:ea typeface="Consolas"/>
              </a:rPr>
              <a:t> *p = </a:t>
            </a:r>
            <a:r>
              <a:rPr b="0" lang="el" sz="1050" spc="-1" strike="noStrike">
                <a:solidFill>
                  <a:srgbClr val="795e26"/>
                </a:solidFill>
                <a:highlight>
                  <a:srgbClr val="ffffff"/>
                </a:highlight>
                <a:latin typeface="Consolas"/>
                <a:ea typeface="Consolas"/>
              </a:rPr>
              <a:t>malloc</a:t>
            </a:r>
            <a:r>
              <a:rPr b="0" lang="el" sz="1050" spc="-1" strike="noStrike">
                <a:solidFill>
                  <a:srgbClr val="000000"/>
                </a:solidFill>
                <a:highlight>
                  <a:srgbClr val="ffffff"/>
                </a:highlight>
                <a:latin typeface="Consolas"/>
                <a:ea typeface="Consolas"/>
              </a:rPr>
              <a:t>(size);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 == </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perror</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"malloc failed"</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marL="443160" indent="-320040">
              <a:lnSpc>
                <a:spcPct val="115000"/>
              </a:lnSpc>
              <a:buClr>
                <a:srgbClr val="595959"/>
              </a:buClr>
              <a:buFont typeface="Lato"/>
              <a:buChar char="●"/>
              <a:tabLst>
                <a:tab algn="l" pos="0"/>
              </a:tabLst>
            </a:pPr>
            <a:r>
              <a:rPr b="0" lang="el" sz="1600" spc="-1" strike="noStrike">
                <a:solidFill>
                  <a:schemeClr val="accent1"/>
                </a:solidFill>
                <a:latin typeface="Lato"/>
                <a:ea typeface="Lato"/>
              </a:rPr>
              <a:t>perror is declared in stdio.h; it prints an error message and additional information about the last error that occurred.</a:t>
            </a:r>
            <a:endParaRPr b="0" lang="en-US" sz="1600" spc="-1" strike="noStrike">
              <a:solidFill>
                <a:srgbClr val="000000"/>
              </a:solidFill>
              <a:latin typeface="Arial"/>
            </a:endParaRPr>
          </a:p>
          <a:p>
            <a:pPr marL="443160" indent="-320040">
              <a:lnSpc>
                <a:spcPct val="115000"/>
              </a:lnSpc>
              <a:buClr>
                <a:srgbClr val="595959"/>
              </a:buClr>
              <a:buFont typeface="Lato"/>
              <a:buChar char="●"/>
              <a:tabLst>
                <a:tab algn="l" pos="0"/>
              </a:tabLst>
            </a:pPr>
            <a:r>
              <a:rPr b="0" lang="el" sz="1600" spc="-1" strike="noStrike">
                <a:solidFill>
                  <a:schemeClr val="accent1"/>
                </a:solidFill>
                <a:latin typeface="Lato"/>
                <a:ea typeface="Lato"/>
              </a:rPr>
              <a:t>exit, which is declared in stdlib.h, causes the process to terminate. The argument is a status code that indicates how the process terminated. By convention, status code 0 indicates normal termination and -1 indicates an error condition. Sometimes other codes are used to indicate different error conditions.</a:t>
            </a:r>
            <a:endParaRPr b="0" lang="en-US" sz="1600" spc="-1" strike="noStrike">
              <a:solidFill>
                <a:srgbClr val="000000"/>
              </a:solidFill>
              <a:latin typeface="Arial"/>
            </a:endParaRPr>
          </a:p>
        </p:txBody>
      </p:sp>
      <p:sp>
        <p:nvSpPr>
          <p:cNvPr id="300" name="PlaceHolder 3"/>
          <p:cNvSpPr>
            <a:spLocks noGrp="1"/>
          </p:cNvSpPr>
          <p:nvPr>
            <p:ph type="sldNum" idx="4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86BD7D4-0688-4061-A488-36AC0845E395}" type="slidenum">
              <a:rPr b="0" lang="el" sz="1000" spc="-1" strike="noStrike">
                <a:solidFill>
                  <a:schemeClr val="accent1"/>
                </a:solidFill>
                <a:latin typeface="Lato"/>
                <a:ea typeface="Lato"/>
              </a:rPr>
              <a:t>41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93" dur="indefinite" restart="never" nodeType="tmRoot">
          <p:childTnLst>
            <p:seq>
              <p:cTn id="294" dur="indefinite" nodeType="mainSeq">
                <p:childTnLst>
                  <p:par>
                    <p:cTn id="295" fill="hold">
                      <p:stCondLst>
                        <p:cond delay="indefinite"/>
                      </p:stCondLst>
                      <p:childTnLst>
                        <p:par>
                          <p:cTn id="296" fill="hold">
                            <p:stCondLst>
                              <p:cond delay="0"/>
                            </p:stCondLst>
                            <p:childTnLst>
                              <p:par>
                                <p:cTn id="297" nodeType="clickEffect" fill="hold" presetClass="entr" presetID="1">
                                  <p:stCondLst>
                                    <p:cond delay="0"/>
                                  </p:stCondLst>
                                  <p:childTnLst>
                                    <p:set>
                                      <p:cBhvr>
                                        <p:cTn id="298" dur="1" fill="hold">
                                          <p:stCondLst>
                                            <p:cond delay="0"/>
                                          </p:stCondLst>
                                        </p:cTn>
                                        <p:tgtEl>
                                          <p:spTgt spid="299">
                                            <p:txEl>
                                              <p:pRg st="0" end="0"/>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nodeType="clickEffect" fill="hold" presetClass="entr" presetID="1">
                                  <p:stCondLst>
                                    <p:cond delay="0"/>
                                  </p:stCondLst>
                                  <p:childTnLst>
                                    <p:set>
                                      <p:cBhvr>
                                        <p:cTn id="302" dur="1" fill="hold">
                                          <p:stCondLst>
                                            <p:cond delay="0"/>
                                          </p:stCondLst>
                                        </p:cTn>
                                        <p:tgtEl>
                                          <p:spTgt spid="299">
                                            <p:txEl>
                                              <p:pRg st="1" end="1"/>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nodeType="clickEffect" fill="hold" presetClass="entr" presetID="1">
                                  <p:stCondLst>
                                    <p:cond delay="0"/>
                                  </p:stCondLst>
                                  <p:childTnLst>
                                    <p:set>
                                      <p:cBhvr>
                                        <p:cTn id="306" dur="1" fill="hold">
                                          <p:stCondLst>
                                            <p:cond delay="0"/>
                                          </p:stCondLst>
                                        </p:cTn>
                                        <p:tgtEl>
                                          <p:spTgt spid="299">
                                            <p:txEl>
                                              <p:pRg st="2" end="2"/>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nodeType="clickEffect" fill="hold" presetClass="entr" presetID="1">
                                  <p:stCondLst>
                                    <p:cond delay="0"/>
                                  </p:stCondLst>
                                  <p:childTnLst>
                                    <p:set>
                                      <p:cBhvr>
                                        <p:cTn id="310" dur="1" fill="hold">
                                          <p:stCondLst>
                                            <p:cond delay="0"/>
                                          </p:stCondLst>
                                        </p:cTn>
                                        <p:tgtEl>
                                          <p:spTgt spid="299">
                                            <p:txEl>
                                              <p:pRg st="3" end="3"/>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nodeType="clickEffect" fill="hold" presetClass="entr" presetID="1">
                                  <p:stCondLst>
                                    <p:cond delay="0"/>
                                  </p:stCondLst>
                                  <p:childTnLst>
                                    <p:set>
                                      <p:cBhvr>
                                        <p:cTn id="314" dur="1" fill="hold">
                                          <p:stCondLst>
                                            <p:cond delay="0"/>
                                          </p:stCondLst>
                                        </p:cTn>
                                        <p:tgtEl>
                                          <p:spTgt spid="299">
                                            <p:txEl>
                                              <p:pRg st="4" end="4"/>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nodeType="clickEffect" fill="hold" presetClass="entr" presetID="1">
                                  <p:stCondLst>
                                    <p:cond delay="0"/>
                                  </p:stCondLst>
                                  <p:childTnLst>
                                    <p:set>
                                      <p:cBhvr>
                                        <p:cTn id="318" dur="1" fill="hold">
                                          <p:stCondLst>
                                            <p:cond delay="0"/>
                                          </p:stCondLst>
                                        </p:cTn>
                                        <p:tgtEl>
                                          <p:spTgt spid="299">
                                            <p:txEl>
                                              <p:pRg st="5" end="5"/>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299">
                                            <p:txEl>
                                              <p:pRg st="6" end="6"/>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
                                  <p:stCondLst>
                                    <p:cond delay="0"/>
                                  </p:stCondLst>
                                  <p:childTnLst>
                                    <p:set>
                                      <p:cBhvr>
                                        <p:cTn id="326" dur="1" fill="hold">
                                          <p:stCondLst>
                                            <p:cond delay="0"/>
                                          </p:stCondLst>
                                        </p:cTn>
                                        <p:tgtEl>
                                          <p:spTgt spid="29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Better Solution: Wrapping malloc</a:t>
            </a:r>
            <a:endParaRPr b="0" lang="en-US" sz="2600" spc="-1" strike="noStrike">
              <a:solidFill>
                <a:srgbClr val="000000"/>
              </a:solidFill>
              <a:latin typeface="Arial"/>
            </a:endParaRPr>
          </a:p>
        </p:txBody>
      </p:sp>
      <p:sp>
        <p:nvSpPr>
          <p:cNvPr id="30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We can actually create a wrapper to avoid writing such code all the time:</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00ff"/>
                </a:solidFill>
                <a:highlight>
                  <a:srgbClr val="ffffff"/>
                </a:highlight>
                <a:latin typeface="Consolas"/>
                <a:ea typeface="Consolas"/>
              </a:rPr>
              <a:t>void</a:t>
            </a: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check_malloc</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int</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size</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void</a:t>
            </a:r>
            <a:r>
              <a:rPr b="0" lang="el" sz="1050" spc="-1" strike="noStrike">
                <a:solidFill>
                  <a:srgbClr val="000000"/>
                </a:solidFill>
                <a:highlight>
                  <a:srgbClr val="ffffff"/>
                </a:highlight>
                <a:latin typeface="Consolas"/>
                <a:ea typeface="Consolas"/>
              </a:rPr>
              <a:t> *p = </a:t>
            </a:r>
            <a:r>
              <a:rPr b="0" lang="el" sz="1050" spc="-1" strike="noStrike">
                <a:solidFill>
                  <a:srgbClr val="795e26"/>
                </a:solidFill>
                <a:highlight>
                  <a:srgbClr val="ffffff"/>
                </a:highlight>
                <a:latin typeface="Consolas"/>
                <a:ea typeface="Consolas"/>
              </a:rPr>
              <a:t>malloc</a:t>
            </a:r>
            <a:r>
              <a:rPr b="0" lang="el" sz="1050" spc="-1" strike="noStrike">
                <a:solidFill>
                  <a:srgbClr val="000000"/>
                </a:solidFill>
                <a:highlight>
                  <a:srgbClr val="ffffff"/>
                </a:highlight>
                <a:latin typeface="Consolas"/>
                <a:ea typeface="Consolas"/>
              </a:rPr>
              <a:t> (size);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 == </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perror</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"malloc failed"</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return</a:t>
            </a:r>
            <a:r>
              <a:rPr b="0" lang="el" sz="1050" spc="-1" strike="noStrike">
                <a:solidFill>
                  <a:srgbClr val="000000"/>
                </a:solidFill>
                <a:highlight>
                  <a:srgbClr val="ffffff"/>
                </a:highlight>
                <a:latin typeface="Consolas"/>
                <a:ea typeface="Consolas"/>
              </a:rPr>
              <a:t> p;</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p:txBody>
      </p:sp>
      <p:sp>
        <p:nvSpPr>
          <p:cNvPr id="303" name="PlaceHolder 3"/>
          <p:cNvSpPr>
            <a:spLocks noGrp="1"/>
          </p:cNvSpPr>
          <p:nvPr>
            <p:ph type="sldNum" idx="4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1506F65-01D8-4BE9-A91A-B2CF95E9F380}" type="slidenum">
              <a:rPr b="0" lang="el" sz="1000" spc="-1" strike="noStrike">
                <a:solidFill>
                  <a:schemeClr val="accent1"/>
                </a:solidFill>
                <a:latin typeface="Lato"/>
                <a:ea typeface="Lato"/>
              </a:rPr>
              <a:t>42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How Memory is Allocated (TL;DR)</a:t>
            </a:r>
            <a:endParaRPr b="0" lang="en-US" sz="2600" spc="-1" strike="noStrike">
              <a:solidFill>
                <a:srgbClr val="000000"/>
              </a:solidFill>
              <a:latin typeface="Arial"/>
            </a:endParaRPr>
          </a:p>
        </p:txBody>
      </p:sp>
      <p:sp>
        <p:nvSpPr>
          <p:cNvPr id="305"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When a process starts, the system allocates space for the text segment and statically allocated data, space for the stack, and space for the heap, which contains dynamically allocated data.</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When malloc is called, it checks whether it can find a free chunk that’s big enough.</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not, it has to request more memory from the system.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This is done by calling the sbrk function, which accesses and modifies the heap’s “end” (“program break”, as it is mostly known).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When sbrk is called, the OS allocates new pages of physical memory, updates the process page table, and sets the program break.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Shall you summon the beast?</a:t>
            </a:r>
            <a:r>
              <a:rPr b="0" lang="el" sz="1600" spc="-1" strike="noStrike">
                <a:solidFill>
                  <a:schemeClr val="accent1"/>
                </a:solidFill>
                <a:latin typeface="Lato"/>
                <a:ea typeface="Lato"/>
              </a:rPr>
              <a:t> Probably not, since most of the times malloc runs fast enough to avoid calling sbrk directly.</a:t>
            </a:r>
            <a:endParaRPr b="0" lang="en-US" sz="1600" spc="-1" strike="noStrike">
              <a:solidFill>
                <a:srgbClr val="000000"/>
              </a:solidFill>
              <a:latin typeface="Arial"/>
            </a:endParaRPr>
          </a:p>
        </p:txBody>
      </p:sp>
      <p:sp>
        <p:nvSpPr>
          <p:cNvPr id="306" name="PlaceHolder 3"/>
          <p:cNvSpPr>
            <a:spLocks noGrp="1"/>
          </p:cNvSpPr>
          <p:nvPr>
            <p:ph type="sldNum" idx="4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DC6EEEF-E212-41BF-AA32-4150913C01B8}" type="slidenum">
              <a:rPr b="0" lang="el" sz="1000" spc="-1" strike="noStrike">
                <a:solidFill>
                  <a:schemeClr val="accent1"/>
                </a:solidFill>
                <a:latin typeface="Lato"/>
                <a:ea typeface="Lato"/>
              </a:rPr>
              <a:t>43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27" dur="indefinite" restart="never" nodeType="tmRoot">
          <p:childTnLst>
            <p:seq>
              <p:cTn id="328" dur="indefinite" nodeType="mainSeq">
                <p:childTnLst>
                  <p:par>
                    <p:cTn id="329" fill="hold">
                      <p:stCondLst>
                        <p:cond delay="indefinite"/>
                      </p:stCondLst>
                      <p:childTnLst>
                        <p:par>
                          <p:cTn id="330" fill="hold">
                            <p:stCondLst>
                              <p:cond delay="0"/>
                            </p:stCondLst>
                            <p:childTnLst>
                              <p:par>
                                <p:cTn id="331" nodeType="clickEffect" fill="hold" presetClass="entr" presetID="1">
                                  <p:stCondLst>
                                    <p:cond delay="0"/>
                                  </p:stCondLst>
                                  <p:childTnLst>
                                    <p:set>
                                      <p:cBhvr>
                                        <p:cTn id="332" dur="1" fill="hold">
                                          <p:stCondLst>
                                            <p:cond delay="0"/>
                                          </p:stCondLst>
                                        </p:cTn>
                                        <p:tgtEl>
                                          <p:spTgt spid="305">
                                            <p:txEl>
                                              <p:pRg st="0" end="0"/>
                                            </p:txEl>
                                          </p:spTgt>
                                        </p:tgtEl>
                                        <p:attrNameLst>
                                          <p:attrName>style.visibility</p:attrName>
                                        </p:attrNameLst>
                                      </p:cBhvr>
                                      <p:to>
                                        <p:strVal val="visible"/>
                                      </p:to>
                                    </p:se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
                                  <p:stCondLst>
                                    <p:cond delay="0"/>
                                  </p:stCondLst>
                                  <p:childTnLst>
                                    <p:set>
                                      <p:cBhvr>
                                        <p:cTn id="336" dur="1" fill="hold">
                                          <p:stCondLst>
                                            <p:cond delay="0"/>
                                          </p:stCondLst>
                                        </p:cTn>
                                        <p:tgtEl>
                                          <p:spTgt spid="305">
                                            <p:txEl>
                                              <p:pRg st="1" end="1"/>
                                            </p:txEl>
                                          </p:spTgt>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nodeType="clickEffect" fill="hold" presetClass="entr" presetID="1">
                                  <p:stCondLst>
                                    <p:cond delay="0"/>
                                  </p:stCondLst>
                                  <p:childTnLst>
                                    <p:set>
                                      <p:cBhvr>
                                        <p:cTn id="340" dur="1" fill="hold">
                                          <p:stCondLst>
                                            <p:cond delay="0"/>
                                          </p:stCondLst>
                                        </p:cTn>
                                        <p:tgtEl>
                                          <p:spTgt spid="305">
                                            <p:txEl>
                                              <p:pRg st="2" end="2"/>
                                            </p:txEl>
                                          </p:spTgt>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nodeType="clickEffect" fill="hold" presetClass="entr" presetID="1">
                                  <p:stCondLst>
                                    <p:cond delay="0"/>
                                  </p:stCondLst>
                                  <p:childTnLst>
                                    <p:set>
                                      <p:cBhvr>
                                        <p:cTn id="344" dur="1" fill="hold">
                                          <p:stCondLst>
                                            <p:cond delay="0"/>
                                          </p:stCondLst>
                                        </p:cTn>
                                        <p:tgtEl>
                                          <p:spTgt spid="305">
                                            <p:txEl>
                                              <p:pRg st="3" end="3"/>
                                            </p:txEl>
                                          </p:spTgt>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nodeType="clickEffect" fill="hold" presetClass="entr" presetID="1">
                                  <p:stCondLst>
                                    <p:cond delay="0"/>
                                  </p:stCondLst>
                                  <p:childTnLst>
                                    <p:set>
                                      <p:cBhvr>
                                        <p:cTn id="348" dur="1" fill="hold">
                                          <p:stCondLst>
                                            <p:cond delay="0"/>
                                          </p:stCondLst>
                                        </p:cTn>
                                        <p:tgtEl>
                                          <p:spTgt spid="305">
                                            <p:txEl>
                                              <p:pRg st="4" end="4"/>
                                            </p:txEl>
                                          </p:spTgt>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nodeType="clickEffect" fill="hold" presetClass="entr" presetID="1">
                                  <p:stCondLst>
                                    <p:cond delay="0"/>
                                  </p:stCondLst>
                                  <p:childTnLst>
                                    <p:set>
                                      <p:cBhvr>
                                        <p:cTn id="352" dur="1" fill="hold">
                                          <p:stCondLst>
                                            <p:cond delay="0"/>
                                          </p:stCondLst>
                                        </p:cTn>
                                        <p:tgtEl>
                                          <p:spTgt spid="305">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Tips And Tricks</a:t>
            </a:r>
            <a:endParaRPr b="0" lang="en-US" sz="2600" spc="-1" strike="noStrike">
              <a:solidFill>
                <a:srgbClr val="000000"/>
              </a:solidFill>
              <a:latin typeface="Arial"/>
            </a:endParaRPr>
          </a:p>
        </p:txBody>
      </p:sp>
      <p:sp>
        <p:nvSpPr>
          <p:cNvPr id="30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The run time of malloc does not usually depend on the size of the chunk</a:t>
            </a:r>
            <a:r>
              <a:rPr b="0" lang="el" sz="1600" spc="-1" strike="noStrike">
                <a:solidFill>
                  <a:schemeClr val="accent1"/>
                </a:solidFill>
                <a:latin typeface="Lato"/>
                <a:ea typeface="Lato"/>
              </a:rPr>
              <a:t>, but might depend on how many free chunks there are. free is usually fast, regardless of the number of free chunks. Because calloc clears every byte in the chunk, the run time depends on chunk size (as well as the number of free chunks).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realloc </a:t>
            </a:r>
            <a:r>
              <a:rPr b="0" lang="el" sz="1600" spc="-1" strike="noStrike">
                <a:solidFill>
                  <a:schemeClr val="accent1"/>
                </a:solidFill>
                <a:latin typeface="Lato"/>
                <a:ea typeface="Lato"/>
              </a:rPr>
              <a:t>is sometimes fast, if the new size is smaller than the current size, or if space is available to expand the existing chunk. If not, it has to copy data from the old chunk to the new; in that case, the run time depends on the size of the old chunk.</a:t>
            </a:r>
            <a:endParaRPr b="0" lang="en-US" sz="1600" spc="-1" strike="noStrike">
              <a:solidFill>
                <a:srgbClr val="000000"/>
              </a:solidFill>
              <a:latin typeface="Arial"/>
            </a:endParaRPr>
          </a:p>
        </p:txBody>
      </p:sp>
      <p:sp>
        <p:nvSpPr>
          <p:cNvPr id="309" name="PlaceHolder 3"/>
          <p:cNvSpPr>
            <a:spLocks noGrp="1"/>
          </p:cNvSpPr>
          <p:nvPr>
            <p:ph type="sldNum" idx="4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C565998-F81A-449B-947C-DA4ED6F870CA}" type="slidenum">
              <a:rPr b="0" lang="el" sz="1000" spc="-1" strike="noStrike">
                <a:solidFill>
                  <a:schemeClr val="accent1"/>
                </a:solidFill>
                <a:latin typeface="Lato"/>
                <a:ea typeface="Lato"/>
              </a:rPr>
              <a:t>44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53" dur="indefinite" restart="never" nodeType="tmRoot">
          <p:childTnLst>
            <p:seq>
              <p:cTn id="354" dur="indefinite" nodeType="mainSeq">
                <p:childTnLst>
                  <p:par>
                    <p:cTn id="355" fill="hold">
                      <p:stCondLst>
                        <p:cond delay="indefinite"/>
                      </p:stCondLst>
                      <p:childTnLst>
                        <p:par>
                          <p:cTn id="356" fill="hold">
                            <p:stCondLst>
                              <p:cond delay="0"/>
                            </p:stCondLst>
                            <p:childTnLst>
                              <p:par>
                                <p:cTn id="357" nodeType="clickEffect" fill="hold" presetClass="entr" presetID="1">
                                  <p:stCondLst>
                                    <p:cond delay="0"/>
                                  </p:stCondLst>
                                  <p:childTnLst>
                                    <p:set>
                                      <p:cBhvr>
                                        <p:cTn id="358" dur="1" fill="hold">
                                          <p:stCondLst>
                                            <p:cond delay="0"/>
                                          </p:stCondLst>
                                        </p:cTn>
                                        <p:tgtEl>
                                          <p:spTgt spid="308">
                                            <p:txEl>
                                              <p:pRg st="0" end="0"/>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nodeType="clickEffect" fill="hold" presetClass="entr" presetID="1">
                                  <p:stCondLst>
                                    <p:cond delay="0"/>
                                  </p:stCondLst>
                                  <p:childTnLst>
                                    <p:set>
                                      <p:cBhvr>
                                        <p:cTn id="362" dur="1" fill="hold">
                                          <p:stCondLst>
                                            <p:cond delay="0"/>
                                          </p:stCondLst>
                                        </p:cTn>
                                        <p:tgtEl>
                                          <p:spTgt spid="308">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Tips And Tricks</a:t>
            </a:r>
            <a:endParaRPr b="0" lang="en-US" sz="2600" spc="-1" strike="noStrike">
              <a:solidFill>
                <a:srgbClr val="000000"/>
              </a:solidFill>
              <a:latin typeface="Arial"/>
            </a:endParaRPr>
          </a:p>
        </p:txBody>
      </p:sp>
      <p:sp>
        <p:nvSpPr>
          <p:cNvPr id="31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Boundary tags:</a:t>
            </a:r>
            <a:r>
              <a:rPr b="0" lang="el" sz="1600" spc="-1" strike="noStrike">
                <a:solidFill>
                  <a:schemeClr val="accent1"/>
                </a:solidFill>
                <a:latin typeface="Lato"/>
                <a:ea typeface="Lato"/>
              </a:rPr>
              <a:t> When malloc allocates a chunk, it adds space at the beginning and end to store information about the chunk, including its size and the state (allocated or free). These bits of data are called “boundary tags”. Using these tags, malloc can get from any chunk to the previous chunk and the next chunk in memory. In addition, free chunks are chained into a doubly-linked list; each free chunk contains pointers to the next and previous chunks in the “free list”.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The boundary tags and free list pointers make up malloc’s internal data structures. These data structures are interspersed with program data, so it is easy for a program error to damage them.</a:t>
            </a:r>
            <a:endParaRPr b="0" lang="en-US" sz="1600" spc="-1" strike="noStrike">
              <a:solidFill>
                <a:srgbClr val="000000"/>
              </a:solidFill>
              <a:latin typeface="Arial"/>
            </a:endParaRPr>
          </a:p>
        </p:txBody>
      </p:sp>
      <p:sp>
        <p:nvSpPr>
          <p:cNvPr id="312" name="PlaceHolder 3"/>
          <p:cNvSpPr>
            <a:spLocks noGrp="1"/>
          </p:cNvSpPr>
          <p:nvPr>
            <p:ph type="sldNum" idx="4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918C75E-4966-4AFE-A9B2-9DC31E482B05}" type="slidenum">
              <a:rPr b="0" lang="el" sz="1000" spc="-1" strike="noStrike">
                <a:solidFill>
                  <a:schemeClr val="accent1"/>
                </a:solidFill>
                <a:latin typeface="Lato"/>
                <a:ea typeface="Lato"/>
              </a:rPr>
              <a:t>45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63" dur="indefinite" restart="never" nodeType="tmRoot">
          <p:childTnLst>
            <p:seq>
              <p:cTn id="364" dur="indefinite" nodeType="mainSeq">
                <p:childTnLst>
                  <p:par>
                    <p:cTn id="365" fill="hold">
                      <p:stCondLst>
                        <p:cond delay="indefinite"/>
                      </p:stCondLst>
                      <p:childTnLst>
                        <p:par>
                          <p:cTn id="366" fill="hold">
                            <p:stCondLst>
                              <p:cond delay="0"/>
                            </p:stCondLst>
                            <p:childTnLst>
                              <p:par>
                                <p:cTn id="367" nodeType="clickEffect" fill="hold" presetClass="entr" presetID="1">
                                  <p:stCondLst>
                                    <p:cond delay="0"/>
                                  </p:stCondLst>
                                  <p:childTnLst>
                                    <p:set>
                                      <p:cBhvr>
                                        <p:cTn id="368" dur="1" fill="hold">
                                          <p:stCondLst>
                                            <p:cond delay="0"/>
                                          </p:stCondLst>
                                        </p:cTn>
                                        <p:tgtEl>
                                          <p:spTgt spid="311">
                                            <p:txEl>
                                              <p:pRg st="0" end="0"/>
                                            </p:txEl>
                                          </p:spTgt>
                                        </p:tgtEl>
                                        <p:attrNameLst>
                                          <p:attrName>style.visibility</p:attrName>
                                        </p:attrNameLst>
                                      </p:cBhvr>
                                      <p:to>
                                        <p:strVal val="visible"/>
                                      </p:to>
                                    </p:set>
                                  </p:childTnLst>
                                </p:cTn>
                              </p:par>
                            </p:childTnLst>
                          </p:cTn>
                        </p:par>
                      </p:childTnLst>
                    </p:cTn>
                  </p:par>
                  <p:par>
                    <p:cTn id="369" fill="hold">
                      <p:stCondLst>
                        <p:cond delay="indefinite"/>
                      </p:stCondLst>
                      <p:childTnLst>
                        <p:par>
                          <p:cTn id="370" fill="hold">
                            <p:stCondLst>
                              <p:cond delay="0"/>
                            </p:stCondLst>
                            <p:childTnLst>
                              <p:par>
                                <p:cTn id="371" nodeType="clickEffect" fill="hold" presetClass="entr" presetID="1">
                                  <p:stCondLst>
                                    <p:cond delay="0"/>
                                  </p:stCondLst>
                                  <p:childTnLst>
                                    <p:set>
                                      <p:cBhvr>
                                        <p:cTn id="372" dur="1" fill="hold">
                                          <p:stCondLst>
                                            <p:cond delay="0"/>
                                          </p:stCondLst>
                                        </p:cTn>
                                        <p:tgtEl>
                                          <p:spTgt spid="311">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Tips And Tricks</a:t>
            </a:r>
            <a:endParaRPr b="0" lang="en-US" sz="2600" spc="-1" strike="noStrike">
              <a:solidFill>
                <a:srgbClr val="000000"/>
              </a:solidFill>
              <a:latin typeface="Arial"/>
            </a:endParaRPr>
          </a:p>
        </p:txBody>
      </p:sp>
      <p:sp>
        <p:nvSpPr>
          <p:cNvPr id="314"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Space overhead:</a:t>
            </a:r>
            <a:r>
              <a:rPr b="0" lang="el" sz="1600" spc="-1" strike="noStrike">
                <a:solidFill>
                  <a:schemeClr val="accent1"/>
                </a:solidFill>
                <a:latin typeface="Lato"/>
                <a:ea typeface="Lato"/>
              </a:rPr>
              <a:t> Boundary tags and free list pointers take up space. The minimum chunk size on most systems is 16 bytes. So for very small chunks, malloc is not space efficient. If your program requires large numbers of small structures, it might be more efficient to allocate them in arrays.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Fragmentation:</a:t>
            </a:r>
            <a:r>
              <a:rPr b="0" lang="el" sz="1600" spc="-1" strike="noStrike">
                <a:solidFill>
                  <a:schemeClr val="accent1"/>
                </a:solidFill>
                <a:latin typeface="Lato"/>
                <a:ea typeface="Lato"/>
              </a:rPr>
              <a:t> If you allocate and free chunks with varied sizes, the heap will tend to become fragmented. That is, the free space might be broken into many small pieces. Fragmentation wastes space; it also slows the program down by making memory caches less effective.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Binning and caching:</a:t>
            </a:r>
            <a:r>
              <a:rPr b="0" lang="el" sz="1600" spc="-1" strike="noStrike">
                <a:solidFill>
                  <a:schemeClr val="accent1"/>
                </a:solidFill>
                <a:latin typeface="Lato"/>
                <a:ea typeface="Lato"/>
              </a:rPr>
              <a:t> The free list is sorted by size into bins, so when malloc searches for a chunk with a particular size, it knows what bin to search in. If you free a chunk and then immediately allocate a chunk with the same size, malloc will usually be fast.</a:t>
            </a:r>
            <a:endParaRPr b="0" lang="en-US" sz="1600" spc="-1" strike="noStrike">
              <a:solidFill>
                <a:srgbClr val="000000"/>
              </a:solidFill>
              <a:latin typeface="Arial"/>
            </a:endParaRPr>
          </a:p>
        </p:txBody>
      </p:sp>
      <p:sp>
        <p:nvSpPr>
          <p:cNvPr id="315" name="PlaceHolder 3"/>
          <p:cNvSpPr>
            <a:spLocks noGrp="1"/>
          </p:cNvSpPr>
          <p:nvPr>
            <p:ph type="sldNum" idx="4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F8615A9-A135-4D07-A770-3F75BEF80ED8}" type="slidenum">
              <a:rPr b="0" lang="el" sz="1000" spc="-1" strike="noStrike">
                <a:solidFill>
                  <a:schemeClr val="accent1"/>
                </a:solidFill>
                <a:latin typeface="Lato"/>
                <a:ea typeface="Lato"/>
              </a:rPr>
              <a:t>46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
                                  <p:stCondLst>
                                    <p:cond delay="0"/>
                                  </p:stCondLst>
                                  <p:childTnLst>
                                    <p:set>
                                      <p:cBhvr>
                                        <p:cTn id="378" dur="1" fill="hold">
                                          <p:stCondLst>
                                            <p:cond delay="0"/>
                                          </p:stCondLst>
                                        </p:cTn>
                                        <p:tgtEl>
                                          <p:spTgt spid="314">
                                            <p:txEl>
                                              <p:pRg st="0" end="0"/>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nodeType="clickEffect" fill="hold" presetClass="entr" presetID="1">
                                  <p:stCondLst>
                                    <p:cond delay="0"/>
                                  </p:stCondLst>
                                  <p:childTnLst>
                                    <p:set>
                                      <p:cBhvr>
                                        <p:cTn id="382" dur="1" fill="hold">
                                          <p:stCondLst>
                                            <p:cond delay="0"/>
                                          </p:stCondLst>
                                        </p:cTn>
                                        <p:tgtEl>
                                          <p:spTgt spid="314">
                                            <p:txEl>
                                              <p:pRg st="1" end="1"/>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nodeType="clickEffect" fill="hold" presetClass="entr" presetID="1">
                                  <p:stCondLst>
                                    <p:cond delay="0"/>
                                  </p:stCondLst>
                                  <p:childTnLst>
                                    <p:set>
                                      <p:cBhvr>
                                        <p:cTn id="386" dur="1" fill="hold">
                                          <p:stCondLst>
                                            <p:cond delay="0"/>
                                          </p:stCondLst>
                                        </p:cTn>
                                        <p:tgtEl>
                                          <p:spTgt spid="314">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 (Part II)</a:t>
            </a:r>
            <a:endParaRPr b="0" lang="en-US" sz="3600" spc="-1" strike="noStrike">
              <a:solidFill>
                <a:srgbClr val="000000"/>
              </a:solidFill>
              <a:latin typeface="Arial"/>
            </a:endParaRPr>
          </a:p>
        </p:txBody>
      </p:sp>
      <p:sp>
        <p:nvSpPr>
          <p:cNvPr id="317" name="PlaceHolder 2"/>
          <p:cNvSpPr>
            <a:spLocks noGrp="1"/>
          </p:cNvSpPr>
          <p:nvPr>
            <p:ph type="sldNum" idx="5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E931EAFC-C73B-4DB9-A664-77835C59D713}" type="slidenum">
              <a:rPr b="0" lang="el" sz="1000" spc="-1" strike="noStrike">
                <a:solidFill>
                  <a:schemeClr val="lt1"/>
                </a:solidFill>
                <a:latin typeface="Lato"/>
                <a:ea typeface="Lato"/>
              </a:rPr>
              <a:t>47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#001</a:t>
            </a:r>
            <a:endParaRPr b="0" lang="en-US" sz="2600" spc="-1" strike="noStrike">
              <a:solidFill>
                <a:srgbClr val="000000"/>
              </a:solidFill>
              <a:latin typeface="Arial"/>
            </a:endParaRPr>
          </a:p>
        </p:txBody>
      </p:sp>
      <p:sp>
        <p:nvSpPr>
          <p:cNvPr id="31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Allocate memory for an integer using malloc.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Assign a value to the allocated integer.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value.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Free the allocated memory using free.</a:t>
            </a:r>
            <a:endParaRPr b="0" lang="en-US" sz="1600" spc="-1" strike="noStrike">
              <a:solidFill>
                <a:srgbClr val="000000"/>
              </a:solidFill>
              <a:latin typeface="Arial"/>
            </a:endParaRPr>
          </a:p>
        </p:txBody>
      </p:sp>
      <p:sp>
        <p:nvSpPr>
          <p:cNvPr id="320" name="PlaceHolder 3"/>
          <p:cNvSpPr>
            <a:spLocks noGrp="1"/>
          </p:cNvSpPr>
          <p:nvPr>
            <p:ph type="sldNum" idx="5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4B49E9B-17E6-4B20-A462-D3FBA641EF5C}" type="slidenum">
              <a:rPr b="0" lang="el" sz="1000" spc="-1" strike="noStrike">
                <a:solidFill>
                  <a:schemeClr val="accent1"/>
                </a:solidFill>
                <a:latin typeface="Lato"/>
                <a:ea typeface="Lato"/>
              </a:rPr>
              <a:t>48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#002</a:t>
            </a:r>
            <a:endParaRPr b="0" lang="en-US" sz="2600" spc="-1" strike="noStrike">
              <a:solidFill>
                <a:srgbClr val="000000"/>
              </a:solidFill>
              <a:latin typeface="Arial"/>
            </a:endParaRPr>
          </a:p>
        </p:txBody>
      </p:sp>
      <p:sp>
        <p:nvSpPr>
          <p:cNvPr id="32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Allocate memory for an array of 10 integers using malloc.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Initialize each element of the array with a value.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elements of the array.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Free the allocated memory.</a:t>
            </a:r>
            <a:endParaRPr b="0" lang="en-US" sz="1600" spc="-1" strike="noStrike">
              <a:solidFill>
                <a:srgbClr val="000000"/>
              </a:solidFill>
              <a:latin typeface="Arial"/>
            </a:endParaRPr>
          </a:p>
        </p:txBody>
      </p:sp>
      <p:sp>
        <p:nvSpPr>
          <p:cNvPr id="323" name="PlaceHolder 3"/>
          <p:cNvSpPr>
            <a:spLocks noGrp="1"/>
          </p:cNvSpPr>
          <p:nvPr>
            <p:ph type="sldNum" idx="5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3E6ACF0-4F40-4725-9C34-60A82F6CCD97}" type="slidenum">
              <a:rPr b="0" lang="el" sz="1000" spc="-1" strike="noStrike">
                <a:solidFill>
                  <a:schemeClr val="accent1"/>
                </a:solidFill>
                <a:latin typeface="Lato"/>
                <a:ea typeface="Lato"/>
              </a:rPr>
              <a:t>49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#003</a:t>
            </a:r>
            <a:endParaRPr b="0" lang="en-US" sz="2600" spc="-1" strike="noStrike">
              <a:solidFill>
                <a:srgbClr val="000000"/>
              </a:solidFill>
              <a:latin typeface="Arial"/>
            </a:endParaRPr>
          </a:p>
        </p:txBody>
      </p:sp>
      <p:sp>
        <p:nvSpPr>
          <p:cNvPr id="32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Allocate memory for an array of 5 integers.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Add more elements to the array.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Reallocate memory using realloc to accommodate the additional elements.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elements of the array.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Free the allocated memory.</a:t>
            </a:r>
            <a:endParaRPr b="0" lang="en-US" sz="1600" spc="-1" strike="noStrike">
              <a:solidFill>
                <a:srgbClr val="000000"/>
              </a:solidFill>
              <a:latin typeface="Arial"/>
            </a:endParaRPr>
          </a:p>
        </p:txBody>
      </p:sp>
      <p:sp>
        <p:nvSpPr>
          <p:cNvPr id="326" name="PlaceHolder 3"/>
          <p:cNvSpPr>
            <a:spLocks noGrp="1"/>
          </p:cNvSpPr>
          <p:nvPr>
            <p:ph type="sldNum" idx="5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35F9B69-CB04-441C-B8BC-AF6E28577F15}" type="slidenum">
              <a:rPr b="0" lang="el" sz="1000" spc="-1" strike="noStrike">
                <a:solidFill>
                  <a:schemeClr val="accent1"/>
                </a:solidFill>
                <a:latin typeface="Lato"/>
                <a:ea typeface="Lato"/>
              </a:rPr>
              <a:t>50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#004</a:t>
            </a:r>
            <a:endParaRPr b="0" lang="en-US" sz="2600" spc="-1" strike="noStrike">
              <a:solidFill>
                <a:srgbClr val="000000"/>
              </a:solidFill>
              <a:latin typeface="Arial"/>
            </a:endParaRPr>
          </a:p>
        </p:txBody>
      </p:sp>
      <p:sp>
        <p:nvSpPr>
          <p:cNvPr id="32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Allocate memory using malloc() and check the return value for NULL.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NULL is returned, handle the allocation failure appropriately (e.g., print an error message and exit).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Under which circumstances can malloc() actually return NULL? You can look around the web for ideas on that.</a:t>
            </a:r>
            <a:endParaRPr b="0" lang="en-US" sz="1600" spc="-1" strike="noStrike">
              <a:solidFill>
                <a:srgbClr val="000000"/>
              </a:solidFill>
              <a:latin typeface="Arial"/>
            </a:endParaRPr>
          </a:p>
        </p:txBody>
      </p:sp>
      <p:sp>
        <p:nvSpPr>
          <p:cNvPr id="329" name="PlaceHolder 3"/>
          <p:cNvSpPr>
            <a:spLocks noGrp="1"/>
          </p:cNvSpPr>
          <p:nvPr>
            <p:ph type="sldNum" idx="5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0EBDBC8-922E-495B-9BA2-BDE565DA812F}" type="slidenum">
              <a:rPr b="0" lang="el" sz="1000" spc="-1" strike="noStrike">
                <a:solidFill>
                  <a:schemeClr val="accent1"/>
                </a:solidFill>
                <a:latin typeface="Lato"/>
                <a:ea typeface="Lato"/>
              </a:rPr>
              <a:t>51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#005</a:t>
            </a:r>
            <a:endParaRPr b="0" lang="en-US" sz="2600" spc="-1" strike="noStrike">
              <a:solidFill>
                <a:srgbClr val="000000"/>
              </a:solidFill>
              <a:latin typeface="Arial"/>
            </a:endParaRPr>
          </a:p>
        </p:txBody>
      </p:sp>
      <p:sp>
        <p:nvSpPr>
          <p:cNvPr id="33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Define a struct Person with members name and age.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Dynamically allocate memory for a Person struct.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Initialize the members of the struct.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Print the information of the person.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Free the allocated memory.</a:t>
            </a:r>
            <a:endParaRPr b="0" lang="en-US" sz="1600" spc="-1" strike="noStrike">
              <a:solidFill>
                <a:srgbClr val="000000"/>
              </a:solidFill>
              <a:latin typeface="Arial"/>
            </a:endParaRPr>
          </a:p>
        </p:txBody>
      </p:sp>
      <p:sp>
        <p:nvSpPr>
          <p:cNvPr id="332" name="PlaceHolder 3"/>
          <p:cNvSpPr>
            <a:spLocks noGrp="1"/>
          </p:cNvSpPr>
          <p:nvPr>
            <p:ph type="sldNum" idx="5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7A08B47-CD54-46AD-BB1F-A68F9195D8FD}" type="slidenum">
              <a:rPr b="0" lang="el" sz="1000" spc="-1" strike="noStrike">
                <a:solidFill>
                  <a:schemeClr val="accent1"/>
                </a:solidFill>
                <a:latin typeface="Lato"/>
                <a:ea typeface="Lato"/>
              </a:rPr>
              <a:t>52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#006</a:t>
            </a:r>
            <a:endParaRPr b="0" lang="en-US" sz="2600" spc="-1" strike="noStrike">
              <a:solidFill>
                <a:srgbClr val="000000"/>
              </a:solidFill>
              <a:latin typeface="Arial"/>
            </a:endParaRPr>
          </a:p>
        </p:txBody>
      </p:sp>
      <p:sp>
        <p:nvSpPr>
          <p:cNvPr id="33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Create a struct Node for a linked list with members data and next.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Implement functions to create, insert, delete, and search for nodes in the linked list.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Use dynamic memory allocation to create and manage the linked list nodes.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Showcase the behaviour of your struct and implemented functions using relevant prints.</a:t>
            </a:r>
            <a:endParaRPr b="0" lang="en-US" sz="1600" spc="-1" strike="noStrike">
              <a:solidFill>
                <a:srgbClr val="000000"/>
              </a:solidFill>
              <a:latin typeface="Arial"/>
            </a:endParaRPr>
          </a:p>
        </p:txBody>
      </p:sp>
      <p:sp>
        <p:nvSpPr>
          <p:cNvPr id="335" name="PlaceHolder 3"/>
          <p:cNvSpPr>
            <a:spLocks noGrp="1"/>
          </p:cNvSpPr>
          <p:nvPr>
            <p:ph type="sldNum" idx="5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B6E27B9-5D39-4552-9847-22CAF6DA2607}" type="slidenum">
              <a:rPr b="0" lang="el" sz="1000" spc="-1" strike="noStrike">
                <a:solidFill>
                  <a:schemeClr val="accent1"/>
                </a:solidFill>
                <a:latin typeface="Lato"/>
                <a:ea typeface="Lato"/>
              </a:rPr>
              <a:t>53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337"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338"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339" name="Google Shape;495;p69" descr="">
            <a:hlinkClick r:id="rId2"/>
          </p:cNvPr>
          <p:cNvPicPr/>
          <p:nvPr/>
        </p:nvPicPr>
        <p:blipFill>
          <a:blip r:embed="rId3"/>
          <a:stretch/>
        </p:blipFill>
        <p:spPr>
          <a:xfrm>
            <a:off x="5434920" y="1063080"/>
            <a:ext cx="2857320" cy="2857320"/>
          </a:xfrm>
          <a:prstGeom prst="rect">
            <a:avLst/>
          </a:prstGeom>
          <a:ln w="0">
            <a:noFill/>
          </a:ln>
        </p:spPr>
      </p:pic>
      <p:sp>
        <p:nvSpPr>
          <p:cNvPr id="340" name="PlaceHolder 4"/>
          <p:cNvSpPr>
            <a:spLocks noGrp="1"/>
          </p:cNvSpPr>
          <p:nvPr>
            <p:ph type="sldNum" idx="5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5F23B75-B791-4A42-B6FC-54E3DF69592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2025-12-15T12:51:52Z</dcterms:modified>
  <cp:revision>3</cp:revision>
  <dc:subject/>
  <dc:title/>
</cp:coreProperties>
</file>