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1.xml" ContentType="application/vnd.openxmlformats-officedocument.presentationml.slide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8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A4C8985-4E00-4839-96EB-12E2891BA87E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38D8CC-3BF0-4356-B8E1-3688A2A68DD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64426C-C0D0-4BBF-BA04-6390FBFD95C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6B3B75-912B-465D-A924-B450140C3C5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F905B13-2B2E-47BE-A39C-8AF7DA88CEA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7D74D70-A28D-4219-8B47-CB4ECA86407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8AC201-5947-4554-93D6-BBE6C2E60B9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A7E6445-1EF8-4EF7-9FF6-4F629D51AA8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BE0E95-B562-425C-A4A8-5E084716B259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3CF7F6F-DDB6-44C0-92AB-904CEF71AC3D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293D4C-5A47-44BC-97BA-C74E8020854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B5AD75E-BE37-4DDD-819B-42FECAAD8BF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BF0E70-3544-46E6-9658-CFA5B58A4275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C62FFE-7B17-43B2-AE45-63447694BC77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B2B20E-41F5-4057-9BAE-F1CF6DFCF1D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9B4441-E426-48E1-89FB-64D98C849E1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6E594C-CEB8-49E0-BE43-DAD09122ECE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4488BF-0DBE-4933-A8ED-8B77EAABA8BB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C576F2-F59D-4BCF-A55E-6B24518C03D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01A3218-C2A0-4E4B-98B7-73AD9696854C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5EC61E-9625-4E5B-ADDE-E8EA1D40C7A8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30A40B-159C-4AAB-83BF-C79D44D6A5FC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B0D929-2E3F-4DC2-9AB1-EBA8D7CE7789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A98E9B-B7C7-4D24-8C7C-6A4E47107DDF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DEFB74-8ED1-4059-BF49-E74BF5AB19E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E80875-056A-483B-B9E7-B58FC7A6C9B4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CB9149-7A4F-4C2B-9B2C-4C03B435945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2A3EDC-C6F1-45F9-89FF-37FD8908F939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358698-CD38-46A8-9D34-DB4E8C3BE997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FDCAE7-697D-41CD-9540-CF17CFCE58FB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F5249F-DB97-4565-8852-0D0B1F3C096F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402438-46C5-4E24-840F-8FD5C40BB852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F51BD-F0B3-460B-8B7D-B929422E35A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F0BE8-2AED-423C-B2D6-1773AF14F44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9351E8-05E0-4390-AD25-BD29557D0DA3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1DE50-EDCA-4390-8198-9A79A41A3120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96BD359-93AD-4DFC-95C1-E5A76DE331A2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3E1279E-EF1E-4465-8885-E0BF06A80CEB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9C3CA96-D339-498A-A600-FE0899B8F2B8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DF1DBEB-D02A-4B27-BD54-DFC5305DDB28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0756CF3-B7ED-4E80-9882-9D85FC24FD1E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1968CEA-F2BC-4032-B58C-DEC9F7FAD022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BC151C7-1384-4BD2-82DB-0B2CD960315B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D9863F2-D253-4CF1-827E-20FEDE23C427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79E6D6-9BB2-4498-B993-FF9F8A569A73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E231087-DED9-4080-BC82-16E497E0F40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195493-A574-41B4-B572-CAEA7E83048C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7FD7F1F-8EA4-4F4D-9999-936550EAE46A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4DF8B0-EAD9-492A-BBF4-CA6B9BBC54EE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9536A6-9B2C-4F62-AD57-0090AEE7623B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C8D45A-0832-4904-AE56-70377F25E7F6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482A55-5C8B-4791-850F-A1F9C5BD2579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3E01A3-D034-4DC0-BD3D-1855E981806F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DC660E-61C1-42AB-B918-BED562F678ED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733707E-B1EC-484E-BA6C-7D257E72A0FE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20EDF1-F513-436E-AB7F-88C4B7A250C0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D62C9C6-C989-4381-A9D3-31EC5E0231DA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CAB1B9-0799-4BD5-ABAE-1B7BE645FC87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09907F-2BFA-4FBB-918E-C2E1E440F4E5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098F4E-C258-4F04-9B4B-40F99E0B85D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24780F-D619-4592-8B70-5FDF6354540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7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0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1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2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55E485-256E-4F8D-A3F0-D4F0E1320C70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6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7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8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29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C017CB-8678-42F1-A04A-17630D90369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4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accent3"/>
          </a:solidFill>
          <a:ln w="9525">
            <a:solidFill>
              <a:srgbClr val="eb5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400" spc="-1" strike="noStrike">
                <a:solidFill>
                  <a:schemeClr val="lt1"/>
                </a:solidFill>
                <a:latin typeface="Arial"/>
                <a:ea typeface="Arial"/>
              </a:rPr>
              <a:t>Not relevant for the assessment of the module!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5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6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7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E852F8-0737-4147-90DB-22750C780B6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88;p12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" name="Google Shape;89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74" name="Google Shape;90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Google Shape;91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E66326-728A-40F1-AE2A-63357BAC634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://www.righto.com/2012/11/obama-on-sorting-1m-integers-bubble.html" TargetMode="External"/><Relationship Id="rId2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Fibonacci_sequence" TargetMode="External"/><Relationship Id="rId2" Type="http://schemas.openxmlformats.org/officeDocument/2006/relationships/slideLayout" Target="../slideLayouts/slideLayout2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https://forms.gle/zezKMVzhaT4xyJgk8" TargetMode="External"/><Relationship Id="rId2" Type="http://schemas.openxmlformats.org/officeDocument/2006/relationships/hyperlink" Target="https://forms.gle/zezKMVzhaT4xyJgk8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Computer Systems, Data Structures &amp; Data Management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82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Markos Vassilis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114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Primes (Warm Up)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741DF4-6F23-417C-9B44-35FBA82604A3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positive integer is said to be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prime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if it is &gt; 1 and its only divisors are 1 and itself.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primes: 2, 3, 5, 7, 11, 13, 17, 19,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composites (non-primes): 4, 6, 8, 9, 10, 12, 14, 15, 16,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are infinitely many prime numbers.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is no known formula to generate them, yet.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have to check for each number whether its prime or not (well, not exactly, but, something like that).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a way to check whether a number is prime?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87C769-CE25-48F7-8F30-2FF62885544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Fears…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Of course you can!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isPrime1()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isPrime2()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Homework!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DFBD0B-644E-4537-B651-58F0B3F94F5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Checks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Compile and execute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did it print?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Explain the results.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better is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from the rest?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picking the right algorithm really matters…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AEC6D1-CF92-48BD-A428-F70CE639277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Sorting (Actual Fun)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397AE8-5D3C-40D4-A7F2-515BAB524D7E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Sorting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nice to have things in place. Consider the following array: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 = [3, 6, 1, 7, 9, 0, 2];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Evidently,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is not sorted in any meaningful way. How can we put thing in increasing order (in a systematic way).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devise a sorting algorithm that can work for arbitrary size arrays, not just for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B13C25-7D85-4A92-9BA8-27D1692E07D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509401-3651-44DE-809C-889D706A710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Google Shape;162;p23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63;p23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164;p23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65;p23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166;p23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167;p23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168;p23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169;p23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170;p23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71;p23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72;p23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173;p23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74;p23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175;p23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176;p23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177;p23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178;p23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179;p23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180;p23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181;p23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182;p23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183;p23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184;p23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185;p23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86;p23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87;p23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188;p23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89;p23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190;p23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91;p23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92;p23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193;p23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7262A8-D563-456B-8A12-98D34AF798F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Google Shape;200;p24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201;p24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202;p24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203;p24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204;p24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205;p24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206;p24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207;p24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&lt; 9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208;p24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209;p24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210;p24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211;p24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Google Shape;212;p24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213;p24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214;p24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Google Shape;215;p24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216;p24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217;p24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218;p24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219;p24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220;p24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221;p24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222;p24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223;p24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224;p24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225;p24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226;p24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227;p24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228;p24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229;p24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230;p24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231;p24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3C1EE6-5768-45DF-BBEB-D8EBB4FEDE5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Google Shape;238;p25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239;p25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240;p25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241;p25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242;p25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243;p25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244;p25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Google Shape;245;p25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Google Shape;246;p25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247;p25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Google Shape;248;p25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249;p25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Google Shape;250;p25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251;p25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Google Shape;252;p25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253;p25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254;p25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255;p25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256;p25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oogle Shape;257;p25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258;p25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259;p25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260;p25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261;p25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262;p25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263;p25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264;p25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265;p25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266;p25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267;p25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268;p25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269;p25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4BEE27-3734-45F6-87FF-F89F46CD7B1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Google Shape;276;p26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277;p26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278;p26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279;p26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280;p26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281;p26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282;p26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283;p26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284;p26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285;p26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286;p26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287;p26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288;p26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289;p26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290;p26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291;p26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292;p26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293;p26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294;p26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295;p26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296;p26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297;p26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Google Shape;298;p26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299;p26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300;p26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301;p26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302;p26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303;p26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304;p26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305;p26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306;p26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Google Shape;307;p26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131FAC-285A-4CD1-926D-7DD33F0B574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Google Shape;314;p27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Google Shape;315;p27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Google Shape;316;p27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317;p27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318;p27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319;p27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320;p27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321;p27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322;p27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323;p27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324;p27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325;p27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326;p27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327;p27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328;p27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329;p27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330;p27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331;p27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332;p27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333;p27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oogle Shape;334;p27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335;p27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336;p27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Google Shape;337;p27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338;p27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Google Shape;339;p27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340;p27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341;p27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342;p27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343;p27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Google Shape;344;p27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345;p27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4D3075-B397-4799-8591-8A434C800DA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Google Shape;352;p28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Google Shape;353;p28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354;p28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355;p28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356;p28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357;p28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Google Shape;358;p28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Google Shape;359;p28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Google Shape;360;p28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361;p28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Google Shape;362;p28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363;p28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364;p28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Google Shape;365;p28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366;p28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367;p28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368;p28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Google Shape;369;p28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370;p28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371;p28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372;p28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373;p28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oogle Shape;374;p28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375;p28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Google Shape;376;p28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377;p28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378;p28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379;p28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380;p28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381;p28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382;p28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Google Shape;383;p28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1A0200-8ED0-4E22-9B24-7A46EF2E939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Google Shape;390;p29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391;p29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392;p29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393;p29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394;p29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395;p29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396;p29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397;p29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398;p29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399;p29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400;p29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Google Shape;401;p29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402;p29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Google Shape;403;p29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404;p29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Google Shape;405;p29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Google Shape;406;p29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Google Shape;407;p29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408;p29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409;p29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410;p29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411;p29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412;p29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413;p29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Google Shape;414;p29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415;p29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416;p29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Google Shape;417;p29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418;p29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Google Shape;419;p29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420;p29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Google Shape;421;p29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DC8614-35E4-494A-8DFA-16B47725D49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Google Shape;428;p30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429;p30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430;p30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431;p30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432;p30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433;p30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434;p30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435;p30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436;p30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Google Shape;437;p30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438;p30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Google Shape;439;p30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440;p30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Google Shape;441;p30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442;p30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Google Shape;443;p30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444;p30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445;p30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446;p30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447;p30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448;p30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Google Shape;449;p30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Google Shape;450;p30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451;p30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2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452;p30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Google Shape;453;p30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Google Shape;454;p30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Google Shape;455;p30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Google Shape;456;p30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Google Shape;457;p30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Google Shape;458;p30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Google Shape;459;p30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81A914-DD52-4755-A09E-8B97CB1BC76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Google Shape;466;p31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467;p31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Google Shape;468;p31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469;p31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Google Shape;470;p31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Google Shape;471;p31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Google Shape;472;p31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Google Shape;473;p31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Done!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Google Shape;474;p31"/>
          <p:cNvSpPr/>
          <p:nvPr/>
        </p:nvSpPr>
        <p:spPr>
          <a:xfrm>
            <a:off x="948240" y="2332800"/>
            <a:ext cx="7587720" cy="23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Really slow, isn’t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“much” would this take to sort one million integers?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Obama has said, “Bubble sort is the wrong way to go [when it comes to sorting one million integers]”.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source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faster?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76618D-FCE1-44D4-B083-BF3FE73D83C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Google Shape;481;p32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Google Shape;482;p32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Google Shape;483;p32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Google Shape;484;p32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Google Shape;485;p32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Google Shape;486;p32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Google Shape;487;p32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Google Shape;488;p32"/>
          <p:cNvSpPr/>
          <p:nvPr/>
        </p:nvSpPr>
        <p:spPr>
          <a:xfrm>
            <a:off x="5491080" y="1559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Start with the same list…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Google Shape;489;p32"/>
          <p:cNvSpPr/>
          <p:nvPr/>
        </p:nvSpPr>
        <p:spPr>
          <a:xfrm>
            <a:off x="71280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490;p32"/>
          <p:cNvSpPr/>
          <p:nvPr/>
        </p:nvSpPr>
        <p:spPr>
          <a:xfrm>
            <a:off x="129456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Google Shape;491;p32"/>
          <p:cNvSpPr/>
          <p:nvPr/>
        </p:nvSpPr>
        <p:spPr>
          <a:xfrm>
            <a:off x="187632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Google Shape;492;p32"/>
          <p:cNvSpPr/>
          <p:nvPr/>
        </p:nvSpPr>
        <p:spPr>
          <a:xfrm>
            <a:off x="245808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Google Shape;493;p32"/>
          <p:cNvSpPr/>
          <p:nvPr/>
        </p:nvSpPr>
        <p:spPr>
          <a:xfrm>
            <a:off x="30398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Google Shape;494;p32"/>
          <p:cNvSpPr/>
          <p:nvPr/>
        </p:nvSpPr>
        <p:spPr>
          <a:xfrm>
            <a:off x="36212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Google Shape;495;p32"/>
          <p:cNvSpPr/>
          <p:nvPr/>
        </p:nvSpPr>
        <p:spPr>
          <a:xfrm>
            <a:off x="420300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Google Shape;496;p32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Split things to unitary blocks…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Google Shape;497;p32"/>
          <p:cNvSpPr/>
          <p:nvPr/>
        </p:nvSpPr>
        <p:spPr>
          <a:xfrm>
            <a:off x="78912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Google Shape;498;p32"/>
          <p:cNvSpPr/>
          <p:nvPr/>
        </p:nvSpPr>
        <p:spPr>
          <a:xfrm>
            <a:off x="129456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Google Shape;499;p32"/>
          <p:cNvSpPr/>
          <p:nvPr/>
        </p:nvSpPr>
        <p:spPr>
          <a:xfrm>
            <a:off x="187632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Google Shape;500;p32"/>
          <p:cNvSpPr/>
          <p:nvPr/>
        </p:nvSpPr>
        <p:spPr>
          <a:xfrm>
            <a:off x="245808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Google Shape;501;p32"/>
          <p:cNvSpPr/>
          <p:nvPr/>
        </p:nvSpPr>
        <p:spPr>
          <a:xfrm>
            <a:off x="30398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Google Shape;502;p32"/>
          <p:cNvSpPr/>
          <p:nvPr/>
        </p:nvSpPr>
        <p:spPr>
          <a:xfrm>
            <a:off x="36212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Google Shape;503;p32"/>
          <p:cNvSpPr/>
          <p:nvPr/>
        </p:nvSpPr>
        <p:spPr>
          <a:xfrm>
            <a:off x="420300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Google Shape;504;p32"/>
          <p:cNvSpPr/>
          <p:nvPr/>
        </p:nvSpPr>
        <p:spPr>
          <a:xfrm>
            <a:off x="5491080" y="30024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first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Google Shape;505;p32"/>
          <p:cNvSpPr/>
          <p:nvPr/>
        </p:nvSpPr>
        <p:spPr>
          <a:xfrm>
            <a:off x="78912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Google Shape;506;p32"/>
          <p:cNvSpPr/>
          <p:nvPr/>
        </p:nvSpPr>
        <p:spPr>
          <a:xfrm>
            <a:off x="129456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Google Shape;507;p32"/>
          <p:cNvSpPr/>
          <p:nvPr/>
        </p:nvSpPr>
        <p:spPr>
          <a:xfrm>
            <a:off x="195264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Google Shape;508;p32"/>
          <p:cNvSpPr/>
          <p:nvPr/>
        </p:nvSpPr>
        <p:spPr>
          <a:xfrm>
            <a:off x="245808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Google Shape;509;p32"/>
          <p:cNvSpPr/>
          <p:nvPr/>
        </p:nvSpPr>
        <p:spPr>
          <a:xfrm>
            <a:off x="30398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Google Shape;510;p32"/>
          <p:cNvSpPr/>
          <p:nvPr/>
        </p:nvSpPr>
        <p:spPr>
          <a:xfrm>
            <a:off x="36212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Google Shape;511;p32"/>
          <p:cNvSpPr/>
          <p:nvPr/>
        </p:nvSpPr>
        <p:spPr>
          <a:xfrm>
            <a:off x="420300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Google Shape;512;p32"/>
          <p:cNvSpPr/>
          <p:nvPr/>
        </p:nvSpPr>
        <p:spPr>
          <a:xfrm>
            <a:off x="5491080" y="387612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9C6402-C3EC-4C60-84EE-FAF210419A8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Google Shape;519;p33"/>
          <p:cNvSpPr/>
          <p:nvPr/>
        </p:nvSpPr>
        <p:spPr>
          <a:xfrm>
            <a:off x="78912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Google Shape;520;p33"/>
          <p:cNvSpPr/>
          <p:nvPr/>
        </p:nvSpPr>
        <p:spPr>
          <a:xfrm>
            <a:off x="129456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Google Shape;521;p33"/>
          <p:cNvSpPr/>
          <p:nvPr/>
        </p:nvSpPr>
        <p:spPr>
          <a:xfrm>
            <a:off x="195264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Google Shape;522;p33"/>
          <p:cNvSpPr/>
          <p:nvPr/>
        </p:nvSpPr>
        <p:spPr>
          <a:xfrm>
            <a:off x="245808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Google Shape;523;p33"/>
          <p:cNvSpPr/>
          <p:nvPr/>
        </p:nvSpPr>
        <p:spPr>
          <a:xfrm>
            <a:off x="303984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Google Shape;524;p33"/>
          <p:cNvSpPr/>
          <p:nvPr/>
        </p:nvSpPr>
        <p:spPr>
          <a:xfrm>
            <a:off x="354528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Google Shape;525;p33"/>
          <p:cNvSpPr/>
          <p:nvPr/>
        </p:nvSpPr>
        <p:spPr>
          <a:xfrm>
            <a:off x="4203000" y="14472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Google Shape;526;p33"/>
          <p:cNvSpPr/>
          <p:nvPr/>
        </p:nvSpPr>
        <p:spPr>
          <a:xfrm>
            <a:off x="5491080" y="1460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Google Shape;527;p33"/>
          <p:cNvSpPr/>
          <p:nvPr/>
        </p:nvSpPr>
        <p:spPr>
          <a:xfrm>
            <a:off x="94140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Google Shape;528;p33"/>
          <p:cNvSpPr/>
          <p:nvPr/>
        </p:nvSpPr>
        <p:spPr>
          <a:xfrm>
            <a:off x="14468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Google Shape;529;p33"/>
          <p:cNvSpPr/>
          <p:nvPr/>
        </p:nvSpPr>
        <p:spPr>
          <a:xfrm>
            <a:off x="19526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Google Shape;530;p33"/>
          <p:cNvSpPr/>
          <p:nvPr/>
        </p:nvSpPr>
        <p:spPr>
          <a:xfrm>
            <a:off x="245808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Google Shape;531;p33"/>
          <p:cNvSpPr/>
          <p:nvPr/>
        </p:nvSpPr>
        <p:spPr>
          <a:xfrm>
            <a:off x="303984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Google Shape;532;p33"/>
          <p:cNvSpPr/>
          <p:nvPr/>
        </p:nvSpPr>
        <p:spPr>
          <a:xfrm>
            <a:off x="354528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Google Shape;533;p33"/>
          <p:cNvSpPr/>
          <p:nvPr/>
        </p:nvSpPr>
        <p:spPr>
          <a:xfrm>
            <a:off x="420300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Google Shape;534;p33"/>
          <p:cNvSpPr/>
          <p:nvPr/>
        </p:nvSpPr>
        <p:spPr>
          <a:xfrm>
            <a:off x="5491080" y="26715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0" name="Google Shape;535;p33"/>
          <p:cNvCxnSpPr>
            <a:stCxn id="554" idx="2"/>
            <a:endCxn id="563" idx="0"/>
          </p:cNvCxnSpPr>
          <p:nvPr/>
        </p:nvCxnSpPr>
        <p:spPr>
          <a:xfrm>
            <a:off x="1041480" y="1948680"/>
            <a:ext cx="65808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1" name="Google Shape;536;p33"/>
          <p:cNvCxnSpPr>
            <a:stCxn id="555" idx="2"/>
            <a:endCxn id="564" idx="0"/>
          </p:cNvCxnSpPr>
          <p:nvPr/>
        </p:nvCxnSpPr>
        <p:spPr>
          <a:xfrm>
            <a:off x="1546920" y="1948680"/>
            <a:ext cx="65844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2" name="Google Shape;537;p33"/>
          <p:cNvCxnSpPr>
            <a:stCxn id="556" idx="2"/>
            <a:endCxn id="562" idx="0"/>
          </p:cNvCxnSpPr>
          <p:nvPr/>
        </p:nvCxnSpPr>
        <p:spPr>
          <a:xfrm flipH="1">
            <a:off x="1193760" y="1948680"/>
            <a:ext cx="101160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573" name="Google Shape;538;p33"/>
          <p:cNvSpPr/>
          <p:nvPr/>
        </p:nvSpPr>
        <p:spPr>
          <a:xfrm>
            <a:off x="94140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Google Shape;539;p33"/>
          <p:cNvSpPr/>
          <p:nvPr/>
        </p:nvSpPr>
        <p:spPr>
          <a:xfrm>
            <a:off x="14468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Google Shape;540;p33"/>
          <p:cNvSpPr/>
          <p:nvPr/>
        </p:nvSpPr>
        <p:spPr>
          <a:xfrm>
            <a:off x="19526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Google Shape;541;p33"/>
          <p:cNvSpPr/>
          <p:nvPr/>
        </p:nvSpPr>
        <p:spPr>
          <a:xfrm>
            <a:off x="245808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Google Shape;542;p33"/>
          <p:cNvSpPr/>
          <p:nvPr/>
        </p:nvSpPr>
        <p:spPr>
          <a:xfrm>
            <a:off x="303984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Google Shape;543;p33"/>
          <p:cNvSpPr/>
          <p:nvPr/>
        </p:nvSpPr>
        <p:spPr>
          <a:xfrm>
            <a:off x="354528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Google Shape;544;p33"/>
          <p:cNvSpPr/>
          <p:nvPr/>
        </p:nvSpPr>
        <p:spPr>
          <a:xfrm>
            <a:off x="405072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Google Shape;545;p33"/>
          <p:cNvSpPr/>
          <p:nvPr/>
        </p:nvSpPr>
        <p:spPr>
          <a:xfrm>
            <a:off x="5491080" y="36874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1" name="Google Shape;546;p33"/>
          <p:cNvCxnSpPr>
            <a:stCxn id="566" idx="2"/>
            <a:endCxn id="577" idx="0"/>
          </p:cNvCxnSpPr>
          <p:nvPr/>
        </p:nvCxnSpPr>
        <p:spPr>
          <a:xfrm>
            <a:off x="3292200" y="3160080"/>
            <a:ext cx="36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2" name="Google Shape;547;p33"/>
          <p:cNvCxnSpPr>
            <a:stCxn id="557" idx="2"/>
            <a:endCxn id="565" idx="0"/>
          </p:cNvCxnSpPr>
          <p:nvPr/>
        </p:nvCxnSpPr>
        <p:spPr>
          <a:xfrm>
            <a:off x="2710440" y="1948680"/>
            <a:ext cx="36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3" name="Google Shape;548;p33"/>
          <p:cNvCxnSpPr>
            <a:stCxn id="567" idx="2"/>
            <a:endCxn id="579" idx="0"/>
          </p:cNvCxnSpPr>
          <p:nvPr/>
        </p:nvCxnSpPr>
        <p:spPr>
          <a:xfrm>
            <a:off x="3797640" y="3160080"/>
            <a:ext cx="50580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4" name="Google Shape;549;p33"/>
          <p:cNvCxnSpPr>
            <a:stCxn id="568" idx="2"/>
            <a:endCxn id="578" idx="0"/>
          </p:cNvCxnSpPr>
          <p:nvPr/>
        </p:nvCxnSpPr>
        <p:spPr>
          <a:xfrm flipH="1">
            <a:off x="3797640" y="3160080"/>
            <a:ext cx="65808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F12274-CF5C-49B1-B07F-6ADF3FB9DA3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Google Shape;556;p34"/>
          <p:cNvSpPr/>
          <p:nvPr/>
        </p:nvSpPr>
        <p:spPr>
          <a:xfrm>
            <a:off x="94140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Google Shape;557;p34"/>
          <p:cNvSpPr/>
          <p:nvPr/>
        </p:nvSpPr>
        <p:spPr>
          <a:xfrm>
            <a:off x="1446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Google Shape;558;p34"/>
          <p:cNvSpPr/>
          <p:nvPr/>
        </p:nvSpPr>
        <p:spPr>
          <a:xfrm>
            <a:off x="19526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Google Shape;559;p34"/>
          <p:cNvSpPr/>
          <p:nvPr/>
        </p:nvSpPr>
        <p:spPr>
          <a:xfrm>
            <a:off x="24580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Google Shape;560;p34"/>
          <p:cNvSpPr/>
          <p:nvPr/>
        </p:nvSpPr>
        <p:spPr>
          <a:xfrm>
            <a:off x="3039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Google Shape;561;p34"/>
          <p:cNvSpPr/>
          <p:nvPr/>
        </p:nvSpPr>
        <p:spPr>
          <a:xfrm>
            <a:off x="35452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Google Shape;562;p34"/>
          <p:cNvSpPr/>
          <p:nvPr/>
        </p:nvSpPr>
        <p:spPr>
          <a:xfrm>
            <a:off x="405072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Google Shape;563;p34"/>
          <p:cNvSpPr/>
          <p:nvPr/>
        </p:nvSpPr>
        <p:spPr>
          <a:xfrm>
            <a:off x="5491080" y="15069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[Repeating from previous slide]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Google Shape;564;p34"/>
          <p:cNvSpPr/>
          <p:nvPr/>
        </p:nvSpPr>
        <p:spPr>
          <a:xfrm>
            <a:off x="941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565;p34"/>
          <p:cNvSpPr/>
          <p:nvPr/>
        </p:nvSpPr>
        <p:spPr>
          <a:xfrm>
            <a:off x="14468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Google Shape;566;p34"/>
          <p:cNvSpPr/>
          <p:nvPr/>
        </p:nvSpPr>
        <p:spPr>
          <a:xfrm>
            <a:off x="19526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Google Shape;567;p34"/>
          <p:cNvSpPr/>
          <p:nvPr/>
        </p:nvSpPr>
        <p:spPr>
          <a:xfrm>
            <a:off x="245808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Google Shape;568;p34"/>
          <p:cNvSpPr/>
          <p:nvPr/>
        </p:nvSpPr>
        <p:spPr>
          <a:xfrm>
            <a:off x="296352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Google Shape;569;p34"/>
          <p:cNvSpPr/>
          <p:nvPr/>
        </p:nvSpPr>
        <p:spPr>
          <a:xfrm>
            <a:off x="346896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Google Shape;570;p34"/>
          <p:cNvSpPr/>
          <p:nvPr/>
        </p:nvSpPr>
        <p:spPr>
          <a:xfrm>
            <a:off x="3974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Google Shape;571;p34"/>
          <p:cNvSpPr/>
          <p:nvPr/>
        </p:nvSpPr>
        <p:spPr>
          <a:xfrm>
            <a:off x="5491080" y="27810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3" name="Google Shape;572;p34"/>
          <p:cNvCxnSpPr>
            <a:stCxn id="587" idx="2"/>
            <a:endCxn id="596" idx="0"/>
          </p:cNvCxnSpPr>
          <p:nvPr/>
        </p:nvCxnSpPr>
        <p:spPr>
          <a:xfrm>
            <a:off x="1193760" y="1995480"/>
            <a:ext cx="505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4" name="Google Shape;573;p34"/>
          <p:cNvCxnSpPr>
            <a:stCxn id="588" idx="2"/>
            <a:endCxn id="598" idx="0"/>
          </p:cNvCxnSpPr>
          <p:nvPr/>
        </p:nvCxnSpPr>
        <p:spPr>
          <a:xfrm>
            <a:off x="1699200" y="1995480"/>
            <a:ext cx="10116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5" name="Google Shape;574;p34"/>
          <p:cNvCxnSpPr>
            <a:stCxn id="589" idx="2"/>
            <a:endCxn id="599" idx="0"/>
          </p:cNvCxnSpPr>
          <p:nvPr/>
        </p:nvCxnSpPr>
        <p:spPr>
          <a:xfrm>
            <a:off x="220500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6" name="Google Shape;575;p34"/>
          <p:cNvCxnSpPr>
            <a:stCxn id="590" idx="2"/>
            <a:endCxn id="600" idx="0"/>
          </p:cNvCxnSpPr>
          <p:nvPr/>
        </p:nvCxnSpPr>
        <p:spPr>
          <a:xfrm>
            <a:off x="271044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7" name="Google Shape;576;p34"/>
          <p:cNvCxnSpPr>
            <a:stCxn id="591" idx="2"/>
            <a:endCxn id="595" idx="0"/>
          </p:cNvCxnSpPr>
          <p:nvPr/>
        </p:nvCxnSpPr>
        <p:spPr>
          <a:xfrm flipH="1">
            <a:off x="1193760" y="1995480"/>
            <a:ext cx="2098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8" name="Google Shape;577;p34"/>
          <p:cNvCxnSpPr>
            <a:stCxn id="592" idx="2"/>
            <a:endCxn id="597" idx="0"/>
          </p:cNvCxnSpPr>
          <p:nvPr/>
        </p:nvCxnSpPr>
        <p:spPr>
          <a:xfrm flipH="1">
            <a:off x="2205000" y="1995480"/>
            <a:ext cx="15930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9" name="Google Shape;578;p34"/>
          <p:cNvCxnSpPr>
            <a:stCxn id="593" idx="2"/>
            <a:endCxn id="601" idx="0"/>
          </p:cNvCxnSpPr>
          <p:nvPr/>
        </p:nvCxnSpPr>
        <p:spPr>
          <a:xfrm flipH="1">
            <a:off x="4226760" y="1995480"/>
            <a:ext cx="7668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610" name="Google Shape;579;p34"/>
          <p:cNvSpPr/>
          <p:nvPr/>
        </p:nvSpPr>
        <p:spPr>
          <a:xfrm>
            <a:off x="1045440" y="3565080"/>
            <a:ext cx="73724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time does it take to merge lists respecting their order?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compare them…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Measuring time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sorting_cpp/sorting.cpp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make some sense of the purpose of this file.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[Try a bit more…]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Okay, now, compile and run it!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was the output?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plotter.py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(in the same folder).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the plot say?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0FEEA1-A683-499D-AF3C-15378B77FD7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Hopefully, what you see looks like that…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A7A3CF-3343-495C-B2FF-AAF01F18B46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6" name="Google Shape;593;p36" descr=""/>
          <p:cNvPicPr/>
          <p:nvPr/>
        </p:nvPicPr>
        <p:blipFill>
          <a:blip r:embed="rId1"/>
          <a:stretch/>
        </p:blipFill>
        <p:spPr>
          <a:xfrm>
            <a:off x="2372400" y="1266480"/>
            <a:ext cx="440244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So…?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algorithm do you think is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are some problems with comparing algorithms this way?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My machine might be worse / better than yours.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Random noise from other processes running at the same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Bad luck might influence execution duration - what if the lists we have generated were inappropriate for bubble sort?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With statistics you can never be really-really sure…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5B26C9-577B-4B70-BE75-B92272835BD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swapped: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0,1,..., n - j: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865C77-68ED-4016-A227-83C0FCB15CC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swapped: ← This will be executed at most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0,1,..., n - j: ← This is roughly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iterations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950F3F-7731-4428-B1D9-4065E10845B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626" name="Google Shape;615;p39"/>
          <p:cNvGrpSpPr/>
          <p:nvPr/>
        </p:nvGrpSpPr>
        <p:grpSpPr>
          <a:xfrm>
            <a:off x="5418000" y="2889720"/>
            <a:ext cx="213480" cy="538200"/>
            <a:chOff x="5418000" y="2889720"/>
            <a:chExt cx="213480" cy="538200"/>
          </a:xfrm>
        </p:grpSpPr>
        <p:cxnSp>
          <p:nvCxnSpPr>
            <p:cNvPr id="627" name="Google Shape;616;p39"/>
            <p:cNvCxnSpPr/>
            <p:nvPr/>
          </p:nvCxnSpPr>
          <p:spPr>
            <a:xfrm>
              <a:off x="5418000" y="290736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8" name="Google Shape;617;p39"/>
            <p:cNvCxnSpPr/>
            <p:nvPr/>
          </p:nvCxnSpPr>
          <p:spPr>
            <a:xfrm>
              <a:off x="5418000" y="341064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9" name="Google Shape;618;p39"/>
            <p:cNvCxnSpPr/>
            <p:nvPr/>
          </p:nvCxnSpPr>
          <p:spPr>
            <a:xfrm>
              <a:off x="5623200" y="2889720"/>
              <a:ext cx="3600" cy="5385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</p:grpSp>
      <p:sp>
        <p:nvSpPr>
          <p:cNvPr id="630" name="Google Shape;619;p39"/>
          <p:cNvSpPr/>
          <p:nvPr/>
        </p:nvSpPr>
        <p:spPr>
          <a:xfrm>
            <a:off x="5631840" y="2889720"/>
            <a:ext cx="180828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Elementary</a:t>
            </a:r>
            <a:br>
              <a:rPr sz="1300"/>
            </a:b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Operation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7" dur="indefinite" restart="never" nodeType="tmRoot">
          <p:childTnLst>
            <p:seq>
              <p:cTn id="218" dur="indefinite" nodeType="mainSeq">
                <p:childTnLst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 1, …, log(len(arr)):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j = 0, 1, …, n: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merge(left, right)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8226BE-2F79-4A51-996A-219B509B4CA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6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for i = 0, 1, …, log(len(arr)):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log(n)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2"/>
                </a:solidFill>
                <a:latin typeface="Consolas"/>
                <a:ea typeface="Consolas"/>
              </a:rPr>
              <a:t>for j = 0, 1, …, n: ← Don’t fall for this!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merge(left, right) ← len(left) + len(right) EO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               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which means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EO per iteration.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O(nlog(n))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3FE623-EEE9-49B4-BE59-C506817B1CB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Why merge log(n) times?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length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2^3 (just for convenience). Once broken into pieces of length == 1, you have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of one element each.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Every time you merge you are left with exactly half (±1) tiny lists (of roughly double size)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after how many “merge runs” will you be left with just one (the initial) list?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→ 4 tiny lists → 2 tiny lists → 1 large list.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each step you divide by two, so, essentially, you are looking for the number of consecutive divisions by 2 required to reach 1, starting from 8.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Reading this right to left, we can count the number of multiplications by 2 required to reach 8 from 1, i.e., if m is that number, we want an m such that: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2^m ==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exactly the definition of log(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 (log = logarithm base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Substitute 8 with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and you get (roughly)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m = log(n)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9CE6B0-9A5B-43BA-905A-38A89758433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i &lt; len(arr):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j &gt; 0 and arr[j] &lt; arr[j - 1]: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complexity?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3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C019F7-D7A6-4F27-898F-D24E6D9DEF1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i &lt; len(arr):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j &gt; 0 and arr[j] &lt; arr[j - 1]: ← At most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- 1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Worst-case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3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456684-48D8-4021-A864-0F53E3346F1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5" dur="indefinite" restart="never" nodeType="tmRoot">
          <p:childTnLst>
            <p:seq>
              <p:cTn id="286" dur="indefinite" nodeType="mainSeq">
                <p:childTnLst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arr is not sorted: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randomly shuffle arr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3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00EBFE-10E8-47A6-8DEB-8D2372BA2C5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arr is not sorted: ← There are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n!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different permutations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randomly shuffle arr ← Each shuffling takes roughly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O(n)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the worst case, arr will never be shuffled correctly, so infinite time!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On average, O((n-1)n!) (n! = 1·2·3·…·n), so, much (much) slower than everything we have seen so far!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3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7EADD4-3B60-4F45-8019-FDF87DEB507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1" dur="indefinite" restart="never" nodeType="tmRoot">
          <p:childTnLst>
            <p:seq>
              <p:cTn id="322" dur="indefinite" nodeType="mainSeq">
                <p:childTnLst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Fibonacci Numbers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sldNum" idx="3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42B296-8985-424C-9081-ABB9CBAC999D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32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Fibonacci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really popular sequence of numbers (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Wikipedia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first terms of the sequence are: 0, 1, 1, 2, 3, 5, 8, 13, 21, 34, 55, 89, 144, …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f(0) = 0, f(1)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f(2) = f(1) + f(0)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f(3) = f(2) + f(1) = 3.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term (except for the first two) is the sum of the two terms right before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f(n-1) + f(n-2).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3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0C67F3-3655-4D71-A3C3-9AA53529488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One way to compute them all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python script (‘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fibonacci/fib.py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’). How does it work? How long will it take to execute to compute the n-th Fibonacci number? Any better ideas?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3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CE116A-49C5-48AB-B4BD-8390489E36C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948120" cy="217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3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EF18F4-4A2D-49EE-92E0-1777D8D52CC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663" name="Google Shape;696;p50"/>
          <p:cNvGraphicFramePr/>
          <p:nvPr/>
        </p:nvGraphicFramePr>
        <p:xfrm>
          <a:off x="4677840" y="1107000"/>
          <a:ext cx="4070880" cy="3508920"/>
        </p:xfrm>
        <a:graphic>
          <a:graphicData uri="http://schemas.openxmlformats.org/drawingml/2006/table">
            <a:tbl>
              <a:tblPr/>
              <a:tblGrid>
                <a:gridCol w="1017720"/>
                <a:gridCol w="1017720"/>
                <a:gridCol w="1017720"/>
                <a:gridCol w="1017720"/>
              </a:tblGrid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current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result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in [0,1]?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[3]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[2, 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[1,0]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4" name="Google Shape;697;p50"/>
          <p:cNvSpPr/>
          <p:nvPr/>
        </p:nvSpPr>
        <p:spPr>
          <a:xfrm>
            <a:off x="729360" y="3762360"/>
            <a:ext cx="3884040" cy="68976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Whenever we encounter anything other than 0 or 1, we add two to f…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 (cont’d)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sldNum" idx="4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0493B7-07E1-4804-8E5B-C6C826B24F8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Google Shape;704;p51"/>
          <p:cNvSpPr/>
          <p:nvPr/>
        </p:nvSpPr>
        <p:spPr>
          <a:xfrm>
            <a:off x="80892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For n = 8: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Google Shape;705;p51"/>
          <p:cNvSpPr/>
          <p:nvPr/>
        </p:nvSpPr>
        <p:spPr>
          <a:xfrm>
            <a:off x="355608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Google Shape;706;p51"/>
          <p:cNvSpPr/>
          <p:nvPr/>
        </p:nvSpPr>
        <p:spPr>
          <a:xfrm>
            <a:off x="6303600" y="1503360"/>
            <a:ext cx="205848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2 appears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all numbers (will) appear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Because this is a silly way to compute the 8th Fibonacci number!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Overall, exponentially many operations, O(2^n).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How long will it take to execute? (in O(n) terms)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 or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fib(n-1) + fib(n-2)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No!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4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104360-86E1-4FA2-868C-D739792594E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9" dur="indefinite" restart="never" nodeType="tmRoot">
          <p:childTnLst>
            <p:seq>
              <p:cTn id="580" dur="indefinite" nodeType="mainSeq">
                <p:childTnLst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 type="sldNum" idx="4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45781B-4D27-49F2-927A-171E80D5C8B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Google Shape;720;p53"/>
          <p:cNvSpPr/>
          <p:nvPr/>
        </p:nvSpPr>
        <p:spPr>
          <a:xfrm>
            <a:off x="326520" y="2729880"/>
            <a:ext cx="694080" cy="32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fib(6)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Google Shape;721;p53"/>
          <p:cNvSpPr/>
          <p:nvPr/>
        </p:nvSpPr>
        <p:spPr>
          <a:xfrm>
            <a:off x="147636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Google Shape;722;p53"/>
          <p:cNvSpPr/>
          <p:nvPr/>
        </p:nvSpPr>
        <p:spPr>
          <a:xfrm>
            <a:off x="147636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Google Shape;723;p53"/>
          <p:cNvSpPr/>
          <p:nvPr/>
        </p:nvSpPr>
        <p:spPr>
          <a:xfrm>
            <a:off x="25704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Google Shape;724;p53"/>
          <p:cNvSpPr/>
          <p:nvPr/>
        </p:nvSpPr>
        <p:spPr>
          <a:xfrm>
            <a:off x="25704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Google Shape;725;p53"/>
          <p:cNvSpPr/>
          <p:nvPr/>
        </p:nvSpPr>
        <p:spPr>
          <a:xfrm>
            <a:off x="25704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Google Shape;726;p53"/>
          <p:cNvSpPr/>
          <p:nvPr/>
        </p:nvSpPr>
        <p:spPr>
          <a:xfrm>
            <a:off x="25704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Google Shape;727;p53"/>
          <p:cNvSpPr/>
          <p:nvPr/>
        </p:nvSpPr>
        <p:spPr>
          <a:xfrm>
            <a:off x="36990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Google Shape;728;p53"/>
          <p:cNvSpPr/>
          <p:nvPr/>
        </p:nvSpPr>
        <p:spPr>
          <a:xfrm>
            <a:off x="3699000" y="43747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Google Shape;729;p53"/>
          <p:cNvSpPr/>
          <p:nvPr/>
        </p:nvSpPr>
        <p:spPr>
          <a:xfrm>
            <a:off x="36990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Google Shape;730;p53"/>
          <p:cNvSpPr/>
          <p:nvPr/>
        </p:nvSpPr>
        <p:spPr>
          <a:xfrm>
            <a:off x="3699000" y="29764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Google Shape;731;p53"/>
          <p:cNvSpPr/>
          <p:nvPr/>
        </p:nvSpPr>
        <p:spPr>
          <a:xfrm>
            <a:off x="36990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Google Shape;732;p53"/>
          <p:cNvSpPr/>
          <p:nvPr/>
        </p:nvSpPr>
        <p:spPr>
          <a:xfrm>
            <a:off x="3699000" y="24739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Google Shape;733;p53"/>
          <p:cNvSpPr/>
          <p:nvPr/>
        </p:nvSpPr>
        <p:spPr>
          <a:xfrm>
            <a:off x="36990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Google Shape;734;p53"/>
          <p:cNvSpPr/>
          <p:nvPr/>
        </p:nvSpPr>
        <p:spPr>
          <a:xfrm>
            <a:off x="369900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Google Shape;735;p53"/>
          <p:cNvSpPr/>
          <p:nvPr/>
        </p:nvSpPr>
        <p:spPr>
          <a:xfrm>
            <a:off x="4875840" y="33955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Google Shape;736;p53"/>
          <p:cNvSpPr/>
          <p:nvPr/>
        </p:nvSpPr>
        <p:spPr>
          <a:xfrm>
            <a:off x="4875840" y="37972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Google Shape;737;p53"/>
          <p:cNvSpPr/>
          <p:nvPr/>
        </p:nvSpPr>
        <p:spPr>
          <a:xfrm>
            <a:off x="4875840" y="25016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Google Shape;738;p53"/>
          <p:cNvSpPr/>
          <p:nvPr/>
        </p:nvSpPr>
        <p:spPr>
          <a:xfrm>
            <a:off x="4875840" y="29030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Google Shape;739;p53"/>
          <p:cNvSpPr/>
          <p:nvPr/>
        </p:nvSpPr>
        <p:spPr>
          <a:xfrm>
            <a:off x="487584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Google Shape;740;p53"/>
          <p:cNvSpPr/>
          <p:nvPr/>
        </p:nvSpPr>
        <p:spPr>
          <a:xfrm>
            <a:off x="4875840" y="185400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Google Shape;741;p53"/>
          <p:cNvSpPr/>
          <p:nvPr/>
        </p:nvSpPr>
        <p:spPr>
          <a:xfrm>
            <a:off x="487584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Google Shape;742;p53"/>
          <p:cNvSpPr/>
          <p:nvPr/>
        </p:nvSpPr>
        <p:spPr>
          <a:xfrm>
            <a:off x="487584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Google Shape;743;p53"/>
          <p:cNvSpPr/>
          <p:nvPr/>
        </p:nvSpPr>
        <p:spPr>
          <a:xfrm>
            <a:off x="596988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Google Shape;744;p53"/>
          <p:cNvSpPr/>
          <p:nvPr/>
        </p:nvSpPr>
        <p:spPr>
          <a:xfrm>
            <a:off x="596988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0" name="Google Shape;745;p53"/>
          <p:cNvCxnSpPr/>
          <p:nvPr/>
        </p:nvCxnSpPr>
        <p:spPr>
          <a:xfrm flipV="1">
            <a:off x="975960" y="242280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1" name="Google Shape;746;p53"/>
          <p:cNvCxnSpPr/>
          <p:nvPr/>
        </p:nvCxnSpPr>
        <p:spPr>
          <a:xfrm>
            <a:off x="975960" y="305964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2" name="Google Shape;747;p53"/>
          <p:cNvCxnSpPr/>
          <p:nvPr/>
        </p:nvCxnSpPr>
        <p:spPr>
          <a:xfrm flipV="1">
            <a:off x="2173680" y="179280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3" name="Google Shape;748;p53"/>
          <p:cNvCxnSpPr/>
          <p:nvPr/>
        </p:nvCxnSpPr>
        <p:spPr>
          <a:xfrm>
            <a:off x="2092680" y="369792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4" name="Google Shape;749;p53"/>
          <p:cNvCxnSpPr>
            <a:stCxn id="676" idx="3"/>
            <a:endCxn id="679" idx="1"/>
          </p:cNvCxnSpPr>
          <p:nvPr/>
        </p:nvCxnSpPr>
        <p:spPr>
          <a:xfrm>
            <a:off x="2170440" y="224208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5" name="Google Shape;750;p53"/>
          <p:cNvCxnSpPr>
            <a:stCxn id="677" idx="3"/>
            <a:endCxn id="680" idx="1"/>
          </p:cNvCxnSpPr>
          <p:nvPr/>
        </p:nvCxnSpPr>
        <p:spPr>
          <a:xfrm>
            <a:off x="2170440" y="3537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6" name="Google Shape;751;p53"/>
          <p:cNvCxnSpPr>
            <a:stCxn id="679" idx="3"/>
            <a:endCxn id="686" idx="1"/>
          </p:cNvCxnSpPr>
          <p:nvPr/>
        </p:nvCxnSpPr>
        <p:spPr>
          <a:xfrm>
            <a:off x="3264480" y="224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7" name="Google Shape;752;p53"/>
          <p:cNvCxnSpPr>
            <a:stCxn id="680" idx="3"/>
            <a:endCxn id="684" idx="1"/>
          </p:cNvCxnSpPr>
          <p:nvPr/>
        </p:nvCxnSpPr>
        <p:spPr>
          <a:xfrm>
            <a:off x="3264480" y="353772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8" name="Google Shape;753;p53"/>
          <p:cNvCxnSpPr>
            <a:stCxn id="678" idx="3"/>
            <a:endCxn id="688" idx="1"/>
          </p:cNvCxnSpPr>
          <p:nvPr/>
        </p:nvCxnSpPr>
        <p:spPr>
          <a:xfrm>
            <a:off x="3264480" y="161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9" name="Google Shape;754;p53"/>
          <p:cNvCxnSpPr>
            <a:stCxn id="681" idx="3"/>
            <a:endCxn id="682" idx="1"/>
          </p:cNvCxnSpPr>
          <p:nvPr/>
        </p:nvCxnSpPr>
        <p:spPr>
          <a:xfrm>
            <a:off x="3264480" y="41536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0" name="Google Shape;755;p53"/>
          <p:cNvCxnSpPr>
            <a:endCxn id="683" idx="1"/>
          </p:cNvCxnSpPr>
          <p:nvPr/>
        </p:nvCxnSpPr>
        <p:spPr>
          <a:xfrm>
            <a:off x="3260520" y="4312440"/>
            <a:ext cx="438840" cy="2224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1" name="Google Shape;756;p53"/>
          <p:cNvCxnSpPr>
            <a:endCxn id="685" idx="1"/>
          </p:cNvCxnSpPr>
          <p:nvPr/>
        </p:nvCxnSpPr>
        <p:spPr>
          <a:xfrm flipV="1">
            <a:off x="3267360" y="3136320"/>
            <a:ext cx="432000" cy="262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2" name="Google Shape;757;p53"/>
          <p:cNvCxnSpPr>
            <a:endCxn id="687" idx="1"/>
          </p:cNvCxnSpPr>
          <p:nvPr/>
        </p:nvCxnSpPr>
        <p:spPr>
          <a:xfrm>
            <a:off x="3225960" y="2395080"/>
            <a:ext cx="473400" cy="2390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3" name="Google Shape;758;p53"/>
          <p:cNvCxnSpPr>
            <a:endCxn id="689" idx="1"/>
          </p:cNvCxnSpPr>
          <p:nvPr/>
        </p:nvCxnSpPr>
        <p:spPr>
          <a:xfrm flipV="1">
            <a:off x="3246480" y="1238400"/>
            <a:ext cx="452880" cy="2365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4" name="Google Shape;759;p53"/>
          <p:cNvCxnSpPr>
            <a:endCxn id="690" idx="1"/>
          </p:cNvCxnSpPr>
          <p:nvPr/>
        </p:nvCxnSpPr>
        <p:spPr>
          <a:xfrm>
            <a:off x="4388760" y="3295080"/>
            <a:ext cx="487440" cy="2606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5" name="Google Shape;760;p53"/>
          <p:cNvCxnSpPr>
            <a:endCxn id="691" idx="1"/>
          </p:cNvCxnSpPr>
          <p:nvPr/>
        </p:nvCxnSpPr>
        <p:spPr>
          <a:xfrm>
            <a:off x="4395600" y="3281400"/>
            <a:ext cx="480600" cy="676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6" name="Google Shape;761;p53"/>
          <p:cNvCxnSpPr>
            <a:endCxn id="692" idx="1"/>
          </p:cNvCxnSpPr>
          <p:nvPr/>
        </p:nvCxnSpPr>
        <p:spPr>
          <a:xfrm>
            <a:off x="4375080" y="2387880"/>
            <a:ext cx="501120" cy="2739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7" name="Google Shape;762;p53"/>
          <p:cNvCxnSpPr>
            <a:endCxn id="693" idx="1"/>
          </p:cNvCxnSpPr>
          <p:nvPr/>
        </p:nvCxnSpPr>
        <p:spPr>
          <a:xfrm>
            <a:off x="4402440" y="2395080"/>
            <a:ext cx="473760" cy="6681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8" name="Google Shape;763;p53"/>
          <p:cNvCxnSpPr>
            <a:stCxn id="688" idx="3"/>
            <a:endCxn id="695" idx="1"/>
          </p:cNvCxnSpPr>
          <p:nvPr/>
        </p:nvCxnSpPr>
        <p:spPr>
          <a:xfrm>
            <a:off x="4393080" y="1612080"/>
            <a:ext cx="483120" cy="402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9" name="Google Shape;764;p53"/>
          <p:cNvCxnSpPr>
            <a:endCxn id="694" idx="1"/>
          </p:cNvCxnSpPr>
          <p:nvPr/>
        </p:nvCxnSpPr>
        <p:spPr>
          <a:xfrm flipV="1">
            <a:off x="4393080" y="1612080"/>
            <a:ext cx="483120" cy="7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0" name="Google Shape;765;p53"/>
          <p:cNvCxnSpPr>
            <a:stCxn id="689" idx="3"/>
            <a:endCxn id="697" idx="1"/>
          </p:cNvCxnSpPr>
          <p:nvPr/>
        </p:nvCxnSpPr>
        <p:spPr>
          <a:xfrm>
            <a:off x="4393080" y="1238400"/>
            <a:ext cx="4831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1" name="Google Shape;766;p53"/>
          <p:cNvCxnSpPr>
            <a:endCxn id="696" idx="1"/>
          </p:cNvCxnSpPr>
          <p:nvPr/>
        </p:nvCxnSpPr>
        <p:spPr>
          <a:xfrm flipV="1">
            <a:off x="4381920" y="864720"/>
            <a:ext cx="494280" cy="215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2" name="Google Shape;767;p53"/>
          <p:cNvCxnSpPr>
            <a:stCxn id="696" idx="3"/>
            <a:endCxn id="698" idx="1"/>
          </p:cNvCxnSpPr>
          <p:nvPr/>
        </p:nvCxnSpPr>
        <p:spPr>
          <a:xfrm>
            <a:off x="5569920" y="864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3" name="Google Shape;768;p53"/>
          <p:cNvCxnSpPr>
            <a:endCxn id="699" idx="1"/>
          </p:cNvCxnSpPr>
          <p:nvPr/>
        </p:nvCxnSpPr>
        <p:spPr>
          <a:xfrm>
            <a:off x="5572440" y="989640"/>
            <a:ext cx="397800" cy="249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724" name="Google Shape;769;p53"/>
          <p:cNvSpPr/>
          <p:nvPr/>
        </p:nvSpPr>
        <p:spPr>
          <a:xfrm>
            <a:off x="6036480" y="1702800"/>
            <a:ext cx="268560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function makes 2 recursive calls → Exponential complexity, O(2^n).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how many times we end up computing the same values f(n).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1, ..., n-1: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4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B598D4-802A-4145-B49C-1C124F2C99F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7" dur="indefinite" restart="never" nodeType="tmRoot">
          <p:childTnLst>
            <p:seq>
              <p:cTn id="598" dur="indefinite" nodeType="mainSeq">
                <p:childTnLst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1, ..., n-1: ← This repeats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4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F3F7B6-4E6F-4A7A-845F-37798801DED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1" dur="indefinite" restart="never" nodeType="tmRoot">
          <p:childTnLst>
            <p:seq>
              <p:cTn id="612" dur="indefinite" nodeType="mainSeq">
                <p:childTnLst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Then, what?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ldNum" idx="4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F12B39-23BA-4296-9C05-D0CD69474470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41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would be a reasonably “elementary” operation for you?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Walking?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Breathing?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Heart-beats?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Cellular respiration?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Protein expression?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a computer?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E2B5A5-0963-4BA0-99C1-DC5BA0DD657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5" dur="indefinite" restart="never" nodeType="tmRoot">
          <p:childTnLst>
            <p:seq>
              <p:cTn id="626" dur="indefinite" nodeType="mainSeq">
                <p:childTnLst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some elementary computer things might include: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Multiplication?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Addition?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Comparison?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Accessing memory locations?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Bit shifts?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 (^.-).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this is no real problem when it comes to comparing algorithms.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B18AA3-5B03-453A-859F-1CCAD5C4CA0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3" dur="indefinite" restart="never" nodeType="tmRoot">
          <p:childTnLst>
            <p:seq>
              <p:cTn id="664" dur="indefinite" nodeType="mainSeq">
                <p:childTnLst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Bubble sort and Merge sort from before.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Assume that our elementary operation is accessing an element in the array to move it around etc.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remain faithful to our decision, we can compare our algorithms on that basis - it would be unfair to use different elementary operations for each algorithm.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prove this formally, but, do we want to?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8480C6-423F-47F3-B0F0-8CA622E11BB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5" dur="indefinite" restart="never" nodeType="tmRoot">
          <p:childTnLst>
            <p:seq>
              <p:cTn id="706" dur="indefinite" nodeType="mainSeq">
                <p:childTnLst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55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FE22FE-88D7-4714-9B1C-F50B8793844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3" dur="indefinite" restart="never" nodeType="tmRoot">
          <p:childTnLst>
            <p:seq>
              <p:cTn id="724" dur="indefinite" nodeType="mainSeq">
                <p:childTnLst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(n^2 + n) /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5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E7152D-2542-4CA4-903B-558B969FA34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3" dur="indefinite" restart="never" nodeType="tmRoot">
          <p:childTnLst>
            <p:seq>
              <p:cTn id="754" dur="indefinite" nodeType="mainSeq">
                <p:childTnLst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indefinite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we haven’t been so far, so no…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look again at our result: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(n^2 + n) / 2 = n^2 / 2 + n / 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n grows indefinitely, n^2 is much much larger than n, so we can omit it, resulting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n^2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Also, as n grows indefinitely, what’s the point of “/2”. The half of a trillion is still really large. So, we can just keep: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n^2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5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7D1F99-BD9D-4CDA-848B-2468019FB0C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3" dur="indefinite" restart="never" nodeType="tmRoot">
          <p:childTnLst>
            <p:seq>
              <p:cTn id="784" dur="indefinite" nodeType="mainSeq">
                <p:childTnLst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ite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can say that, roughly, on an input of size n (measured in a reasonable manner), Bubble sort requires roughly n^2 EO to complete.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means, roughly: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 EO for n =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10,000 EO for n = 100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EO for n = 1,000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100,000,000 EO for n = 10,000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1,000,000,000 EO for n = 100,000.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say, in more formal language, that Bubble sort is of worst-case time complexity O(n^2).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5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64D9D4-7804-4B0B-AFD5-C9FBC12BA8F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3" dur="indefinite" restart="never" nodeType="tmRoot">
          <p:childTnLst>
            <p:seq>
              <p:cTn id="814" dur="indefinite" nodeType="mainSeq">
                <p:childTnLst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Being more precise…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general, we say that a function f(n) is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O(g(n))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some other function g(n) if there exist M &gt; 0 and n_0 such that |f(n)| &lt;= Mg(n) for every n &gt; n_0.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Forget about  that. We say that a function f(n) is O(g(n)) for some other function g(n) if as n grows indefinitely, f(n) is not larger than g(n), even if we make g(n) really small using some positive constant.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instance: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0.3589*n^2 is O(n^2), since they are roughly the same as n → Infinity.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0.3589*n^3 is not O(n^2) since n^3 grows “faster” than n^2 or any multiple of n^2.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* n is O(n^2) as n^2 eventually grows faster than any multiple of 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5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972D79-C647-4728-8A9B-1CF7F491EC4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7" dur="indefinite" restart="never" nodeType="tmRoot">
          <p:childTnLst>
            <p:seq>
              <p:cTn id="848" dur="indefinite" nodeType="mainSeq">
                <p:childTnLst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indefinite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rule of thumb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sldNum" idx="5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5E8292-BD99-44D7-BAEB-870ACF159D0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9" name="Google Shape;852;p65" descr=""/>
          <p:cNvPicPr/>
          <p:nvPr/>
        </p:nvPicPr>
        <p:blipFill>
          <a:blip r:embed="rId1"/>
          <a:stretch/>
        </p:blipFill>
        <p:spPr>
          <a:xfrm>
            <a:off x="2163960" y="1328760"/>
            <a:ext cx="4819320" cy="32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about Merge sort?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a list of size n, splitting things up (first step) requires roughly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Then, we repeat some times a merging process, swapping at most once each element, so, each merging sequence requires (at most)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But, how many times we repeat those merging sequences?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think…]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have 8 elements in our list, we split once, (2 lists of 4), another once (4 lists of 2) and another once (8 lists of 1). So, three times.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8, 3, splitting in 2: How to combine all those?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2³ = 8 → 3 = log(8), where log is base-2 logarithm.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log(n) in the general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Overall: nlog(n) + n, which is O(nlog(n)).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5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8635ED-0661-4BEE-AA6F-6F6C247A05A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3" dur="indefinite" restart="never" nodeType="tmRoot">
          <p:childTnLst>
            <p:seq>
              <p:cTn id="874" dur="indefinite" nodeType="mainSeq">
                <p:childTnLst>
                  <p:par>
                    <p:cTn id="875" fill="hold">
                      <p:stCondLst>
                        <p:cond delay="indefinite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indefinite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indefinite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questionnaire!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4707360" y="3983400"/>
            <a:ext cx="4361040" cy="39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https://forms.gle/zezKMVzhaT4xyJgk8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6" name="Google Shape;867;p67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5940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767" name="PlaceHolder 4"/>
          <p:cNvSpPr>
            <a:spLocks noGrp="1"/>
          </p:cNvSpPr>
          <p:nvPr>
            <p:ph type="sldNum" idx="5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96CABE-7715-4B07-9071-2988A8DD06A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2025-12-15T12:53:07Z</dcterms:modified>
  <cp:revision>2</cp:revision>
  <dc:subject/>
  <dc:title/>
</cp:coreProperties>
</file>