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29.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37.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16.xml.rels" ContentType="application/vnd.openxmlformats-package.relationships+xml"/>
  <Override PartName="/ppt/slides/_rels/slide7.xml.rels" ContentType="application/vnd.openxmlformats-package.relationships+xml"/>
  <Override PartName="/ppt/slides/_rels/slide35.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B3A565F8-B483-4E13-A731-16737D6A658E}"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A680A55A-F8E8-43FD-83AF-99021783D4D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E99F268E-8BC6-4D0B-838F-586C14F293D8}"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7EE7765B-B469-476B-AC70-5B3F00A0E97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505AECBE-8CF7-4EE2-8D93-ACE6FE552C9D}"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DFA7C511-CA00-4C10-A7F6-E402D19BCDCE}"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C0098501-5B71-47C9-A138-17F27B67A724}"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711B9287-FB2E-4E29-BE4B-47DF638FCFEC}"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22B75D89-9AD2-4FE8-8C54-AECF29ACB15B}"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AF03482B-1ACD-4E92-A07D-C6FB767D10C2}"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EC47D138-6286-4AEF-9068-F5F87F3DD910}"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0BDDC751-CA63-41B8-BDB0-F8B951D4D450}"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1727C48C-6D89-453E-9767-D88DAE776E29}"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1107EE65-4D69-402B-AF5A-6F41E388CFE3}"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CBA9C30F-1271-4310-8133-8A9D86CE57C1}"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DCD31B32-6A8C-4177-9F37-6BDE7E67E2C0}"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3DE4BB9A-6410-4126-AC30-A016A020C8E4}"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3B5360A0-F76C-4D69-B510-F8BA04CC4364}"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F857450F-AFC2-42CE-87A5-528C05F0EBE9}"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4D75CC6D-8511-480A-A83A-277FB761A588}"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83FC1D06-F0A6-4563-AD3C-274EE79BE53E}"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0AE3C2E9-3450-4F5E-B5EF-EB1D82CDA1CD}"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E4BF06B5-5A2B-4091-9DFC-0AAF2D73B70D}"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2451D921-9BA3-492F-9509-50E0009BD3E1}"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73707648-CBAA-43A6-9718-B2FDC688B1D1}"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5C3B2AB3-C2FC-4609-B649-1AAE24443C9E}"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0F6FAC1F-B5A6-4340-AE81-B4B258387A1F}"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A82D4940-FBA4-4605-899F-BE8F43541453}"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CD522797-55B2-47F5-9D62-25F504B7DB99}"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1DA48FAA-C43D-4295-8C35-12522ECB84A1}"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09872D67-D2C9-47A9-8138-AFB19C3ACF1B}"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6F11CC5F-35A4-4F3F-B1ED-9945E7CE86B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85455A3B-626F-442B-BE39-0F1816E7A501}"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A8754BF1-89C6-4A94-AD79-62AAFBCE0014}"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F9E36BC6-4A78-4EB1-B821-ABF3F07DC999}"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6DBD8C47-5EAF-44F6-AC91-4695F1E0A492}"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AC034FC3-EFD2-4EA4-98FC-0F82B75B9835}"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759D0134-A6C4-4871-AD81-FD81288A5979}"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25FDC948-FF6D-4BDD-AF90-4D7EB0E847B2}"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81064C5B-7337-4DD6-A0E0-12C793B7893B}"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C38C9E70-8384-4A6B-9E5F-B3A2B3C469FC}"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386A785A-E55D-4A02-847B-3D832223C26E}"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F0A19EB5-4E93-4611-9900-A8DA7FB90B03}"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2CF32807-6A06-43A3-A905-9018C0ECE063}"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5FB8EF22-F46B-407F-BF15-7A6C9D47D59F}"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EC47FFE0-D4B9-486A-BBA5-515E97576937}"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D3F57595-CC6A-432D-BB3B-55E9922EC4E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B350DD86-4F6B-45F1-B8DA-E366B9C3BFAB}"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A17F89B9-4DA2-4CD1-AF0D-2A46BBBE58A8}"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0"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48B520F1-10CC-471B-A570-3E2C41EECFBA}"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2"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7267068D-3FA4-41D1-9E13-A662C5B36643}"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5"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48A20DE9-A2DC-4410-A084-E66408B36E09}"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5"/>
          </p:nvPr>
        </p:nvSpPr>
        <p:spPr/>
        <p:txBody>
          <a:bodyPr/>
          <a:p>
            <a:fld id="{73F8C77D-5DC8-40E2-A8BF-745824E17707}"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5"/>
          </p:nvPr>
        </p:nvSpPr>
        <p:spPr/>
        <p:txBody>
          <a:bodyPr/>
          <a:p>
            <a:fld id="{13456B9E-88F4-4F00-AE65-E4A6AC905DF5}"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9"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0"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1"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FF8F52CD-D8CA-4E99-8A89-E8566B2A3152}"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5"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18B19341-0948-4181-B012-239F7DF26A1C}"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9"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E6D88F71-F2CA-4266-A2CC-810B0F86ADE7}"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1"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2"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5B92B811-8D8A-40CD-A24E-2D0735C9F6A1}"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6"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7"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5"/>
          </p:nvPr>
        </p:nvSpPr>
        <p:spPr/>
        <p:txBody>
          <a:bodyPr/>
          <a:p>
            <a:fld id="{F97CA971-340E-4F83-8B16-99F60596D517}"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9"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0"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1"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2"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3"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4"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5"/>
          </p:nvPr>
        </p:nvSpPr>
        <p:spPr/>
        <p:txBody>
          <a:bodyPr/>
          <a:p>
            <a:fld id="{6E2D5B74-0B63-4509-A5CD-5F8A15A712CF}" type="slidenum">
              <a:t>&lt;#&gt;</a:t>
            </a:fld>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EC75E9BE-C492-44F8-81A5-11C94B25F20F}" type="slidenum">
              <a:t>&lt;#&gt;</a:t>
            </a:fld>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3"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9EA480E3-E2A5-49C8-9C7C-BD3606DCE6F1}" type="slidenum">
              <a:t>&lt;#&gt;</a:t>
            </a:fld>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5"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6"/>
          </p:nvPr>
        </p:nvSpPr>
        <p:spPr/>
        <p:txBody>
          <a:bodyPr/>
          <a:p>
            <a:fld id="{092B1CC6-69F5-4605-B002-D58D5A79CE3C}" type="slidenum">
              <a:t>&lt;#&gt;</a:t>
            </a:fld>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28"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8F0FDEEB-91CF-47E1-B319-CCC73B169DCD}" type="slidenum">
              <a:t>&lt;#&gt;</a:t>
            </a:fld>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6"/>
          </p:nvPr>
        </p:nvSpPr>
        <p:spPr/>
        <p:txBody>
          <a:bodyPr/>
          <a:p>
            <a:fld id="{CC46A2FC-50F7-428B-96A8-38F7A0672336}" type="slidenum">
              <a:t>&lt;#&gt;</a:t>
            </a:fld>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0"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6"/>
          </p:nvPr>
        </p:nvSpPr>
        <p:spPr/>
        <p:txBody>
          <a:bodyPr/>
          <a:p>
            <a:fld id="{D532AA84-7338-41D3-A059-64884ED6819B}" type="slidenum">
              <a:t>&lt;#&gt;</a:t>
            </a:fld>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2"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3"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4"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49CD5F2A-979B-432F-B4BD-A941F7A1479F}" type="slidenum">
              <a:t>&lt;#&gt;</a:t>
            </a:fld>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6"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8"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FB16C0AD-D94D-4E71-AD51-85D9056D2D90}" type="slidenum">
              <a:t>&lt;#&gt;</a:t>
            </a:fld>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2"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1833F717-B664-45E0-8F1E-2572B880FD0B}" type="slidenum">
              <a:t>&lt;#&gt;</a:t>
            </a:fld>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4"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5"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A42AC4F8-422B-4042-B462-78F75FBC4468}" type="slidenum">
              <a:t>&lt;#&gt;</a:t>
            </a:fld>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9"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0"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6"/>
          </p:nvPr>
        </p:nvSpPr>
        <p:spPr/>
        <p:txBody>
          <a:bodyPr/>
          <a:p>
            <a:fld id="{1EF549AD-8A96-4FAA-9100-36CED61C45D9}" type="slidenum">
              <a:t>&lt;#&gt;</a:t>
            </a:fld>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52"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3"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4"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5"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6"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7"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6"/>
          </p:nvPr>
        </p:nvSpPr>
        <p:spPr/>
        <p:txBody>
          <a:bodyPr/>
          <a:p>
            <a:fld id="{E885272E-EAA4-452C-8001-A5E6A5D8F57A}"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0;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1;p2"/>
          <p:cNvGrpSpPr/>
          <p:nvPr/>
        </p:nvGrpSpPr>
        <p:grpSpPr>
          <a:xfrm>
            <a:off x="530280" y="1205640"/>
            <a:ext cx="1342800" cy="17280"/>
            <a:chOff x="530280" y="1205640"/>
            <a:chExt cx="1342800" cy="17280"/>
          </a:xfrm>
        </p:grpSpPr>
        <p:sp>
          <p:nvSpPr>
            <p:cNvPr id="2" name="Google Shape;12;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3;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184C088-2EB3-42DF-8C4C-00CA7E94E7EF}"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7;p2"/>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0;p3"/>
          <p:cNvGrpSpPr/>
          <p:nvPr/>
        </p:nvGrpSpPr>
        <p:grpSpPr>
          <a:xfrm>
            <a:off x="530280" y="1205640"/>
            <a:ext cx="1342800" cy="17280"/>
            <a:chOff x="530280" y="1205640"/>
            <a:chExt cx="1342800" cy="17280"/>
          </a:xfrm>
        </p:grpSpPr>
        <p:sp>
          <p:nvSpPr>
            <p:cNvPr id="45" name="Google Shape;21;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2;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F04C0EE3-A058-4AAF-976E-2A283BD07DA8}"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6" name="Google Shape;26;p4"/>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87" name="Google Shape;27;p4"/>
          <p:cNvGrpSpPr/>
          <p:nvPr/>
        </p:nvGrpSpPr>
        <p:grpSpPr>
          <a:xfrm>
            <a:off x="530280" y="1205640"/>
            <a:ext cx="1342800" cy="17280"/>
            <a:chOff x="530280" y="1205640"/>
            <a:chExt cx="1342800" cy="17280"/>
          </a:xfrm>
        </p:grpSpPr>
        <p:sp>
          <p:nvSpPr>
            <p:cNvPr id="88" name="Google Shape;28;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29;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11FEB95-9590-4616-892A-A3FFA3BFA627}"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29" name="Google Shape;42;p6"/>
          <p:cNvSpPr/>
          <p:nvPr/>
        </p:nvSpPr>
        <p:spPr>
          <a:xfrm>
            <a:off x="0" y="0"/>
            <a:ext cx="9143640" cy="487440"/>
          </a:xfrm>
          <a:prstGeom prst="rect">
            <a:avLst/>
          </a:prstGeom>
          <a:solidFill>
            <a:schemeClr val="dk1"/>
          </a:solidFill>
          <a:ln w="9525">
            <a:solidFill>
              <a:srgbClr val="1a998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Heads up!</a:t>
            </a:r>
            <a:endParaRPr b="0" lang="en-US" sz="1400" spc="-1" strike="noStrike">
              <a:solidFill>
                <a:srgbClr val="000000"/>
              </a:solidFill>
              <a:latin typeface="Arial"/>
            </a:endParaRPr>
          </a:p>
        </p:txBody>
      </p:sp>
      <p:grpSp>
        <p:nvGrpSpPr>
          <p:cNvPr id="130" name="Google Shape;43;p6"/>
          <p:cNvGrpSpPr/>
          <p:nvPr/>
        </p:nvGrpSpPr>
        <p:grpSpPr>
          <a:xfrm>
            <a:off x="530280" y="1205640"/>
            <a:ext cx="1342800" cy="17280"/>
            <a:chOff x="530280" y="1205640"/>
            <a:chExt cx="1342800" cy="17280"/>
          </a:xfrm>
        </p:grpSpPr>
        <p:sp>
          <p:nvSpPr>
            <p:cNvPr id="131" name="Google Shape;44;p6"/>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45;p6"/>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A28A16A-1C7F-4353-AF5E-555FA3DB2AA4}"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72" name="Google Shape;50;p7"/>
          <p:cNvSpPr/>
          <p:nvPr/>
        </p:nvSpPr>
        <p:spPr>
          <a:xfrm>
            <a:off x="0" y="0"/>
            <a:ext cx="9143640" cy="487440"/>
          </a:xfrm>
          <a:prstGeom prst="rect">
            <a:avLst/>
          </a:prstGeom>
          <a:solidFill>
            <a:schemeClr val="accent2"/>
          </a:solidFill>
          <a:ln w="9525">
            <a:solidFill>
              <a:srgbClr val="6aa4c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Quick Revision</a:t>
            </a:r>
            <a:endParaRPr b="0" lang="en-US" sz="1400" spc="-1" strike="noStrike">
              <a:solidFill>
                <a:srgbClr val="000000"/>
              </a:solidFill>
              <a:latin typeface="Arial"/>
            </a:endParaRPr>
          </a:p>
        </p:txBody>
      </p:sp>
      <p:grpSp>
        <p:nvGrpSpPr>
          <p:cNvPr id="173" name="Google Shape;51;p7"/>
          <p:cNvGrpSpPr/>
          <p:nvPr/>
        </p:nvGrpSpPr>
        <p:grpSpPr>
          <a:xfrm>
            <a:off x="530280" y="1205640"/>
            <a:ext cx="1342800" cy="17280"/>
            <a:chOff x="530280" y="1205640"/>
            <a:chExt cx="1342800" cy="17280"/>
          </a:xfrm>
        </p:grpSpPr>
        <p:sp>
          <p:nvSpPr>
            <p:cNvPr id="174" name="Google Shape;52;p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75" name="Google Shape;53;p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7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77"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78" name="PlaceHolder 3"/>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7AE3027-7045-4848-A98E-9B2021104343}"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5" name="Google Shape;88;p12"/>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216" name="Google Shape;89;p12"/>
          <p:cNvGrpSpPr/>
          <p:nvPr/>
        </p:nvGrpSpPr>
        <p:grpSpPr>
          <a:xfrm>
            <a:off x="530280" y="1205640"/>
            <a:ext cx="1342800" cy="17280"/>
            <a:chOff x="530280" y="1205640"/>
            <a:chExt cx="1342800" cy="17280"/>
          </a:xfrm>
        </p:grpSpPr>
        <p:sp>
          <p:nvSpPr>
            <p:cNvPr id="217" name="Google Shape;90;p1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218" name="Google Shape;91;p1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219"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220"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221"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5BA4A5E-BAB7-45F9-A7FF-214C915AD5BC}"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hyperlink" Target="https://dbdiagram.io/home" TargetMode="External"/><Relationship Id="rId2" Type="http://schemas.openxmlformats.org/officeDocument/2006/relationships/hyperlink" Target="https://dbml.dbdiagram.io/docs/" TargetMode="External"/><Relationship Id="rId3" Type="http://schemas.openxmlformats.org/officeDocument/2006/relationships/slideLayout" Target="../slideLayouts/slideLayout27.xml"/>
</Relationships>
</file>

<file path=ppt/slides/_rels/slide34.xml.rels><?xml version="1.0" encoding="UTF-8"?>
<Relationships xmlns="http://schemas.openxmlformats.org/package/2006/relationships"><Relationship Id="rId1" Type="http://schemas.openxmlformats.org/officeDocument/2006/relationships/hyperlink" Target="https://dbdiagram.io/home" TargetMode="External"/><Relationship Id="rId2" Type="http://schemas.openxmlformats.org/officeDocument/2006/relationships/image" Target="../media/image2.png"/><Relationship Id="rId3" Type="http://schemas.openxmlformats.org/officeDocument/2006/relationships/slideLayout" Target="../slideLayouts/slideLayout27.xml"/>
</Relationships>
</file>

<file path=ppt/slides/_rels/slide3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7.xml"/>
</Relationships>
</file>

<file path=ppt/slides/_rels/slide3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7.xml"/>
</Relationships>
</file>

<file path=ppt/slides/_rels/slide3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7.xml"/>
</Relationships>
</file>

<file path=ppt/slides/_rels/slide3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7.xml"/>
</Relationships>
</file>

<file path=ppt/slides/_rels/slide39.xml.rels><?xml version="1.0" encoding="UTF-8"?>
<Relationships xmlns="http://schemas.openxmlformats.org/package/2006/relationships"><Relationship Id="rId1" Type="http://schemas.openxmlformats.org/officeDocument/2006/relationships/hyperlink" Target="https://dbml.dbdiagram.io/docs/" TargetMode="External"/><Relationship Id="rId2" Type="http://schemas.openxmlformats.org/officeDocument/2006/relationships/hyperlink" Target="https://dbdiagram.io/d" TargetMode="External"/><Relationship Id="rId3" Type="http://schemas.openxmlformats.org/officeDocument/2006/relationships/slideLayout" Target="../slideLayouts/slideLayout27.xml"/>
</Relationships>
</file>

<file path=ppt/slides/_rels/slide40.xml.rels><?xml version="1.0" encoding="UTF-8"?>
<Relationships xmlns="http://schemas.openxmlformats.org/package/2006/relationships"><Relationship Id="rId1" Type="http://schemas.openxmlformats.org/officeDocument/2006/relationships/hyperlink" Target="mailto:v.markos@mc-class.gr" TargetMode="External"/><Relationship Id="rId2" Type="http://schemas.openxmlformats.org/officeDocument/2006/relationships/slideLayout" Target="../slideLayouts/slideLayout27.xml"/>
</Relationships>
</file>

<file path=ppt/slides/_rels/slide41.xml.rels><?xml version="1.0" encoding="UTF-8"?>
<Relationships xmlns="http://schemas.openxmlformats.org/package/2006/relationships"><Relationship Id="rId1" Type="http://schemas.openxmlformats.org/officeDocument/2006/relationships/hyperlink" Target="https://forms.gle/edpsrRjMWJwPtv3U9" TargetMode="External"/><Relationship Id="rId2" Type="http://schemas.openxmlformats.org/officeDocument/2006/relationships/image" Target="../media/image4.png"/><Relationship Id="rId3" Type="http://schemas.openxmlformats.org/officeDocument/2006/relationships/hyperlink" Target="https://forms.gle/edpsrRjMWJwPtv3U9" TargetMode="External"/><Relationship Id="rId4"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Computer Systems, Data Structures &amp; Data Management</a:t>
            </a:r>
            <a:endParaRPr b="0" lang="en-US" sz="4200" spc="-1" strike="noStrike">
              <a:solidFill>
                <a:srgbClr val="000000"/>
              </a:solidFill>
              <a:latin typeface="Arial"/>
            </a:endParaRPr>
          </a:p>
        </p:txBody>
      </p:sp>
      <p:sp>
        <p:nvSpPr>
          <p:cNvPr id="259" name="PlaceHolder 2"/>
          <p:cNvSpPr>
            <a:spLocks noGrp="1"/>
          </p:cNvSpPr>
          <p:nvPr>
            <p:ph type="subTitle"/>
          </p:nvPr>
        </p:nvSpPr>
        <p:spPr>
          <a:xfrm>
            <a:off x="729720" y="3173040"/>
            <a:ext cx="7687800" cy="79344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Markos Vassilis</a:t>
            </a:r>
            <a:endParaRPr b="0" lang="en-US" sz="1600" spc="-1" strike="noStrike">
              <a:solidFill>
                <a:srgbClr val="000000"/>
              </a:solidFill>
              <a:latin typeface="Arial"/>
            </a:endParaRPr>
          </a:p>
          <a:p>
            <a:pPr indent="0">
              <a:lnSpc>
                <a:spcPct val="100000"/>
              </a:lnSpc>
              <a:buNone/>
              <a:tabLst>
                <a:tab algn="l" pos="0"/>
              </a:tabLst>
            </a:pPr>
            <a:r>
              <a:rPr b="0" lang="el" sz="1370" spc="-1" strike="noStrike">
                <a:solidFill>
                  <a:schemeClr val="accent1"/>
                </a:solidFill>
                <a:latin typeface="Lato"/>
                <a:ea typeface="Lato"/>
              </a:rPr>
              <a:t>Mediterranean College</a:t>
            </a:r>
            <a:endParaRPr b="0" lang="en-US" sz="1370" spc="-1" strike="noStrike">
              <a:solidFill>
                <a:srgbClr val="000000"/>
              </a:solidFill>
              <a:latin typeface="Arial"/>
            </a:endParaRPr>
          </a:p>
        </p:txBody>
      </p:sp>
      <p:sp>
        <p:nvSpPr>
          <p:cNvPr id="260" name="Google Shape;114;p16"/>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261"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13</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Databases</a:t>
            </a:r>
            <a:endParaRPr b="0" lang="en-US" sz="3600" spc="-1" strike="noStrike">
              <a:solidFill>
                <a:srgbClr val="000000"/>
              </a:solidFill>
              <a:latin typeface="Arial"/>
            </a:endParaRPr>
          </a:p>
        </p:txBody>
      </p:sp>
      <p:sp>
        <p:nvSpPr>
          <p:cNvPr id="263" name="PlaceHolder 2"/>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BA73CB2E-9254-42B7-9966-8F41FD7A3C6E}"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Course Outline (Roughly): Weeks 13-18</a:t>
            </a:r>
            <a:endParaRPr b="0" lang="en-US" sz="2600" spc="-1" strike="noStrike">
              <a:solidFill>
                <a:srgbClr val="000000"/>
              </a:solidFill>
              <a:latin typeface="Arial"/>
            </a:endParaRPr>
          </a:p>
        </p:txBody>
      </p:sp>
      <p:sp>
        <p:nvSpPr>
          <p:cNvPr id="26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43080">
              <a:lnSpc>
                <a:spcPct val="115000"/>
              </a:lnSpc>
              <a:buClr>
                <a:srgbClr val="595959"/>
              </a:buClr>
              <a:buFont typeface="Lato"/>
              <a:buChar char="●"/>
            </a:pPr>
            <a:r>
              <a:rPr b="0" lang="el" sz="1800" spc="-1" strike="noStrike">
                <a:solidFill>
                  <a:schemeClr val="accent1"/>
                </a:solidFill>
                <a:latin typeface="Lato"/>
                <a:ea typeface="Lato"/>
              </a:rPr>
              <a:t>Database (DB) design principles.</a:t>
            </a:r>
            <a:endParaRPr b="0" lang="en-US" sz="1800" spc="-1" strike="noStrike">
              <a:solidFill>
                <a:srgbClr val="000000"/>
              </a:solidFill>
              <a:latin typeface="Arial"/>
            </a:endParaRPr>
          </a:p>
          <a:p>
            <a:pPr marL="457200" indent="-343080">
              <a:lnSpc>
                <a:spcPct val="115000"/>
              </a:lnSpc>
              <a:buClr>
                <a:srgbClr val="595959"/>
              </a:buClr>
              <a:buFont typeface="Lato"/>
              <a:buChar char="●"/>
            </a:pPr>
            <a:r>
              <a:rPr b="0" lang="el" sz="1800" spc="-1" strike="noStrike">
                <a:solidFill>
                  <a:schemeClr val="accent1"/>
                </a:solidFill>
                <a:latin typeface="Lato"/>
                <a:ea typeface="Lato"/>
              </a:rPr>
              <a:t>Models, Views, Schemata, …</a:t>
            </a:r>
            <a:endParaRPr b="0" lang="en-US" sz="1800" spc="-1" strike="noStrike">
              <a:solidFill>
                <a:srgbClr val="000000"/>
              </a:solidFill>
              <a:latin typeface="Arial"/>
            </a:endParaRPr>
          </a:p>
          <a:p>
            <a:pPr marL="457200" indent="-343080">
              <a:lnSpc>
                <a:spcPct val="115000"/>
              </a:lnSpc>
              <a:buClr>
                <a:srgbClr val="595959"/>
              </a:buClr>
              <a:buFont typeface="Lato"/>
              <a:buChar char="●"/>
            </a:pPr>
            <a:r>
              <a:rPr b="0" lang="el" sz="1800" spc="-1" strike="noStrike">
                <a:solidFill>
                  <a:schemeClr val="accent1"/>
                </a:solidFill>
                <a:latin typeface="Lato"/>
                <a:ea typeface="Lato"/>
              </a:rPr>
              <a:t>The almighty E-R Model</a:t>
            </a:r>
            <a:endParaRPr b="0" lang="en-US" sz="1800" spc="-1" strike="noStrike">
              <a:solidFill>
                <a:srgbClr val="000000"/>
              </a:solidFill>
              <a:latin typeface="Arial"/>
            </a:endParaRPr>
          </a:p>
          <a:p>
            <a:pPr marL="457200" indent="-343080">
              <a:lnSpc>
                <a:spcPct val="115000"/>
              </a:lnSpc>
              <a:buClr>
                <a:srgbClr val="595959"/>
              </a:buClr>
              <a:buFont typeface="Lato"/>
              <a:buChar char="●"/>
            </a:pPr>
            <a:r>
              <a:rPr b="0" lang="el" sz="1800" spc="-1" strike="noStrike">
                <a:solidFill>
                  <a:schemeClr val="accent1"/>
                </a:solidFill>
                <a:latin typeface="Lato"/>
                <a:ea typeface="Lato"/>
              </a:rPr>
              <a:t>Database Languages</a:t>
            </a:r>
            <a:endParaRPr b="0" lang="en-US" sz="1800" spc="-1" strike="noStrike">
              <a:solidFill>
                <a:srgbClr val="000000"/>
              </a:solidFill>
              <a:latin typeface="Arial"/>
            </a:endParaRPr>
          </a:p>
          <a:p>
            <a:pPr marL="457200" indent="-343080">
              <a:lnSpc>
                <a:spcPct val="115000"/>
              </a:lnSpc>
              <a:buClr>
                <a:srgbClr val="595959"/>
              </a:buClr>
              <a:buFont typeface="Lato"/>
              <a:buChar char="●"/>
            </a:pPr>
            <a:r>
              <a:rPr b="0" lang="el" sz="1800" spc="-1" strike="noStrike">
                <a:solidFill>
                  <a:schemeClr val="accent1"/>
                </a:solidFill>
                <a:latin typeface="Lato"/>
                <a:ea typeface="Lato"/>
              </a:rPr>
              <a:t>Other cool stuff about Databases…</a:t>
            </a:r>
            <a:endParaRPr b="0" lang="en-US" sz="1800" spc="-1" strike="noStrike">
              <a:solidFill>
                <a:srgbClr val="000000"/>
              </a:solidFill>
              <a:latin typeface="Arial"/>
            </a:endParaRPr>
          </a:p>
          <a:p>
            <a:pPr marL="457200" indent="-343080">
              <a:lnSpc>
                <a:spcPct val="115000"/>
              </a:lnSpc>
              <a:buClr>
                <a:srgbClr val="595959"/>
              </a:buClr>
              <a:buFont typeface="Lato"/>
              <a:buChar char="●"/>
            </a:pPr>
            <a:r>
              <a:rPr b="0" lang="el" sz="1800" spc="-1" strike="noStrike">
                <a:solidFill>
                  <a:schemeClr val="accent1"/>
                </a:solidFill>
                <a:latin typeface="Lato"/>
                <a:ea typeface="Lato"/>
              </a:rPr>
              <a:t>Apply all the above with MS Access 2016 (?).</a:t>
            </a:r>
            <a:endParaRPr b="0" lang="en-US" sz="1800" spc="-1" strike="noStrike">
              <a:solidFill>
                <a:srgbClr val="000000"/>
              </a:solidFill>
              <a:latin typeface="Arial"/>
            </a:endParaRPr>
          </a:p>
        </p:txBody>
      </p:sp>
      <p:sp>
        <p:nvSpPr>
          <p:cNvPr id="266"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7181884-382C-45D3-95DF-878606AC1AD9}"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2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265">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Our Holy Bible</a:t>
            </a:r>
            <a:endParaRPr b="0" lang="en-US" sz="2600" spc="-1" strike="noStrike">
              <a:solidFill>
                <a:srgbClr val="000000"/>
              </a:solidFill>
              <a:latin typeface="Arial"/>
            </a:endParaRPr>
          </a:p>
        </p:txBody>
      </p:sp>
      <p:sp>
        <p:nvSpPr>
          <p:cNvPr id="268" name="PlaceHolder 2"/>
          <p:cNvSpPr>
            <a:spLocks noGrp="1"/>
          </p:cNvSpPr>
          <p:nvPr>
            <p:ph/>
          </p:nvPr>
        </p:nvSpPr>
        <p:spPr>
          <a:xfrm>
            <a:off x="729360" y="1378080"/>
            <a:ext cx="4342320" cy="2961720"/>
          </a:xfrm>
          <a:prstGeom prst="rect">
            <a:avLst/>
          </a:prstGeom>
          <a:noFill/>
          <a:ln w="0">
            <a:noFill/>
          </a:ln>
        </p:spPr>
        <p:txBody>
          <a:bodyPr tIns="91440" bIns="91440" anchor="t">
            <a:normAutofit/>
          </a:bodyPr>
          <a:p>
            <a:pPr indent="0">
              <a:lnSpc>
                <a:spcPct val="115000"/>
              </a:lnSpc>
              <a:buNone/>
              <a:tabLst>
                <a:tab algn="l" pos="0"/>
              </a:tabLst>
            </a:pPr>
            <a:r>
              <a:rPr b="1" lang="el" sz="1600" spc="-1" strike="noStrike">
                <a:solidFill>
                  <a:schemeClr val="accent1"/>
                </a:solidFill>
                <a:latin typeface="Lato"/>
                <a:ea typeface="Lato"/>
              </a:rPr>
              <a:t>Database System Concepts</a:t>
            </a:r>
            <a:r>
              <a:rPr b="0" lang="el" sz="1600" spc="-1" strike="noStrike">
                <a:solidFill>
                  <a:schemeClr val="accent1"/>
                </a:solidFill>
                <a:latin typeface="Lato"/>
                <a:ea typeface="Lato"/>
              </a:rPr>
              <a:t>, Abraham, Silberschatz, Henry, F., Korth, S. Sudarshan, Sixth Edition, McGraw Hill, ISBN 978-0-07-352332-3.</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You can access it through the college’s library / Derby library.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If you have any issues finding it, contact me to find a way.</a:t>
            </a:r>
            <a:endParaRPr b="0" lang="en-US" sz="1600" spc="-1" strike="noStrike">
              <a:solidFill>
                <a:srgbClr val="000000"/>
              </a:solidFill>
              <a:latin typeface="Arial"/>
            </a:endParaRPr>
          </a:p>
        </p:txBody>
      </p:sp>
      <p:pic>
        <p:nvPicPr>
          <p:cNvPr id="269" name="Google Shape;135;p19" descr=""/>
          <p:cNvPicPr/>
          <p:nvPr/>
        </p:nvPicPr>
        <p:blipFill>
          <a:blip r:embed="rId1"/>
          <a:stretch/>
        </p:blipFill>
        <p:spPr>
          <a:xfrm>
            <a:off x="5494680" y="654480"/>
            <a:ext cx="3123000" cy="4279680"/>
          </a:xfrm>
          <a:prstGeom prst="rect">
            <a:avLst/>
          </a:prstGeom>
          <a:ln w="0">
            <a:noFill/>
          </a:ln>
        </p:spPr>
      </p:pic>
      <p:sp>
        <p:nvSpPr>
          <p:cNvPr id="270"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52FAB81-75CF-4C1F-99FB-D7B290F87EAB}"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Assessment</a:t>
            </a:r>
            <a:endParaRPr b="0" lang="en-US" sz="2600" spc="-1" strike="noStrike">
              <a:solidFill>
                <a:srgbClr val="000000"/>
              </a:solidFill>
              <a:latin typeface="Arial"/>
            </a:endParaRPr>
          </a:p>
        </p:txBody>
      </p:sp>
      <p:sp>
        <p:nvSpPr>
          <p:cNvPr id="272" name="PlaceHolder 2"/>
          <p:cNvSpPr>
            <a:spLocks noGrp="1"/>
          </p:cNvSpPr>
          <p:nvPr>
            <p:ph/>
          </p:nvPr>
        </p:nvSpPr>
        <p:spPr>
          <a:xfrm>
            <a:off x="729360" y="1378080"/>
            <a:ext cx="7688520" cy="3764880"/>
          </a:xfrm>
          <a:prstGeom prst="rect">
            <a:avLst/>
          </a:prstGeom>
          <a:noFill/>
          <a:ln w="0">
            <a:noFill/>
          </a:ln>
        </p:spPr>
        <p:txBody>
          <a:bodyPr tIns="91440" bIns="91440" anchor="t">
            <a:no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MS Access Course: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An introductory LinkedIn course about MS Access, worth 5% of your final grade.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Term Project: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database design project implemented on MS Access.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You also have to provide documentation!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Worth 50% of your final grade.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Quizzes about cool stuff:</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Worth 25% of your final grade, as in Fall semester.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Final Exam:</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final exam on everything covered throughout both semesters, worth for another 25% of your final grade.</a:t>
            </a:r>
            <a:endParaRPr b="0" lang="en-US" sz="1600" spc="-1" strike="noStrike">
              <a:solidFill>
                <a:srgbClr val="000000"/>
              </a:solidFill>
              <a:latin typeface="Arial"/>
            </a:endParaRPr>
          </a:p>
        </p:txBody>
      </p:sp>
      <p:sp>
        <p:nvSpPr>
          <p:cNvPr id="273"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6A18D4F-9A24-4F6F-9D80-3709AC54FACF}"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7" dur="indefinite" restart="never" nodeType="tmRoot">
          <p:childTnLst>
            <p:seq>
              <p:cTn id="28" dur="indefinite" nodeType="mainSeq">
                <p:childTnLst>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272">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72">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272">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272">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272">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272">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72">
                                            <p:txEl>
                                              <p:pRg st="7" end="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72">
                                            <p:txEl>
                                              <p:pRg st="8" end="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272">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are “Data”?</a:t>
            </a:r>
            <a:endParaRPr b="0" lang="en-US" sz="2600" spc="-1" strike="noStrike">
              <a:solidFill>
                <a:srgbClr val="000000"/>
              </a:solidFill>
              <a:latin typeface="Arial"/>
            </a:endParaRPr>
          </a:p>
        </p:txBody>
      </p:sp>
      <p:sp>
        <p:nvSpPr>
          <p:cNvPr id="275" name="PlaceHolder 2"/>
          <p:cNvSpPr>
            <a:spLocks noGrp="1"/>
          </p:cNvSpPr>
          <p:nvPr>
            <p:ph/>
          </p:nvPr>
        </p:nvSpPr>
        <p:spPr>
          <a:xfrm>
            <a:off x="729360" y="1378080"/>
            <a:ext cx="7688520" cy="171216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0" lang="el" sz="1600" spc="-1" strike="noStrike">
                <a:solidFill>
                  <a:schemeClr val="accent1"/>
                </a:solidFill>
                <a:latin typeface="Lato"/>
                <a:ea typeface="Lato"/>
              </a:rPr>
              <a:t>Plural of “datum”?</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Stuff that helps us draw conclusions?</a:t>
            </a:r>
            <a:endParaRPr b="0" lang="en-US" sz="1600" spc="-1" strike="noStrike">
              <a:solidFill>
                <a:srgbClr val="000000"/>
              </a:solidFill>
              <a:latin typeface="Arial"/>
            </a:endParaRPr>
          </a:p>
          <a:p>
            <a:pPr marL="447840" indent="-323280">
              <a:lnSpc>
                <a:spcPct val="115000"/>
              </a:lnSpc>
              <a:buClr>
                <a:srgbClr val="595959"/>
              </a:buClr>
              <a:buFont typeface="Lato"/>
              <a:buChar char="●"/>
            </a:pPr>
            <a:r>
              <a:rPr b="0" lang="el" sz="1600" spc="-1" strike="noStrike">
                <a:solidFill>
                  <a:schemeClr val="accent1"/>
                </a:solidFill>
                <a:latin typeface="Lato"/>
                <a:ea typeface="Lato"/>
              </a:rPr>
              <a:t>Potentially everything around us?</a:t>
            </a:r>
            <a:endParaRPr b="0" lang="en-US" sz="1600" spc="-1" strike="noStrike">
              <a:solidFill>
                <a:srgbClr val="000000"/>
              </a:solidFill>
              <a:latin typeface="Arial"/>
            </a:endParaRPr>
          </a:p>
          <a:p>
            <a:pPr marL="447840" indent="-323280">
              <a:lnSpc>
                <a:spcPct val="115000"/>
              </a:lnSpc>
              <a:buClr>
                <a:srgbClr val="595959"/>
              </a:buClr>
              <a:buFont typeface="Lato"/>
              <a:buChar char="●"/>
            </a:pPr>
            <a:r>
              <a:rPr b="1" lang="el" sz="1600" spc="-1" strike="noStrike">
                <a:solidFill>
                  <a:schemeClr val="accent1"/>
                </a:solidFill>
                <a:latin typeface="Lato"/>
                <a:ea typeface="Lato"/>
              </a:rPr>
              <a:t>All of the above.</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But, then, what is a DB?</a:t>
            </a:r>
            <a:endParaRPr b="0" lang="en-US" sz="1600" spc="-1" strike="noStrike">
              <a:solidFill>
                <a:srgbClr val="000000"/>
              </a:solidFill>
              <a:latin typeface="Arial"/>
            </a:endParaRPr>
          </a:p>
        </p:txBody>
      </p:sp>
      <p:sp>
        <p:nvSpPr>
          <p:cNvPr id="276"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EAE9E09-8C97-4023-A36A-EE4014A9AF8A}"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
        <p:nvSpPr>
          <p:cNvPr id="277" name="Google Shape;151;p21"/>
          <p:cNvSpPr/>
          <p:nvPr/>
        </p:nvSpPr>
        <p:spPr>
          <a:xfrm>
            <a:off x="1674360" y="3417480"/>
            <a:ext cx="5798520" cy="1021680"/>
          </a:xfrm>
          <a:prstGeom prst="rect">
            <a:avLst/>
          </a:prstGeom>
          <a:solidFill>
            <a:srgbClr val="d9ead3"/>
          </a:solidFill>
          <a:ln w="19050">
            <a:solidFill>
              <a:srgbClr val="1a9988"/>
            </a:solidFill>
            <a:prstDash val="dash"/>
            <a:round/>
          </a:ln>
        </p:spPr>
        <p:style>
          <a:lnRef idx="0"/>
          <a:fillRef idx="0"/>
          <a:effectRef idx="0"/>
          <a:fontRef idx="minor"/>
        </p:style>
        <p:txBody>
          <a:bodyPr tIns="91440" bIns="91440" anchor="t">
            <a:spAutoFit/>
          </a:bodyPr>
          <a:p>
            <a:pPr>
              <a:lnSpc>
                <a:spcPct val="115000"/>
              </a:lnSpc>
              <a:tabLst>
                <a:tab algn="l" pos="0"/>
              </a:tabLst>
            </a:pPr>
            <a:r>
              <a:rPr b="0" lang="el" sz="1600" spc="-1" strike="noStrike">
                <a:solidFill>
                  <a:schemeClr val="accent1"/>
                </a:solidFill>
                <a:latin typeface="Lato"/>
                <a:ea typeface="Lato"/>
              </a:rPr>
              <a:t>A </a:t>
            </a:r>
            <a:r>
              <a:rPr b="1" lang="el" sz="1600" spc="-1" strike="noStrike">
                <a:solidFill>
                  <a:schemeClr val="accent1"/>
                </a:solidFill>
                <a:latin typeface="Lato"/>
                <a:ea typeface="Lato"/>
              </a:rPr>
              <a:t>database</a:t>
            </a:r>
            <a:r>
              <a:rPr b="0" lang="el" sz="1600" spc="-1" strike="noStrike">
                <a:solidFill>
                  <a:schemeClr val="accent1"/>
                </a:solidFill>
                <a:latin typeface="Lato"/>
                <a:ea typeface="Lato"/>
              </a:rPr>
              <a:t> is an </a:t>
            </a:r>
            <a:r>
              <a:rPr b="1" lang="el" sz="1600" spc="-1" strike="noStrike">
                <a:solidFill>
                  <a:schemeClr val="accent1"/>
                </a:solidFill>
                <a:latin typeface="Lato"/>
                <a:ea typeface="Lato"/>
              </a:rPr>
              <a:t>organized</a:t>
            </a:r>
            <a:r>
              <a:rPr b="0" lang="el" sz="1600" spc="-1" strike="noStrike">
                <a:solidFill>
                  <a:schemeClr val="accent1"/>
                </a:solidFill>
                <a:latin typeface="Lato"/>
                <a:ea typeface="Lato"/>
              </a:rPr>
              <a:t> </a:t>
            </a:r>
            <a:r>
              <a:rPr b="0" lang="el" sz="1600" spc="-1" strike="noStrike">
                <a:solidFill>
                  <a:schemeClr val="accent3"/>
                </a:solidFill>
                <a:latin typeface="Lato"/>
                <a:ea typeface="Lato"/>
              </a:rPr>
              <a:t>collection of data </a:t>
            </a:r>
            <a:r>
              <a:rPr b="0" lang="el" sz="1600" spc="-1" strike="noStrike">
                <a:solidFill>
                  <a:schemeClr val="accent1"/>
                </a:solidFill>
                <a:latin typeface="Lato"/>
                <a:ea typeface="Lato"/>
              </a:rPr>
              <a:t>(also known as a data store) stored and accessed electronically through the use of a </a:t>
            </a:r>
            <a:r>
              <a:rPr b="0" i="1" lang="el" sz="1600" spc="-1" strike="noStrike">
                <a:solidFill>
                  <a:schemeClr val="accent1"/>
                </a:solidFill>
                <a:latin typeface="Lato"/>
                <a:ea typeface="Lato"/>
              </a:rPr>
              <a:t>database management system</a:t>
            </a:r>
            <a:r>
              <a:rPr b="0" lang="el" sz="1600" spc="-1" strike="noStrike">
                <a:solidFill>
                  <a:schemeClr val="accent1"/>
                </a:solidFill>
                <a:latin typeface="Lato"/>
                <a:ea typeface="Lato"/>
              </a:rPr>
              <a:t> (DBMS).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9" dur="indefinite" restart="never" nodeType="tmRoot">
          <p:childTnLst>
            <p:seq>
              <p:cTn id="70" dur="indefinite" nodeType="mainSeq">
                <p:childTnLst>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275">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75">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75">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275">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275">
                                            <p:txEl>
                                              <p:pRg st="4" end="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Building Databases…</a:t>
            </a:r>
            <a:endParaRPr b="0" lang="en-US" sz="2600" spc="-1" strike="noStrike">
              <a:solidFill>
                <a:srgbClr val="000000"/>
              </a:solidFill>
              <a:latin typeface="Arial"/>
            </a:endParaRPr>
          </a:p>
        </p:txBody>
      </p:sp>
      <p:sp>
        <p:nvSpPr>
          <p:cNvPr id="279" name="PlaceHolder 2"/>
          <p:cNvSpPr>
            <a:spLocks noGrp="1"/>
          </p:cNvSpPr>
          <p:nvPr>
            <p:ph/>
          </p:nvPr>
        </p:nvSpPr>
        <p:spPr>
          <a:xfrm>
            <a:off x="729360" y="1378080"/>
            <a:ext cx="7688520" cy="2530080"/>
          </a:xfrm>
          <a:prstGeom prst="rect">
            <a:avLst/>
          </a:prstGeom>
          <a:noFill/>
          <a:ln w="0">
            <a:noFill/>
          </a:ln>
        </p:spPr>
        <p:txBody>
          <a:bodyPr tIns="91440" bIns="91440" anchor="t">
            <a:noAutofit/>
          </a:bodyPr>
          <a:p>
            <a:pPr indent="0">
              <a:lnSpc>
                <a:spcPct val="115000"/>
              </a:lnSpc>
              <a:buNone/>
              <a:tabLst>
                <a:tab algn="l" pos="0"/>
              </a:tabLst>
            </a:pPr>
            <a:r>
              <a:rPr b="0" lang="el" sz="1600" spc="-1" strike="noStrike">
                <a:solidFill>
                  <a:schemeClr val="accent1"/>
                </a:solidFill>
                <a:latin typeface="Lato"/>
                <a:ea typeface="Lato"/>
              </a:rPr>
              <a:t>Assume you are running the XYZ University Computing Department. You have plenty of data at your disposal, such as: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students’ personal information (name a few);</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teaching staff’s personal information (name a few);</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course information (name some);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relations between the above (name some).</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Could you organise the above into a coherent and organised collection of data?</a:t>
            </a:r>
            <a:endParaRPr b="0" lang="en-US" sz="1600" spc="-1" strike="noStrike">
              <a:solidFill>
                <a:srgbClr val="000000"/>
              </a:solidFill>
              <a:latin typeface="Arial"/>
            </a:endParaRPr>
          </a:p>
        </p:txBody>
      </p:sp>
      <p:sp>
        <p:nvSpPr>
          <p:cNvPr id="280" name="Google Shape;158;p22"/>
          <p:cNvSpPr/>
          <p:nvPr/>
        </p:nvSpPr>
        <p:spPr>
          <a:xfrm>
            <a:off x="1955880" y="4006800"/>
            <a:ext cx="5235120" cy="74196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spAutoFit/>
          </a:bodyPr>
          <a:p>
            <a:pPr>
              <a:lnSpc>
                <a:spcPct val="115000"/>
              </a:lnSpc>
              <a:spcAft>
                <a:spcPts val="1199"/>
              </a:spcAft>
              <a:tabLst>
                <a:tab algn="l" pos="0"/>
              </a:tabLst>
            </a:pPr>
            <a:r>
              <a:rPr b="0" lang="el" sz="1600" spc="-1" strike="noStrike">
                <a:solidFill>
                  <a:schemeClr val="accent1"/>
                </a:solidFill>
                <a:latin typeface="Lato"/>
                <a:ea typeface="Lato"/>
              </a:rPr>
              <a:t>Take pen and paper and write down your thoughts (make diagrams, notes, whatever makes sense to you).</a:t>
            </a:r>
            <a:endParaRPr b="0" lang="en-US" sz="1600" spc="-1" strike="noStrike">
              <a:solidFill>
                <a:srgbClr val="000000"/>
              </a:solidFill>
              <a:latin typeface="Arial"/>
            </a:endParaRPr>
          </a:p>
        </p:txBody>
      </p:sp>
      <p:sp>
        <p:nvSpPr>
          <p:cNvPr id="281"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5226ED2-9463-4F88-845C-AC6A04EA8721}"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279">
                                            <p:txEl>
                                              <p:pRg st="2" end="2"/>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279">
                                            <p:txEl>
                                              <p:pRg st="3" end="3"/>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279">
                                            <p:txEl>
                                              <p:pRg st="4" end="4"/>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279">
                                            <p:txEl>
                                              <p:pRg st="5" end="5"/>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use Databases? 1 / n</a:t>
            </a:r>
            <a:endParaRPr b="0" lang="en-US" sz="2600" spc="-1" strike="noStrike">
              <a:solidFill>
                <a:srgbClr val="000000"/>
              </a:solidFill>
              <a:latin typeface="Arial"/>
            </a:endParaRPr>
          </a:p>
        </p:txBody>
      </p:sp>
      <p:sp>
        <p:nvSpPr>
          <p:cNvPr id="283" name="PlaceHolder 2"/>
          <p:cNvSpPr>
            <a:spLocks noGrp="1"/>
          </p:cNvSpPr>
          <p:nvPr>
            <p:ph/>
          </p:nvPr>
        </p:nvSpPr>
        <p:spPr>
          <a:xfrm>
            <a:off x="729360" y="1378080"/>
            <a:ext cx="7688520" cy="403200"/>
          </a:xfrm>
          <a:prstGeom prst="rect">
            <a:avLst/>
          </a:prstGeom>
          <a:noFill/>
          <a:ln w="0">
            <a:noFill/>
          </a:ln>
        </p:spPr>
        <p:txBody>
          <a:bodyPr tIns="91440" bIns="91440" anchor="t">
            <a:noAutofit/>
          </a:bodyPr>
          <a:p>
            <a:pPr indent="0">
              <a:lnSpc>
                <a:spcPct val="115000"/>
              </a:lnSpc>
              <a:spcAft>
                <a:spcPts val="1199"/>
              </a:spcAft>
              <a:buNone/>
              <a:tabLst>
                <a:tab algn="l" pos="0"/>
              </a:tabLst>
            </a:pPr>
            <a:r>
              <a:rPr b="0" lang="el" sz="1600" spc="-1" strike="noStrike">
                <a:solidFill>
                  <a:schemeClr val="accent1"/>
                </a:solidFill>
                <a:latin typeface="Lato"/>
                <a:ea typeface="Lato"/>
              </a:rPr>
              <a:t>Millions of reasons, but, at a high level, all can be summarised as follows:</a:t>
            </a:r>
            <a:endParaRPr b="0" lang="en-US" sz="1600" spc="-1" strike="noStrike">
              <a:solidFill>
                <a:srgbClr val="000000"/>
              </a:solidFill>
              <a:latin typeface="Arial"/>
            </a:endParaRPr>
          </a:p>
        </p:txBody>
      </p:sp>
      <p:sp>
        <p:nvSpPr>
          <p:cNvPr id="284" name="Google Shape;166;p23"/>
          <p:cNvSpPr/>
          <p:nvPr/>
        </p:nvSpPr>
        <p:spPr>
          <a:xfrm>
            <a:off x="1869480" y="2254320"/>
            <a:ext cx="5407920" cy="1301400"/>
          </a:xfrm>
          <a:prstGeom prst="rect">
            <a:avLst/>
          </a:prstGeom>
          <a:solidFill>
            <a:srgbClr val="d9ead3"/>
          </a:solidFill>
          <a:ln w="19050">
            <a:solidFill>
              <a:srgbClr val="1a9988"/>
            </a:solidFill>
            <a:prstDash val="dash"/>
            <a:round/>
          </a:ln>
        </p:spPr>
        <p:style>
          <a:lnRef idx="0"/>
          <a:fillRef idx="0"/>
          <a:effectRef idx="0"/>
          <a:fontRef idx="minor"/>
        </p:style>
        <p:txBody>
          <a:bodyPr tIns="91440" bIns="91440" anchor="t">
            <a:spAutoFit/>
          </a:bodyPr>
          <a:p>
            <a:pPr>
              <a:lnSpc>
                <a:spcPct val="115000"/>
              </a:lnSpc>
              <a:spcAft>
                <a:spcPts val="1199"/>
              </a:spcAft>
              <a:tabLst>
                <a:tab algn="l" pos="0"/>
              </a:tabLst>
            </a:pPr>
            <a:r>
              <a:rPr b="0" lang="el" sz="1600" spc="-1" strike="noStrike">
                <a:solidFill>
                  <a:schemeClr val="accent1"/>
                </a:solidFill>
                <a:latin typeface="Lato"/>
                <a:ea typeface="Lato"/>
              </a:rPr>
              <a:t>Data </a:t>
            </a:r>
            <a:r>
              <a:rPr b="0" i="1" lang="el" sz="1600" spc="-1" strike="noStrike">
                <a:solidFill>
                  <a:schemeClr val="accent1"/>
                </a:solidFill>
                <a:latin typeface="Lato"/>
                <a:ea typeface="Lato"/>
              </a:rPr>
              <a:t>per se</a:t>
            </a:r>
            <a:r>
              <a:rPr b="0" lang="el" sz="1600" spc="-1" strike="noStrike">
                <a:solidFill>
                  <a:schemeClr val="accent1"/>
                </a:solidFill>
                <a:latin typeface="Lato"/>
                <a:ea typeface="Lato"/>
              </a:rPr>
              <a:t> are unstructured, unorganised and difficult to process. </a:t>
            </a:r>
            <a:r>
              <a:rPr b="1" lang="el" sz="1600" spc="-1" strike="noStrike">
                <a:solidFill>
                  <a:schemeClr val="accent1"/>
                </a:solidFill>
                <a:latin typeface="Lato"/>
                <a:ea typeface="Lato"/>
              </a:rPr>
              <a:t>DBs impose structure</a:t>
            </a:r>
            <a:r>
              <a:rPr b="0" lang="el" sz="1600" spc="-1" strike="noStrike">
                <a:solidFill>
                  <a:schemeClr val="accent1"/>
                </a:solidFill>
                <a:latin typeface="Lato"/>
                <a:ea typeface="Lato"/>
              </a:rPr>
              <a:t> which, if exploited appropriately, can </a:t>
            </a:r>
            <a:r>
              <a:rPr b="1" lang="el" sz="1600" spc="-1" strike="noStrike">
                <a:solidFill>
                  <a:schemeClr val="accent1"/>
                </a:solidFill>
                <a:latin typeface="Lato"/>
                <a:ea typeface="Lato"/>
              </a:rPr>
              <a:t>speed up processes</a:t>
            </a:r>
            <a:r>
              <a:rPr b="0" lang="el" sz="1600" spc="-1" strike="noStrike">
                <a:solidFill>
                  <a:schemeClr val="accent1"/>
                </a:solidFill>
                <a:latin typeface="Lato"/>
                <a:ea typeface="Lato"/>
              </a:rPr>
              <a:t> such as searching for certain entities or relating entities to one another, etc.</a:t>
            </a:r>
            <a:endParaRPr b="0" lang="en-US" sz="1600" spc="-1" strike="noStrike">
              <a:solidFill>
                <a:srgbClr val="000000"/>
              </a:solidFill>
              <a:latin typeface="Arial"/>
            </a:endParaRPr>
          </a:p>
        </p:txBody>
      </p:sp>
      <p:sp>
        <p:nvSpPr>
          <p:cNvPr id="285"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88C29A5-B82E-4AC1-96C8-424BFBE608AC}"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5" dur="indefinite" restart="never" nodeType="tmRoot">
          <p:childTnLst>
            <p:seq>
              <p:cTn id="126" dur="indefinite" nodeType="mainSeq">
                <p:childTnLst>
                  <p:par>
                    <p:cTn id="127" fill="hold">
                      <p:stCondLst>
                        <p:cond delay="indefinite"/>
                      </p:stCondLst>
                      <p:childTnLst>
                        <p:par>
                          <p:cTn id="128" fill="hold">
                            <p:stCondLst>
                              <p:cond delay="0"/>
                            </p:stCondLst>
                            <p:childTnLst>
                              <p:par>
                                <p:cTn id="129" nodeType="clickEffect" fill="hold" presetClass="entr" presetID="1">
                                  <p:stCondLst>
                                    <p:cond delay="0"/>
                                  </p:stCondLst>
                                  <p:childTnLst>
                                    <p:set>
                                      <p:cBhvr>
                                        <p:cTn id="130" dur="1" fill="hold">
                                          <p:stCondLst>
                                            <p:cond delay="0"/>
                                          </p:stCondLst>
                                        </p:cTn>
                                        <p:tgtEl>
                                          <p:spTgt spid="28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nodeType="clickEffect" fill="hold" presetClass="entr" presetID="1">
                                  <p:stCondLst>
                                    <p:cond delay="0"/>
                                  </p:stCondLst>
                                  <p:childTnLst>
                                    <p:set>
                                      <p:cBhvr>
                                        <p:cTn id="134"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use Databases? 2 / n</a:t>
            </a:r>
            <a:endParaRPr b="0" lang="en-US" sz="2600" spc="-1" strike="noStrike">
              <a:solidFill>
                <a:srgbClr val="000000"/>
              </a:solidFill>
              <a:latin typeface="Arial"/>
            </a:endParaRPr>
          </a:p>
        </p:txBody>
      </p:sp>
      <p:sp>
        <p:nvSpPr>
          <p:cNvPr id="28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Assume you run a pet clinic, maintaining, among others, records about 1000 dogs and 1000 cats. Further assume that you would like to retrieve the medical record of a dog, Alice, to prepare for an upcoming surgery:</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Assuming that you keep all data at one place with no further structure, how many lookups you should do in the worst case to find Alice’s records? On average?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Assuming that you keep dog- and cat-related data separated, how many lookups you should do in the worst case to find Alice’s records? On average?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Can you thing of other ways to speed up lookup in this simple scenario?</a:t>
            </a:r>
            <a:endParaRPr b="0" lang="en-US" sz="1600" spc="-1" strike="noStrike">
              <a:solidFill>
                <a:srgbClr val="000000"/>
              </a:solidFill>
              <a:latin typeface="Arial"/>
            </a:endParaRPr>
          </a:p>
        </p:txBody>
      </p:sp>
      <p:sp>
        <p:nvSpPr>
          <p:cNvPr id="288"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926FF4-3091-448B-8035-1F572C529A2A}"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35" dur="indefinite" restart="never" nodeType="tmRoot">
          <p:childTnLst>
            <p:seq>
              <p:cTn id="136" dur="indefinite" nodeType="mainSeq">
                <p:childTnLst>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287">
                                            <p:txEl>
                                              <p:pRg st="0" end="0"/>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287">
                                            <p:txEl>
                                              <p:pRg st="1" end="1"/>
                                            </p:txEl>
                                          </p:spTgt>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287">
                                            <p:txEl>
                                              <p:pRg st="2" end="2"/>
                                            </p:txEl>
                                          </p:spTgt>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nodeType="clickEffect" fill="hold" presetClass="entr" presetID="1">
                                  <p:stCondLst>
                                    <p:cond delay="0"/>
                                  </p:stCondLst>
                                  <p:childTnLst>
                                    <p:set>
                                      <p:cBhvr>
                                        <p:cTn id="152" dur="1" fill="hold">
                                          <p:stCondLst>
                                            <p:cond delay="0"/>
                                          </p:stCondLst>
                                        </p:cTn>
                                        <p:tgtEl>
                                          <p:spTgt spid="28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Those Millions of Reasons… 1 / n</a:t>
            </a:r>
            <a:endParaRPr b="0" lang="en-US" sz="2600" spc="-1" strike="noStrike">
              <a:solidFill>
                <a:srgbClr val="000000"/>
              </a:solidFill>
              <a:latin typeface="Arial"/>
            </a:endParaRPr>
          </a:p>
        </p:txBody>
      </p:sp>
      <p:sp>
        <p:nvSpPr>
          <p:cNvPr id="290" name="PlaceHolder 2"/>
          <p:cNvSpPr>
            <a:spLocks noGrp="1"/>
          </p:cNvSpPr>
          <p:nvPr>
            <p:ph/>
          </p:nvPr>
        </p:nvSpPr>
        <p:spPr>
          <a:xfrm>
            <a:off x="729360" y="1378080"/>
            <a:ext cx="7688520" cy="1639440"/>
          </a:xfrm>
          <a:prstGeom prst="rect">
            <a:avLst/>
          </a:prstGeom>
          <a:solidFill>
            <a:srgbClr val="d0e0e3"/>
          </a:solidFill>
          <a:ln w="19080">
            <a:solidFill>
              <a:srgbClr val="1a9988"/>
            </a:solidFill>
            <a:prstDash val="dash"/>
            <a:round/>
          </a:ln>
        </p:spPr>
        <p:txBody>
          <a:bodyPr tIns="91440" bIns="91440" anchor="t">
            <a:normAutofit/>
          </a:bodyPr>
          <a:p>
            <a:pPr indent="0">
              <a:lnSpc>
                <a:spcPct val="115000"/>
              </a:lnSpc>
              <a:spcAft>
                <a:spcPts val="1199"/>
              </a:spcAft>
              <a:buNone/>
              <a:tabLst>
                <a:tab algn="l" pos="0"/>
              </a:tabLst>
            </a:pPr>
            <a:r>
              <a:rPr b="0" i="1" lang="el" sz="1600" spc="-1" strike="noStrike">
                <a:solidFill>
                  <a:schemeClr val="accent1"/>
                </a:solidFill>
                <a:latin typeface="Lato"/>
                <a:ea typeface="Lato"/>
              </a:rPr>
              <a:t>Once upon a time, at the XYZ University, all records were kept in separate system files. To access those files and the precious data they contained, various computer programs had been developed to add and remove students / faculty members and courses, enrol students to courses and assign faculty members to them, grade students, compute their GPAs and many more…</a:t>
            </a:r>
            <a:endParaRPr b="0" lang="en-US" sz="1600" spc="-1" strike="noStrike">
              <a:solidFill>
                <a:srgbClr val="000000"/>
              </a:solidFill>
              <a:latin typeface="Arial"/>
            </a:endParaRPr>
          </a:p>
        </p:txBody>
      </p:sp>
      <p:sp>
        <p:nvSpPr>
          <p:cNvPr id="291" name="Google Shape;181;p25"/>
          <p:cNvSpPr/>
          <p:nvPr/>
        </p:nvSpPr>
        <p:spPr>
          <a:xfrm>
            <a:off x="772560" y="3288600"/>
            <a:ext cx="7688520" cy="1581120"/>
          </a:xfrm>
          <a:prstGeom prst="rect">
            <a:avLst/>
          </a:prstGeom>
          <a:noFill/>
          <a:ln w="0">
            <a:noFill/>
          </a:ln>
        </p:spPr>
        <p:style>
          <a:lnRef idx="0"/>
          <a:fillRef idx="0"/>
          <a:effectRef idx="0"/>
          <a:fontRef idx="minor"/>
        </p:style>
        <p:txBody>
          <a:bodyPr tIns="91440" bIns="91440" anchor="t">
            <a:sp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The need for a new Master’s arises. What have the programmers at XYZ University to do to accommodate its data-storing needs?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Write new / Amend existing system files and compose programs to access them.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Are there any issues with this approach?</a:t>
            </a:r>
            <a:endParaRPr b="0" lang="en-US" sz="1600" spc="-1" strike="noStrike">
              <a:solidFill>
                <a:srgbClr val="000000"/>
              </a:solidFill>
              <a:latin typeface="Arial"/>
            </a:endParaRPr>
          </a:p>
        </p:txBody>
      </p:sp>
      <p:sp>
        <p:nvSpPr>
          <p:cNvPr id="292"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F1D2310-81D6-4757-A626-8E0C0F2E3026}"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53" dur="indefinite" restart="never" nodeType="tmRoot">
          <p:childTnLst>
            <p:seq>
              <p:cTn id="154" dur="indefinite" nodeType="mainSeq">
                <p:childTnLst>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290"/>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291">
                                            <p:txEl>
                                              <p:pRg st="0" end="0"/>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291">
                                            <p:txEl>
                                              <p:pRg st="1" end="1"/>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291">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Those Millions of Reasons…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94"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Data inconsistency:</a:t>
            </a:r>
            <a:r>
              <a:rPr b="0" lang="el" sz="1600" spc="-1" strike="noStrike">
                <a:solidFill>
                  <a:schemeClr val="accent1"/>
                </a:solidFill>
                <a:latin typeface="Lato"/>
                <a:ea typeface="Lato"/>
              </a:rPr>
              <a:t> Different files are quite possible to have different structure, resulting to different programs manipulating them, while still describing the same thing (e.g., students of different programmes of study).</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Data redundancy:</a:t>
            </a:r>
            <a:r>
              <a:rPr b="0" lang="el" sz="1600" spc="-1" strike="noStrike">
                <a:solidFill>
                  <a:schemeClr val="accent1"/>
                </a:solidFill>
                <a:latin typeface="Lato"/>
                <a:ea typeface="Lato"/>
              </a:rPr>
              <a:t> A professor teaching Databases and Object-Oriented Programing might be included in both courses’ files - while still being the same person teaching both.</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Difficulty in accessing data:</a:t>
            </a:r>
            <a:r>
              <a:rPr b="0" lang="el" sz="1600" spc="-1" strike="noStrike">
                <a:solidFill>
                  <a:schemeClr val="accent1"/>
                </a:solidFill>
                <a:latin typeface="Lato"/>
                <a:ea typeface="Lato"/>
              </a:rPr>
              <a:t> Assume it is really important to find all students currently at their second year of studies, regardless of any other parameter. In the worst case, you have to either look into each system file separately to find your students or have a program implemented to do that for you.</a:t>
            </a:r>
            <a:endParaRPr b="0" lang="en-US" sz="1600" spc="-1" strike="noStrike">
              <a:solidFill>
                <a:srgbClr val="000000"/>
              </a:solidFill>
              <a:latin typeface="Arial"/>
            </a:endParaRPr>
          </a:p>
        </p:txBody>
      </p:sp>
      <p:sp>
        <p:nvSpPr>
          <p:cNvPr id="295"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61E0533-FA11-42FD-9DBA-18DC8DC9956E}"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294">
                                            <p:txEl>
                                              <p:pRg st="0" end="0"/>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nodeType="clickEffect" fill="hold" presetClass="entr" presetID="1">
                                  <p:stCondLst>
                                    <p:cond delay="0"/>
                                  </p:stCondLst>
                                  <p:childTnLst>
                                    <p:set>
                                      <p:cBhvr>
                                        <p:cTn id="180" dur="1" fill="hold">
                                          <p:stCondLst>
                                            <p:cond delay="0"/>
                                          </p:stCondLst>
                                        </p:cTn>
                                        <p:tgtEl>
                                          <p:spTgt spid="294">
                                            <p:txEl>
                                              <p:pRg st="1" end="1"/>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294">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Those Millions of Reasons…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97" name="PlaceHolder 2"/>
          <p:cNvSpPr>
            <a:spLocks noGrp="1"/>
          </p:cNvSpPr>
          <p:nvPr>
            <p:ph/>
          </p:nvPr>
        </p:nvSpPr>
        <p:spPr>
          <a:xfrm>
            <a:off x="729360" y="1378080"/>
            <a:ext cx="7688520" cy="2961720"/>
          </a:xfrm>
          <a:prstGeom prst="rect">
            <a:avLst/>
          </a:prstGeom>
          <a:noFill/>
          <a:ln w="0">
            <a:noFill/>
          </a:ln>
        </p:spPr>
        <p:txBody>
          <a:bodyPr tIns="91440" bIns="91440" anchor="t">
            <a:no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Data isolation:</a:t>
            </a:r>
            <a:r>
              <a:rPr b="0" lang="el" sz="1600" spc="-1" strike="noStrike">
                <a:solidFill>
                  <a:schemeClr val="accent1"/>
                </a:solidFill>
                <a:latin typeface="Lato"/>
                <a:ea typeface="Lato"/>
              </a:rPr>
              <a:t> The university exists for a long time, thus programs to access data and data files are generated across a large time span. What are the chances that they all adhere to the same format? Minuscule, if any. Thus, developing programs that somehow process such files has to deal with those inconsistencies.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Integrity problems:</a:t>
            </a:r>
            <a:r>
              <a:rPr b="0" lang="el" sz="1600" spc="-1" strike="noStrike">
                <a:solidFill>
                  <a:schemeClr val="accent1"/>
                </a:solidFill>
                <a:latin typeface="Lato"/>
                <a:ea typeface="Lato"/>
              </a:rPr>
              <a:t> Students at XYZ are required to successfully attend courses worth at least 20 ECTS per year. This restriction is manually imposed to all data by corresponding programs. At some time, XYZ’s senate decides that this should be changed to at least 15 ECTS per year and 40 ECTS throughout the last two years. To introduce this new constraint, developers must each time edit all relevant programs.</a:t>
            </a:r>
            <a:endParaRPr b="0" lang="en-US" sz="1600" spc="-1" strike="noStrike">
              <a:solidFill>
                <a:srgbClr val="000000"/>
              </a:solidFill>
              <a:latin typeface="Arial"/>
            </a:endParaRPr>
          </a:p>
        </p:txBody>
      </p:sp>
      <p:sp>
        <p:nvSpPr>
          <p:cNvPr id="298"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03B2FA0-8157-4EFB-B0CD-F539CE0C06DB}"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85" dur="indefinite" restart="never" nodeType="tmRoot">
          <p:childTnLst>
            <p:seq>
              <p:cTn id="186" dur="indefinite" nodeType="mainSeq">
                <p:childTnLst>
                  <p:par>
                    <p:cTn id="187" fill="hold">
                      <p:stCondLst>
                        <p:cond delay="indefinite"/>
                      </p:stCondLst>
                      <p:childTnLst>
                        <p:par>
                          <p:cTn id="188" fill="hold">
                            <p:stCondLst>
                              <p:cond delay="0"/>
                            </p:stCondLst>
                            <p:childTnLst>
                              <p:par>
                                <p:cTn id="189" nodeType="clickEffect" fill="hold" presetClass="entr" presetID="1">
                                  <p:stCondLst>
                                    <p:cond delay="0"/>
                                  </p:stCondLst>
                                  <p:childTnLst>
                                    <p:set>
                                      <p:cBhvr>
                                        <p:cTn id="190" dur="1" fill="hold">
                                          <p:stCondLst>
                                            <p:cond delay="0"/>
                                          </p:stCondLst>
                                        </p:cTn>
                                        <p:tgtEl>
                                          <p:spTgt spid="297">
                                            <p:txEl>
                                              <p:pRg st="0" end="0"/>
                                            </p:txEl>
                                          </p:spTgt>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1">
                                  <p:stCondLst>
                                    <p:cond delay="0"/>
                                  </p:stCondLst>
                                  <p:childTnLst>
                                    <p:set>
                                      <p:cBhvr>
                                        <p:cTn id="194" dur="1" fill="hold">
                                          <p:stCondLst>
                                            <p:cond delay="0"/>
                                          </p:stCondLst>
                                        </p:cTn>
                                        <p:tgtEl>
                                          <p:spTgt spid="29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Those Millions of Reasons… 4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00"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Atomicity Problems:</a:t>
            </a:r>
            <a:r>
              <a:rPr b="0" lang="el" sz="1600" spc="-1" strike="noStrike">
                <a:solidFill>
                  <a:schemeClr val="accent1"/>
                </a:solidFill>
                <a:latin typeface="Lato"/>
                <a:ea typeface="Lato"/>
              </a:rPr>
              <a:t> Assume you have a student which decides (in time) to switch from </a:t>
            </a:r>
            <a:r>
              <a:rPr b="0" i="1" lang="el" sz="1600" spc="-1" strike="noStrike">
                <a:solidFill>
                  <a:schemeClr val="accent1"/>
                </a:solidFill>
                <a:latin typeface="Lato"/>
                <a:ea typeface="Lato"/>
              </a:rPr>
              <a:t>Databases</a:t>
            </a:r>
            <a:r>
              <a:rPr b="0" lang="el" sz="1600" spc="-1" strike="noStrike">
                <a:solidFill>
                  <a:schemeClr val="accent1"/>
                </a:solidFill>
                <a:latin typeface="Lato"/>
                <a:ea typeface="Lato"/>
              </a:rPr>
              <a:t> course to </a:t>
            </a:r>
            <a:r>
              <a:rPr b="0" i="1" lang="el" sz="1600" spc="-1" strike="noStrike">
                <a:solidFill>
                  <a:schemeClr val="accent1"/>
                </a:solidFill>
                <a:latin typeface="Lato"/>
                <a:ea typeface="Lato"/>
              </a:rPr>
              <a:t>Networks and Security</a:t>
            </a:r>
            <a:r>
              <a:rPr b="0" lang="el" sz="1600" spc="-1" strike="noStrike">
                <a:solidFill>
                  <a:schemeClr val="accent1"/>
                </a:solidFill>
                <a:latin typeface="Lato"/>
                <a:ea typeface="Lato"/>
              </a:rPr>
              <a:t>. Given that such info is held at different places, the student has to be deleted from </a:t>
            </a:r>
            <a:r>
              <a:rPr b="0" i="1" lang="el" sz="1600" spc="-1" strike="noStrike">
                <a:solidFill>
                  <a:schemeClr val="accent1"/>
                </a:solidFill>
                <a:latin typeface="Lato"/>
                <a:ea typeface="Lato"/>
              </a:rPr>
              <a:t>Databases</a:t>
            </a:r>
            <a:r>
              <a:rPr b="0" lang="el" sz="1600" spc="-1" strike="noStrike">
                <a:solidFill>
                  <a:schemeClr val="accent1"/>
                </a:solidFill>
                <a:latin typeface="Lato"/>
                <a:ea typeface="Lato"/>
              </a:rPr>
              <a:t> roster and added to the </a:t>
            </a:r>
            <a:r>
              <a:rPr b="0" i="1" lang="el" sz="1600" spc="-1" strike="noStrike">
                <a:solidFill>
                  <a:schemeClr val="accent1"/>
                </a:solidFill>
                <a:latin typeface="Lato"/>
                <a:ea typeface="Lato"/>
              </a:rPr>
              <a:t>Networks and Security</a:t>
            </a:r>
            <a:r>
              <a:rPr b="0" lang="el" sz="1600" spc="-1" strike="noStrike">
                <a:solidFill>
                  <a:schemeClr val="accent1"/>
                </a:solidFill>
                <a:latin typeface="Lato"/>
                <a:ea typeface="Lato"/>
              </a:rPr>
              <a:t> one. However, a system failure might interrupt this process removing thus the student from Databases and not adding them to </a:t>
            </a:r>
            <a:r>
              <a:rPr b="0" i="1" lang="el" sz="1600" spc="-1" strike="noStrike">
                <a:solidFill>
                  <a:schemeClr val="accent1"/>
                </a:solidFill>
                <a:latin typeface="Lato"/>
                <a:ea typeface="Lato"/>
              </a:rPr>
              <a:t>Networks and Security</a:t>
            </a:r>
            <a:r>
              <a:rPr b="0" lang="el" sz="1600" spc="-1" strike="noStrike">
                <a:solidFill>
                  <a:schemeClr val="accent1"/>
                </a:solidFill>
                <a:latin typeface="Lato"/>
                <a:ea typeface="Lato"/>
              </a:rPr>
              <a:t>. We say that in that case the process is not </a:t>
            </a:r>
            <a:r>
              <a:rPr b="0" i="1" lang="el" sz="1600" spc="-1" strike="noStrike">
                <a:solidFill>
                  <a:schemeClr val="accent1"/>
                </a:solidFill>
                <a:latin typeface="Lato"/>
                <a:ea typeface="Lato"/>
              </a:rPr>
              <a:t>atomic</a:t>
            </a:r>
            <a:r>
              <a:rPr b="0" lang="el" sz="1600" spc="-1" strike="noStrike">
                <a:solidFill>
                  <a:schemeClr val="accent1"/>
                </a:solidFill>
                <a:latin typeface="Lato"/>
                <a:ea typeface="Lato"/>
              </a:rPr>
              <a:t> (i.e., it does not happen as “an atom”, as one).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Concurrent access anomalies:</a:t>
            </a:r>
            <a:r>
              <a:rPr b="0" lang="el" sz="1600" spc="-1" strike="noStrike">
                <a:solidFill>
                  <a:schemeClr val="accent1"/>
                </a:solidFill>
                <a:latin typeface="Lato"/>
                <a:ea typeface="Lato"/>
              </a:rPr>
              <a:t> What if two students are added at the same time in a course? Assume the </a:t>
            </a:r>
            <a:r>
              <a:rPr b="0" i="1" lang="el" sz="1600" spc="-1" strike="noStrike">
                <a:solidFill>
                  <a:schemeClr val="accent1"/>
                </a:solidFill>
                <a:latin typeface="Lato"/>
                <a:ea typeface="Lato"/>
              </a:rPr>
              <a:t>Databases</a:t>
            </a:r>
            <a:r>
              <a:rPr b="0" lang="el" sz="1600" spc="-1" strike="noStrike">
                <a:solidFill>
                  <a:schemeClr val="accent1"/>
                </a:solidFill>
                <a:latin typeface="Lato"/>
                <a:ea typeface="Lato"/>
              </a:rPr>
              <a:t> course has currently 10 students and Alice and Bob enrol at the same time. The corresponding programs read both the initial value (10) and update the course student count each to 11 (because each has added one student). Such cases require higher-level supervision.</a:t>
            </a:r>
            <a:endParaRPr b="0" lang="en-US" sz="1600" spc="-1" strike="noStrike">
              <a:solidFill>
                <a:srgbClr val="000000"/>
              </a:solidFill>
              <a:latin typeface="Arial"/>
            </a:endParaRPr>
          </a:p>
        </p:txBody>
      </p:sp>
      <p:sp>
        <p:nvSpPr>
          <p:cNvPr id="301"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5B726A2-F8FF-4264-86E3-1741D4FCB0BB}"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5" dur="indefinite" restart="never" nodeType="tmRoot">
          <p:childTnLst>
            <p:seq>
              <p:cTn id="196" dur="indefinite" nodeType="mainSeq">
                <p:childTnLst>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300">
                                            <p:txEl>
                                              <p:pRg st="0" end="0"/>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30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Those Millions of Reasons… 5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03" name="PlaceHolder 2"/>
          <p:cNvSpPr>
            <a:spLocks noGrp="1"/>
          </p:cNvSpPr>
          <p:nvPr>
            <p:ph/>
          </p:nvPr>
        </p:nvSpPr>
        <p:spPr>
          <a:xfrm>
            <a:off x="729360" y="1378080"/>
            <a:ext cx="7688520" cy="14119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Security problems:</a:t>
            </a:r>
            <a:r>
              <a:rPr b="0" lang="el" sz="1600" spc="-1" strike="noStrike">
                <a:solidFill>
                  <a:schemeClr val="accent1"/>
                </a:solidFill>
                <a:latin typeface="Lato"/>
                <a:ea typeface="Lato"/>
              </a:rPr>
              <a:t> How can you make sure that certain users don’t have access to certain files? A step forward, how do you ensure that they don’t have access to certain information across different files? How can you do that efficiently? How can you do that consistently?</a:t>
            </a:r>
            <a:endParaRPr b="0" lang="en-US" sz="1600" spc="-1" strike="noStrike">
              <a:solidFill>
                <a:srgbClr val="000000"/>
              </a:solidFill>
              <a:latin typeface="Arial"/>
            </a:endParaRPr>
          </a:p>
        </p:txBody>
      </p:sp>
      <p:sp>
        <p:nvSpPr>
          <p:cNvPr id="304" name="Google Shape;210;p29"/>
          <p:cNvSpPr/>
          <p:nvPr/>
        </p:nvSpPr>
        <p:spPr>
          <a:xfrm>
            <a:off x="1954080" y="3153960"/>
            <a:ext cx="5235120" cy="91260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spAutoFit/>
          </a:bodyPr>
          <a:p>
            <a:pPr>
              <a:lnSpc>
                <a:spcPct val="100000"/>
              </a:lnSpc>
              <a:tabLst>
                <a:tab algn="l" pos="0"/>
              </a:tabLst>
            </a:pPr>
            <a:r>
              <a:rPr b="0" lang="el" sz="1600" spc="-1" strike="noStrike">
                <a:solidFill>
                  <a:schemeClr val="accent1"/>
                </a:solidFill>
                <a:latin typeface="Lato"/>
                <a:ea typeface="Lato"/>
              </a:rPr>
              <a:t>An efficient way to address all of the above is, guess what, to introduce structure and organise data appropriately, i.e., make use of a DB.</a:t>
            </a:r>
            <a:endParaRPr b="0" lang="en-US" sz="1600" spc="-1" strike="noStrike">
              <a:solidFill>
                <a:srgbClr val="000000"/>
              </a:solidFill>
              <a:latin typeface="Arial"/>
            </a:endParaRPr>
          </a:p>
        </p:txBody>
      </p:sp>
      <p:sp>
        <p:nvSpPr>
          <p:cNvPr id="305"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540704B-70EF-4EF4-98D9-E378C3B6594E}"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05" dur="indefinite" restart="never" nodeType="tmRoot">
          <p:childTnLst>
            <p:seq>
              <p:cTn id="206" dur="indefinite" nodeType="mainSeq">
                <p:childTnLst>
                  <p:par>
                    <p:cTn id="207" fill="hold">
                      <p:stCondLst>
                        <p:cond delay="indefinite"/>
                      </p:stCondLst>
                      <p:childTnLst>
                        <p:par>
                          <p:cTn id="208" fill="hold">
                            <p:stCondLst>
                              <p:cond delay="0"/>
                            </p:stCondLst>
                            <p:childTnLst>
                              <p:par>
                                <p:cTn id="209" nodeType="clickEffect" fill="hold" presetClass="entr" presetID="1">
                                  <p:stCondLst>
                                    <p:cond delay="0"/>
                                  </p:stCondLst>
                                  <p:childTnLst>
                                    <p:set>
                                      <p:cBhvr>
                                        <p:cTn id="210" dur="1" fill="hold">
                                          <p:stCondLst>
                                            <p:cond delay="0"/>
                                          </p:stCondLst>
                                        </p:cTn>
                                        <p:tgtEl>
                                          <p:spTgt spid="303"/>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Interacting with a DB 1 / n</a:t>
            </a:r>
            <a:endParaRPr b="0" lang="en-US" sz="2600" spc="-1" strike="noStrike">
              <a:solidFill>
                <a:srgbClr val="000000"/>
              </a:solidFill>
              <a:latin typeface="Arial"/>
            </a:endParaRPr>
          </a:p>
        </p:txBody>
      </p:sp>
      <p:sp>
        <p:nvSpPr>
          <p:cNvPr id="30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DBs = Data + Programs about those data (access, modification etc).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Imagine the following people, all working at the XYZ university: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clerk at the university’s secretariat.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data analyst making some data analysis regarding XYZ’s students.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 back-end developer, working on the improvement of XYZ’s infrastructure.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Do all three need the same “type” of access to the university’s DB?</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Clearly, no.</a:t>
            </a:r>
            <a:endParaRPr b="0" lang="en-US" sz="1600" spc="-1" strike="noStrike">
              <a:solidFill>
                <a:srgbClr val="000000"/>
              </a:solidFill>
              <a:latin typeface="Arial"/>
            </a:endParaRPr>
          </a:p>
        </p:txBody>
      </p:sp>
      <p:sp>
        <p:nvSpPr>
          <p:cNvPr id="308"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80419B7-D326-43CC-BCCE-6191E88C98A4}"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15" dur="indefinite" restart="never" nodeType="tmRoot">
          <p:childTnLst>
            <p:seq>
              <p:cTn id="216" dur="indefinite" nodeType="mainSeq">
                <p:childTnLst>
                  <p:par>
                    <p:cTn id="217" fill="hold">
                      <p:stCondLst>
                        <p:cond delay="indefinite"/>
                      </p:stCondLst>
                      <p:childTnLst>
                        <p:par>
                          <p:cTn id="218" fill="hold">
                            <p:stCondLst>
                              <p:cond delay="0"/>
                            </p:stCondLst>
                            <p:childTnLst>
                              <p:par>
                                <p:cTn id="219" nodeType="clickEffect" fill="hold" presetClass="entr" presetID="1">
                                  <p:stCondLst>
                                    <p:cond delay="0"/>
                                  </p:stCondLst>
                                  <p:childTnLst>
                                    <p:set>
                                      <p:cBhvr>
                                        <p:cTn id="220" dur="1" fill="hold">
                                          <p:stCondLst>
                                            <p:cond delay="0"/>
                                          </p:stCondLst>
                                        </p:cTn>
                                        <p:tgtEl>
                                          <p:spTgt spid="307"/>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nodeType="clickEffect" fill="hold" presetClass="entr" presetID="1">
                                  <p:stCondLst>
                                    <p:cond delay="0"/>
                                  </p:stCondLst>
                                  <p:childTnLst>
                                    <p:set>
                                      <p:cBhvr>
                                        <p:cTn id="224" dur="1" fill="hold">
                                          <p:stCondLst>
                                            <p:cond delay="0"/>
                                          </p:stCondLst>
                                        </p:cTn>
                                        <p:tgtEl>
                                          <p:spTgt spid="307">
                                            <p:txEl>
                                              <p:pRg st="0" end="0"/>
                                            </p:txEl>
                                          </p:spTgt>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nodeType="clickEffect" fill="hold" presetClass="entr" presetID="1">
                                  <p:stCondLst>
                                    <p:cond delay="0"/>
                                  </p:stCondLst>
                                  <p:childTnLst>
                                    <p:set>
                                      <p:cBhvr>
                                        <p:cTn id="228" dur="1" fill="hold">
                                          <p:stCondLst>
                                            <p:cond delay="0"/>
                                          </p:stCondLst>
                                        </p:cTn>
                                        <p:tgtEl>
                                          <p:spTgt spid="307">
                                            <p:txEl>
                                              <p:pRg st="1" end="1"/>
                                            </p:txEl>
                                          </p:spTgt>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nodeType="clickEffect" fill="hold" presetClass="entr" presetID="1">
                                  <p:stCondLst>
                                    <p:cond delay="0"/>
                                  </p:stCondLst>
                                  <p:childTnLst>
                                    <p:set>
                                      <p:cBhvr>
                                        <p:cTn id="232" dur="1" fill="hold">
                                          <p:stCondLst>
                                            <p:cond delay="0"/>
                                          </p:stCondLst>
                                        </p:cTn>
                                        <p:tgtEl>
                                          <p:spTgt spid="307">
                                            <p:txEl>
                                              <p:pRg st="2" end="2"/>
                                            </p:txEl>
                                          </p:spTgt>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307">
                                            <p:txEl>
                                              <p:pRg st="3" end="3"/>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1">
                                  <p:stCondLst>
                                    <p:cond delay="0"/>
                                  </p:stCondLst>
                                  <p:childTnLst>
                                    <p:set>
                                      <p:cBhvr>
                                        <p:cTn id="240" dur="1" fill="hold">
                                          <p:stCondLst>
                                            <p:cond delay="0"/>
                                          </p:stCondLst>
                                        </p:cTn>
                                        <p:tgtEl>
                                          <p:spTgt spid="307">
                                            <p:txEl>
                                              <p:pRg st="4" end="4"/>
                                            </p:txEl>
                                          </p:spTgt>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nodeType="clickEffect" fill="hold" presetClass="entr" presetID="1">
                                  <p:stCondLst>
                                    <p:cond delay="0"/>
                                  </p:stCondLst>
                                  <p:childTnLst>
                                    <p:set>
                                      <p:cBhvr>
                                        <p:cTn id="244" dur="1" fill="hold">
                                          <p:stCondLst>
                                            <p:cond delay="0"/>
                                          </p:stCondLst>
                                        </p:cTn>
                                        <p:tgtEl>
                                          <p:spTgt spid="307">
                                            <p:txEl>
                                              <p:pRg st="5" end="5"/>
                                            </p:txEl>
                                          </p:spTgt>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nodeType="clickEffect" fill="hold" presetClass="entr" presetID="1">
                                  <p:stCondLst>
                                    <p:cond delay="0"/>
                                  </p:stCondLst>
                                  <p:childTnLst>
                                    <p:set>
                                      <p:cBhvr>
                                        <p:cTn id="248" dur="1" fill="hold">
                                          <p:stCondLst>
                                            <p:cond delay="0"/>
                                          </p:stCondLst>
                                        </p:cTn>
                                        <p:tgtEl>
                                          <p:spTgt spid="307">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Interacting with a DB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10" name="PlaceHolder 2"/>
          <p:cNvSpPr>
            <a:spLocks noGrp="1"/>
          </p:cNvSpPr>
          <p:nvPr>
            <p:ph/>
          </p:nvPr>
        </p:nvSpPr>
        <p:spPr>
          <a:xfrm>
            <a:off x="729360" y="1378080"/>
            <a:ext cx="5405760" cy="3683880"/>
          </a:xfrm>
          <a:prstGeom prst="rect">
            <a:avLst/>
          </a:prstGeom>
          <a:noFill/>
          <a:ln w="0">
            <a:noFill/>
          </a:ln>
        </p:spPr>
        <p:txBody>
          <a:bodyPr tIns="91440" bIns="91440" anchor="t">
            <a:noAutofit/>
          </a:bodyPr>
          <a:p>
            <a:pPr indent="0">
              <a:lnSpc>
                <a:spcPct val="115000"/>
              </a:lnSpc>
              <a:buNone/>
              <a:tabLst>
                <a:tab algn="l" pos="0"/>
              </a:tabLst>
            </a:pPr>
            <a:r>
              <a:rPr b="0" lang="el" sz="1600" spc="-1" strike="noStrike">
                <a:solidFill>
                  <a:schemeClr val="accent1"/>
                </a:solidFill>
                <a:latin typeface="Lato"/>
                <a:ea typeface="Lato"/>
              </a:rPr>
              <a:t>Three levels of abstraction: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Physical level:</a:t>
            </a:r>
            <a:r>
              <a:rPr b="0" lang="el" sz="1600" spc="-1" strike="noStrike">
                <a:solidFill>
                  <a:schemeClr val="accent1"/>
                </a:solidFill>
                <a:latin typeface="Lato"/>
                <a:ea typeface="Lato"/>
              </a:rPr>
              <a:t> Really low-level representation, regarding sophisticated data structures used to store data efficiently (</a:t>
            </a:r>
            <a:r>
              <a:rPr b="0" i="1" lang="el" sz="1600" spc="-1" strike="noStrike">
                <a:solidFill>
                  <a:schemeClr val="accent1"/>
                </a:solidFill>
                <a:latin typeface="Lato"/>
                <a:ea typeface="Lato"/>
              </a:rPr>
              <a:t>the back-end’s view</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Logical level:</a:t>
            </a:r>
            <a:r>
              <a:rPr b="0" lang="el" sz="1600" spc="-1" strike="noStrike">
                <a:solidFill>
                  <a:schemeClr val="accent1"/>
                </a:solidFill>
                <a:latin typeface="Lato"/>
                <a:ea typeface="Lato"/>
              </a:rPr>
              <a:t> Higher level description, including </a:t>
            </a:r>
            <a:r>
              <a:rPr b="0" i="1" lang="el" sz="1600" spc="-1" strike="noStrike">
                <a:solidFill>
                  <a:schemeClr val="accent1"/>
                </a:solidFill>
                <a:latin typeface="Lato"/>
                <a:ea typeface="Lato"/>
              </a:rPr>
              <a:t>what</a:t>
            </a:r>
            <a:r>
              <a:rPr b="0" lang="el" sz="1600" spc="-1" strike="noStrike">
                <a:solidFill>
                  <a:schemeClr val="accent1"/>
                </a:solidFill>
                <a:latin typeface="Lato"/>
                <a:ea typeface="Lato"/>
              </a:rPr>
              <a:t> data are stored using a few simple data structures but no lower-level information. </a:t>
            </a:r>
            <a:r>
              <a:rPr b="0" lang="el" sz="1600" spc="-1" strike="noStrike">
                <a:solidFill>
                  <a:schemeClr val="accent3"/>
                </a:solidFill>
                <a:latin typeface="Lato"/>
                <a:ea typeface="Lato"/>
              </a:rPr>
              <a:t>Any lower-level complexity is hidden from the user (</a:t>
            </a:r>
            <a:r>
              <a:rPr b="1" lang="el" sz="1600" spc="-1" strike="noStrike">
                <a:solidFill>
                  <a:schemeClr val="accent3"/>
                </a:solidFill>
                <a:latin typeface="Lato"/>
                <a:ea typeface="Lato"/>
              </a:rPr>
              <a:t>physical data independence</a:t>
            </a:r>
            <a:r>
              <a:rPr b="0" lang="el" sz="1600" spc="-1" strike="noStrike">
                <a:solidFill>
                  <a:schemeClr val="accent3"/>
                </a:solidFill>
                <a:latin typeface="Lato"/>
                <a:ea typeface="Lato"/>
              </a:rPr>
              <a:t>)</a:t>
            </a:r>
            <a:r>
              <a:rPr b="0" lang="el" sz="1600" spc="-1" strike="noStrike">
                <a:solidFill>
                  <a:schemeClr val="accent1"/>
                </a:solidFill>
                <a:latin typeface="Lato"/>
                <a:ea typeface="Lato"/>
              </a:rPr>
              <a:t> (</a:t>
            </a:r>
            <a:r>
              <a:rPr b="0" i="1" lang="el" sz="1600" spc="-1" strike="noStrike">
                <a:solidFill>
                  <a:schemeClr val="accent1"/>
                </a:solidFill>
                <a:latin typeface="Lato"/>
                <a:ea typeface="Lato"/>
              </a:rPr>
              <a:t>the data-analyst’s view</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View level:</a:t>
            </a:r>
            <a:r>
              <a:rPr b="0" lang="el" sz="1600" spc="-1" strike="noStrike">
                <a:solidFill>
                  <a:schemeClr val="accent1"/>
                </a:solidFill>
                <a:latin typeface="Lato"/>
                <a:ea typeface="Lato"/>
              </a:rPr>
              <a:t> The highest level of abstraction. The user views only parts of the DB that are relevant to their purposes (</a:t>
            </a:r>
            <a:r>
              <a:rPr b="0" i="1" lang="el" sz="1600" spc="-1" strike="noStrike">
                <a:solidFill>
                  <a:schemeClr val="accent1"/>
                </a:solidFill>
                <a:latin typeface="Lato"/>
                <a:ea typeface="Lato"/>
              </a:rPr>
              <a:t>the clerk’s view</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grpSp>
        <p:nvGrpSpPr>
          <p:cNvPr id="311" name="Google Shape;225;p31"/>
          <p:cNvGrpSpPr/>
          <p:nvPr/>
        </p:nvGrpSpPr>
        <p:grpSpPr>
          <a:xfrm>
            <a:off x="6578640" y="1261080"/>
            <a:ext cx="2221920" cy="3652200"/>
            <a:chOff x="6578640" y="1261080"/>
            <a:chExt cx="2221920" cy="3652200"/>
          </a:xfrm>
        </p:grpSpPr>
        <p:grpSp>
          <p:nvGrpSpPr>
            <p:cNvPr id="312" name="Google Shape;226;p31"/>
            <p:cNvGrpSpPr/>
            <p:nvPr/>
          </p:nvGrpSpPr>
          <p:grpSpPr>
            <a:xfrm>
              <a:off x="7250400" y="1261080"/>
              <a:ext cx="878040" cy="942840"/>
              <a:chOff x="7250400" y="1261080"/>
              <a:chExt cx="878040" cy="942840"/>
            </a:xfrm>
          </p:grpSpPr>
          <p:sp>
            <p:nvSpPr>
              <p:cNvPr id="313" name="Google Shape;227;p31"/>
              <p:cNvSpPr/>
              <p:nvPr/>
            </p:nvSpPr>
            <p:spPr>
              <a:xfrm>
                <a:off x="7250400" y="179892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4" name="Google Shape;228;p31"/>
              <p:cNvSpPr/>
              <p:nvPr/>
            </p:nvSpPr>
            <p:spPr>
              <a:xfrm>
                <a:off x="7250400" y="15328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5" name="Google Shape;229;p31"/>
              <p:cNvSpPr/>
              <p:nvPr/>
            </p:nvSpPr>
            <p:spPr>
              <a:xfrm>
                <a:off x="7250400" y="12610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grpSp>
          <p:nvGrpSpPr>
            <p:cNvPr id="316" name="Google Shape;230;p31"/>
            <p:cNvGrpSpPr/>
            <p:nvPr/>
          </p:nvGrpSpPr>
          <p:grpSpPr>
            <a:xfrm>
              <a:off x="7250400" y="2751840"/>
              <a:ext cx="878040" cy="671040"/>
              <a:chOff x="7250400" y="2751840"/>
              <a:chExt cx="878040" cy="671040"/>
            </a:xfrm>
          </p:grpSpPr>
          <p:sp>
            <p:nvSpPr>
              <p:cNvPr id="317" name="Google Shape;231;p31"/>
              <p:cNvSpPr/>
              <p:nvPr/>
            </p:nvSpPr>
            <p:spPr>
              <a:xfrm>
                <a:off x="7250400" y="30178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8" name="Google Shape;232;p31"/>
              <p:cNvSpPr/>
              <p:nvPr/>
            </p:nvSpPr>
            <p:spPr>
              <a:xfrm>
                <a:off x="7250400" y="275184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19" name="Google Shape;233;p31"/>
            <p:cNvSpPr/>
            <p:nvPr/>
          </p:nvSpPr>
          <p:spPr>
            <a:xfrm>
              <a:off x="6578640" y="3970800"/>
              <a:ext cx="2221920" cy="942480"/>
            </a:xfrm>
            <a:prstGeom prst="rect">
              <a:avLst/>
            </a:prstGeom>
            <a:noFill/>
            <a:ln w="19050">
              <a:solidFill>
                <a:srgbClr val="1a1a1a"/>
              </a:solidFill>
              <a:prstDash val="dash"/>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nvGrpSpPr>
            <p:cNvPr id="320" name="Google Shape;234;p31"/>
            <p:cNvGrpSpPr/>
            <p:nvPr/>
          </p:nvGrpSpPr>
          <p:grpSpPr>
            <a:xfrm>
              <a:off x="6785280" y="4198680"/>
              <a:ext cx="1808640" cy="486720"/>
              <a:chOff x="6785280" y="4198680"/>
              <a:chExt cx="1808640" cy="486720"/>
            </a:xfrm>
          </p:grpSpPr>
          <p:sp>
            <p:nvSpPr>
              <p:cNvPr id="321" name="Google Shape;235;p31"/>
              <p:cNvSpPr/>
              <p:nvPr/>
            </p:nvSpPr>
            <p:spPr>
              <a:xfrm>
                <a:off x="67852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view1</a:t>
                </a:r>
                <a:endParaRPr b="0" lang="en-US" sz="900" spc="-1" strike="noStrike">
                  <a:solidFill>
                    <a:srgbClr val="000000"/>
                  </a:solidFill>
                  <a:latin typeface="Arial"/>
                </a:endParaRPr>
              </a:p>
            </p:txBody>
          </p:sp>
          <p:sp>
            <p:nvSpPr>
              <p:cNvPr id="322" name="Google Shape;236;p31"/>
              <p:cNvSpPr/>
              <p:nvPr/>
            </p:nvSpPr>
            <p:spPr>
              <a:xfrm>
                <a:off x="74350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view2</a:t>
                </a:r>
                <a:endParaRPr b="0" lang="en-US" sz="900" spc="-1" strike="noStrike">
                  <a:solidFill>
                    <a:srgbClr val="000000"/>
                  </a:solidFill>
                  <a:latin typeface="Arial"/>
                </a:endParaRPr>
              </a:p>
            </p:txBody>
          </p:sp>
          <p:sp>
            <p:nvSpPr>
              <p:cNvPr id="323" name="Google Shape;237;p31"/>
              <p:cNvSpPr/>
              <p:nvPr/>
            </p:nvSpPr>
            <p:spPr>
              <a:xfrm>
                <a:off x="80848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view3</a:t>
                </a:r>
                <a:endParaRPr b="0" lang="en-US" sz="900" spc="-1" strike="noStrike">
                  <a:solidFill>
                    <a:srgbClr val="000000"/>
                  </a:solidFill>
                  <a:latin typeface="Arial"/>
                </a:endParaRPr>
              </a:p>
            </p:txBody>
          </p:sp>
        </p:grpSp>
        <p:cxnSp>
          <p:nvCxnSpPr>
            <p:cNvPr id="324" name="Google Shape;238;p31"/>
            <p:cNvCxnSpPr>
              <a:stCxn id="313" idx="3"/>
              <a:endCxn id="318" idx="1"/>
            </p:cNvCxnSpPr>
            <p:nvPr/>
          </p:nvCxnSpPr>
          <p:spPr>
            <a:xfrm flipH="1">
              <a:off x="7250400" y="2001240"/>
              <a:ext cx="878400" cy="953280"/>
            </a:xfrm>
            <a:prstGeom prst="straightConnector1">
              <a:avLst/>
            </a:prstGeom>
            <a:ln w="19050">
              <a:solidFill>
                <a:srgbClr val="595959"/>
              </a:solidFill>
              <a:round/>
            </a:ln>
          </p:spPr>
        </p:cxnSp>
        <p:cxnSp>
          <p:nvCxnSpPr>
            <p:cNvPr id="325" name="Google Shape;239;p31"/>
            <p:cNvCxnSpPr>
              <a:stCxn id="317" idx="3"/>
              <a:endCxn id="319" idx="0"/>
            </p:cNvCxnSpPr>
            <p:nvPr/>
          </p:nvCxnSpPr>
          <p:spPr>
            <a:xfrm flipH="1">
              <a:off x="7689600" y="3220200"/>
              <a:ext cx="439200" cy="750960"/>
            </a:xfrm>
            <a:prstGeom prst="straightConnector1">
              <a:avLst/>
            </a:prstGeom>
            <a:ln w="19050">
              <a:solidFill>
                <a:srgbClr val="595959"/>
              </a:solidFill>
              <a:round/>
            </a:ln>
          </p:spPr>
        </p:cxnSp>
      </p:grpSp>
      <p:sp>
        <p:nvSpPr>
          <p:cNvPr id="326"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45C09A9-7B6B-441E-B5E1-B5B66A216D02}"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49" dur="indefinite" restart="never" nodeType="tmRoot">
          <p:childTnLst>
            <p:seq>
              <p:cTn id="250" dur="indefinite" nodeType="mainSeq">
                <p:childTnLst>
                  <p:par>
                    <p:cTn id="251" fill="hold">
                      <p:stCondLst>
                        <p:cond delay="indefinite"/>
                      </p:stCondLst>
                      <p:childTnLst>
                        <p:par>
                          <p:cTn id="252" fill="hold">
                            <p:stCondLst>
                              <p:cond delay="0"/>
                            </p:stCondLst>
                            <p:childTnLst>
                              <p:par>
                                <p:cTn id="253" nodeType="clickEffect" fill="hold" presetClass="entr" presetID="1">
                                  <p:stCondLst>
                                    <p:cond delay="0"/>
                                  </p:stCondLst>
                                  <p:childTnLst>
                                    <p:set>
                                      <p:cBhvr>
                                        <p:cTn id="254" dur="1" fill="hold">
                                          <p:stCondLst>
                                            <p:cond delay="0"/>
                                          </p:stCondLst>
                                        </p:cTn>
                                        <p:tgtEl>
                                          <p:spTgt spid="310">
                                            <p:txEl>
                                              <p:pRg st="0" end="0"/>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310">
                                            <p:txEl>
                                              <p:pRg st="1" end="1"/>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310">
                                            <p:txEl>
                                              <p:pRg st="2" end="2"/>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310">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Interacting with a DB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28" name="PlaceHolder 2"/>
          <p:cNvSpPr>
            <a:spLocks noGrp="1"/>
          </p:cNvSpPr>
          <p:nvPr>
            <p:ph/>
          </p:nvPr>
        </p:nvSpPr>
        <p:spPr>
          <a:xfrm>
            <a:off x="729360" y="1378080"/>
            <a:ext cx="7688520" cy="2602800"/>
          </a:xfrm>
          <a:prstGeom prst="rect">
            <a:avLst/>
          </a:prstGeom>
          <a:noFill/>
          <a:ln w="0">
            <a:noFill/>
          </a:ln>
        </p:spPr>
        <p:txBody>
          <a:bodyPr tIns="91440" bIns="91440" anchor="t">
            <a:noAutofit/>
          </a:bodyPr>
          <a:p>
            <a:pPr indent="0">
              <a:lnSpc>
                <a:spcPct val="115000"/>
              </a:lnSpc>
              <a:buNone/>
              <a:tabLst>
                <a:tab algn="l" pos="0"/>
              </a:tabLst>
            </a:pPr>
            <a:r>
              <a:rPr b="1" lang="el" sz="1600" spc="-1" strike="noStrike">
                <a:solidFill>
                  <a:schemeClr val="accent1"/>
                </a:solidFill>
                <a:latin typeface="Lato"/>
                <a:ea typeface="Lato"/>
              </a:rPr>
              <a:t>What is expected to change in a DB?</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Data, i.e., the entries in the DB.</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All information (data) included in a DB at a certain moment is called an </a:t>
            </a:r>
            <a:r>
              <a:rPr b="1" lang="el" sz="1600" spc="-1" strike="noStrike">
                <a:solidFill>
                  <a:schemeClr val="dk1"/>
                </a:solidFill>
                <a:latin typeface="Lato"/>
                <a:ea typeface="Lato"/>
              </a:rPr>
              <a:t>instance</a:t>
            </a:r>
            <a:r>
              <a:rPr b="0" lang="el" sz="1600" spc="-1" strike="noStrike">
                <a:solidFill>
                  <a:schemeClr val="accent1"/>
                </a:solidFill>
                <a:latin typeface="Lato"/>
                <a:ea typeface="Lato"/>
              </a:rPr>
              <a:t> of the DB.</a:t>
            </a:r>
            <a:endParaRPr b="0" lang="en-US" sz="1600" spc="-1" strike="noStrike">
              <a:solidFill>
                <a:srgbClr val="000000"/>
              </a:solidFill>
              <a:latin typeface="Arial"/>
            </a:endParaRPr>
          </a:p>
          <a:p>
            <a:pPr indent="0">
              <a:lnSpc>
                <a:spcPct val="115000"/>
              </a:lnSpc>
              <a:spcBef>
                <a:spcPts val="1199"/>
              </a:spcBef>
              <a:buNone/>
              <a:tabLst>
                <a:tab algn="l" pos="0"/>
              </a:tabLst>
            </a:pPr>
            <a:r>
              <a:rPr b="1" lang="el" sz="1600" spc="-1" strike="noStrike">
                <a:solidFill>
                  <a:schemeClr val="accent1"/>
                </a:solidFill>
                <a:latin typeface="Lato"/>
                <a:ea typeface="Lato"/>
              </a:rPr>
              <a:t>What is not expected to change in a DB?</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How data are organised.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The way data are organised in a DB, i.e., its design, is called the DB’s </a:t>
            </a:r>
            <a:r>
              <a:rPr b="1" lang="el" sz="1600" spc="-1" strike="noStrike">
                <a:solidFill>
                  <a:schemeClr val="accent3"/>
                </a:solidFill>
                <a:latin typeface="Lato"/>
                <a:ea typeface="Lato"/>
              </a:rPr>
              <a:t>schema</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sp>
        <p:nvSpPr>
          <p:cNvPr id="329" name="Google Shape;247;p32"/>
          <p:cNvSpPr/>
          <p:nvPr/>
        </p:nvSpPr>
        <p:spPr>
          <a:xfrm>
            <a:off x="981720" y="4144680"/>
            <a:ext cx="7436160" cy="74196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spAutoFit/>
          </a:bodyPr>
          <a:p>
            <a:pPr>
              <a:lnSpc>
                <a:spcPct val="115000"/>
              </a:lnSpc>
              <a:spcAft>
                <a:spcPts val="1199"/>
              </a:spcAft>
              <a:tabLst>
                <a:tab algn="l" pos="0"/>
              </a:tabLst>
            </a:pPr>
            <a:r>
              <a:rPr b="1" lang="el" sz="1600" spc="-1" strike="noStrike">
                <a:solidFill>
                  <a:schemeClr val="accent3"/>
                </a:solidFill>
                <a:latin typeface="Lato"/>
                <a:ea typeface="Lato"/>
              </a:rPr>
              <a:t>ATTENTION!</a:t>
            </a:r>
            <a:r>
              <a:rPr b="1" lang="el" sz="1600" spc="-1" strike="noStrike">
                <a:solidFill>
                  <a:schemeClr val="accent1"/>
                </a:solidFill>
                <a:latin typeface="Lato"/>
                <a:ea typeface="Lato"/>
              </a:rPr>
              <a:t> </a:t>
            </a:r>
            <a:r>
              <a:rPr b="0" lang="el" sz="1600" spc="-1" strike="noStrike">
                <a:solidFill>
                  <a:schemeClr val="accent1"/>
                </a:solidFill>
                <a:latin typeface="Lato"/>
                <a:ea typeface="Lato"/>
              </a:rPr>
              <a:t>Schemas (or schemata) may change over time, if needed, however this is not what they primarily are for (can you think of such reasons?)</a:t>
            </a:r>
            <a:endParaRPr b="0" lang="en-US" sz="1600" spc="-1" strike="noStrike">
              <a:solidFill>
                <a:srgbClr val="000000"/>
              </a:solidFill>
              <a:latin typeface="Arial"/>
            </a:endParaRPr>
          </a:p>
        </p:txBody>
      </p:sp>
      <p:sp>
        <p:nvSpPr>
          <p:cNvPr id="330"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871918F-CFFB-41F2-A621-C7071E50001F}"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67" dur="indefinite" restart="never" nodeType="tmRoot">
          <p:childTnLst>
            <p:seq>
              <p:cTn id="268" dur="indefinite" nodeType="mainSeq">
                <p:childTnLst>
                  <p:par>
                    <p:cTn id="269" fill="hold">
                      <p:stCondLst>
                        <p:cond delay="indefinite"/>
                      </p:stCondLst>
                      <p:childTnLst>
                        <p:par>
                          <p:cTn id="270" fill="hold">
                            <p:stCondLst>
                              <p:cond delay="0"/>
                            </p:stCondLst>
                            <p:childTnLst>
                              <p:par>
                                <p:cTn id="271" nodeType="clickEffect" fill="hold" presetClass="entr" presetID="1">
                                  <p:stCondLst>
                                    <p:cond delay="0"/>
                                  </p:stCondLst>
                                  <p:childTnLst>
                                    <p:set>
                                      <p:cBhvr>
                                        <p:cTn id="272" dur="1" fill="hold">
                                          <p:stCondLst>
                                            <p:cond delay="0"/>
                                          </p:stCondLst>
                                        </p:cTn>
                                        <p:tgtEl>
                                          <p:spTgt spid="328">
                                            <p:txEl>
                                              <p:pRg st="0" end="0"/>
                                            </p:txEl>
                                          </p:spTgt>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nodeType="clickEffect" fill="hold" presetClass="entr" presetID="1">
                                  <p:stCondLst>
                                    <p:cond delay="0"/>
                                  </p:stCondLst>
                                  <p:childTnLst>
                                    <p:set>
                                      <p:cBhvr>
                                        <p:cTn id="276" dur="1" fill="hold">
                                          <p:stCondLst>
                                            <p:cond delay="0"/>
                                          </p:stCondLst>
                                        </p:cTn>
                                        <p:tgtEl>
                                          <p:spTgt spid="328">
                                            <p:txEl>
                                              <p:pRg st="1" end="1"/>
                                            </p:txEl>
                                          </p:spTgt>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1">
                                  <p:stCondLst>
                                    <p:cond delay="0"/>
                                  </p:stCondLst>
                                  <p:childTnLst>
                                    <p:set>
                                      <p:cBhvr>
                                        <p:cTn id="280" dur="1" fill="hold">
                                          <p:stCondLst>
                                            <p:cond delay="0"/>
                                          </p:stCondLst>
                                        </p:cTn>
                                        <p:tgtEl>
                                          <p:spTgt spid="328">
                                            <p:txEl>
                                              <p:pRg st="2" end="2"/>
                                            </p:txEl>
                                          </p:spTgt>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nodeType="clickEffect" fill="hold" presetClass="entr" presetID="1">
                                  <p:stCondLst>
                                    <p:cond delay="0"/>
                                  </p:stCondLst>
                                  <p:childTnLst>
                                    <p:set>
                                      <p:cBhvr>
                                        <p:cTn id="284" dur="1" fill="hold">
                                          <p:stCondLst>
                                            <p:cond delay="0"/>
                                          </p:stCondLst>
                                        </p:cTn>
                                        <p:tgtEl>
                                          <p:spTgt spid="328">
                                            <p:txEl>
                                              <p:pRg st="3" end="3"/>
                                            </p:txEl>
                                          </p:spTgt>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
                                  <p:stCondLst>
                                    <p:cond delay="0"/>
                                  </p:stCondLst>
                                  <p:childTnLst>
                                    <p:set>
                                      <p:cBhvr>
                                        <p:cTn id="288" dur="1" fill="hold">
                                          <p:stCondLst>
                                            <p:cond delay="0"/>
                                          </p:stCondLst>
                                        </p:cTn>
                                        <p:tgtEl>
                                          <p:spTgt spid="328">
                                            <p:txEl>
                                              <p:pRg st="4" end="4"/>
                                            </p:txEl>
                                          </p:spTgt>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nodeType="clickEffect" fill="hold" presetClass="entr" presetID="1">
                                  <p:stCondLst>
                                    <p:cond delay="0"/>
                                  </p:stCondLst>
                                  <p:childTnLst>
                                    <p:set>
                                      <p:cBhvr>
                                        <p:cTn id="292" dur="1" fill="hold">
                                          <p:stCondLst>
                                            <p:cond delay="0"/>
                                          </p:stCondLst>
                                        </p:cTn>
                                        <p:tgtEl>
                                          <p:spTgt spid="328">
                                            <p:txEl>
                                              <p:pRg st="5" end="5"/>
                                            </p:txEl>
                                          </p:spTgt>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nodeType="clickEffect" fill="hold" presetClass="entr" presetID="1">
                                  <p:stCondLst>
                                    <p:cond delay="0"/>
                                  </p:stCondLst>
                                  <p:childTnLst>
                                    <p:set>
                                      <p:cBhvr>
                                        <p:cTn id="296"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Interacting with a DB 4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32" name="PlaceHolder 2"/>
          <p:cNvSpPr>
            <a:spLocks noGrp="1"/>
          </p:cNvSpPr>
          <p:nvPr>
            <p:ph/>
          </p:nvPr>
        </p:nvSpPr>
        <p:spPr>
          <a:xfrm>
            <a:off x="729360" y="1378080"/>
            <a:ext cx="5587560" cy="2961720"/>
          </a:xfrm>
          <a:prstGeom prst="rect">
            <a:avLst/>
          </a:prstGeom>
          <a:noFill/>
          <a:ln w="0">
            <a:noFill/>
          </a:ln>
        </p:spPr>
        <p:txBody>
          <a:bodyPr tIns="91440" bIns="91440" anchor="t">
            <a:noAutofit/>
          </a:bodyPr>
          <a:p>
            <a:pPr indent="0">
              <a:lnSpc>
                <a:spcPct val="115000"/>
              </a:lnSpc>
              <a:buNone/>
              <a:tabLst>
                <a:tab algn="l" pos="0"/>
              </a:tabLst>
            </a:pPr>
            <a:r>
              <a:rPr b="0" lang="el" sz="1600" spc="-1" strike="noStrike">
                <a:solidFill>
                  <a:schemeClr val="accent1"/>
                </a:solidFill>
                <a:latin typeface="Lato"/>
                <a:ea typeface="Lato"/>
              </a:rPr>
              <a:t>Can the same schema work for our beck-end developer, data-analyst and clerk?</a:t>
            </a:r>
            <a:endParaRPr b="0" lang="en-US" sz="1600" spc="-1" strike="noStrike">
              <a:solidFill>
                <a:srgbClr val="000000"/>
              </a:solidFill>
              <a:latin typeface="Arial"/>
            </a:endParaRPr>
          </a:p>
          <a:p>
            <a:pPr indent="0">
              <a:lnSpc>
                <a:spcPct val="115000"/>
              </a:lnSpc>
              <a:spcBef>
                <a:spcPts val="1199"/>
              </a:spcBef>
              <a:buNone/>
              <a:tabLst>
                <a:tab algn="l" pos="0"/>
              </a:tabLst>
            </a:pPr>
            <a:r>
              <a:rPr b="1" lang="el" sz="1600" spc="-1" strike="noStrike">
                <a:solidFill>
                  <a:schemeClr val="accent1"/>
                </a:solidFill>
                <a:latin typeface="Lato"/>
                <a:ea typeface="Lato"/>
              </a:rPr>
              <a:t>No!</a:t>
            </a:r>
            <a:r>
              <a:rPr b="0" lang="el" sz="1600" spc="-1" strike="noStrike">
                <a:solidFill>
                  <a:schemeClr val="accent1"/>
                </a:solidFill>
                <a:latin typeface="Lato"/>
                <a:ea typeface="Lato"/>
              </a:rPr>
              <a:t> Essentially, schemas implement the DB levels of abstraction: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Physical schemas</a:t>
            </a:r>
            <a:r>
              <a:rPr b="0" lang="el" sz="1600" spc="-1" strike="noStrike">
                <a:solidFill>
                  <a:schemeClr val="accent1"/>
                </a:solidFill>
                <a:latin typeface="Lato"/>
                <a:ea typeface="Lato"/>
              </a:rPr>
              <a:t> describe DB design at the physical level (</a:t>
            </a:r>
            <a:r>
              <a:rPr b="0" i="1" lang="el" sz="1600" spc="-1" strike="noStrike">
                <a:solidFill>
                  <a:schemeClr val="accent1"/>
                </a:solidFill>
                <a:latin typeface="Lato"/>
                <a:ea typeface="Lato"/>
              </a:rPr>
              <a:t>the technician’s view</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Logical schemas</a:t>
            </a:r>
            <a:r>
              <a:rPr b="0" lang="el" sz="1600" spc="-1" strike="noStrike">
                <a:solidFill>
                  <a:schemeClr val="accent1"/>
                </a:solidFill>
                <a:latin typeface="Lato"/>
                <a:ea typeface="Lato"/>
              </a:rPr>
              <a:t> describe DB design at the logical level (</a:t>
            </a:r>
            <a:r>
              <a:rPr b="0" i="1" lang="el" sz="1600" spc="-1" strike="noStrike">
                <a:solidFill>
                  <a:schemeClr val="accent1"/>
                </a:solidFill>
                <a:latin typeface="Lato"/>
                <a:ea typeface="Lato"/>
              </a:rPr>
              <a:t>the data-analyst’s view</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Subschemas</a:t>
            </a:r>
            <a:r>
              <a:rPr b="0" lang="el" sz="1600" spc="-1" strike="noStrike">
                <a:solidFill>
                  <a:schemeClr val="accent1"/>
                </a:solidFill>
                <a:latin typeface="Lato"/>
                <a:ea typeface="Lato"/>
              </a:rPr>
              <a:t> describe DB design at the view level (</a:t>
            </a:r>
            <a:r>
              <a:rPr b="0" i="1" lang="el" sz="1600" spc="-1" strike="noStrike">
                <a:solidFill>
                  <a:schemeClr val="accent1"/>
                </a:solidFill>
                <a:latin typeface="Lato"/>
                <a:ea typeface="Lato"/>
              </a:rPr>
              <a:t>the clerk’s view</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grpSp>
        <p:nvGrpSpPr>
          <p:cNvPr id="333" name="Google Shape;255;p33"/>
          <p:cNvGrpSpPr/>
          <p:nvPr/>
        </p:nvGrpSpPr>
        <p:grpSpPr>
          <a:xfrm>
            <a:off x="6578640" y="1261080"/>
            <a:ext cx="2221920" cy="3652200"/>
            <a:chOff x="6578640" y="1261080"/>
            <a:chExt cx="2221920" cy="3652200"/>
          </a:xfrm>
        </p:grpSpPr>
        <p:grpSp>
          <p:nvGrpSpPr>
            <p:cNvPr id="334" name="Google Shape;256;p33"/>
            <p:cNvGrpSpPr/>
            <p:nvPr/>
          </p:nvGrpSpPr>
          <p:grpSpPr>
            <a:xfrm>
              <a:off x="7250400" y="1261080"/>
              <a:ext cx="878040" cy="942840"/>
              <a:chOff x="7250400" y="1261080"/>
              <a:chExt cx="878040" cy="942840"/>
            </a:xfrm>
          </p:grpSpPr>
          <p:sp>
            <p:nvSpPr>
              <p:cNvPr id="335" name="Google Shape;257;p33"/>
              <p:cNvSpPr/>
              <p:nvPr/>
            </p:nvSpPr>
            <p:spPr>
              <a:xfrm>
                <a:off x="7250400" y="179892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6" name="Google Shape;258;p33"/>
              <p:cNvSpPr/>
              <p:nvPr/>
            </p:nvSpPr>
            <p:spPr>
              <a:xfrm>
                <a:off x="7250400" y="15328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37" name="Google Shape;259;p33"/>
              <p:cNvSpPr/>
              <p:nvPr/>
            </p:nvSpPr>
            <p:spPr>
              <a:xfrm>
                <a:off x="7250400" y="12610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grpSp>
          <p:nvGrpSpPr>
            <p:cNvPr id="338" name="Google Shape;260;p33"/>
            <p:cNvGrpSpPr/>
            <p:nvPr/>
          </p:nvGrpSpPr>
          <p:grpSpPr>
            <a:xfrm>
              <a:off x="7250400" y="2751840"/>
              <a:ext cx="878040" cy="671040"/>
              <a:chOff x="7250400" y="2751840"/>
              <a:chExt cx="878040" cy="671040"/>
            </a:xfrm>
          </p:grpSpPr>
          <p:sp>
            <p:nvSpPr>
              <p:cNvPr id="339" name="Google Shape;261;p33"/>
              <p:cNvSpPr/>
              <p:nvPr/>
            </p:nvSpPr>
            <p:spPr>
              <a:xfrm>
                <a:off x="7250400" y="301788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40" name="Google Shape;262;p33"/>
              <p:cNvSpPr/>
              <p:nvPr/>
            </p:nvSpPr>
            <p:spPr>
              <a:xfrm>
                <a:off x="7250400" y="2751840"/>
                <a:ext cx="878040" cy="405000"/>
              </a:xfrm>
              <a:prstGeom prst="flowChartMagneticDisk">
                <a:avLst/>
              </a:prstGeom>
              <a:solidFill>
                <a:schemeClr val="lt1"/>
              </a:solidFill>
              <a:ln w="38100">
                <a:solidFill>
                  <a:srgbClr val="595959"/>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sp>
          <p:nvSpPr>
            <p:cNvPr id="341" name="Google Shape;263;p33"/>
            <p:cNvSpPr/>
            <p:nvPr/>
          </p:nvSpPr>
          <p:spPr>
            <a:xfrm>
              <a:off x="6578640" y="3970800"/>
              <a:ext cx="2221920" cy="942480"/>
            </a:xfrm>
            <a:prstGeom prst="rect">
              <a:avLst/>
            </a:prstGeom>
            <a:noFill/>
            <a:ln w="19050">
              <a:solidFill>
                <a:srgbClr val="1a1a1a"/>
              </a:solidFill>
              <a:prstDash val="dash"/>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grpSp>
          <p:nvGrpSpPr>
            <p:cNvPr id="342" name="Google Shape;264;p33"/>
            <p:cNvGrpSpPr/>
            <p:nvPr/>
          </p:nvGrpSpPr>
          <p:grpSpPr>
            <a:xfrm>
              <a:off x="6785280" y="4198680"/>
              <a:ext cx="1808640" cy="486720"/>
              <a:chOff x="6785280" y="4198680"/>
              <a:chExt cx="1808640" cy="486720"/>
            </a:xfrm>
          </p:grpSpPr>
          <p:sp>
            <p:nvSpPr>
              <p:cNvPr id="343" name="Google Shape;265;p33"/>
              <p:cNvSpPr/>
              <p:nvPr/>
            </p:nvSpPr>
            <p:spPr>
              <a:xfrm>
                <a:off x="67852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view1</a:t>
                </a:r>
                <a:endParaRPr b="0" lang="en-US" sz="900" spc="-1" strike="noStrike">
                  <a:solidFill>
                    <a:srgbClr val="000000"/>
                  </a:solidFill>
                  <a:latin typeface="Arial"/>
                </a:endParaRPr>
              </a:p>
            </p:txBody>
          </p:sp>
          <p:sp>
            <p:nvSpPr>
              <p:cNvPr id="344" name="Google Shape;266;p33"/>
              <p:cNvSpPr/>
              <p:nvPr/>
            </p:nvSpPr>
            <p:spPr>
              <a:xfrm>
                <a:off x="74350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view2</a:t>
                </a:r>
                <a:endParaRPr b="0" lang="en-US" sz="900" spc="-1" strike="noStrike">
                  <a:solidFill>
                    <a:srgbClr val="000000"/>
                  </a:solidFill>
                  <a:latin typeface="Arial"/>
                </a:endParaRPr>
              </a:p>
            </p:txBody>
          </p:sp>
          <p:sp>
            <p:nvSpPr>
              <p:cNvPr id="345" name="Google Shape;267;p33"/>
              <p:cNvSpPr/>
              <p:nvPr/>
            </p:nvSpPr>
            <p:spPr>
              <a:xfrm>
                <a:off x="8084880" y="4198680"/>
                <a:ext cx="509040" cy="48672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900" spc="-1" strike="noStrike">
                    <a:solidFill>
                      <a:srgbClr val="000000"/>
                    </a:solidFill>
                    <a:latin typeface="Lato"/>
                    <a:ea typeface="Lato"/>
                  </a:rPr>
                  <a:t>view3</a:t>
                </a:r>
                <a:endParaRPr b="0" lang="en-US" sz="900" spc="-1" strike="noStrike">
                  <a:solidFill>
                    <a:srgbClr val="000000"/>
                  </a:solidFill>
                  <a:latin typeface="Arial"/>
                </a:endParaRPr>
              </a:p>
            </p:txBody>
          </p:sp>
        </p:grpSp>
        <p:cxnSp>
          <p:nvCxnSpPr>
            <p:cNvPr id="346" name="Google Shape;268;p33"/>
            <p:cNvCxnSpPr>
              <a:stCxn id="335" idx="3"/>
              <a:endCxn id="340" idx="1"/>
            </p:cNvCxnSpPr>
            <p:nvPr/>
          </p:nvCxnSpPr>
          <p:spPr>
            <a:xfrm flipH="1">
              <a:off x="7250400" y="2001240"/>
              <a:ext cx="878400" cy="953280"/>
            </a:xfrm>
            <a:prstGeom prst="straightConnector1">
              <a:avLst/>
            </a:prstGeom>
            <a:ln w="19050">
              <a:solidFill>
                <a:srgbClr val="595959"/>
              </a:solidFill>
              <a:round/>
            </a:ln>
          </p:spPr>
        </p:cxnSp>
        <p:cxnSp>
          <p:nvCxnSpPr>
            <p:cNvPr id="347" name="Google Shape;269;p33"/>
            <p:cNvCxnSpPr>
              <a:stCxn id="339" idx="3"/>
              <a:endCxn id="341" idx="0"/>
            </p:cNvCxnSpPr>
            <p:nvPr/>
          </p:nvCxnSpPr>
          <p:spPr>
            <a:xfrm flipH="1">
              <a:off x="7689600" y="3220200"/>
              <a:ext cx="439200" cy="750960"/>
            </a:xfrm>
            <a:prstGeom prst="straightConnector1">
              <a:avLst/>
            </a:prstGeom>
            <a:ln w="19050">
              <a:solidFill>
                <a:srgbClr val="595959"/>
              </a:solidFill>
              <a:round/>
            </a:ln>
          </p:spPr>
        </p:cxnSp>
      </p:grpSp>
      <p:sp>
        <p:nvSpPr>
          <p:cNvPr id="348"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3405D91-8F6F-417B-A4A5-70F001407779}"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97" dur="indefinite" restart="never" nodeType="tmRoot">
          <p:childTnLst>
            <p:seq>
              <p:cTn id="298" dur="indefinite" nodeType="mainSeq">
                <p:childTnLst>
                  <p:par>
                    <p:cTn id="299" fill="hold">
                      <p:stCondLst>
                        <p:cond delay="indefinite"/>
                      </p:stCondLst>
                      <p:childTnLst>
                        <p:par>
                          <p:cTn id="300" fill="hold">
                            <p:stCondLst>
                              <p:cond delay="0"/>
                            </p:stCondLst>
                            <p:childTnLst>
                              <p:par>
                                <p:cTn id="301" nodeType="clickEffect" fill="hold" presetClass="entr" presetID="1">
                                  <p:stCondLst>
                                    <p:cond delay="0"/>
                                  </p:stCondLst>
                                  <p:childTnLst>
                                    <p:set>
                                      <p:cBhvr>
                                        <p:cTn id="302" dur="1" fill="hold">
                                          <p:stCondLst>
                                            <p:cond delay="0"/>
                                          </p:stCondLst>
                                        </p:cTn>
                                        <p:tgtEl>
                                          <p:spTgt spid="332">
                                            <p:txEl>
                                              <p:pRg st="0" end="0"/>
                                            </p:txEl>
                                          </p:spTgt>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nodeType="clickEffect" fill="hold" presetClass="entr" presetID="1">
                                  <p:stCondLst>
                                    <p:cond delay="0"/>
                                  </p:stCondLst>
                                  <p:childTnLst>
                                    <p:set>
                                      <p:cBhvr>
                                        <p:cTn id="306" dur="1" fill="hold">
                                          <p:stCondLst>
                                            <p:cond delay="0"/>
                                          </p:stCondLst>
                                        </p:cTn>
                                        <p:tgtEl>
                                          <p:spTgt spid="332">
                                            <p:txEl>
                                              <p:pRg st="1" end="1"/>
                                            </p:txEl>
                                          </p:spTgt>
                                        </p:tgtEl>
                                        <p:attrNameLst>
                                          <p:attrName>style.visibility</p:attrName>
                                        </p:attrNameLst>
                                      </p:cBhvr>
                                      <p:to>
                                        <p:strVal val="visible"/>
                                      </p:to>
                                    </p:set>
                                  </p:childTnLst>
                                </p:cTn>
                              </p:par>
                            </p:childTnLst>
                          </p:cTn>
                        </p:par>
                      </p:childTnLst>
                    </p:cTn>
                  </p:par>
                  <p:par>
                    <p:cTn id="307" fill="hold">
                      <p:stCondLst>
                        <p:cond delay="indefinite"/>
                      </p:stCondLst>
                      <p:childTnLst>
                        <p:par>
                          <p:cTn id="308" fill="hold">
                            <p:stCondLst>
                              <p:cond delay="0"/>
                            </p:stCondLst>
                            <p:childTnLst>
                              <p:par>
                                <p:cTn id="309" nodeType="clickEffect" fill="hold" presetClass="entr" presetID="1">
                                  <p:stCondLst>
                                    <p:cond delay="0"/>
                                  </p:stCondLst>
                                  <p:childTnLst>
                                    <p:set>
                                      <p:cBhvr>
                                        <p:cTn id="310" dur="1" fill="hold">
                                          <p:stCondLst>
                                            <p:cond delay="0"/>
                                          </p:stCondLst>
                                        </p:cTn>
                                        <p:tgtEl>
                                          <p:spTgt spid="332">
                                            <p:txEl>
                                              <p:pRg st="2" end="2"/>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nodeType="clickEffect" fill="hold" presetClass="entr" presetID="1">
                                  <p:stCondLst>
                                    <p:cond delay="0"/>
                                  </p:stCondLst>
                                  <p:childTnLst>
                                    <p:set>
                                      <p:cBhvr>
                                        <p:cTn id="314" dur="1" fill="hold">
                                          <p:stCondLst>
                                            <p:cond delay="0"/>
                                          </p:stCondLst>
                                        </p:cTn>
                                        <p:tgtEl>
                                          <p:spTgt spid="332">
                                            <p:txEl>
                                              <p:pRg st="3" end="3"/>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nodeType="clickEffect" fill="hold" presetClass="entr" presetID="1">
                                  <p:stCondLst>
                                    <p:cond delay="0"/>
                                  </p:stCondLst>
                                  <p:childTnLst>
                                    <p:set>
                                      <p:cBhvr>
                                        <p:cTn id="318" dur="1" fill="hold">
                                          <p:stCondLst>
                                            <p:cond delay="0"/>
                                          </p:stCondLst>
                                        </p:cTn>
                                        <p:tgtEl>
                                          <p:spTgt spid="332">
                                            <p:txEl>
                                              <p:pRg st="4" end="4"/>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 Models 1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50" name="PlaceHolder 2"/>
          <p:cNvSpPr>
            <a:spLocks noGrp="1"/>
          </p:cNvSpPr>
          <p:nvPr>
            <p:ph/>
          </p:nvPr>
        </p:nvSpPr>
        <p:spPr>
          <a:xfrm>
            <a:off x="729360" y="1378080"/>
            <a:ext cx="7688520" cy="1012320"/>
          </a:xfrm>
          <a:prstGeom prst="rect">
            <a:avLst/>
          </a:prstGeom>
          <a:solidFill>
            <a:srgbClr val="fce5cd"/>
          </a:solidFill>
          <a:ln w="19080">
            <a:solidFill>
              <a:srgbClr val="eb5600"/>
            </a:solidFill>
            <a:prstDash val="dash"/>
            <a:round/>
          </a:ln>
        </p:spPr>
        <p:txBody>
          <a:bodyPr tIns="91440" bIns="91440" anchor="t">
            <a:noAutofit/>
          </a:bodyPr>
          <a:p>
            <a:pPr indent="0">
              <a:lnSpc>
                <a:spcPct val="115000"/>
              </a:lnSpc>
              <a:spcAft>
                <a:spcPts val="1199"/>
              </a:spcAft>
              <a:buNone/>
              <a:tabLst>
                <a:tab algn="l" pos="0"/>
              </a:tabLst>
            </a:pPr>
            <a:r>
              <a:rPr b="0" lang="el" sz="1600" spc="-1" strike="noStrike">
                <a:solidFill>
                  <a:schemeClr val="accent1"/>
                </a:solidFill>
                <a:latin typeface="Lato"/>
                <a:ea typeface="Lato"/>
              </a:rPr>
              <a:t>A </a:t>
            </a:r>
            <a:r>
              <a:rPr b="1" lang="el" sz="1600" spc="-1" strike="noStrike">
                <a:solidFill>
                  <a:schemeClr val="accent3"/>
                </a:solidFill>
                <a:latin typeface="Lato"/>
                <a:ea typeface="Lato"/>
              </a:rPr>
              <a:t>data model</a:t>
            </a:r>
            <a:r>
              <a:rPr b="0" lang="el" sz="1600" spc="-1" strike="noStrike">
                <a:solidFill>
                  <a:schemeClr val="accent1"/>
                </a:solidFill>
                <a:latin typeface="Lato"/>
                <a:ea typeface="Lato"/>
              </a:rPr>
              <a:t> is a collection of conceptual tools for describing data, data relationships, data semantics, and consistency constraints. A data model provides a way to describe the design of a database at the physical, logical, and view level.</a:t>
            </a:r>
            <a:endParaRPr b="0" lang="en-US" sz="1600" spc="-1" strike="noStrike">
              <a:solidFill>
                <a:srgbClr val="000000"/>
              </a:solidFill>
              <a:latin typeface="Arial"/>
            </a:endParaRPr>
          </a:p>
        </p:txBody>
      </p:sp>
      <p:sp>
        <p:nvSpPr>
          <p:cNvPr id="351" name="Google Shape;277;p34"/>
          <p:cNvSpPr/>
          <p:nvPr/>
        </p:nvSpPr>
        <p:spPr>
          <a:xfrm>
            <a:off x="736200" y="2790360"/>
            <a:ext cx="7688520" cy="139932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l" sz="1600" spc="-1" strike="noStrike">
                <a:solidFill>
                  <a:schemeClr val="accent1"/>
                </a:solidFill>
                <a:latin typeface="Lato"/>
                <a:ea typeface="Lato"/>
              </a:rPr>
              <a:t>Essentially, data models provide the structure “under the hood” of a DB at:</a:t>
            </a:r>
            <a:endParaRPr b="0" lang="en-US" sz="1600" spc="-1" strike="noStrike">
              <a:solidFill>
                <a:srgbClr val="000000"/>
              </a:solidFill>
              <a:latin typeface="Arial"/>
            </a:endParaRPr>
          </a:p>
          <a:p>
            <a:pPr marL="457200" indent="-330120">
              <a:lnSpc>
                <a:spcPct val="100000"/>
              </a:lnSpc>
              <a:buClr>
                <a:srgbClr val="595959"/>
              </a:buClr>
              <a:buFont typeface="Lato"/>
              <a:buChar char="●"/>
              <a:tabLst>
                <a:tab algn="l" pos="0"/>
              </a:tabLst>
            </a:pPr>
            <a:r>
              <a:rPr b="0" lang="el" sz="1600" spc="-1" strike="noStrike">
                <a:solidFill>
                  <a:schemeClr val="accent1"/>
                </a:solidFill>
                <a:latin typeface="Lato"/>
                <a:ea typeface="Lato"/>
              </a:rPr>
              <a:t>The </a:t>
            </a:r>
            <a:r>
              <a:rPr b="1" lang="el" sz="1600" spc="-1" strike="noStrike">
                <a:solidFill>
                  <a:schemeClr val="accent1"/>
                </a:solidFill>
                <a:latin typeface="Lato"/>
                <a:ea typeface="Lato"/>
              </a:rPr>
              <a:t>physical level</a:t>
            </a:r>
            <a:r>
              <a:rPr b="0" lang="el" sz="1600" spc="-1" strike="noStrike">
                <a:solidFill>
                  <a:schemeClr val="accent1"/>
                </a:solidFill>
                <a:latin typeface="Lato"/>
                <a:ea typeface="Lato"/>
              </a:rPr>
              <a:t>, i.e., the primitive data structures used to physically store data.</a:t>
            </a:r>
            <a:endParaRPr b="0" lang="en-US" sz="1600" spc="-1" strike="noStrike">
              <a:solidFill>
                <a:srgbClr val="000000"/>
              </a:solidFill>
              <a:latin typeface="Arial"/>
            </a:endParaRPr>
          </a:p>
          <a:p>
            <a:pPr marL="457200" indent="-330120">
              <a:lnSpc>
                <a:spcPct val="100000"/>
              </a:lnSpc>
              <a:buClr>
                <a:srgbClr val="595959"/>
              </a:buClr>
              <a:buFont typeface="Lato"/>
              <a:buChar char="●"/>
              <a:tabLst>
                <a:tab algn="l" pos="0"/>
              </a:tabLst>
            </a:pPr>
            <a:r>
              <a:rPr b="0" lang="el" sz="1600" spc="-1" strike="noStrike">
                <a:solidFill>
                  <a:schemeClr val="accent1"/>
                </a:solidFill>
                <a:latin typeface="Lato"/>
                <a:ea typeface="Lato"/>
              </a:rPr>
              <a:t>The </a:t>
            </a:r>
            <a:r>
              <a:rPr b="1" lang="el" sz="1600" spc="-1" strike="noStrike">
                <a:solidFill>
                  <a:schemeClr val="accent1"/>
                </a:solidFill>
                <a:latin typeface="Lato"/>
                <a:ea typeface="Lato"/>
              </a:rPr>
              <a:t>logical level</a:t>
            </a:r>
            <a:r>
              <a:rPr b="0" lang="el" sz="1600" spc="-1" strike="noStrike">
                <a:solidFill>
                  <a:schemeClr val="accent1"/>
                </a:solidFill>
                <a:latin typeface="Lato"/>
                <a:ea typeface="Lato"/>
              </a:rPr>
              <a:t>, i.e., the higher level constructs used to organise stored data.</a:t>
            </a:r>
            <a:endParaRPr b="0" lang="en-US" sz="1600" spc="-1" strike="noStrike">
              <a:solidFill>
                <a:srgbClr val="000000"/>
              </a:solidFill>
              <a:latin typeface="Arial"/>
            </a:endParaRPr>
          </a:p>
          <a:p>
            <a:pPr marL="457200" indent="-330120">
              <a:lnSpc>
                <a:spcPct val="100000"/>
              </a:lnSpc>
              <a:buClr>
                <a:srgbClr val="595959"/>
              </a:buClr>
              <a:buFont typeface="Lato"/>
              <a:buChar char="●"/>
              <a:tabLst>
                <a:tab algn="l" pos="0"/>
              </a:tabLst>
            </a:pPr>
            <a:r>
              <a:rPr b="0" lang="el" sz="1600" spc="-1" strike="noStrike">
                <a:solidFill>
                  <a:schemeClr val="accent1"/>
                </a:solidFill>
                <a:latin typeface="Lato"/>
                <a:ea typeface="Lato"/>
              </a:rPr>
              <a:t>The </a:t>
            </a:r>
            <a:r>
              <a:rPr b="1" lang="el" sz="1600" spc="-1" strike="noStrike">
                <a:solidFill>
                  <a:schemeClr val="accent1"/>
                </a:solidFill>
                <a:latin typeface="Lato"/>
                <a:ea typeface="Lato"/>
              </a:rPr>
              <a:t>view level</a:t>
            </a:r>
            <a:r>
              <a:rPr b="0" lang="el" sz="1600" spc="-1" strike="noStrike">
                <a:solidFill>
                  <a:schemeClr val="accent1"/>
                </a:solidFill>
                <a:latin typeface="Lato"/>
                <a:ea typeface="Lato"/>
              </a:rPr>
              <a:t>, i.e., the constructs used for partial sharing of DB data.</a:t>
            </a:r>
            <a:endParaRPr b="0" lang="en-US" sz="1600" spc="-1" strike="noStrike">
              <a:solidFill>
                <a:srgbClr val="000000"/>
              </a:solidFill>
              <a:latin typeface="Arial"/>
            </a:endParaRPr>
          </a:p>
        </p:txBody>
      </p:sp>
      <p:sp>
        <p:nvSpPr>
          <p:cNvPr id="352"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A9DD0C6-30DB-49B8-B97C-33C30F2FF438}"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23" dur="indefinite" restart="never" nodeType="tmRoot">
          <p:childTnLst>
            <p:seq>
              <p:cTn id="324" dur="indefinite" nodeType="mainSeq">
                <p:childTnLst>
                  <p:par>
                    <p:cTn id="325" fill="hold">
                      <p:stCondLst>
                        <p:cond delay="indefinite"/>
                      </p:stCondLst>
                      <p:childTnLst>
                        <p:par>
                          <p:cTn id="326" fill="hold">
                            <p:stCondLst>
                              <p:cond delay="0"/>
                            </p:stCondLst>
                            <p:childTnLst>
                              <p:par>
                                <p:cTn id="327" nodeType="clickEffect" fill="hold" presetClass="entr" presetID="1">
                                  <p:stCondLst>
                                    <p:cond delay="0"/>
                                  </p:stCondLst>
                                  <p:childTnLst>
                                    <p:set>
                                      <p:cBhvr>
                                        <p:cTn id="328" dur="1" fill="hold">
                                          <p:stCondLst>
                                            <p:cond delay="0"/>
                                          </p:stCondLst>
                                        </p:cTn>
                                        <p:tgtEl>
                                          <p:spTgt spid="350"/>
                                        </p:tgtEl>
                                        <p:attrNameLst>
                                          <p:attrName>style.visibility</p:attrName>
                                        </p:attrNameLst>
                                      </p:cBhvr>
                                      <p:to>
                                        <p:strVal val="visible"/>
                                      </p:to>
                                    </p:set>
                                  </p:childTnLst>
                                </p:cTn>
                              </p:par>
                            </p:childTnLst>
                          </p:cTn>
                        </p:par>
                      </p:childTnLst>
                    </p:cTn>
                  </p:par>
                  <p:par>
                    <p:cTn id="329" fill="hold">
                      <p:stCondLst>
                        <p:cond delay="indefinite"/>
                      </p:stCondLst>
                      <p:childTnLst>
                        <p:par>
                          <p:cTn id="330" fill="hold">
                            <p:stCondLst>
                              <p:cond delay="0"/>
                            </p:stCondLst>
                            <p:childTnLst>
                              <p:par>
                                <p:cTn id="331" nodeType="clickEffect" fill="hold" presetClass="entr" presetID="1">
                                  <p:stCondLst>
                                    <p:cond delay="0"/>
                                  </p:stCondLst>
                                  <p:childTnLst>
                                    <p:set>
                                      <p:cBhvr>
                                        <p:cTn id="332" dur="1" fill="hold">
                                          <p:stCondLst>
                                            <p:cond delay="0"/>
                                          </p:stCondLst>
                                        </p:cTn>
                                        <p:tgtEl>
                                          <p:spTgt spid="351">
                                            <p:txEl>
                                              <p:pRg st="0" end="0"/>
                                            </p:txEl>
                                          </p:spTgt>
                                        </p:tgtEl>
                                        <p:attrNameLst>
                                          <p:attrName>style.visibility</p:attrName>
                                        </p:attrNameLst>
                                      </p:cBhvr>
                                      <p:to>
                                        <p:strVal val="visible"/>
                                      </p:to>
                                    </p:set>
                                  </p:childTnLst>
                                </p:cTn>
                              </p:par>
                            </p:childTnLst>
                          </p:cTn>
                        </p:par>
                      </p:childTnLst>
                    </p:cTn>
                  </p:par>
                  <p:par>
                    <p:cTn id="333" fill="hold">
                      <p:stCondLst>
                        <p:cond delay="indefinite"/>
                      </p:stCondLst>
                      <p:childTnLst>
                        <p:par>
                          <p:cTn id="334" fill="hold">
                            <p:stCondLst>
                              <p:cond delay="0"/>
                            </p:stCondLst>
                            <p:childTnLst>
                              <p:par>
                                <p:cTn id="335" nodeType="clickEffect" fill="hold" presetClass="entr" presetID="1">
                                  <p:stCondLst>
                                    <p:cond delay="0"/>
                                  </p:stCondLst>
                                  <p:childTnLst>
                                    <p:set>
                                      <p:cBhvr>
                                        <p:cTn id="336" dur="1" fill="hold">
                                          <p:stCondLst>
                                            <p:cond delay="0"/>
                                          </p:stCondLst>
                                        </p:cTn>
                                        <p:tgtEl>
                                          <p:spTgt spid="351">
                                            <p:txEl>
                                              <p:pRg st="1" end="1"/>
                                            </p:txEl>
                                          </p:spTgt>
                                        </p:tgtEl>
                                        <p:attrNameLst>
                                          <p:attrName>style.visibility</p:attrName>
                                        </p:attrNameLst>
                                      </p:cBhvr>
                                      <p:to>
                                        <p:strVal val="visible"/>
                                      </p:to>
                                    </p:set>
                                  </p:childTnLst>
                                </p:cTn>
                              </p:par>
                            </p:childTnLst>
                          </p:cTn>
                        </p:par>
                      </p:childTnLst>
                    </p:cTn>
                  </p:par>
                  <p:par>
                    <p:cTn id="337" fill="hold">
                      <p:stCondLst>
                        <p:cond delay="indefinite"/>
                      </p:stCondLst>
                      <p:childTnLst>
                        <p:par>
                          <p:cTn id="338" fill="hold">
                            <p:stCondLst>
                              <p:cond delay="0"/>
                            </p:stCondLst>
                            <p:childTnLst>
                              <p:par>
                                <p:cTn id="339" nodeType="clickEffect" fill="hold" presetClass="entr" presetID="1">
                                  <p:stCondLst>
                                    <p:cond delay="0"/>
                                  </p:stCondLst>
                                  <p:childTnLst>
                                    <p:set>
                                      <p:cBhvr>
                                        <p:cTn id="340" dur="1" fill="hold">
                                          <p:stCondLst>
                                            <p:cond delay="0"/>
                                          </p:stCondLst>
                                        </p:cTn>
                                        <p:tgtEl>
                                          <p:spTgt spid="351">
                                            <p:txEl>
                                              <p:pRg st="2" end="2"/>
                                            </p:txEl>
                                          </p:spTgt>
                                        </p:tgtEl>
                                        <p:attrNameLst>
                                          <p:attrName>style.visibility</p:attrName>
                                        </p:attrNameLst>
                                      </p:cBhvr>
                                      <p:to>
                                        <p:strVal val="visible"/>
                                      </p:to>
                                    </p:set>
                                  </p:childTnLst>
                                </p:cTn>
                              </p:par>
                            </p:childTnLst>
                          </p:cTn>
                        </p:par>
                      </p:childTnLst>
                    </p:cTn>
                  </p:par>
                  <p:par>
                    <p:cTn id="341" fill="hold">
                      <p:stCondLst>
                        <p:cond delay="indefinite"/>
                      </p:stCondLst>
                      <p:childTnLst>
                        <p:par>
                          <p:cTn id="342" fill="hold">
                            <p:stCondLst>
                              <p:cond delay="0"/>
                            </p:stCondLst>
                            <p:childTnLst>
                              <p:par>
                                <p:cTn id="343" nodeType="clickEffect" fill="hold" presetClass="entr" presetID="1">
                                  <p:stCondLst>
                                    <p:cond delay="0"/>
                                  </p:stCondLst>
                                  <p:childTnLst>
                                    <p:set>
                                      <p:cBhvr>
                                        <p:cTn id="344" dur="1" fill="hold">
                                          <p:stCondLst>
                                            <p:cond delay="0"/>
                                          </p:stCondLst>
                                        </p:cTn>
                                        <p:tgtEl>
                                          <p:spTgt spid="351">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 Models 2 / n</a:t>
            </a:r>
            <a:endParaRPr b="0" lang="en-US" sz="2600" spc="-1" strike="noStrike">
              <a:solidFill>
                <a:srgbClr val="000000"/>
              </a:solidFill>
              <a:latin typeface="Arial"/>
            </a:endParaRPr>
          </a:p>
        </p:txBody>
      </p:sp>
      <p:sp>
        <p:nvSpPr>
          <p:cNvPr id="354" name="PlaceHolder 2"/>
          <p:cNvSpPr>
            <a:spLocks noGrp="1"/>
          </p:cNvSpPr>
          <p:nvPr>
            <p:ph/>
          </p:nvPr>
        </p:nvSpPr>
        <p:spPr>
          <a:xfrm>
            <a:off x="729360" y="1378080"/>
            <a:ext cx="7688520" cy="153936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There are four broad categories of data models: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Relational Model: </a:t>
            </a:r>
            <a:r>
              <a:rPr b="0" lang="el" sz="1600" spc="-1" strike="noStrike">
                <a:solidFill>
                  <a:schemeClr val="accent1"/>
                </a:solidFill>
                <a:latin typeface="Lato"/>
                <a:ea typeface="Lato"/>
              </a:rPr>
              <a:t>Data are organised in </a:t>
            </a:r>
            <a:r>
              <a:rPr b="1" lang="el" sz="1600" spc="-1" strike="noStrike">
                <a:solidFill>
                  <a:schemeClr val="dk1"/>
                </a:solidFill>
                <a:latin typeface="Lato"/>
                <a:ea typeface="Lato"/>
              </a:rPr>
              <a:t>tables</a:t>
            </a:r>
            <a:r>
              <a:rPr b="0" lang="el" sz="1600" spc="-1" strike="noStrike">
                <a:solidFill>
                  <a:schemeClr val="accent1"/>
                </a:solidFill>
                <a:latin typeface="Lato"/>
                <a:ea typeface="Lato"/>
              </a:rPr>
              <a:t> (relations) representing both data and their relationships. Each table corresponds to records of a certain type, whose attributes are the </a:t>
            </a:r>
            <a:r>
              <a:rPr b="0" lang="el" sz="1600" spc="-1" strike="noStrike">
                <a:solidFill>
                  <a:schemeClr val="accent3"/>
                </a:solidFill>
                <a:latin typeface="Lato"/>
                <a:ea typeface="Lato"/>
              </a:rPr>
              <a:t>columns</a:t>
            </a:r>
            <a:r>
              <a:rPr b="0" lang="el" sz="1600" spc="-1" strike="noStrike">
                <a:solidFill>
                  <a:schemeClr val="accent1"/>
                </a:solidFill>
                <a:latin typeface="Lato"/>
                <a:ea typeface="Lato"/>
              </a:rPr>
              <a:t> of the table.</a:t>
            </a:r>
            <a:endParaRPr b="0" lang="en-US" sz="1600" spc="-1" strike="noStrike">
              <a:solidFill>
                <a:srgbClr val="000000"/>
              </a:solidFill>
              <a:latin typeface="Arial"/>
            </a:endParaRPr>
          </a:p>
        </p:txBody>
      </p:sp>
      <p:graphicFrame>
        <p:nvGraphicFramePr>
          <p:cNvPr id="355" name="Google Shape;285;p35"/>
          <p:cNvGraphicFramePr/>
          <p:nvPr/>
        </p:nvGraphicFramePr>
        <p:xfrm>
          <a:off x="952560" y="3000240"/>
          <a:ext cx="7238520" cy="1600200"/>
        </p:xfrm>
        <a:graphic>
          <a:graphicData uri="http://schemas.openxmlformats.org/drawingml/2006/table">
            <a:tbl>
              <a:tblPr/>
              <a:tblGrid>
                <a:gridCol w="1809720"/>
                <a:gridCol w="1809720"/>
                <a:gridCol w="1809720"/>
                <a:gridCol w="1809720"/>
              </a:tblGrid>
              <a:tr h="380880">
                <a:tc>
                  <a:txBody>
                    <a:bodyPr lIns="91080" rIns="91080" tIns="91080" bIns="91080" anchor="t">
                      <a:noAutofit/>
                    </a:bodyPr>
                    <a:p>
                      <a:pPr>
                        <a:lnSpc>
                          <a:spcPct val="100000"/>
                        </a:lnSpc>
                        <a:tabLst>
                          <a:tab algn="l" pos="0"/>
                        </a:tabLst>
                      </a:pPr>
                      <a:r>
                        <a:rPr b="0" lang="el" sz="1300" spc="-1" strike="noStrike">
                          <a:solidFill>
                            <a:schemeClr val="accent1"/>
                          </a:solidFill>
                          <a:latin typeface="Arial"/>
                          <a:ea typeface="Arial"/>
                        </a:rPr>
                        <a:t>ID</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Arial"/>
                          <a:ea typeface="Arial"/>
                        </a:rPr>
                        <a:t>Name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Arial"/>
                          <a:ea typeface="Arial"/>
                        </a:rPr>
                        <a:t>Surname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Arial"/>
                          <a:ea typeface="Arial"/>
                        </a:rPr>
                        <a:t>Programme of Study</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solidFill>
                      <a:srgbClr val="fce5cd"/>
                    </a:solidFill>
                  </a:tcPr>
                </a:tc>
              </a:tr>
              <a:tr h="380880">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6132489</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John</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Doe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Computer Science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2380935</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Jane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Dan</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Accounting</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4357923</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Alice</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Null</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300" spc="-1" strike="noStrike">
                          <a:solidFill>
                            <a:schemeClr val="accent1"/>
                          </a:solidFill>
                          <a:latin typeface="Consolas"/>
                          <a:ea typeface="Consolas"/>
                        </a:rPr>
                        <a:t>Law</a:t>
                      </a:r>
                      <a:endParaRPr b="0" lang="en-US" sz="13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bl>
          </a:graphicData>
        </a:graphic>
      </p:graphicFrame>
      <p:sp>
        <p:nvSpPr>
          <p:cNvPr id="356" name="Google Shape;286;p35"/>
          <p:cNvSpPr/>
          <p:nvPr/>
        </p:nvSpPr>
        <p:spPr>
          <a:xfrm rot="16200000">
            <a:off x="261360" y="3594240"/>
            <a:ext cx="681120" cy="335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dk1"/>
                </a:solidFill>
                <a:latin typeface="Lato"/>
                <a:ea typeface="Lato"/>
              </a:rPr>
              <a:t>Table</a:t>
            </a:r>
            <a:endParaRPr b="0" lang="en-US" sz="1600" spc="-1" strike="noStrike">
              <a:solidFill>
                <a:srgbClr val="000000"/>
              </a:solidFill>
              <a:latin typeface="Arial"/>
            </a:endParaRPr>
          </a:p>
        </p:txBody>
      </p:sp>
      <p:grpSp>
        <p:nvGrpSpPr>
          <p:cNvPr id="357" name="Google Shape;287;p35"/>
          <p:cNvGrpSpPr/>
          <p:nvPr/>
        </p:nvGrpSpPr>
        <p:grpSpPr>
          <a:xfrm>
            <a:off x="394920" y="4326480"/>
            <a:ext cx="1504440" cy="687240"/>
            <a:chOff x="394920" y="4326480"/>
            <a:chExt cx="1504440" cy="687240"/>
          </a:xfrm>
        </p:grpSpPr>
        <p:sp>
          <p:nvSpPr>
            <p:cNvPr id="358" name="Google Shape;288;p35"/>
            <p:cNvSpPr/>
            <p:nvPr/>
          </p:nvSpPr>
          <p:spPr>
            <a:xfrm>
              <a:off x="1009080" y="4686840"/>
              <a:ext cx="890280" cy="326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2"/>
                  </a:solidFill>
                  <a:latin typeface="Lato"/>
                  <a:ea typeface="Lato"/>
                </a:rPr>
                <a:t>Record</a:t>
              </a:r>
              <a:endParaRPr b="0" lang="en-US" sz="1600" spc="-1" strike="noStrike">
                <a:solidFill>
                  <a:srgbClr val="000000"/>
                </a:solidFill>
                <a:latin typeface="Arial"/>
              </a:endParaRPr>
            </a:p>
          </p:txBody>
        </p:sp>
        <p:sp>
          <p:nvSpPr>
            <p:cNvPr id="359" name="Google Shape;289;p35"/>
            <p:cNvSpPr/>
            <p:nvPr/>
          </p:nvSpPr>
          <p:spPr>
            <a:xfrm>
              <a:off x="394920" y="4326480"/>
              <a:ext cx="613440" cy="572400"/>
            </a:xfrm>
            <a:custGeom>
              <a:avLst/>
              <a:gdLst>
                <a:gd name="textAreaLeft" fmla="*/ 0 w 613440"/>
                <a:gd name="textAreaRight" fmla="*/ 613800 w 613440"/>
                <a:gd name="textAreaTop" fmla="*/ 0 h 572400"/>
                <a:gd name="textAreaBottom" fmla="*/ 572760 h 572400"/>
              </a:gdLst>
              <a:ahLst/>
              <a:rect l="textAreaLeft" t="textAreaTop" r="textAreaRight" b="textAreaBottom"/>
              <a:pathLst>
                <a:path w="24557" h="22906">
                  <a:moveTo>
                    <a:pt x="24557" y="22906"/>
                  </a:moveTo>
                  <a:cubicBezTo>
                    <a:pt x="20800" y="21755"/>
                    <a:pt x="5530" y="19452"/>
                    <a:pt x="2015" y="15998"/>
                  </a:cubicBezTo>
                  <a:cubicBezTo>
                    <a:pt x="-1499" y="12544"/>
                    <a:pt x="198" y="4848"/>
                    <a:pt x="3470" y="2182"/>
                  </a:cubicBezTo>
                  <a:cubicBezTo>
                    <a:pt x="6742" y="-484"/>
                    <a:pt x="18619" y="364"/>
                    <a:pt x="21649" y="0"/>
                  </a:cubicBezTo>
                </a:path>
              </a:pathLst>
            </a:custGeom>
            <a:noFill/>
            <a:ln w="28575">
              <a:solidFill>
                <a:srgbClr val="6aa4c8"/>
              </a:solidFill>
              <a:prstDash val="dash"/>
              <a:round/>
              <a:tailEnd len="med" type="stealth" w="me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grpSp>
        <p:nvGrpSpPr>
          <p:cNvPr id="360" name="Google Shape;290;p35"/>
          <p:cNvGrpSpPr/>
          <p:nvPr/>
        </p:nvGrpSpPr>
        <p:grpSpPr>
          <a:xfrm>
            <a:off x="7608960" y="2486520"/>
            <a:ext cx="1302120" cy="787320"/>
            <a:chOff x="7608960" y="2486520"/>
            <a:chExt cx="1302120" cy="787320"/>
          </a:xfrm>
        </p:grpSpPr>
        <p:sp>
          <p:nvSpPr>
            <p:cNvPr id="361" name="Google Shape;291;p35"/>
            <p:cNvSpPr/>
            <p:nvPr/>
          </p:nvSpPr>
          <p:spPr>
            <a:xfrm>
              <a:off x="7608960" y="2486520"/>
              <a:ext cx="1154880" cy="42588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l" sz="1600" spc="-1" strike="noStrike">
                  <a:solidFill>
                    <a:schemeClr val="accent3"/>
                  </a:solidFill>
                  <a:latin typeface="Lato"/>
                  <a:ea typeface="Lato"/>
                </a:rPr>
                <a:t>Attributes</a:t>
              </a:r>
              <a:endParaRPr b="0" lang="en-US" sz="1600" spc="-1" strike="noStrike">
                <a:solidFill>
                  <a:srgbClr val="000000"/>
                </a:solidFill>
                <a:latin typeface="Arial"/>
              </a:endParaRPr>
            </a:p>
          </p:txBody>
        </p:sp>
        <p:sp>
          <p:nvSpPr>
            <p:cNvPr id="362" name="Google Shape;292;p35"/>
            <p:cNvSpPr/>
            <p:nvPr/>
          </p:nvSpPr>
          <p:spPr>
            <a:xfrm>
              <a:off x="8253360" y="2717640"/>
              <a:ext cx="657720" cy="556200"/>
            </a:xfrm>
            <a:custGeom>
              <a:avLst/>
              <a:gdLst>
                <a:gd name="textAreaLeft" fmla="*/ 0 w 657720"/>
                <a:gd name="textAreaRight" fmla="*/ 658080 w 657720"/>
                <a:gd name="textAreaTop" fmla="*/ 0 h 556200"/>
                <a:gd name="textAreaBottom" fmla="*/ 556560 h 556200"/>
              </a:gdLst>
              <a:ahLst/>
              <a:rect l="textAreaLeft" t="textAreaTop" r="textAreaRight" b="textAreaBottom"/>
              <a:pathLst>
                <a:path w="26330" h="22256">
                  <a:moveTo>
                    <a:pt x="18179" y="0"/>
                  </a:moveTo>
                  <a:cubicBezTo>
                    <a:pt x="19512" y="2242"/>
                    <a:pt x="26784" y="9816"/>
                    <a:pt x="26178" y="13452"/>
                  </a:cubicBezTo>
                  <a:cubicBezTo>
                    <a:pt x="25572" y="17088"/>
                    <a:pt x="18906" y="20542"/>
                    <a:pt x="14543" y="21815"/>
                  </a:cubicBezTo>
                  <a:cubicBezTo>
                    <a:pt x="10180" y="23088"/>
                    <a:pt x="2424" y="21209"/>
                    <a:pt x="0" y="21088"/>
                  </a:cubicBezTo>
                </a:path>
              </a:pathLst>
            </a:custGeom>
            <a:noFill/>
            <a:ln w="28575">
              <a:solidFill>
                <a:srgbClr val="eb5600"/>
              </a:solidFill>
              <a:prstDash val="dash"/>
              <a:round/>
              <a:tailEnd len="med" type="stealth" w="me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grpSp>
      <p:sp>
        <p:nvSpPr>
          <p:cNvPr id="363" name="PlaceHolder 3"/>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1DF1B95-B546-40C2-9EF9-5FEF65EA81AC}"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45" dur="indefinite" restart="never" nodeType="tmRoot">
          <p:childTnLst>
            <p:seq>
              <p:cTn id="346" dur="indefinite" nodeType="mainSeq">
                <p:childTnLst>
                  <p:par>
                    <p:cTn id="347" fill="hold">
                      <p:stCondLst>
                        <p:cond delay="indefinite"/>
                      </p:stCondLst>
                      <p:childTnLst>
                        <p:par>
                          <p:cTn id="348" fill="hold">
                            <p:stCondLst>
                              <p:cond delay="0"/>
                            </p:stCondLst>
                            <p:childTnLst>
                              <p:par>
                                <p:cTn id="349" nodeType="clickEffect" fill="hold" presetClass="entr" presetID="1">
                                  <p:stCondLst>
                                    <p:cond delay="0"/>
                                  </p:stCondLst>
                                  <p:childTnLst>
                                    <p:set>
                                      <p:cBhvr>
                                        <p:cTn id="350" dur="1" fill="hold">
                                          <p:stCondLst>
                                            <p:cond delay="0"/>
                                          </p:stCondLst>
                                        </p:cTn>
                                        <p:tgtEl>
                                          <p:spTgt spid="354">
                                            <p:txEl>
                                              <p:pRg st="0" end="0"/>
                                            </p:txEl>
                                          </p:spTgt>
                                        </p:tgtEl>
                                        <p:attrNameLst>
                                          <p:attrName>style.visibility</p:attrName>
                                        </p:attrNameLst>
                                      </p:cBhvr>
                                      <p:to>
                                        <p:strVal val="visible"/>
                                      </p:to>
                                    </p:set>
                                  </p:childTnLst>
                                </p:cTn>
                              </p:par>
                            </p:childTnLst>
                          </p:cTn>
                        </p:par>
                      </p:childTnLst>
                    </p:cTn>
                  </p:par>
                  <p:par>
                    <p:cTn id="351" fill="hold">
                      <p:stCondLst>
                        <p:cond delay="indefinite"/>
                      </p:stCondLst>
                      <p:childTnLst>
                        <p:par>
                          <p:cTn id="352" fill="hold">
                            <p:stCondLst>
                              <p:cond delay="0"/>
                            </p:stCondLst>
                            <p:childTnLst>
                              <p:par>
                                <p:cTn id="353" nodeType="clickEffect" fill="hold" presetClass="entr" presetID="1">
                                  <p:stCondLst>
                                    <p:cond delay="0"/>
                                  </p:stCondLst>
                                  <p:childTnLst>
                                    <p:set>
                                      <p:cBhvr>
                                        <p:cTn id="354" dur="1" fill="hold">
                                          <p:stCondLst>
                                            <p:cond delay="0"/>
                                          </p:stCondLst>
                                        </p:cTn>
                                        <p:tgtEl>
                                          <p:spTgt spid="354">
                                            <p:txEl>
                                              <p:pRg st="1" end="1"/>
                                            </p:txEl>
                                          </p:spTgt>
                                        </p:tgtEl>
                                        <p:attrNameLst>
                                          <p:attrName>style.visibility</p:attrName>
                                        </p:attrNameLst>
                                      </p:cBhvr>
                                      <p:to>
                                        <p:strVal val="visible"/>
                                      </p:to>
                                    </p:set>
                                  </p:childTnLst>
                                </p:cTn>
                              </p:par>
                            </p:childTnLst>
                          </p:cTn>
                        </p:par>
                      </p:childTnLst>
                    </p:cTn>
                  </p:par>
                  <p:par>
                    <p:cTn id="355" fill="hold">
                      <p:stCondLst>
                        <p:cond delay="indefinite"/>
                      </p:stCondLst>
                      <p:childTnLst>
                        <p:par>
                          <p:cTn id="356" fill="hold">
                            <p:stCondLst>
                              <p:cond delay="0"/>
                            </p:stCondLst>
                            <p:childTnLst>
                              <p:par>
                                <p:cTn id="357" nodeType="clickEffect" fill="hold" presetClass="entr" presetID="1">
                                  <p:stCondLst>
                                    <p:cond delay="0"/>
                                  </p:stCondLst>
                                  <p:childTnLst>
                                    <p:set>
                                      <p:cBhvr>
                                        <p:cTn id="358" dur="1" fill="hold">
                                          <p:stCondLst>
                                            <p:cond delay="0"/>
                                          </p:stCondLst>
                                        </p:cTn>
                                        <p:tgtEl>
                                          <p:spTgt spid="355"/>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nodeType="clickEffect" fill="hold" presetClass="entr" presetID="1">
                                  <p:stCondLst>
                                    <p:cond delay="0"/>
                                  </p:stCondLst>
                                  <p:childTnLst>
                                    <p:set>
                                      <p:cBhvr>
                                        <p:cTn id="362" dur="1" fill="hold">
                                          <p:stCondLst>
                                            <p:cond delay="0"/>
                                          </p:stCondLst>
                                        </p:cTn>
                                        <p:tgtEl>
                                          <p:spTgt spid="356"/>
                                        </p:tgtEl>
                                        <p:attrNameLst>
                                          <p:attrName>style.visibility</p:attrName>
                                        </p:attrNameLst>
                                      </p:cBhvr>
                                      <p:to>
                                        <p:strVal val="visible"/>
                                      </p:to>
                                    </p:set>
                                  </p:childTnLst>
                                </p:cTn>
                              </p:par>
                            </p:childTnLst>
                          </p:cTn>
                        </p:par>
                      </p:childTnLst>
                    </p:cTn>
                  </p:par>
                  <p:par>
                    <p:cTn id="363" fill="hold">
                      <p:stCondLst>
                        <p:cond delay="indefinite"/>
                      </p:stCondLst>
                      <p:childTnLst>
                        <p:par>
                          <p:cTn id="364" fill="hold">
                            <p:stCondLst>
                              <p:cond delay="0"/>
                            </p:stCondLst>
                            <p:childTnLst>
                              <p:par>
                                <p:cTn id="365" nodeType="clickEffect" fill="hold" presetClass="entr" presetID="1">
                                  <p:stCondLst>
                                    <p:cond delay="0"/>
                                  </p:stCondLst>
                                  <p:childTnLst>
                                    <p:set>
                                      <p:cBhvr>
                                        <p:cTn id="366" dur="1" fill="hold">
                                          <p:stCondLst>
                                            <p:cond delay="0"/>
                                          </p:stCondLst>
                                        </p:cTn>
                                        <p:tgtEl>
                                          <p:spTgt spid="357"/>
                                        </p:tgtEl>
                                        <p:attrNameLst>
                                          <p:attrName>style.visibility</p:attrName>
                                        </p:attrNameLst>
                                      </p:cBhvr>
                                      <p:to>
                                        <p:strVal val="visible"/>
                                      </p:to>
                                    </p:set>
                                  </p:childTnLst>
                                </p:cTn>
                              </p:par>
                            </p:childTnLst>
                          </p:cTn>
                        </p:par>
                      </p:childTnLst>
                    </p:cTn>
                  </p:par>
                  <p:par>
                    <p:cTn id="367" fill="hold">
                      <p:stCondLst>
                        <p:cond delay="indefinite"/>
                      </p:stCondLst>
                      <p:childTnLst>
                        <p:par>
                          <p:cTn id="368" fill="hold">
                            <p:stCondLst>
                              <p:cond delay="0"/>
                            </p:stCondLst>
                            <p:childTnLst>
                              <p:par>
                                <p:cTn id="369" nodeType="clickEffect" fill="hold" presetClass="entr" presetID="1">
                                  <p:stCondLst>
                                    <p:cond delay="0"/>
                                  </p:stCondLst>
                                  <p:childTnLst>
                                    <p:set>
                                      <p:cBhvr>
                                        <p:cTn id="370"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 Models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65" name="PlaceHolder 2"/>
          <p:cNvSpPr>
            <a:spLocks noGrp="1"/>
          </p:cNvSpPr>
          <p:nvPr>
            <p:ph/>
          </p:nvPr>
        </p:nvSpPr>
        <p:spPr>
          <a:xfrm>
            <a:off x="729360" y="1378080"/>
            <a:ext cx="7688520" cy="10213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Entity-Relationship Model:</a:t>
            </a:r>
            <a:r>
              <a:rPr b="0" lang="el" sz="1600" spc="-1" strike="noStrike">
                <a:solidFill>
                  <a:schemeClr val="accent1"/>
                </a:solidFill>
                <a:latin typeface="Lato"/>
                <a:ea typeface="Lato"/>
              </a:rPr>
              <a:t> Data are organized on the basis of </a:t>
            </a:r>
            <a:r>
              <a:rPr b="1" lang="el" sz="1600" spc="-1" strike="noStrike">
                <a:solidFill>
                  <a:schemeClr val="accent3"/>
                </a:solidFill>
                <a:latin typeface="Lato"/>
                <a:ea typeface="Lato"/>
              </a:rPr>
              <a:t>entities</a:t>
            </a:r>
            <a:r>
              <a:rPr b="0" lang="el" sz="1600" spc="-1" strike="noStrike">
                <a:solidFill>
                  <a:schemeClr val="accent1"/>
                </a:solidFill>
                <a:latin typeface="Lato"/>
                <a:ea typeface="Lato"/>
              </a:rPr>
              <a:t>, which correspond to </a:t>
            </a:r>
            <a:r>
              <a:rPr b="0" i="1" lang="el" sz="1600" spc="-1" strike="noStrike">
                <a:solidFill>
                  <a:schemeClr val="accent1"/>
                </a:solidFill>
                <a:latin typeface="Lato"/>
                <a:ea typeface="Lato"/>
              </a:rPr>
              <a:t>things</a:t>
            </a:r>
            <a:r>
              <a:rPr b="0" lang="el" sz="1600" spc="-1" strike="noStrike">
                <a:solidFill>
                  <a:schemeClr val="accent1"/>
                </a:solidFill>
                <a:latin typeface="Lato"/>
                <a:ea typeface="Lato"/>
              </a:rPr>
              <a:t> or </a:t>
            </a:r>
            <a:r>
              <a:rPr b="0" i="1" lang="el" sz="1600" spc="-1" strike="noStrike">
                <a:solidFill>
                  <a:schemeClr val="accent1"/>
                </a:solidFill>
                <a:latin typeface="Lato"/>
                <a:ea typeface="Lato"/>
              </a:rPr>
              <a:t>objects</a:t>
            </a:r>
            <a:r>
              <a:rPr b="0" lang="el" sz="1600" spc="-1" strike="noStrike">
                <a:solidFill>
                  <a:schemeClr val="accent1"/>
                </a:solidFill>
                <a:latin typeface="Lato"/>
                <a:ea typeface="Lato"/>
              </a:rPr>
              <a:t> of the real world (e.g., a course at the XYZ university or a faculty member), and </a:t>
            </a:r>
            <a:r>
              <a:rPr b="1" lang="el" sz="1600" spc="-1" strike="noStrike">
                <a:solidFill>
                  <a:schemeClr val="dk1"/>
                </a:solidFill>
                <a:latin typeface="Lato"/>
                <a:ea typeface="Lato"/>
              </a:rPr>
              <a:t>relationships</a:t>
            </a:r>
            <a:r>
              <a:rPr b="0" lang="el" sz="1600" spc="-1" strike="noStrike">
                <a:solidFill>
                  <a:schemeClr val="accent1"/>
                </a:solidFill>
                <a:latin typeface="Lato"/>
                <a:ea typeface="Lato"/>
              </a:rPr>
              <a:t> among those entities.</a:t>
            </a:r>
            <a:endParaRPr b="0" lang="en-US" sz="1600" spc="-1" strike="noStrike">
              <a:solidFill>
                <a:srgbClr val="000000"/>
              </a:solidFill>
              <a:latin typeface="Arial"/>
            </a:endParaRPr>
          </a:p>
        </p:txBody>
      </p:sp>
      <p:grpSp>
        <p:nvGrpSpPr>
          <p:cNvPr id="366" name="Google Shape;300;p36"/>
          <p:cNvGrpSpPr/>
          <p:nvPr/>
        </p:nvGrpSpPr>
        <p:grpSpPr>
          <a:xfrm>
            <a:off x="190800" y="2631960"/>
            <a:ext cx="8451000" cy="2174040"/>
            <a:chOff x="190800" y="2631960"/>
            <a:chExt cx="8451000" cy="2174040"/>
          </a:xfrm>
        </p:grpSpPr>
        <p:sp>
          <p:nvSpPr>
            <p:cNvPr id="367" name="Google Shape;301;p36"/>
            <p:cNvSpPr/>
            <p:nvPr/>
          </p:nvSpPr>
          <p:spPr>
            <a:xfrm>
              <a:off x="1790640" y="3372120"/>
              <a:ext cx="1235880" cy="43596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Student</a:t>
              </a:r>
              <a:endParaRPr b="0" lang="en-US" sz="1600" spc="-1" strike="noStrike">
                <a:solidFill>
                  <a:srgbClr val="000000"/>
                </a:solidFill>
                <a:latin typeface="Arial"/>
              </a:endParaRPr>
            </a:p>
          </p:txBody>
        </p:sp>
        <p:sp>
          <p:nvSpPr>
            <p:cNvPr id="368" name="Google Shape;302;p36"/>
            <p:cNvSpPr/>
            <p:nvPr/>
          </p:nvSpPr>
          <p:spPr>
            <a:xfrm>
              <a:off x="5842440" y="3372120"/>
              <a:ext cx="1235880" cy="435960"/>
            </a:xfrm>
            <a:prstGeom prst="rect">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600" spc="-1" strike="noStrike">
                  <a:solidFill>
                    <a:srgbClr val="000000"/>
                  </a:solidFill>
                  <a:latin typeface="Consolas"/>
                  <a:ea typeface="Consolas"/>
                </a:rPr>
                <a:t>Course</a:t>
              </a:r>
              <a:endParaRPr b="0" lang="en-US" sz="1600" spc="-1" strike="noStrike">
                <a:solidFill>
                  <a:srgbClr val="000000"/>
                </a:solidFill>
                <a:latin typeface="Arial"/>
              </a:endParaRPr>
            </a:p>
          </p:txBody>
        </p:sp>
        <p:sp>
          <p:nvSpPr>
            <p:cNvPr id="369" name="Google Shape;303;p36"/>
            <p:cNvSpPr/>
            <p:nvPr/>
          </p:nvSpPr>
          <p:spPr>
            <a:xfrm>
              <a:off x="3590640" y="3372120"/>
              <a:ext cx="1789920" cy="435960"/>
            </a:xfrm>
            <a:prstGeom prst="flowChartDecision">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400" spc="-1" strike="noStrike">
                  <a:solidFill>
                    <a:srgbClr val="000000"/>
                  </a:solidFill>
                  <a:latin typeface="Consolas"/>
                  <a:ea typeface="Consolas"/>
                </a:rPr>
                <a:t>Attends</a:t>
              </a:r>
              <a:endParaRPr b="0" lang="en-US" sz="1400" spc="-1" strike="noStrike">
                <a:solidFill>
                  <a:srgbClr val="000000"/>
                </a:solidFill>
                <a:latin typeface="Arial"/>
              </a:endParaRPr>
            </a:p>
          </p:txBody>
        </p:sp>
        <p:cxnSp>
          <p:nvCxnSpPr>
            <p:cNvPr id="370" name="Google Shape;304;p36"/>
            <p:cNvCxnSpPr>
              <a:stCxn id="367" idx="3"/>
              <a:endCxn id="369" idx="1"/>
            </p:cNvCxnSpPr>
            <p:nvPr/>
          </p:nvCxnSpPr>
          <p:spPr>
            <a:xfrm>
              <a:off x="3026520" y="3589920"/>
              <a:ext cx="564480" cy="360"/>
            </a:xfrm>
            <a:prstGeom prst="straightConnector1">
              <a:avLst/>
            </a:prstGeom>
            <a:ln w="9525">
              <a:solidFill>
                <a:srgbClr val="1a1a1a"/>
              </a:solidFill>
              <a:round/>
            </a:ln>
          </p:spPr>
        </p:cxnSp>
        <p:cxnSp>
          <p:nvCxnSpPr>
            <p:cNvPr id="371" name="Google Shape;305;p36"/>
            <p:cNvCxnSpPr>
              <a:stCxn id="369" idx="3"/>
              <a:endCxn id="368" idx="1"/>
            </p:cNvCxnSpPr>
            <p:nvPr/>
          </p:nvCxnSpPr>
          <p:spPr>
            <a:xfrm>
              <a:off x="5380560" y="3589920"/>
              <a:ext cx="462240" cy="360"/>
            </a:xfrm>
            <a:prstGeom prst="straightConnector1">
              <a:avLst/>
            </a:prstGeom>
            <a:ln w="9525">
              <a:solidFill>
                <a:srgbClr val="1a1a1a"/>
              </a:solidFill>
              <a:round/>
            </a:ln>
          </p:spPr>
        </p:cxnSp>
        <p:sp>
          <p:nvSpPr>
            <p:cNvPr id="372" name="Google Shape;306;p36"/>
            <p:cNvSpPr/>
            <p:nvPr/>
          </p:nvSpPr>
          <p:spPr>
            <a:xfrm>
              <a:off x="3026880" y="3220920"/>
              <a:ext cx="299520" cy="3650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l" sz="1200" spc="-1" strike="noStrike">
                  <a:solidFill>
                    <a:srgbClr val="000000"/>
                  </a:solidFill>
                  <a:latin typeface="Lato"/>
                  <a:ea typeface="Lato"/>
                </a:rPr>
                <a:t>1</a:t>
              </a:r>
              <a:endParaRPr b="0" lang="en-US" sz="1200" spc="-1" strike="noStrike">
                <a:solidFill>
                  <a:srgbClr val="000000"/>
                </a:solidFill>
                <a:latin typeface="Arial"/>
              </a:endParaRPr>
            </a:p>
          </p:txBody>
        </p:sp>
        <p:sp>
          <p:nvSpPr>
            <p:cNvPr id="373" name="Google Shape;307;p36"/>
            <p:cNvSpPr/>
            <p:nvPr/>
          </p:nvSpPr>
          <p:spPr>
            <a:xfrm>
              <a:off x="5542200" y="3220920"/>
              <a:ext cx="299520" cy="3650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0" lang="el" sz="1200" spc="-1" strike="noStrike">
                  <a:solidFill>
                    <a:srgbClr val="000000"/>
                  </a:solidFill>
                  <a:latin typeface="Lato"/>
                  <a:ea typeface="Lato"/>
                </a:rPr>
                <a:t>n</a:t>
              </a:r>
              <a:endParaRPr b="0" lang="en-US" sz="1200" spc="-1" strike="noStrike">
                <a:solidFill>
                  <a:srgbClr val="000000"/>
                </a:solidFill>
                <a:latin typeface="Arial"/>
              </a:endParaRPr>
            </a:p>
          </p:txBody>
        </p:sp>
        <p:sp>
          <p:nvSpPr>
            <p:cNvPr id="374" name="Google Shape;308;p36"/>
            <p:cNvSpPr/>
            <p:nvPr/>
          </p:nvSpPr>
          <p:spPr>
            <a:xfrm>
              <a:off x="190800" y="322092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name</a:t>
              </a:r>
              <a:endParaRPr b="0" lang="en-US" sz="1100" spc="-1" strike="noStrike">
                <a:solidFill>
                  <a:srgbClr val="000000"/>
                </a:solidFill>
                <a:latin typeface="Arial"/>
              </a:endParaRPr>
            </a:p>
          </p:txBody>
        </p:sp>
        <p:sp>
          <p:nvSpPr>
            <p:cNvPr id="375" name="Google Shape;309;p36"/>
            <p:cNvSpPr/>
            <p:nvPr/>
          </p:nvSpPr>
          <p:spPr>
            <a:xfrm>
              <a:off x="190800" y="267048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id</a:t>
              </a:r>
              <a:endParaRPr b="0" lang="en-US" sz="1100" spc="-1" strike="noStrike">
                <a:solidFill>
                  <a:srgbClr val="000000"/>
                </a:solidFill>
                <a:latin typeface="Arial"/>
              </a:endParaRPr>
            </a:p>
          </p:txBody>
        </p:sp>
        <p:sp>
          <p:nvSpPr>
            <p:cNvPr id="376" name="Google Shape;310;p36"/>
            <p:cNvSpPr/>
            <p:nvPr/>
          </p:nvSpPr>
          <p:spPr>
            <a:xfrm>
              <a:off x="190800" y="377172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77" name="Google Shape;311;p36"/>
            <p:cNvSpPr/>
            <p:nvPr/>
          </p:nvSpPr>
          <p:spPr>
            <a:xfrm>
              <a:off x="190800" y="432216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nSpc>
                  <a:spcPct val="100000"/>
                </a:lnSpc>
                <a:tabLst>
                  <a:tab algn="l" pos="0"/>
                </a:tabLst>
              </a:pPr>
              <a:r>
                <a:rPr b="0" lang="el" sz="1000" spc="-1" strike="noStrike">
                  <a:solidFill>
                    <a:srgbClr val="000000"/>
                  </a:solidFill>
                  <a:latin typeface="Consolas"/>
                  <a:ea typeface="Consolas"/>
                </a:rPr>
                <a:t>prog.</a:t>
              </a:r>
              <a:endParaRPr b="0" lang="en-US" sz="1000" spc="-1" strike="noStrike">
                <a:solidFill>
                  <a:srgbClr val="000000"/>
                </a:solidFill>
                <a:latin typeface="Arial"/>
              </a:endParaRPr>
            </a:p>
          </p:txBody>
        </p:sp>
        <p:sp>
          <p:nvSpPr>
            <p:cNvPr id="378" name="Google Shape;312;p36"/>
            <p:cNvSpPr/>
            <p:nvPr/>
          </p:nvSpPr>
          <p:spPr>
            <a:xfrm>
              <a:off x="194400" y="3771720"/>
              <a:ext cx="781560" cy="43596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l" sz="1100" spc="-1" strike="noStrike">
                  <a:solidFill>
                    <a:srgbClr val="000000"/>
                  </a:solidFill>
                  <a:latin typeface="Consolas"/>
                  <a:ea typeface="Consolas"/>
                </a:rPr>
                <a:t>surname</a:t>
              </a:r>
              <a:endParaRPr b="0" lang="en-US" sz="1100" spc="-1" strike="noStrike">
                <a:solidFill>
                  <a:srgbClr val="000000"/>
                </a:solidFill>
                <a:latin typeface="Arial"/>
              </a:endParaRPr>
            </a:p>
          </p:txBody>
        </p:sp>
        <p:cxnSp>
          <p:nvCxnSpPr>
            <p:cNvPr id="379" name="Google Shape;313;p36"/>
            <p:cNvCxnSpPr>
              <a:stCxn id="367" idx="1"/>
              <a:endCxn id="375" idx="6"/>
            </p:cNvCxnSpPr>
            <p:nvPr/>
          </p:nvCxnSpPr>
          <p:spPr>
            <a:xfrm rot="10800000">
              <a:off x="972000" y="2854800"/>
              <a:ext cx="818640" cy="735120"/>
            </a:xfrm>
            <a:prstGeom prst="bentConnector3">
              <a:avLst>
                <a:gd name="adj1" fmla="val 50021"/>
              </a:avLst>
            </a:prstGeom>
            <a:ln w="9525">
              <a:solidFill>
                <a:srgbClr val="1a1a1a"/>
              </a:solidFill>
              <a:round/>
            </a:ln>
          </p:spPr>
        </p:cxnSp>
        <p:cxnSp>
          <p:nvCxnSpPr>
            <p:cNvPr id="380" name="Google Shape;314;p36"/>
            <p:cNvCxnSpPr>
              <a:stCxn id="367" idx="1"/>
              <a:endCxn id="374" idx="6"/>
            </p:cNvCxnSpPr>
            <p:nvPr/>
          </p:nvCxnSpPr>
          <p:spPr>
            <a:xfrm rot="10800000">
              <a:off x="972000" y="3405600"/>
              <a:ext cx="818640" cy="184680"/>
            </a:xfrm>
            <a:prstGeom prst="bentConnector3">
              <a:avLst>
                <a:gd name="adj1" fmla="val 50021"/>
              </a:avLst>
            </a:prstGeom>
            <a:ln w="9525">
              <a:solidFill>
                <a:srgbClr val="1a1a1a"/>
              </a:solidFill>
              <a:round/>
            </a:ln>
          </p:spPr>
        </p:cxnSp>
        <p:cxnSp>
          <p:nvCxnSpPr>
            <p:cNvPr id="381" name="Google Shape;315;p36"/>
            <p:cNvCxnSpPr>
              <a:stCxn id="367" idx="1"/>
              <a:endCxn id="378" idx="3"/>
            </p:cNvCxnSpPr>
            <p:nvPr/>
          </p:nvCxnSpPr>
          <p:spPr>
            <a:xfrm flipV="1" rot="10800000">
              <a:off x="975600" y="3589920"/>
              <a:ext cx="815040" cy="399960"/>
            </a:xfrm>
            <a:prstGeom prst="bentConnector3">
              <a:avLst>
                <a:gd name="adj1" fmla="val 50331"/>
              </a:avLst>
            </a:prstGeom>
            <a:ln w="9525">
              <a:solidFill>
                <a:srgbClr val="1a1a1a"/>
              </a:solidFill>
              <a:round/>
            </a:ln>
          </p:spPr>
        </p:cxnSp>
        <p:cxnSp>
          <p:nvCxnSpPr>
            <p:cNvPr id="382" name="Google Shape;316;p36"/>
            <p:cNvCxnSpPr>
              <a:stCxn id="367" idx="1"/>
              <a:endCxn id="377" idx="6"/>
            </p:cNvCxnSpPr>
            <p:nvPr/>
          </p:nvCxnSpPr>
          <p:spPr>
            <a:xfrm flipV="1" rot="10800000">
              <a:off x="972000" y="3589560"/>
              <a:ext cx="818640" cy="917280"/>
            </a:xfrm>
            <a:prstGeom prst="bentConnector3">
              <a:avLst>
                <a:gd name="adj1" fmla="val 50021"/>
              </a:avLst>
            </a:prstGeom>
            <a:ln w="9525">
              <a:solidFill>
                <a:srgbClr val="1a1a1a"/>
              </a:solidFill>
              <a:round/>
            </a:ln>
          </p:spPr>
        </p:cxnSp>
        <p:sp>
          <p:nvSpPr>
            <p:cNvPr id="383" name="Google Shape;317;p36"/>
            <p:cNvSpPr/>
            <p:nvPr/>
          </p:nvSpPr>
          <p:spPr>
            <a:xfrm>
              <a:off x="7860240" y="263196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id</a:t>
              </a:r>
              <a:endParaRPr b="0" lang="en-US" sz="1100" spc="-1" strike="noStrike">
                <a:solidFill>
                  <a:srgbClr val="000000"/>
                </a:solidFill>
                <a:latin typeface="Arial"/>
              </a:endParaRPr>
            </a:p>
          </p:txBody>
        </p:sp>
        <p:sp>
          <p:nvSpPr>
            <p:cNvPr id="384" name="Google Shape;318;p36"/>
            <p:cNvSpPr/>
            <p:nvPr/>
          </p:nvSpPr>
          <p:spPr>
            <a:xfrm>
              <a:off x="7860240" y="323352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name</a:t>
              </a:r>
              <a:endParaRPr b="0" lang="en-US" sz="1100" spc="-1" strike="noStrike">
                <a:solidFill>
                  <a:srgbClr val="000000"/>
                </a:solidFill>
                <a:latin typeface="Arial"/>
              </a:endParaRPr>
            </a:p>
          </p:txBody>
        </p:sp>
        <p:sp>
          <p:nvSpPr>
            <p:cNvPr id="385" name="Google Shape;319;p36"/>
            <p:cNvSpPr/>
            <p:nvPr/>
          </p:nvSpPr>
          <p:spPr>
            <a:xfrm>
              <a:off x="7860240" y="383544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room</a:t>
              </a:r>
              <a:endParaRPr b="0" lang="en-US" sz="1100" spc="-1" strike="noStrike">
                <a:solidFill>
                  <a:srgbClr val="000000"/>
                </a:solidFill>
                <a:latin typeface="Arial"/>
              </a:endParaRPr>
            </a:p>
          </p:txBody>
        </p:sp>
        <p:sp>
          <p:nvSpPr>
            <p:cNvPr id="386" name="Google Shape;320;p36"/>
            <p:cNvSpPr/>
            <p:nvPr/>
          </p:nvSpPr>
          <p:spPr>
            <a:xfrm>
              <a:off x="7860240" y="4437000"/>
              <a:ext cx="781560" cy="369000"/>
            </a:xfrm>
            <a:prstGeom prst="ellipse">
              <a:avLst/>
            </a:prstGeom>
            <a:solidFill>
              <a:schemeClr val="lt2"/>
            </a:solidFill>
            <a:ln w="9525">
              <a:solidFill>
                <a:srgbClr val="1a1a1a"/>
              </a:solidFill>
              <a:round/>
            </a:ln>
          </p:spPr>
          <p:style>
            <a:lnRef idx="0"/>
            <a:fillRef idx="0"/>
            <a:effectRef idx="0"/>
            <a:fontRef idx="minor"/>
          </p:style>
          <p:txBody>
            <a:bodyPr tIns="91440" bIns="91440" anchor="ctr">
              <a:noAutofit/>
            </a:bodyPr>
            <a:p>
              <a:pPr algn="ctr">
                <a:lnSpc>
                  <a:spcPct val="100000"/>
                </a:lnSpc>
                <a:tabLst>
                  <a:tab algn="l" pos="0"/>
                </a:tabLst>
              </a:pPr>
              <a:r>
                <a:rPr b="0" lang="el" sz="1100" spc="-1" strike="noStrike">
                  <a:solidFill>
                    <a:srgbClr val="000000"/>
                  </a:solidFill>
                  <a:latin typeface="Consolas"/>
                  <a:ea typeface="Consolas"/>
                </a:rPr>
                <a:t>type</a:t>
              </a:r>
              <a:endParaRPr b="0" lang="en-US" sz="1100" spc="-1" strike="noStrike">
                <a:solidFill>
                  <a:srgbClr val="000000"/>
                </a:solidFill>
                <a:latin typeface="Arial"/>
              </a:endParaRPr>
            </a:p>
          </p:txBody>
        </p:sp>
        <p:cxnSp>
          <p:nvCxnSpPr>
            <p:cNvPr id="387" name="Google Shape;321;p36"/>
            <p:cNvCxnSpPr>
              <a:stCxn id="368" idx="3"/>
              <a:endCxn id="383" idx="2"/>
            </p:cNvCxnSpPr>
            <p:nvPr/>
          </p:nvCxnSpPr>
          <p:spPr>
            <a:xfrm flipV="1">
              <a:off x="7078320" y="2816640"/>
              <a:ext cx="782280" cy="773640"/>
            </a:xfrm>
            <a:prstGeom prst="bentConnector3">
              <a:avLst>
                <a:gd name="adj1" fmla="val 49953"/>
              </a:avLst>
            </a:prstGeom>
            <a:ln w="9525">
              <a:solidFill>
                <a:srgbClr val="1a1a1a"/>
              </a:solidFill>
              <a:round/>
            </a:ln>
          </p:spPr>
        </p:cxnSp>
        <p:cxnSp>
          <p:nvCxnSpPr>
            <p:cNvPr id="388" name="Google Shape;322;p36"/>
            <p:cNvCxnSpPr>
              <a:stCxn id="368" idx="3"/>
              <a:endCxn id="384" idx="2"/>
            </p:cNvCxnSpPr>
            <p:nvPr/>
          </p:nvCxnSpPr>
          <p:spPr>
            <a:xfrm flipV="1">
              <a:off x="7078320" y="3418200"/>
              <a:ext cx="782280" cy="172080"/>
            </a:xfrm>
            <a:prstGeom prst="bentConnector3">
              <a:avLst>
                <a:gd name="adj1" fmla="val 49953"/>
              </a:avLst>
            </a:prstGeom>
            <a:ln w="9525">
              <a:solidFill>
                <a:srgbClr val="1a1a1a"/>
              </a:solidFill>
              <a:round/>
            </a:ln>
          </p:spPr>
        </p:cxnSp>
        <p:cxnSp>
          <p:nvCxnSpPr>
            <p:cNvPr id="389" name="Google Shape;323;p36"/>
            <p:cNvCxnSpPr>
              <a:stCxn id="368" idx="3"/>
              <a:endCxn id="385" idx="2"/>
            </p:cNvCxnSpPr>
            <p:nvPr/>
          </p:nvCxnSpPr>
          <p:spPr>
            <a:xfrm>
              <a:off x="7078320" y="3589920"/>
              <a:ext cx="782280" cy="430560"/>
            </a:xfrm>
            <a:prstGeom prst="bentConnector3">
              <a:avLst>
                <a:gd name="adj1" fmla="val 49953"/>
              </a:avLst>
            </a:prstGeom>
            <a:ln w="9525">
              <a:solidFill>
                <a:srgbClr val="1a1a1a"/>
              </a:solidFill>
              <a:round/>
            </a:ln>
          </p:spPr>
        </p:cxnSp>
        <p:cxnSp>
          <p:nvCxnSpPr>
            <p:cNvPr id="390" name="Google Shape;324;p36"/>
            <p:cNvCxnSpPr>
              <a:stCxn id="368" idx="3"/>
              <a:endCxn id="386" idx="2"/>
            </p:cNvCxnSpPr>
            <p:nvPr/>
          </p:nvCxnSpPr>
          <p:spPr>
            <a:xfrm>
              <a:off x="7078320" y="3589920"/>
              <a:ext cx="782280" cy="1032120"/>
            </a:xfrm>
            <a:prstGeom prst="bentConnector3">
              <a:avLst>
                <a:gd name="adj1" fmla="val 49953"/>
              </a:avLst>
            </a:prstGeom>
            <a:ln w="9525">
              <a:solidFill>
                <a:srgbClr val="1a1a1a"/>
              </a:solidFill>
              <a:round/>
            </a:ln>
          </p:spPr>
        </p:cxnSp>
      </p:grpSp>
      <p:sp>
        <p:nvSpPr>
          <p:cNvPr id="391"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6B0FC0E-52E7-46B8-A5C4-B3034F698D6C}"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71" dur="indefinite" restart="never" nodeType="tmRoot">
          <p:childTnLst>
            <p:seq>
              <p:cTn id="372" dur="indefinite" nodeType="mainSeq">
                <p:childTnLst>
                  <p:par>
                    <p:cTn id="373" fill="hold">
                      <p:stCondLst>
                        <p:cond delay="indefinite"/>
                      </p:stCondLst>
                      <p:childTnLst>
                        <p:par>
                          <p:cTn id="374" fill="hold">
                            <p:stCondLst>
                              <p:cond delay="0"/>
                            </p:stCondLst>
                            <p:childTnLst>
                              <p:par>
                                <p:cTn id="375" nodeType="clickEffect" fill="hold" presetClass="entr" presetID="1">
                                  <p:stCondLst>
                                    <p:cond delay="0"/>
                                  </p:stCondLst>
                                  <p:childTnLst>
                                    <p:set>
                                      <p:cBhvr>
                                        <p:cTn id="376" dur="1" fill="hold">
                                          <p:stCondLst>
                                            <p:cond delay="0"/>
                                          </p:stCondLst>
                                        </p:cTn>
                                        <p:tgtEl>
                                          <p:spTgt spid="365">
                                            <p:txEl>
                                              <p:pRg st="0" end="0"/>
                                            </p:txEl>
                                          </p:spTgt>
                                        </p:tgtEl>
                                        <p:attrNameLst>
                                          <p:attrName>style.visibility</p:attrName>
                                        </p:attrNameLst>
                                      </p:cBhvr>
                                      <p:to>
                                        <p:strVal val="visible"/>
                                      </p:to>
                                    </p:set>
                                  </p:childTnLst>
                                </p:cTn>
                              </p:par>
                            </p:childTnLst>
                          </p:cTn>
                        </p:par>
                      </p:childTnLst>
                    </p:cTn>
                  </p:par>
                  <p:par>
                    <p:cTn id="377" fill="hold">
                      <p:stCondLst>
                        <p:cond delay="indefinite"/>
                      </p:stCondLst>
                      <p:childTnLst>
                        <p:par>
                          <p:cTn id="378" fill="hold">
                            <p:stCondLst>
                              <p:cond delay="0"/>
                            </p:stCondLst>
                            <p:childTnLst>
                              <p:par>
                                <p:cTn id="379" nodeType="clickEffect" fill="hold" presetClass="entr" presetID="1">
                                  <p:stCondLst>
                                    <p:cond delay="0"/>
                                  </p:stCondLst>
                                  <p:childTnLst>
                                    <p:set>
                                      <p:cBhvr>
                                        <p:cTn id="380"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 Models 3 / n</a:t>
            </a:r>
            <a:endParaRPr b="0" lang="en-US" sz="2600" spc="-1" strike="noStrike">
              <a:solidFill>
                <a:srgbClr val="000000"/>
              </a:solidFill>
              <a:latin typeface="Arial"/>
            </a:endParaRPr>
          </a:p>
        </p:txBody>
      </p:sp>
      <p:sp>
        <p:nvSpPr>
          <p:cNvPr id="39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Object-Based Data Model:</a:t>
            </a:r>
            <a:r>
              <a:rPr b="0" lang="el" sz="1600" spc="-1" strike="noStrike">
                <a:solidFill>
                  <a:schemeClr val="accent1"/>
                </a:solidFill>
                <a:latin typeface="Lato"/>
                <a:ea typeface="Lato"/>
              </a:rPr>
              <a:t> Mimicking Object-Oriented Programing (OOP), this paradigm extends the E-R model by allowing for encapsulation, methods, inheritance and other OOP ideas. There is also the </a:t>
            </a:r>
            <a:r>
              <a:rPr b="1" lang="el" sz="1600" spc="-1" strike="noStrike">
                <a:solidFill>
                  <a:schemeClr val="accent1"/>
                </a:solidFill>
                <a:latin typeface="Lato"/>
                <a:ea typeface="Lato"/>
              </a:rPr>
              <a:t>object-relational model</a:t>
            </a:r>
            <a:r>
              <a:rPr b="0" lang="el" sz="1600" spc="-1" strike="noStrike">
                <a:solidFill>
                  <a:schemeClr val="accent1"/>
                </a:solidFill>
                <a:latin typeface="Lato"/>
                <a:ea typeface="Lato"/>
              </a:rPr>
              <a:t> which combines the Object-Based and Relational models.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Semi-structured Data Model:</a:t>
            </a:r>
            <a:r>
              <a:rPr b="0" lang="el" sz="1600" spc="-1" strike="noStrike">
                <a:solidFill>
                  <a:schemeClr val="accent1"/>
                </a:solidFill>
                <a:latin typeface="Lato"/>
                <a:ea typeface="Lato"/>
              </a:rPr>
              <a:t> Similar to the above, but allowing for data types of the same type (e.g., “student” or “course”) but </a:t>
            </a:r>
            <a:r>
              <a:rPr b="1" lang="el" sz="1600" spc="-1" strike="noStrike">
                <a:solidFill>
                  <a:schemeClr val="accent3"/>
                </a:solidFill>
                <a:latin typeface="Lato"/>
                <a:ea typeface="Lato"/>
              </a:rPr>
              <a:t>not always with the same attributes</a:t>
            </a:r>
            <a:r>
              <a:rPr b="0" lang="el" sz="1600" spc="-1" strike="noStrike">
                <a:solidFill>
                  <a:schemeClr val="accent1"/>
                </a:solidFill>
                <a:latin typeface="Lato"/>
                <a:ea typeface="Lato"/>
              </a:rPr>
              <a:t>. The most widely used language for such cases is XML (eXtensible Markup Language).</a:t>
            </a:r>
            <a:endParaRPr b="0" lang="en-US" sz="1600" spc="-1" strike="noStrike">
              <a:solidFill>
                <a:srgbClr val="000000"/>
              </a:solidFill>
              <a:latin typeface="Arial"/>
            </a:endParaRPr>
          </a:p>
        </p:txBody>
      </p:sp>
      <p:sp>
        <p:nvSpPr>
          <p:cNvPr id="394"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4BDDBCD-672C-4132-888F-DA00C09A2144}" type="slidenum">
              <a:rPr b="0" lang="el" sz="1000" spc="-1" strike="noStrike">
                <a:solidFill>
                  <a:schemeClr val="accen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81" dur="indefinite" restart="never" nodeType="tmRoot">
          <p:childTnLst>
            <p:seq>
              <p:cTn id="382" dur="indefinite" nodeType="mainSeq">
                <p:childTnLst>
                  <p:par>
                    <p:cTn id="383" fill="hold">
                      <p:stCondLst>
                        <p:cond delay="indefinite"/>
                      </p:stCondLst>
                      <p:childTnLst>
                        <p:par>
                          <p:cTn id="384" fill="hold">
                            <p:stCondLst>
                              <p:cond delay="0"/>
                            </p:stCondLst>
                            <p:childTnLst>
                              <p:par>
                                <p:cTn id="385" nodeType="clickEffect" fill="hold" presetClass="entr" presetID="1">
                                  <p:stCondLst>
                                    <p:cond delay="0"/>
                                  </p:stCondLst>
                                  <p:childTnLst>
                                    <p:set>
                                      <p:cBhvr>
                                        <p:cTn id="386" dur="1" fill="hold">
                                          <p:stCondLst>
                                            <p:cond delay="0"/>
                                          </p:stCondLst>
                                        </p:cTn>
                                        <p:tgtEl>
                                          <p:spTgt spid="393">
                                            <p:txEl>
                                              <p:pRg st="0" end="0"/>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nodeType="clickEffect" fill="hold" presetClass="entr" presetID="1">
                                  <p:stCondLst>
                                    <p:cond delay="0"/>
                                  </p:stCondLst>
                                  <p:childTnLst>
                                    <p:set>
                                      <p:cBhvr>
                                        <p:cTn id="390" dur="1" fill="hold">
                                          <p:stCondLst>
                                            <p:cond delay="0"/>
                                          </p:stCondLst>
                                        </p:cTn>
                                        <p:tgtEl>
                                          <p:spTgt spid="393">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DB Languages 1 / n</a:t>
            </a:r>
            <a:endParaRPr b="0" lang="en-US" sz="2600" spc="-1" strike="noStrike">
              <a:solidFill>
                <a:srgbClr val="000000"/>
              </a:solidFill>
              <a:latin typeface="Arial"/>
            </a:endParaRPr>
          </a:p>
        </p:txBody>
      </p:sp>
      <p:sp>
        <p:nvSpPr>
          <p:cNvPr id="396" name="PlaceHolder 2"/>
          <p:cNvSpPr>
            <a:spLocks noGrp="1"/>
          </p:cNvSpPr>
          <p:nvPr>
            <p:ph/>
          </p:nvPr>
        </p:nvSpPr>
        <p:spPr>
          <a:xfrm>
            <a:off x="729360" y="1378080"/>
            <a:ext cx="7688520" cy="1902960"/>
          </a:xfrm>
          <a:prstGeom prst="rect">
            <a:avLst/>
          </a:prstGeom>
          <a:noFill/>
          <a:ln w="0">
            <a:noFill/>
          </a:ln>
        </p:spPr>
        <p:txBody>
          <a:bodyPr tIns="91440" bIns="91440" anchor="t">
            <a:normAutofit/>
          </a:bodyPr>
          <a:p>
            <a:pPr marL="457200" indent="-311040">
              <a:lnSpc>
                <a:spcPct val="115000"/>
              </a:lnSpc>
              <a:buClr>
                <a:srgbClr val="595959"/>
              </a:buClr>
              <a:buFont typeface="Lato"/>
              <a:buChar char="●"/>
            </a:pPr>
            <a:r>
              <a:rPr b="0" lang="el" sz="1600" spc="-1" strike="noStrike">
                <a:solidFill>
                  <a:schemeClr val="accent1"/>
                </a:solidFill>
                <a:latin typeface="Lato"/>
                <a:ea typeface="Lato"/>
              </a:rPr>
              <a:t>DBs = Data + Programs about those data (access, modification etc).</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Equivalently: </a:t>
            </a:r>
            <a:r>
              <a:rPr b="1" lang="el" sz="1600" spc="-1" strike="noStrike">
                <a:solidFill>
                  <a:schemeClr val="accent1"/>
                </a:solidFill>
                <a:latin typeface="Lato"/>
                <a:ea typeface="Lato"/>
              </a:rPr>
              <a:t>DBs</a:t>
            </a:r>
            <a:r>
              <a:rPr b="0" lang="el" sz="1600" spc="-1" strike="noStrike">
                <a:solidFill>
                  <a:schemeClr val="accent1"/>
                </a:solidFill>
                <a:latin typeface="Lato"/>
                <a:ea typeface="Lato"/>
              </a:rPr>
              <a:t> = </a:t>
            </a:r>
            <a:r>
              <a:rPr b="1" lang="el" sz="1600" spc="-1" strike="noStrike">
                <a:solidFill>
                  <a:schemeClr val="dk1"/>
                </a:solidFill>
                <a:latin typeface="Lato"/>
                <a:ea typeface="Lato"/>
              </a:rPr>
              <a:t>Data</a:t>
            </a:r>
            <a:r>
              <a:rPr b="0" lang="el" sz="1600" spc="-1" strike="noStrike">
                <a:solidFill>
                  <a:schemeClr val="accent1"/>
                </a:solidFill>
                <a:latin typeface="Lato"/>
                <a:ea typeface="Lato"/>
              </a:rPr>
              <a:t> + </a:t>
            </a:r>
            <a:r>
              <a:rPr b="1" lang="el" sz="1600" spc="-1" strike="noStrike">
                <a:solidFill>
                  <a:schemeClr val="accent3"/>
                </a:solidFill>
                <a:latin typeface="Lato"/>
                <a:ea typeface="Lato"/>
              </a:rPr>
              <a:t>Processes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Two families of DB Languages: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Data-definition languages (DDL):</a:t>
            </a:r>
            <a:r>
              <a:rPr b="0" lang="el" sz="1600" spc="-1" strike="noStrike">
                <a:solidFill>
                  <a:schemeClr val="accent1"/>
                </a:solidFill>
                <a:latin typeface="Lato"/>
                <a:ea typeface="Lato"/>
              </a:rPr>
              <a:t> Used to describe the DB schema.</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Data-manipulation languages (DML):</a:t>
            </a:r>
            <a:r>
              <a:rPr b="0" lang="el" sz="1600" spc="-1" strike="noStrike">
                <a:solidFill>
                  <a:schemeClr val="accent1"/>
                </a:solidFill>
                <a:latin typeface="Lato"/>
                <a:ea typeface="Lato"/>
              </a:rPr>
              <a:t> Used to express DB queries and updates.</a:t>
            </a:r>
            <a:endParaRPr b="0" lang="en-US" sz="1600" spc="-1" strike="noStrike">
              <a:solidFill>
                <a:srgbClr val="000000"/>
              </a:solidFill>
              <a:latin typeface="Arial"/>
            </a:endParaRPr>
          </a:p>
        </p:txBody>
      </p:sp>
      <p:sp>
        <p:nvSpPr>
          <p:cNvPr id="397" name="Google Shape;339;p38"/>
          <p:cNvSpPr/>
          <p:nvPr/>
        </p:nvSpPr>
        <p:spPr>
          <a:xfrm>
            <a:off x="1955880" y="3552120"/>
            <a:ext cx="5235120" cy="91260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spAutoFit/>
          </a:bodyPr>
          <a:p>
            <a:pPr>
              <a:lnSpc>
                <a:spcPct val="100000"/>
              </a:lnSpc>
              <a:tabLst>
                <a:tab algn="l" pos="0"/>
              </a:tabLst>
            </a:pPr>
            <a:r>
              <a:rPr b="0" lang="el" sz="1600" spc="-1" strike="noStrike">
                <a:solidFill>
                  <a:schemeClr val="accent1"/>
                </a:solidFill>
                <a:latin typeface="Lato"/>
                <a:ea typeface="Lato"/>
              </a:rPr>
              <a:t>A DB Language </a:t>
            </a:r>
            <a:r>
              <a:rPr b="1" lang="el" sz="1600" spc="-1" strike="noStrike">
                <a:solidFill>
                  <a:schemeClr val="accent3"/>
                </a:solidFill>
                <a:latin typeface="Lato"/>
                <a:ea typeface="Lato"/>
              </a:rPr>
              <a:t>can be both</a:t>
            </a:r>
            <a:r>
              <a:rPr b="0" lang="el" sz="1600" spc="-1" strike="noStrike">
                <a:solidFill>
                  <a:schemeClr val="accent1"/>
                </a:solidFill>
                <a:latin typeface="Lato"/>
                <a:ea typeface="Lato"/>
              </a:rPr>
              <a:t> DDL and DML. Actually, most modern languages offer both schema description and query functionalities.</a:t>
            </a:r>
            <a:endParaRPr b="0" lang="en-US" sz="1600" spc="-1" strike="noStrike">
              <a:solidFill>
                <a:srgbClr val="000000"/>
              </a:solidFill>
              <a:latin typeface="Arial"/>
            </a:endParaRPr>
          </a:p>
        </p:txBody>
      </p:sp>
      <p:sp>
        <p:nvSpPr>
          <p:cNvPr id="398"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6914B11-BFAA-41AD-9366-58A8F34A282C}"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91" dur="indefinite" restart="never" nodeType="tmRoot">
          <p:childTnLst>
            <p:seq>
              <p:cTn id="392" dur="indefinite" nodeType="mainSeq">
                <p:childTnLst>
                  <p:par>
                    <p:cTn id="393" fill="hold">
                      <p:stCondLst>
                        <p:cond delay="indefinite"/>
                      </p:stCondLst>
                      <p:childTnLst>
                        <p:par>
                          <p:cTn id="394" fill="hold">
                            <p:stCondLst>
                              <p:cond delay="0"/>
                            </p:stCondLst>
                            <p:childTnLst>
                              <p:par>
                                <p:cTn id="395" nodeType="clickEffect" fill="hold" presetClass="entr" presetID="1">
                                  <p:stCondLst>
                                    <p:cond delay="0"/>
                                  </p:stCondLst>
                                  <p:childTnLst>
                                    <p:set>
                                      <p:cBhvr>
                                        <p:cTn id="396" dur="1" fill="hold">
                                          <p:stCondLst>
                                            <p:cond delay="0"/>
                                          </p:stCondLst>
                                        </p:cTn>
                                        <p:tgtEl>
                                          <p:spTgt spid="396">
                                            <p:txEl>
                                              <p:pRg st="0" end="0"/>
                                            </p:txEl>
                                          </p:spTgt>
                                        </p:tgtEl>
                                        <p:attrNameLst>
                                          <p:attrName>style.visibility</p:attrName>
                                        </p:attrNameLst>
                                      </p:cBhvr>
                                      <p:to>
                                        <p:strVal val="visible"/>
                                      </p:to>
                                    </p:set>
                                  </p:childTnLst>
                                </p:cTn>
                              </p:par>
                            </p:childTnLst>
                          </p:cTn>
                        </p:par>
                      </p:childTnLst>
                    </p:cTn>
                  </p:par>
                  <p:par>
                    <p:cTn id="397" fill="hold">
                      <p:stCondLst>
                        <p:cond delay="indefinite"/>
                      </p:stCondLst>
                      <p:childTnLst>
                        <p:par>
                          <p:cTn id="398" fill="hold">
                            <p:stCondLst>
                              <p:cond delay="0"/>
                            </p:stCondLst>
                            <p:childTnLst>
                              <p:par>
                                <p:cTn id="399" nodeType="clickEffect" fill="hold" presetClass="entr" presetID="1">
                                  <p:stCondLst>
                                    <p:cond delay="0"/>
                                  </p:stCondLst>
                                  <p:childTnLst>
                                    <p:set>
                                      <p:cBhvr>
                                        <p:cTn id="400" dur="1" fill="hold">
                                          <p:stCondLst>
                                            <p:cond delay="0"/>
                                          </p:stCondLst>
                                        </p:cTn>
                                        <p:tgtEl>
                                          <p:spTgt spid="396">
                                            <p:txEl>
                                              <p:pRg st="1" end="1"/>
                                            </p:txEl>
                                          </p:spTgt>
                                        </p:tgtEl>
                                        <p:attrNameLst>
                                          <p:attrName>style.visibility</p:attrName>
                                        </p:attrNameLst>
                                      </p:cBhvr>
                                      <p:to>
                                        <p:strVal val="visible"/>
                                      </p:to>
                                    </p:set>
                                  </p:childTnLst>
                                </p:cTn>
                              </p:par>
                            </p:childTnLst>
                          </p:cTn>
                        </p:par>
                      </p:childTnLst>
                    </p:cTn>
                  </p:par>
                  <p:par>
                    <p:cTn id="401" fill="hold">
                      <p:stCondLst>
                        <p:cond delay="indefinite"/>
                      </p:stCondLst>
                      <p:childTnLst>
                        <p:par>
                          <p:cTn id="402" fill="hold">
                            <p:stCondLst>
                              <p:cond delay="0"/>
                            </p:stCondLst>
                            <p:childTnLst>
                              <p:par>
                                <p:cTn id="403" nodeType="clickEffect" fill="hold" presetClass="entr" presetID="1">
                                  <p:stCondLst>
                                    <p:cond delay="0"/>
                                  </p:stCondLst>
                                  <p:childTnLst>
                                    <p:set>
                                      <p:cBhvr>
                                        <p:cTn id="404" dur="1" fill="hold">
                                          <p:stCondLst>
                                            <p:cond delay="0"/>
                                          </p:stCondLst>
                                        </p:cTn>
                                        <p:tgtEl>
                                          <p:spTgt spid="396">
                                            <p:txEl>
                                              <p:pRg st="2" end="2"/>
                                            </p:txEl>
                                          </p:spTgt>
                                        </p:tgtEl>
                                        <p:attrNameLst>
                                          <p:attrName>style.visibility</p:attrName>
                                        </p:attrNameLst>
                                      </p:cBhvr>
                                      <p:to>
                                        <p:strVal val="visible"/>
                                      </p:to>
                                    </p:set>
                                  </p:childTnLst>
                                </p:cTn>
                              </p:par>
                            </p:childTnLst>
                          </p:cTn>
                        </p:par>
                      </p:childTnLst>
                    </p:cTn>
                  </p:par>
                  <p:par>
                    <p:cTn id="405" fill="hold">
                      <p:stCondLst>
                        <p:cond delay="indefinite"/>
                      </p:stCondLst>
                      <p:childTnLst>
                        <p:par>
                          <p:cTn id="406" fill="hold">
                            <p:stCondLst>
                              <p:cond delay="0"/>
                            </p:stCondLst>
                            <p:childTnLst>
                              <p:par>
                                <p:cTn id="407" nodeType="clickEffect" fill="hold" presetClass="entr" presetID="1">
                                  <p:stCondLst>
                                    <p:cond delay="0"/>
                                  </p:stCondLst>
                                  <p:childTnLst>
                                    <p:set>
                                      <p:cBhvr>
                                        <p:cTn id="408" dur="1" fill="hold">
                                          <p:stCondLst>
                                            <p:cond delay="0"/>
                                          </p:stCondLst>
                                        </p:cTn>
                                        <p:tgtEl>
                                          <p:spTgt spid="396">
                                            <p:txEl>
                                              <p:pRg st="3" end="3"/>
                                            </p:txEl>
                                          </p:spTgt>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nodeType="clickEffect" fill="hold" presetClass="entr" presetID="1">
                                  <p:stCondLst>
                                    <p:cond delay="0"/>
                                  </p:stCondLst>
                                  <p:childTnLst>
                                    <p:set>
                                      <p:cBhvr>
                                        <p:cTn id="412" dur="1" fill="hold">
                                          <p:stCondLst>
                                            <p:cond delay="0"/>
                                          </p:stCondLst>
                                        </p:cTn>
                                        <p:tgtEl>
                                          <p:spTgt spid="396">
                                            <p:txEl>
                                              <p:pRg st="4" end="4"/>
                                            </p:txEl>
                                          </p:spTgt>
                                        </p:tgtEl>
                                        <p:attrNameLst>
                                          <p:attrName>style.visibility</p:attrName>
                                        </p:attrNameLst>
                                      </p:cBhvr>
                                      <p:to>
                                        <p:strVal val="visible"/>
                                      </p:to>
                                    </p:set>
                                  </p:childTnLst>
                                </p:cTn>
                              </p:par>
                            </p:childTnLst>
                          </p:cTn>
                        </p:par>
                      </p:childTnLst>
                    </p:cTn>
                  </p:par>
                  <p:par>
                    <p:cTn id="413" fill="hold">
                      <p:stCondLst>
                        <p:cond delay="indefinite"/>
                      </p:stCondLst>
                      <p:childTnLst>
                        <p:par>
                          <p:cTn id="414" fill="hold">
                            <p:stCondLst>
                              <p:cond delay="0"/>
                            </p:stCondLst>
                            <p:childTnLst>
                              <p:par>
                                <p:cTn id="415" nodeType="clickEffect" fill="hold" presetClass="entr" presetID="1">
                                  <p:stCondLst>
                                    <p:cond delay="0"/>
                                  </p:stCondLst>
                                  <p:childTnLst>
                                    <p:set>
                                      <p:cBhvr>
                                        <p:cTn id="416"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DB Languages 2 / n</a:t>
            </a:r>
            <a:endParaRPr b="0" lang="en-US" sz="2600" spc="-1" strike="noStrike">
              <a:solidFill>
                <a:srgbClr val="000000"/>
              </a:solidFill>
              <a:latin typeface="Arial"/>
            </a:endParaRPr>
          </a:p>
        </p:txBody>
      </p:sp>
      <p:sp>
        <p:nvSpPr>
          <p:cNvPr id="400"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DDL:</a:t>
            </a:r>
            <a:r>
              <a:rPr b="0" lang="el" sz="1600" spc="-1" strike="noStrike">
                <a:solidFill>
                  <a:schemeClr val="accent1"/>
                </a:solidFill>
                <a:latin typeface="Lato"/>
                <a:ea typeface="Lato"/>
              </a:rPr>
              <a:t> Languages concerned with how data are kept in a DB:</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Consistency Constraints:</a:t>
            </a:r>
            <a:r>
              <a:rPr b="0" lang="el" sz="1600" spc="-1" strike="noStrike">
                <a:solidFill>
                  <a:schemeClr val="accent1"/>
                </a:solidFill>
                <a:latin typeface="Lato"/>
                <a:ea typeface="Lato"/>
              </a:rPr>
              <a:t> Constraints that stored data should satisfy at any time. E.g., students at the XYZ university should at any time be registered to course of the programmes of study they are enrolled to (which problem does this solve?).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Types of Consistency Constraints: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Domain Constraints,</a:t>
            </a:r>
            <a:r>
              <a:rPr b="0" lang="el" sz="1600" spc="-1" strike="noStrike">
                <a:solidFill>
                  <a:schemeClr val="accent1"/>
                </a:solidFill>
                <a:latin typeface="Lato"/>
                <a:ea typeface="Lato"/>
              </a:rPr>
              <a:t> i..e., the range of values for every attribute.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Referential Integrity,</a:t>
            </a:r>
            <a:r>
              <a:rPr b="0" lang="el" sz="1600" spc="-1" strike="noStrike">
                <a:solidFill>
                  <a:schemeClr val="accent1"/>
                </a:solidFill>
                <a:latin typeface="Lato"/>
                <a:ea typeface="Lato"/>
              </a:rPr>
              <a:t> i.e., keep track of attributes that should appear in more than one places.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Assertions,</a:t>
            </a:r>
            <a:r>
              <a:rPr b="0" lang="el" sz="1600" spc="-1" strike="noStrike">
                <a:solidFill>
                  <a:schemeClr val="accent1"/>
                </a:solidFill>
                <a:latin typeface="Lato"/>
                <a:ea typeface="Lato"/>
              </a:rPr>
              <a:t> i.e., conditions that a DB should always satisfy.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Authorization,</a:t>
            </a:r>
            <a:r>
              <a:rPr b="0" lang="el" sz="1600" spc="-1" strike="noStrike">
                <a:solidFill>
                  <a:schemeClr val="accent1"/>
                </a:solidFill>
                <a:latin typeface="Lato"/>
                <a:ea typeface="Lato"/>
              </a:rPr>
              <a:t> i.e., differentiation among users and their level of access (e.g., read, insert, update, and delete authorization).</a:t>
            </a:r>
            <a:endParaRPr b="0" lang="en-US" sz="1600" spc="-1" strike="noStrike">
              <a:solidFill>
                <a:srgbClr val="000000"/>
              </a:solidFill>
              <a:latin typeface="Arial"/>
            </a:endParaRPr>
          </a:p>
        </p:txBody>
      </p:sp>
      <p:sp>
        <p:nvSpPr>
          <p:cNvPr id="401"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5446D33-022F-466F-A332-3676E52BFD38}"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17" dur="indefinite" restart="never" nodeType="tmRoot">
          <p:childTnLst>
            <p:seq>
              <p:cTn id="418" dur="indefinite" nodeType="mainSeq">
                <p:childTnLst>
                  <p:par>
                    <p:cTn id="419" fill="hold">
                      <p:stCondLst>
                        <p:cond delay="indefinite"/>
                      </p:stCondLst>
                      <p:childTnLst>
                        <p:par>
                          <p:cTn id="420" fill="hold">
                            <p:stCondLst>
                              <p:cond delay="0"/>
                            </p:stCondLst>
                            <p:childTnLst>
                              <p:par>
                                <p:cTn id="421" nodeType="clickEffect" fill="hold" presetClass="entr" presetID="1">
                                  <p:stCondLst>
                                    <p:cond delay="0"/>
                                  </p:stCondLst>
                                  <p:childTnLst>
                                    <p:set>
                                      <p:cBhvr>
                                        <p:cTn id="422" dur="1" fill="hold">
                                          <p:stCondLst>
                                            <p:cond delay="0"/>
                                          </p:stCondLst>
                                        </p:cTn>
                                        <p:tgtEl>
                                          <p:spTgt spid="400">
                                            <p:txEl>
                                              <p:pRg st="0" end="0"/>
                                            </p:txEl>
                                          </p:spTgt>
                                        </p:tgtEl>
                                        <p:attrNameLst>
                                          <p:attrName>style.visibility</p:attrName>
                                        </p:attrNameLst>
                                      </p:cBhvr>
                                      <p:to>
                                        <p:strVal val="visible"/>
                                      </p:to>
                                    </p:set>
                                  </p:childTnLst>
                                </p:cTn>
                              </p:par>
                            </p:childTnLst>
                          </p:cTn>
                        </p:par>
                      </p:childTnLst>
                    </p:cTn>
                  </p:par>
                  <p:par>
                    <p:cTn id="423" fill="hold">
                      <p:stCondLst>
                        <p:cond delay="indefinite"/>
                      </p:stCondLst>
                      <p:childTnLst>
                        <p:par>
                          <p:cTn id="424" fill="hold">
                            <p:stCondLst>
                              <p:cond delay="0"/>
                            </p:stCondLst>
                            <p:childTnLst>
                              <p:par>
                                <p:cTn id="425" nodeType="clickEffect" fill="hold" presetClass="entr" presetID="1">
                                  <p:stCondLst>
                                    <p:cond delay="0"/>
                                  </p:stCondLst>
                                  <p:childTnLst>
                                    <p:set>
                                      <p:cBhvr>
                                        <p:cTn id="426" dur="1" fill="hold">
                                          <p:stCondLst>
                                            <p:cond delay="0"/>
                                          </p:stCondLst>
                                        </p:cTn>
                                        <p:tgtEl>
                                          <p:spTgt spid="400">
                                            <p:txEl>
                                              <p:pRg st="1" end="1"/>
                                            </p:txEl>
                                          </p:spTgt>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nodeType="clickEffect" fill="hold" presetClass="entr" presetID="1">
                                  <p:stCondLst>
                                    <p:cond delay="0"/>
                                  </p:stCondLst>
                                  <p:childTnLst>
                                    <p:set>
                                      <p:cBhvr>
                                        <p:cTn id="430" dur="1" fill="hold">
                                          <p:stCondLst>
                                            <p:cond delay="0"/>
                                          </p:stCondLst>
                                        </p:cTn>
                                        <p:tgtEl>
                                          <p:spTgt spid="400">
                                            <p:txEl>
                                              <p:pRg st="2" end="2"/>
                                            </p:txEl>
                                          </p:spTgt>
                                        </p:tgtEl>
                                        <p:attrNameLst>
                                          <p:attrName>style.visibility</p:attrName>
                                        </p:attrNameLst>
                                      </p:cBhvr>
                                      <p:to>
                                        <p:strVal val="visible"/>
                                      </p:to>
                                    </p:set>
                                  </p:childTnLst>
                                </p:cTn>
                              </p:par>
                            </p:childTnLst>
                          </p:cTn>
                        </p:par>
                      </p:childTnLst>
                    </p:cTn>
                  </p:par>
                  <p:par>
                    <p:cTn id="431" fill="hold">
                      <p:stCondLst>
                        <p:cond delay="indefinite"/>
                      </p:stCondLst>
                      <p:childTnLst>
                        <p:par>
                          <p:cTn id="432" fill="hold">
                            <p:stCondLst>
                              <p:cond delay="0"/>
                            </p:stCondLst>
                            <p:childTnLst>
                              <p:par>
                                <p:cTn id="433" nodeType="clickEffect" fill="hold" presetClass="entr" presetID="1">
                                  <p:stCondLst>
                                    <p:cond delay="0"/>
                                  </p:stCondLst>
                                  <p:childTnLst>
                                    <p:set>
                                      <p:cBhvr>
                                        <p:cTn id="434" dur="1" fill="hold">
                                          <p:stCondLst>
                                            <p:cond delay="0"/>
                                          </p:stCondLst>
                                        </p:cTn>
                                        <p:tgtEl>
                                          <p:spTgt spid="400">
                                            <p:txEl>
                                              <p:pRg st="3" end="3"/>
                                            </p:txEl>
                                          </p:spTgt>
                                        </p:tgtEl>
                                        <p:attrNameLst>
                                          <p:attrName>style.visibility</p:attrName>
                                        </p:attrNameLst>
                                      </p:cBhvr>
                                      <p:to>
                                        <p:strVal val="visible"/>
                                      </p:to>
                                    </p:set>
                                  </p:childTnLst>
                                </p:cTn>
                              </p:par>
                            </p:childTnLst>
                          </p:cTn>
                        </p:par>
                      </p:childTnLst>
                    </p:cTn>
                  </p:par>
                  <p:par>
                    <p:cTn id="435" fill="hold">
                      <p:stCondLst>
                        <p:cond delay="indefinite"/>
                      </p:stCondLst>
                      <p:childTnLst>
                        <p:par>
                          <p:cTn id="436" fill="hold">
                            <p:stCondLst>
                              <p:cond delay="0"/>
                            </p:stCondLst>
                            <p:childTnLst>
                              <p:par>
                                <p:cTn id="437" nodeType="clickEffect" fill="hold" presetClass="entr" presetID="1">
                                  <p:stCondLst>
                                    <p:cond delay="0"/>
                                  </p:stCondLst>
                                  <p:childTnLst>
                                    <p:set>
                                      <p:cBhvr>
                                        <p:cTn id="438" dur="1" fill="hold">
                                          <p:stCondLst>
                                            <p:cond delay="0"/>
                                          </p:stCondLst>
                                        </p:cTn>
                                        <p:tgtEl>
                                          <p:spTgt spid="400">
                                            <p:txEl>
                                              <p:pRg st="4" end="4"/>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nodeType="clickEffect" fill="hold" presetClass="entr" presetID="1">
                                  <p:stCondLst>
                                    <p:cond delay="0"/>
                                  </p:stCondLst>
                                  <p:childTnLst>
                                    <p:set>
                                      <p:cBhvr>
                                        <p:cTn id="442" dur="1" fill="hold">
                                          <p:stCondLst>
                                            <p:cond delay="0"/>
                                          </p:stCondLst>
                                        </p:cTn>
                                        <p:tgtEl>
                                          <p:spTgt spid="400">
                                            <p:txEl>
                                              <p:pRg st="5" end="5"/>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nodeType="clickEffect" fill="hold" presetClass="entr" presetID="1">
                                  <p:stCondLst>
                                    <p:cond delay="0"/>
                                  </p:stCondLst>
                                  <p:childTnLst>
                                    <p:set>
                                      <p:cBhvr>
                                        <p:cTn id="446" dur="1" fill="hold">
                                          <p:stCondLst>
                                            <p:cond delay="0"/>
                                          </p:stCondLst>
                                        </p:cTn>
                                        <p:tgtEl>
                                          <p:spTgt spid="400">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DB Languages 3 / n</a:t>
            </a:r>
            <a:endParaRPr b="0" lang="en-US" sz="2600" spc="-1" strike="noStrike">
              <a:solidFill>
                <a:srgbClr val="000000"/>
              </a:solidFill>
              <a:latin typeface="Arial"/>
            </a:endParaRPr>
          </a:p>
        </p:txBody>
      </p:sp>
      <p:sp>
        <p:nvSpPr>
          <p:cNvPr id="403" name="PlaceHolder 2"/>
          <p:cNvSpPr>
            <a:spLocks noGrp="1"/>
          </p:cNvSpPr>
          <p:nvPr>
            <p:ph/>
          </p:nvPr>
        </p:nvSpPr>
        <p:spPr>
          <a:xfrm>
            <a:off x="729360" y="1378080"/>
            <a:ext cx="7688520" cy="25210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DML:</a:t>
            </a:r>
            <a:r>
              <a:rPr b="0" lang="el" sz="1600" spc="-1" strike="noStrike">
                <a:solidFill>
                  <a:schemeClr val="accent1"/>
                </a:solidFill>
                <a:latin typeface="Lato"/>
                <a:ea typeface="Lato"/>
              </a:rPr>
              <a:t> Concerned with retrieval, insertion, deletion and modification of data in a DB.</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Two types of DML:</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Procedural DML:</a:t>
            </a:r>
            <a:r>
              <a:rPr b="0" lang="el" sz="1600" spc="-1" strike="noStrike">
                <a:solidFill>
                  <a:schemeClr val="accent1"/>
                </a:solidFill>
                <a:latin typeface="Lato"/>
                <a:ea typeface="Lato"/>
              </a:rPr>
              <a:t> The user specifies </a:t>
            </a:r>
            <a:r>
              <a:rPr b="1" lang="el" sz="1600" spc="-1" strike="noStrike">
                <a:solidFill>
                  <a:schemeClr val="dk1"/>
                </a:solidFill>
                <a:latin typeface="Lato"/>
                <a:ea typeface="Lato"/>
              </a:rPr>
              <a:t>what</a:t>
            </a:r>
            <a:r>
              <a:rPr b="0" lang="el" sz="1600" spc="-1" strike="noStrike">
                <a:solidFill>
                  <a:schemeClr val="accent1"/>
                </a:solidFill>
                <a:latin typeface="Lato"/>
                <a:ea typeface="Lato"/>
              </a:rPr>
              <a:t> data to get and </a:t>
            </a:r>
            <a:r>
              <a:rPr b="1" lang="el" sz="1600" spc="-1" strike="noStrike">
                <a:solidFill>
                  <a:schemeClr val="dk1"/>
                </a:solidFill>
                <a:latin typeface="Lato"/>
                <a:ea typeface="Lato"/>
              </a:rPr>
              <a:t>how</a:t>
            </a:r>
            <a:r>
              <a:rPr b="0" lang="el" sz="1600" spc="-1" strike="noStrike">
                <a:solidFill>
                  <a:schemeClr val="accent1"/>
                </a:solidFill>
                <a:latin typeface="Lato"/>
                <a:ea typeface="Lato"/>
              </a:rPr>
              <a:t> to get them.</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Declarative DML:</a:t>
            </a:r>
            <a:r>
              <a:rPr b="0" lang="el" sz="1600" spc="-1" strike="noStrike">
                <a:solidFill>
                  <a:schemeClr val="accent1"/>
                </a:solidFill>
                <a:latin typeface="Lato"/>
                <a:ea typeface="Lato"/>
              </a:rPr>
              <a:t> The user specifies </a:t>
            </a:r>
            <a:r>
              <a:rPr b="1" lang="el" sz="1600" spc="-1" strike="noStrike">
                <a:solidFill>
                  <a:schemeClr val="dk1"/>
                </a:solidFill>
                <a:latin typeface="Lato"/>
                <a:ea typeface="Lato"/>
              </a:rPr>
              <a:t>what</a:t>
            </a:r>
            <a:r>
              <a:rPr b="0" lang="el" sz="1600" spc="-1" strike="noStrike">
                <a:solidFill>
                  <a:schemeClr val="accent1"/>
                </a:solidFill>
                <a:latin typeface="Lato"/>
                <a:ea typeface="Lato"/>
              </a:rPr>
              <a:t> data to get and </a:t>
            </a:r>
            <a:r>
              <a:rPr b="1" lang="el" sz="1600" spc="-1" strike="noStrike">
                <a:solidFill>
                  <a:schemeClr val="accent3"/>
                </a:solidFill>
                <a:latin typeface="Lato"/>
                <a:ea typeface="Lato"/>
              </a:rPr>
              <a:t>not how</a:t>
            </a:r>
            <a:r>
              <a:rPr b="0" lang="el" sz="1600" spc="-1" strike="noStrike">
                <a:solidFill>
                  <a:schemeClr val="accent1"/>
                </a:solidFill>
                <a:latin typeface="Lato"/>
                <a:ea typeface="Lato"/>
              </a:rPr>
              <a:t> to get them (the latter is decided by the system).</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Queries</a:t>
            </a:r>
            <a:r>
              <a:rPr b="0" lang="el" sz="1600" spc="-1" strike="noStrike">
                <a:solidFill>
                  <a:schemeClr val="accent1"/>
                </a:solidFill>
                <a:latin typeface="Lato"/>
                <a:ea typeface="Lato"/>
              </a:rPr>
              <a:t> refer to statements regarding the retrieval of information.</a:t>
            </a:r>
            <a:endParaRPr b="0" lang="en-US" sz="1600" spc="-1" strike="noStrike">
              <a:solidFill>
                <a:srgbClr val="000000"/>
              </a:solidFill>
              <a:latin typeface="Arial"/>
            </a:endParaRPr>
          </a:p>
        </p:txBody>
      </p:sp>
      <p:sp>
        <p:nvSpPr>
          <p:cNvPr id="404" name="Google Shape;354;p40"/>
          <p:cNvSpPr/>
          <p:nvPr/>
        </p:nvSpPr>
        <p:spPr>
          <a:xfrm>
            <a:off x="1669680" y="4170240"/>
            <a:ext cx="5807880" cy="66924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spAutoFit/>
          </a:bodyPr>
          <a:p>
            <a:pPr>
              <a:lnSpc>
                <a:spcPct val="100000"/>
              </a:lnSpc>
              <a:tabLst>
                <a:tab algn="l" pos="0"/>
              </a:tabLst>
            </a:pPr>
            <a:r>
              <a:rPr b="0" lang="el" sz="1600" spc="-1" strike="noStrike">
                <a:solidFill>
                  <a:schemeClr val="accent1"/>
                </a:solidFill>
                <a:latin typeface="Lato"/>
                <a:ea typeface="Lato"/>
              </a:rPr>
              <a:t>While the term </a:t>
            </a:r>
            <a:r>
              <a:rPr b="1" lang="el" sz="1600" spc="-1" strike="noStrike">
                <a:solidFill>
                  <a:schemeClr val="accent3"/>
                </a:solidFill>
                <a:latin typeface="Lato"/>
                <a:ea typeface="Lato"/>
              </a:rPr>
              <a:t>query</a:t>
            </a:r>
            <a:r>
              <a:rPr b="0" lang="el" sz="1600" spc="-1" strike="noStrike">
                <a:solidFill>
                  <a:schemeClr val="accent1"/>
                </a:solidFill>
                <a:latin typeface="Lato"/>
                <a:ea typeface="Lato"/>
              </a:rPr>
              <a:t> refers only to retrieval of data, we often use the term </a:t>
            </a:r>
            <a:r>
              <a:rPr b="1" lang="el" sz="1600" spc="-1" strike="noStrike">
                <a:solidFill>
                  <a:schemeClr val="accent3"/>
                </a:solidFill>
                <a:latin typeface="Lato"/>
                <a:ea typeface="Lato"/>
              </a:rPr>
              <a:t>query language</a:t>
            </a:r>
            <a:r>
              <a:rPr b="0" lang="el" sz="1600" spc="-1" strike="noStrike">
                <a:solidFill>
                  <a:schemeClr val="accent1"/>
                </a:solidFill>
                <a:latin typeface="Lato"/>
                <a:ea typeface="Lato"/>
              </a:rPr>
              <a:t> to characterise all DML.</a:t>
            </a:r>
            <a:endParaRPr b="0" lang="en-US" sz="1600" spc="-1" strike="noStrike">
              <a:solidFill>
                <a:srgbClr val="000000"/>
              </a:solidFill>
              <a:latin typeface="Arial"/>
            </a:endParaRPr>
          </a:p>
        </p:txBody>
      </p:sp>
      <p:sp>
        <p:nvSpPr>
          <p:cNvPr id="405"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0729E04-4F04-4C85-8FCD-422F88AE414D}"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47" dur="indefinite" restart="never" nodeType="tmRoot">
          <p:childTnLst>
            <p:seq>
              <p:cTn id="448" dur="indefinite" nodeType="mainSeq">
                <p:childTnLst>
                  <p:par>
                    <p:cTn id="449" fill="hold">
                      <p:stCondLst>
                        <p:cond delay="indefinite"/>
                      </p:stCondLst>
                      <p:childTnLst>
                        <p:par>
                          <p:cTn id="450" fill="hold">
                            <p:stCondLst>
                              <p:cond delay="0"/>
                            </p:stCondLst>
                            <p:childTnLst>
                              <p:par>
                                <p:cTn id="451" nodeType="clickEffect" fill="hold" presetClass="entr" presetID="1">
                                  <p:stCondLst>
                                    <p:cond delay="0"/>
                                  </p:stCondLst>
                                  <p:childTnLst>
                                    <p:set>
                                      <p:cBhvr>
                                        <p:cTn id="452" dur="1" fill="hold">
                                          <p:stCondLst>
                                            <p:cond delay="0"/>
                                          </p:stCondLst>
                                        </p:cTn>
                                        <p:tgtEl>
                                          <p:spTgt spid="403">
                                            <p:txEl>
                                              <p:pRg st="0" end="0"/>
                                            </p:txEl>
                                          </p:spTgt>
                                        </p:tgtEl>
                                        <p:attrNameLst>
                                          <p:attrName>style.visibility</p:attrName>
                                        </p:attrNameLst>
                                      </p:cBhvr>
                                      <p:to>
                                        <p:strVal val="visible"/>
                                      </p:to>
                                    </p:set>
                                  </p:childTnLst>
                                </p:cTn>
                              </p:par>
                            </p:childTnLst>
                          </p:cTn>
                        </p:par>
                      </p:childTnLst>
                    </p:cTn>
                  </p:par>
                  <p:par>
                    <p:cTn id="453" fill="hold">
                      <p:stCondLst>
                        <p:cond delay="indefinite"/>
                      </p:stCondLst>
                      <p:childTnLst>
                        <p:par>
                          <p:cTn id="454" fill="hold">
                            <p:stCondLst>
                              <p:cond delay="0"/>
                            </p:stCondLst>
                            <p:childTnLst>
                              <p:par>
                                <p:cTn id="455" nodeType="clickEffect" fill="hold" presetClass="entr" presetID="1">
                                  <p:stCondLst>
                                    <p:cond delay="0"/>
                                  </p:stCondLst>
                                  <p:childTnLst>
                                    <p:set>
                                      <p:cBhvr>
                                        <p:cTn id="456" dur="1" fill="hold">
                                          <p:stCondLst>
                                            <p:cond delay="0"/>
                                          </p:stCondLst>
                                        </p:cTn>
                                        <p:tgtEl>
                                          <p:spTgt spid="403">
                                            <p:txEl>
                                              <p:pRg st="1" end="1"/>
                                            </p:txEl>
                                          </p:spTgt>
                                        </p:tgtEl>
                                        <p:attrNameLst>
                                          <p:attrName>style.visibility</p:attrName>
                                        </p:attrNameLst>
                                      </p:cBhvr>
                                      <p:to>
                                        <p:strVal val="visible"/>
                                      </p:to>
                                    </p:set>
                                  </p:childTnLst>
                                </p:cTn>
                              </p:par>
                            </p:childTnLst>
                          </p:cTn>
                        </p:par>
                      </p:childTnLst>
                    </p:cTn>
                  </p:par>
                  <p:par>
                    <p:cTn id="457" fill="hold">
                      <p:stCondLst>
                        <p:cond delay="indefinite"/>
                      </p:stCondLst>
                      <p:childTnLst>
                        <p:par>
                          <p:cTn id="458" fill="hold">
                            <p:stCondLst>
                              <p:cond delay="0"/>
                            </p:stCondLst>
                            <p:childTnLst>
                              <p:par>
                                <p:cTn id="459" nodeType="clickEffect" fill="hold" presetClass="entr" presetID="1">
                                  <p:stCondLst>
                                    <p:cond delay="0"/>
                                  </p:stCondLst>
                                  <p:childTnLst>
                                    <p:set>
                                      <p:cBhvr>
                                        <p:cTn id="460" dur="1" fill="hold">
                                          <p:stCondLst>
                                            <p:cond delay="0"/>
                                          </p:stCondLst>
                                        </p:cTn>
                                        <p:tgtEl>
                                          <p:spTgt spid="403">
                                            <p:txEl>
                                              <p:pRg st="2" end="2"/>
                                            </p:txEl>
                                          </p:spTgt>
                                        </p:tgtEl>
                                        <p:attrNameLst>
                                          <p:attrName>style.visibility</p:attrName>
                                        </p:attrNameLst>
                                      </p:cBhvr>
                                      <p:to>
                                        <p:strVal val="visible"/>
                                      </p:to>
                                    </p:set>
                                  </p:childTnLst>
                                </p:cTn>
                              </p:par>
                            </p:childTnLst>
                          </p:cTn>
                        </p:par>
                      </p:childTnLst>
                    </p:cTn>
                  </p:par>
                  <p:par>
                    <p:cTn id="461" fill="hold">
                      <p:stCondLst>
                        <p:cond delay="indefinite"/>
                      </p:stCondLst>
                      <p:childTnLst>
                        <p:par>
                          <p:cTn id="462" fill="hold">
                            <p:stCondLst>
                              <p:cond delay="0"/>
                            </p:stCondLst>
                            <p:childTnLst>
                              <p:par>
                                <p:cTn id="463" nodeType="clickEffect" fill="hold" presetClass="entr" presetID="1">
                                  <p:stCondLst>
                                    <p:cond delay="0"/>
                                  </p:stCondLst>
                                  <p:childTnLst>
                                    <p:set>
                                      <p:cBhvr>
                                        <p:cTn id="464" dur="1" fill="hold">
                                          <p:stCondLst>
                                            <p:cond delay="0"/>
                                          </p:stCondLst>
                                        </p:cTn>
                                        <p:tgtEl>
                                          <p:spTgt spid="403">
                                            <p:txEl>
                                              <p:pRg st="3" end="3"/>
                                            </p:txEl>
                                          </p:spTgt>
                                        </p:tgtEl>
                                        <p:attrNameLst>
                                          <p:attrName>style.visibility</p:attrName>
                                        </p:attrNameLst>
                                      </p:cBhvr>
                                      <p:to>
                                        <p:strVal val="visible"/>
                                      </p:to>
                                    </p:set>
                                  </p:childTnLst>
                                </p:cTn>
                              </p:par>
                            </p:childTnLst>
                          </p:cTn>
                        </p:par>
                      </p:childTnLst>
                    </p:cTn>
                  </p:par>
                  <p:par>
                    <p:cTn id="465" fill="hold">
                      <p:stCondLst>
                        <p:cond delay="indefinite"/>
                      </p:stCondLst>
                      <p:childTnLst>
                        <p:par>
                          <p:cTn id="466" fill="hold">
                            <p:stCondLst>
                              <p:cond delay="0"/>
                            </p:stCondLst>
                            <p:childTnLst>
                              <p:par>
                                <p:cTn id="467" nodeType="clickEffect" fill="hold" presetClass="entr" presetID="1">
                                  <p:stCondLst>
                                    <p:cond delay="0"/>
                                  </p:stCondLst>
                                  <p:childTnLst>
                                    <p:set>
                                      <p:cBhvr>
                                        <p:cTn id="468" dur="1" fill="hold">
                                          <p:stCondLst>
                                            <p:cond delay="0"/>
                                          </p:stCondLst>
                                        </p:cTn>
                                        <p:tgtEl>
                                          <p:spTgt spid="403">
                                            <p:txEl>
                                              <p:pRg st="4" end="4"/>
                                            </p:txEl>
                                          </p:spTgt>
                                        </p:tgtEl>
                                        <p:attrNameLst>
                                          <p:attrName>style.visibility</p:attrName>
                                        </p:attrNameLst>
                                      </p:cBhvr>
                                      <p:to>
                                        <p:strVal val="visible"/>
                                      </p:to>
                                    </p:set>
                                  </p:childTnLst>
                                </p:cTn>
                              </p:par>
                            </p:childTnLst>
                          </p:cTn>
                        </p:par>
                      </p:childTnLst>
                    </p:cTn>
                  </p:par>
                  <p:par>
                    <p:cTn id="469" fill="hold">
                      <p:stCondLst>
                        <p:cond delay="indefinite"/>
                      </p:stCondLst>
                      <p:childTnLst>
                        <p:par>
                          <p:cTn id="470" fill="hold">
                            <p:stCondLst>
                              <p:cond delay="0"/>
                            </p:stCondLst>
                            <p:childTnLst>
                              <p:par>
                                <p:cTn id="471" nodeType="clickEffect" fill="hold" presetClass="entr" presetID="1">
                                  <p:stCondLst>
                                    <p:cond delay="0"/>
                                  </p:stCondLst>
                                  <p:childTnLst>
                                    <p:set>
                                      <p:cBhvr>
                                        <p:cTn id="472"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1 / n</a:t>
            </a:r>
            <a:endParaRPr b="0" lang="en-US" sz="2600" spc="-1" strike="noStrike">
              <a:solidFill>
                <a:srgbClr val="000000"/>
              </a:solidFill>
              <a:latin typeface="Arial"/>
            </a:endParaRPr>
          </a:p>
        </p:txBody>
      </p:sp>
      <p:sp>
        <p:nvSpPr>
          <p:cNvPr id="407" name="PlaceHolder 2"/>
          <p:cNvSpPr>
            <a:spLocks noGrp="1"/>
          </p:cNvSpPr>
          <p:nvPr>
            <p:ph/>
          </p:nvPr>
        </p:nvSpPr>
        <p:spPr>
          <a:xfrm>
            <a:off x="729360" y="1378080"/>
            <a:ext cx="7688520" cy="36115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the main reason for using a DB?</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Data are inherently unstructured, so DBs are used to impose structure and organization on them, to facilitate further processing (searching, splitting, sorting etc).</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are some problems that arose with the use of system files for storing data back in the 60s?</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Some of the most significant problems include: data inconsistency, redundancy, difficulty of access, data isolation, integrity and atomicity problems, concurrent access anomalies and security issues.</a:t>
            </a:r>
            <a:endParaRPr b="0" lang="en-US" sz="1600" spc="-1" strike="noStrike">
              <a:solidFill>
                <a:srgbClr val="000000"/>
              </a:solidFill>
              <a:latin typeface="Arial"/>
            </a:endParaRPr>
          </a:p>
        </p:txBody>
      </p:sp>
      <p:sp>
        <p:nvSpPr>
          <p:cNvPr id="408"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6DA55D5-C766-41D8-BC0B-C0C84C7D5846}"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73" dur="indefinite" restart="never" nodeType="tmRoot">
          <p:childTnLst>
            <p:seq>
              <p:cTn id="474" dur="indefinite" nodeType="mainSeq">
                <p:childTnLst>
                  <p:par>
                    <p:cTn id="475" fill="hold">
                      <p:stCondLst>
                        <p:cond delay="indefinite"/>
                      </p:stCondLst>
                      <p:childTnLst>
                        <p:par>
                          <p:cTn id="476" fill="hold">
                            <p:stCondLst>
                              <p:cond delay="0"/>
                            </p:stCondLst>
                            <p:childTnLst>
                              <p:par>
                                <p:cTn id="477" nodeType="clickEffect" fill="hold" presetClass="entr" presetID="1">
                                  <p:stCondLst>
                                    <p:cond delay="0"/>
                                  </p:stCondLst>
                                  <p:childTnLst>
                                    <p:set>
                                      <p:cBhvr>
                                        <p:cTn id="478" dur="1" fill="hold">
                                          <p:stCondLst>
                                            <p:cond delay="0"/>
                                          </p:stCondLst>
                                        </p:cTn>
                                        <p:tgtEl>
                                          <p:spTgt spid="407">
                                            <p:txEl>
                                              <p:pRg st="0" end="0"/>
                                            </p:txEl>
                                          </p:spTgt>
                                        </p:tgtEl>
                                        <p:attrNameLst>
                                          <p:attrName>style.visibility</p:attrName>
                                        </p:attrNameLst>
                                      </p:cBhvr>
                                      <p:to>
                                        <p:strVal val="visible"/>
                                      </p:to>
                                    </p:set>
                                  </p:childTnLst>
                                </p:cTn>
                              </p:par>
                            </p:childTnLst>
                          </p:cTn>
                        </p:par>
                      </p:childTnLst>
                    </p:cTn>
                  </p:par>
                  <p:par>
                    <p:cTn id="479" fill="hold">
                      <p:stCondLst>
                        <p:cond delay="indefinite"/>
                      </p:stCondLst>
                      <p:childTnLst>
                        <p:par>
                          <p:cTn id="480" fill="hold">
                            <p:stCondLst>
                              <p:cond delay="0"/>
                            </p:stCondLst>
                            <p:childTnLst>
                              <p:par>
                                <p:cTn id="481" nodeType="clickEffect" fill="hold" presetClass="entr" presetID="1">
                                  <p:stCondLst>
                                    <p:cond delay="0"/>
                                  </p:stCondLst>
                                  <p:childTnLst>
                                    <p:set>
                                      <p:cBhvr>
                                        <p:cTn id="482" dur="1" fill="hold">
                                          <p:stCondLst>
                                            <p:cond delay="0"/>
                                          </p:stCondLst>
                                        </p:cTn>
                                        <p:tgtEl>
                                          <p:spTgt spid="407">
                                            <p:txEl>
                                              <p:pRg st="1" end="1"/>
                                            </p:txEl>
                                          </p:spTgt>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nodeType="clickEffect" fill="hold" presetClass="entr" presetID="1">
                                  <p:stCondLst>
                                    <p:cond delay="0"/>
                                  </p:stCondLst>
                                  <p:childTnLst>
                                    <p:set>
                                      <p:cBhvr>
                                        <p:cTn id="486" dur="1" fill="hold">
                                          <p:stCondLst>
                                            <p:cond delay="0"/>
                                          </p:stCondLst>
                                        </p:cTn>
                                        <p:tgtEl>
                                          <p:spTgt spid="407">
                                            <p:txEl>
                                              <p:pRg st="2" end="2"/>
                                            </p:txEl>
                                          </p:spTgt>
                                        </p:tgtEl>
                                        <p:attrNameLst>
                                          <p:attrName>style.visibility</p:attrName>
                                        </p:attrNameLst>
                                      </p:cBhvr>
                                      <p:to>
                                        <p:strVal val="visible"/>
                                      </p:to>
                                    </p:set>
                                  </p:childTnLst>
                                </p:cTn>
                              </p:par>
                            </p:childTnLst>
                          </p:cTn>
                        </p:par>
                      </p:childTnLst>
                    </p:cTn>
                  </p:par>
                  <p:par>
                    <p:cTn id="487" fill="hold">
                      <p:stCondLst>
                        <p:cond delay="indefinite"/>
                      </p:stCondLst>
                      <p:childTnLst>
                        <p:par>
                          <p:cTn id="488" fill="hold">
                            <p:stCondLst>
                              <p:cond delay="0"/>
                            </p:stCondLst>
                            <p:childTnLst>
                              <p:par>
                                <p:cTn id="489" nodeType="clickEffect" fill="hold" presetClass="entr" presetID="1">
                                  <p:stCondLst>
                                    <p:cond delay="0"/>
                                  </p:stCondLst>
                                  <p:childTnLst>
                                    <p:set>
                                      <p:cBhvr>
                                        <p:cTn id="490" dur="1" fill="hold">
                                          <p:stCondLst>
                                            <p:cond delay="0"/>
                                          </p:stCondLst>
                                        </p:cTn>
                                        <p:tgtEl>
                                          <p:spTgt spid="407">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1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Briefly describe the three levels of DB abstraction:</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three levels of DB abstraction are:</a:t>
            </a:r>
            <a:endParaRPr b="0" lang="en-US" sz="1600" spc="-1" strike="noStrike">
              <a:solidFill>
                <a:srgbClr val="000000"/>
              </a:solidFill>
              <a:latin typeface="Arial"/>
            </a:endParaRPr>
          </a:p>
          <a:p>
            <a:pPr lvl="1" marL="9144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Physical level:</a:t>
            </a:r>
            <a:r>
              <a:rPr b="0" lang="el" sz="1600" spc="-1" strike="noStrike">
                <a:solidFill>
                  <a:schemeClr val="accent1"/>
                </a:solidFill>
                <a:latin typeface="Lato"/>
                <a:ea typeface="Lato"/>
              </a:rPr>
              <a:t> Data as stored at the lowest level (e.g., the primitive data structures used for that purpose).</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Logical level:</a:t>
            </a:r>
            <a:r>
              <a:rPr b="0" lang="el" sz="1600" spc="-1" strike="noStrike">
                <a:solidFill>
                  <a:schemeClr val="accent1"/>
                </a:solidFill>
                <a:latin typeface="Lato"/>
                <a:ea typeface="Lato"/>
              </a:rPr>
              <a:t> Data as organised through higher-level constructs (e.g., teacher, course, student of the XYZ University).</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View level:</a:t>
            </a:r>
            <a:r>
              <a:rPr b="0" lang="el" sz="1600" spc="-1" strike="noStrike">
                <a:solidFill>
                  <a:schemeClr val="accent1"/>
                </a:solidFill>
                <a:latin typeface="Lato"/>
                <a:ea typeface="Lato"/>
              </a:rPr>
              <a:t> Data or portions of them as distributed to non-expert end users.</a:t>
            </a:r>
            <a:endParaRPr b="0" lang="en-US" sz="1600" spc="-1" strike="noStrike">
              <a:solidFill>
                <a:srgbClr val="000000"/>
              </a:solidFill>
              <a:latin typeface="Arial"/>
            </a:endParaRPr>
          </a:p>
        </p:txBody>
      </p:sp>
      <p:sp>
        <p:nvSpPr>
          <p:cNvPr id="411"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B51622C-88EB-41AD-853F-0A8136322131}" type="slidenum">
              <a:rPr b="0" lang="el" sz="1000" spc="-1" strike="noStrike">
                <a:solidFill>
                  <a:schemeClr val="accent1"/>
                </a:solidFill>
                <a:latin typeface="Lato"/>
                <a:ea typeface="Lato"/>
              </a:rPr>
              <a:t>27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91" dur="indefinite" restart="never" nodeType="tmRoot">
          <p:childTnLst>
            <p:seq>
              <p:cTn id="492" dur="indefinite" nodeType="mainSeq">
                <p:childTnLst>
                  <p:par>
                    <p:cTn id="493" fill="hold">
                      <p:stCondLst>
                        <p:cond delay="indefinite"/>
                      </p:stCondLst>
                      <p:childTnLst>
                        <p:par>
                          <p:cTn id="494" fill="hold">
                            <p:stCondLst>
                              <p:cond delay="0"/>
                            </p:stCondLst>
                            <p:childTnLst>
                              <p:par>
                                <p:cTn id="495" nodeType="clickEffect" fill="hold" presetClass="entr" presetID="1">
                                  <p:stCondLst>
                                    <p:cond delay="0"/>
                                  </p:stCondLst>
                                  <p:childTnLst>
                                    <p:set>
                                      <p:cBhvr>
                                        <p:cTn id="496" dur="1" fill="hold">
                                          <p:stCondLst>
                                            <p:cond delay="0"/>
                                          </p:stCondLst>
                                        </p:cTn>
                                        <p:tgtEl>
                                          <p:spTgt spid="410">
                                            <p:txEl>
                                              <p:pRg st="0" end="0"/>
                                            </p:txEl>
                                          </p:spTgt>
                                        </p:tgtEl>
                                        <p:attrNameLst>
                                          <p:attrName>style.visibility</p:attrName>
                                        </p:attrNameLst>
                                      </p:cBhvr>
                                      <p:to>
                                        <p:strVal val="visible"/>
                                      </p:to>
                                    </p:set>
                                  </p:childTnLst>
                                </p:cTn>
                              </p:par>
                            </p:childTnLst>
                          </p:cTn>
                        </p:par>
                      </p:childTnLst>
                    </p:cTn>
                  </p:par>
                  <p:par>
                    <p:cTn id="497" fill="hold">
                      <p:stCondLst>
                        <p:cond delay="indefinite"/>
                      </p:stCondLst>
                      <p:childTnLst>
                        <p:par>
                          <p:cTn id="498" fill="hold">
                            <p:stCondLst>
                              <p:cond delay="0"/>
                            </p:stCondLst>
                            <p:childTnLst>
                              <p:par>
                                <p:cTn id="499" nodeType="clickEffect" fill="hold" presetClass="entr" presetID="1">
                                  <p:stCondLst>
                                    <p:cond delay="0"/>
                                  </p:stCondLst>
                                  <p:childTnLst>
                                    <p:set>
                                      <p:cBhvr>
                                        <p:cTn id="500" dur="1" fill="hold">
                                          <p:stCondLst>
                                            <p:cond delay="0"/>
                                          </p:stCondLst>
                                        </p:cTn>
                                        <p:tgtEl>
                                          <p:spTgt spid="410">
                                            <p:txEl>
                                              <p:pRg st="1" end="1"/>
                                            </p:txEl>
                                          </p:spTgt>
                                        </p:tgtEl>
                                        <p:attrNameLst>
                                          <p:attrName>style.visibility</p:attrName>
                                        </p:attrNameLst>
                                      </p:cBhvr>
                                      <p:to>
                                        <p:strVal val="visible"/>
                                      </p:to>
                                    </p:set>
                                  </p:childTnLst>
                                </p:cTn>
                              </p:par>
                            </p:childTnLst>
                          </p:cTn>
                        </p:par>
                      </p:childTnLst>
                    </p:cTn>
                  </p:par>
                  <p:par>
                    <p:cTn id="501" fill="hold">
                      <p:stCondLst>
                        <p:cond delay="indefinite"/>
                      </p:stCondLst>
                      <p:childTnLst>
                        <p:par>
                          <p:cTn id="502" fill="hold">
                            <p:stCondLst>
                              <p:cond delay="0"/>
                            </p:stCondLst>
                            <p:childTnLst>
                              <p:par>
                                <p:cTn id="503" nodeType="clickEffect" fill="hold" presetClass="entr" presetID="1">
                                  <p:stCondLst>
                                    <p:cond delay="0"/>
                                  </p:stCondLst>
                                  <p:childTnLst>
                                    <p:set>
                                      <p:cBhvr>
                                        <p:cTn id="504" dur="1" fill="hold">
                                          <p:stCondLst>
                                            <p:cond delay="0"/>
                                          </p:stCondLst>
                                        </p:cTn>
                                        <p:tgtEl>
                                          <p:spTgt spid="410">
                                            <p:txEl>
                                              <p:pRg st="2" end="2"/>
                                            </p:txEl>
                                          </p:spTgt>
                                        </p:tgtEl>
                                        <p:attrNameLst>
                                          <p:attrName>style.visibility</p:attrName>
                                        </p:attrNameLst>
                                      </p:cBhvr>
                                      <p:to>
                                        <p:strVal val="visible"/>
                                      </p:to>
                                    </p:set>
                                  </p:childTnLst>
                                </p:cTn>
                              </p:par>
                            </p:childTnLst>
                          </p:cTn>
                        </p:par>
                      </p:childTnLst>
                    </p:cTn>
                  </p:par>
                  <p:par>
                    <p:cTn id="505" fill="hold">
                      <p:stCondLst>
                        <p:cond delay="indefinite"/>
                      </p:stCondLst>
                      <p:childTnLst>
                        <p:par>
                          <p:cTn id="506" fill="hold">
                            <p:stCondLst>
                              <p:cond delay="0"/>
                            </p:stCondLst>
                            <p:childTnLst>
                              <p:par>
                                <p:cTn id="507" nodeType="clickEffect" fill="hold" presetClass="entr" presetID="1">
                                  <p:stCondLst>
                                    <p:cond delay="0"/>
                                  </p:stCondLst>
                                  <p:childTnLst>
                                    <p:set>
                                      <p:cBhvr>
                                        <p:cTn id="508" dur="1" fill="hold">
                                          <p:stCondLst>
                                            <p:cond delay="0"/>
                                          </p:stCondLst>
                                        </p:cTn>
                                        <p:tgtEl>
                                          <p:spTgt spid="410">
                                            <p:txEl>
                                              <p:pRg st="3" end="3"/>
                                            </p:txEl>
                                          </p:spTgt>
                                        </p:tgtEl>
                                        <p:attrNameLst>
                                          <p:attrName>style.visibility</p:attrName>
                                        </p:attrNameLst>
                                      </p:cBhvr>
                                      <p:to>
                                        <p:strVal val="visible"/>
                                      </p:to>
                                    </p:set>
                                  </p:childTnLst>
                                </p:cTn>
                              </p:par>
                            </p:childTnLst>
                          </p:cTn>
                        </p:par>
                      </p:childTnLst>
                    </p:cTn>
                  </p:par>
                  <p:par>
                    <p:cTn id="509" fill="hold">
                      <p:stCondLst>
                        <p:cond delay="indefinite"/>
                      </p:stCondLst>
                      <p:childTnLst>
                        <p:par>
                          <p:cTn id="510" fill="hold">
                            <p:stCondLst>
                              <p:cond delay="0"/>
                            </p:stCondLst>
                            <p:childTnLst>
                              <p:par>
                                <p:cTn id="511" nodeType="clickEffect" fill="hold" presetClass="entr" presetID="1">
                                  <p:stCondLst>
                                    <p:cond delay="0"/>
                                  </p:stCondLst>
                                  <p:childTnLst>
                                    <p:set>
                                      <p:cBhvr>
                                        <p:cTn id="512" dur="1" fill="hold">
                                          <p:stCondLst>
                                            <p:cond delay="0"/>
                                          </p:stCondLst>
                                        </p:cTn>
                                        <p:tgtEl>
                                          <p:spTgt spid="41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13" name="PlaceHolder 2"/>
          <p:cNvSpPr>
            <a:spLocks noGrp="1"/>
          </p:cNvSpPr>
          <p:nvPr>
            <p:ph/>
          </p:nvPr>
        </p:nvSpPr>
        <p:spPr>
          <a:xfrm>
            <a:off x="729360" y="1378080"/>
            <a:ext cx="7688520" cy="35845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a DB instance and what a DB schema? What is their main difference?</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DB schemas refer to the design of a database which remains, in general, intact throughout the course of time. On the contrary, DB instances refer to “snapshots” of a DB at a specific moment in time and, in general, are subject to change as data are altered, added or removed from a DB.</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levels of abstraction apply to DB schemas?</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The same that apply to DBs, i.e., there are physical schemas, referring to the lowest level organisation of a DB, logical schemas, referring to higher level organisation, and subschemas, referring to how the various DB views are organised.</a:t>
            </a:r>
            <a:endParaRPr b="0" lang="en-US" sz="1600" spc="-1" strike="noStrike">
              <a:solidFill>
                <a:srgbClr val="000000"/>
              </a:solidFill>
              <a:latin typeface="Arial"/>
            </a:endParaRPr>
          </a:p>
        </p:txBody>
      </p:sp>
      <p:sp>
        <p:nvSpPr>
          <p:cNvPr id="414" name="PlaceHolder 3"/>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9EDF4C6-61DE-45D7-88DE-2614C6931F14}" type="slidenum">
              <a:rPr b="0" lang="el" sz="1000" spc="-1" strike="noStrike">
                <a:solidFill>
                  <a:schemeClr val="accent1"/>
                </a:solidFill>
                <a:latin typeface="Lato"/>
                <a:ea typeface="Lato"/>
              </a:rPr>
              <a:t>28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13" dur="indefinite" restart="never" nodeType="tmRoot">
          <p:childTnLst>
            <p:seq>
              <p:cTn id="514" dur="indefinite" nodeType="mainSeq">
                <p:childTnLst>
                  <p:par>
                    <p:cTn id="515" fill="hold">
                      <p:stCondLst>
                        <p:cond delay="indefinite"/>
                      </p:stCondLst>
                      <p:childTnLst>
                        <p:par>
                          <p:cTn id="516" fill="hold">
                            <p:stCondLst>
                              <p:cond delay="0"/>
                            </p:stCondLst>
                            <p:childTnLst>
                              <p:par>
                                <p:cTn id="517" nodeType="clickEffect" fill="hold" presetClass="entr" presetID="1">
                                  <p:stCondLst>
                                    <p:cond delay="0"/>
                                  </p:stCondLst>
                                  <p:childTnLst>
                                    <p:set>
                                      <p:cBhvr>
                                        <p:cTn id="518" dur="1" fill="hold">
                                          <p:stCondLst>
                                            <p:cond delay="0"/>
                                          </p:stCondLst>
                                        </p:cTn>
                                        <p:tgtEl>
                                          <p:spTgt spid="413">
                                            <p:txEl>
                                              <p:pRg st="0" end="0"/>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nodeType="clickEffect" fill="hold" presetClass="entr" presetID="1">
                                  <p:stCondLst>
                                    <p:cond delay="0"/>
                                  </p:stCondLst>
                                  <p:childTnLst>
                                    <p:set>
                                      <p:cBhvr>
                                        <p:cTn id="522" dur="1" fill="hold">
                                          <p:stCondLst>
                                            <p:cond delay="0"/>
                                          </p:stCondLst>
                                        </p:cTn>
                                        <p:tgtEl>
                                          <p:spTgt spid="413">
                                            <p:txEl>
                                              <p:pRg st="1" end="1"/>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nodeType="clickEffect" fill="hold" presetClass="entr" presetID="1">
                                  <p:stCondLst>
                                    <p:cond delay="0"/>
                                  </p:stCondLst>
                                  <p:childTnLst>
                                    <p:set>
                                      <p:cBhvr>
                                        <p:cTn id="526" dur="1" fill="hold">
                                          <p:stCondLst>
                                            <p:cond delay="0"/>
                                          </p:stCondLst>
                                        </p:cTn>
                                        <p:tgtEl>
                                          <p:spTgt spid="413">
                                            <p:txEl>
                                              <p:pRg st="2" end="2"/>
                                            </p:txEl>
                                          </p:spTgt>
                                        </p:tgtEl>
                                        <p:attrNameLst>
                                          <p:attrName>style.visibility</p:attrName>
                                        </p:attrNameLst>
                                      </p:cBhvr>
                                      <p:to>
                                        <p:strVal val="visible"/>
                                      </p:to>
                                    </p:set>
                                  </p:childTnLst>
                                </p:cTn>
                              </p:par>
                            </p:childTnLst>
                          </p:cTn>
                        </p:par>
                      </p:childTnLst>
                    </p:cTn>
                  </p:par>
                  <p:par>
                    <p:cTn id="527" fill="hold">
                      <p:stCondLst>
                        <p:cond delay="indefinite"/>
                      </p:stCondLst>
                      <p:childTnLst>
                        <p:par>
                          <p:cTn id="528" fill="hold">
                            <p:stCondLst>
                              <p:cond delay="0"/>
                            </p:stCondLst>
                            <p:childTnLst>
                              <p:par>
                                <p:cTn id="529" nodeType="clickEffect" fill="hold" presetClass="entr" presetID="1">
                                  <p:stCondLst>
                                    <p:cond delay="0"/>
                                  </p:stCondLst>
                                  <p:childTnLst>
                                    <p:set>
                                      <p:cBhvr>
                                        <p:cTn id="530" dur="1" fill="hold">
                                          <p:stCondLst>
                                            <p:cond delay="0"/>
                                          </p:stCondLst>
                                        </p:cTn>
                                        <p:tgtEl>
                                          <p:spTgt spid="413">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4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16"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a data model?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A </a:t>
            </a:r>
            <a:r>
              <a:rPr b="1" lang="el" sz="1600" spc="-1" strike="noStrike">
                <a:solidFill>
                  <a:schemeClr val="accent1"/>
                </a:solidFill>
                <a:latin typeface="Lato"/>
                <a:ea typeface="Lato"/>
              </a:rPr>
              <a:t>data model</a:t>
            </a:r>
            <a:r>
              <a:rPr b="0" lang="el" sz="1600" spc="-1" strike="noStrike">
                <a:solidFill>
                  <a:schemeClr val="accent1"/>
                </a:solidFill>
                <a:latin typeface="Lato"/>
                <a:ea typeface="Lato"/>
              </a:rPr>
              <a:t> is a collection of conceptual tools for describing data, data relationships, data semantics, and consistency constraints.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are the four main data model categories?</a:t>
            </a:r>
            <a:endParaRPr b="0" lang="en-US" sz="1600" spc="-1" strike="noStrike">
              <a:solidFill>
                <a:srgbClr val="000000"/>
              </a:solidFill>
              <a:latin typeface="Arial"/>
            </a:endParaRPr>
          </a:p>
          <a:p>
            <a:pPr indent="0">
              <a:lnSpc>
                <a:spcPct val="115000"/>
              </a:lnSpc>
              <a:spcBef>
                <a:spcPts val="1199"/>
              </a:spcBef>
              <a:buNone/>
              <a:tabLst>
                <a:tab algn="l" pos="0"/>
              </a:tabLst>
            </a:pPr>
            <a:r>
              <a:rPr b="1" lang="el" sz="1600" spc="-1" strike="noStrike">
                <a:solidFill>
                  <a:schemeClr val="accent1"/>
                </a:solidFill>
                <a:latin typeface="Lato"/>
                <a:ea typeface="Lato"/>
              </a:rPr>
              <a:t>	</a:t>
            </a:r>
            <a:r>
              <a:rPr b="0" lang="el" sz="1600" spc="-1" strike="noStrike">
                <a:solidFill>
                  <a:schemeClr val="accent1"/>
                </a:solidFill>
                <a:latin typeface="Lato"/>
                <a:ea typeface="Lato"/>
              </a:rPr>
              <a:t>The main data model categories include: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Relational models, which represent data through tables of similar records;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E-R models, which represent data through entities interrelated through relationships;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Object-based models, which borrow concepts from OOP,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Semi-structured models, allowing for more relaxed data representation.</a:t>
            </a:r>
            <a:endParaRPr b="0" lang="en-US" sz="1600" spc="-1" strike="noStrike">
              <a:solidFill>
                <a:srgbClr val="000000"/>
              </a:solidFill>
              <a:latin typeface="Arial"/>
            </a:endParaRPr>
          </a:p>
        </p:txBody>
      </p:sp>
      <p:sp>
        <p:nvSpPr>
          <p:cNvPr id="417" name="PlaceHolder 3"/>
          <p:cNvSpPr>
            <a:spLocks noGrp="1"/>
          </p:cNvSpPr>
          <p:nvPr>
            <p:ph type="sldNum" idx="3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67C65C3-5112-4A02-80EF-7556B1B85EF8}" type="slidenum">
              <a:rPr b="0" lang="el" sz="1000" spc="-1" strike="noStrike">
                <a:solidFill>
                  <a:schemeClr val="accent1"/>
                </a:solidFill>
                <a:latin typeface="Lato"/>
                <a:ea typeface="Lato"/>
              </a:rPr>
              <a:t>29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31" dur="indefinite" restart="never" nodeType="tmRoot">
          <p:childTnLst>
            <p:seq>
              <p:cTn id="532" dur="indefinite" nodeType="mainSeq">
                <p:childTnLst>
                  <p:par>
                    <p:cTn id="533" fill="hold">
                      <p:stCondLst>
                        <p:cond delay="indefinite"/>
                      </p:stCondLst>
                      <p:childTnLst>
                        <p:par>
                          <p:cTn id="534" fill="hold">
                            <p:stCondLst>
                              <p:cond delay="0"/>
                            </p:stCondLst>
                            <p:childTnLst>
                              <p:par>
                                <p:cTn id="535" nodeType="clickEffect" fill="hold" presetClass="entr" presetID="1">
                                  <p:stCondLst>
                                    <p:cond delay="0"/>
                                  </p:stCondLst>
                                  <p:childTnLst>
                                    <p:set>
                                      <p:cBhvr>
                                        <p:cTn id="536" dur="1" fill="hold">
                                          <p:stCondLst>
                                            <p:cond delay="0"/>
                                          </p:stCondLst>
                                        </p:cTn>
                                        <p:tgtEl>
                                          <p:spTgt spid="416">
                                            <p:txEl>
                                              <p:pRg st="0" end="0"/>
                                            </p:txEl>
                                          </p:spTgt>
                                        </p:tgtEl>
                                        <p:attrNameLst>
                                          <p:attrName>style.visibility</p:attrName>
                                        </p:attrNameLst>
                                      </p:cBhvr>
                                      <p:to>
                                        <p:strVal val="visible"/>
                                      </p:to>
                                    </p:set>
                                  </p:childTnLst>
                                </p:cTn>
                              </p:par>
                            </p:childTnLst>
                          </p:cTn>
                        </p:par>
                      </p:childTnLst>
                    </p:cTn>
                  </p:par>
                  <p:par>
                    <p:cTn id="537" fill="hold">
                      <p:stCondLst>
                        <p:cond delay="indefinite"/>
                      </p:stCondLst>
                      <p:childTnLst>
                        <p:par>
                          <p:cTn id="538" fill="hold">
                            <p:stCondLst>
                              <p:cond delay="0"/>
                            </p:stCondLst>
                            <p:childTnLst>
                              <p:par>
                                <p:cTn id="539" nodeType="clickEffect" fill="hold" presetClass="entr" presetID="1">
                                  <p:stCondLst>
                                    <p:cond delay="0"/>
                                  </p:stCondLst>
                                  <p:childTnLst>
                                    <p:set>
                                      <p:cBhvr>
                                        <p:cTn id="540" dur="1" fill="hold">
                                          <p:stCondLst>
                                            <p:cond delay="0"/>
                                          </p:stCondLst>
                                        </p:cTn>
                                        <p:tgtEl>
                                          <p:spTgt spid="416">
                                            <p:txEl>
                                              <p:pRg st="1" end="1"/>
                                            </p:txEl>
                                          </p:spTgt>
                                        </p:tgtEl>
                                        <p:attrNameLst>
                                          <p:attrName>style.visibility</p:attrName>
                                        </p:attrNameLst>
                                      </p:cBhvr>
                                      <p:to>
                                        <p:strVal val="visible"/>
                                      </p:to>
                                    </p:set>
                                  </p:childTnLst>
                                </p:cTn>
                              </p:par>
                            </p:childTnLst>
                          </p:cTn>
                        </p:par>
                      </p:childTnLst>
                    </p:cTn>
                  </p:par>
                  <p:par>
                    <p:cTn id="541" fill="hold">
                      <p:stCondLst>
                        <p:cond delay="indefinite"/>
                      </p:stCondLst>
                      <p:childTnLst>
                        <p:par>
                          <p:cTn id="542" fill="hold">
                            <p:stCondLst>
                              <p:cond delay="0"/>
                            </p:stCondLst>
                            <p:childTnLst>
                              <p:par>
                                <p:cTn id="543" nodeType="clickEffect" fill="hold" presetClass="entr" presetID="1">
                                  <p:stCondLst>
                                    <p:cond delay="0"/>
                                  </p:stCondLst>
                                  <p:childTnLst>
                                    <p:set>
                                      <p:cBhvr>
                                        <p:cTn id="544" dur="1" fill="hold">
                                          <p:stCondLst>
                                            <p:cond delay="0"/>
                                          </p:stCondLst>
                                        </p:cTn>
                                        <p:tgtEl>
                                          <p:spTgt spid="416">
                                            <p:txEl>
                                              <p:pRg st="2" end="2"/>
                                            </p:txEl>
                                          </p:spTgt>
                                        </p:tgtEl>
                                        <p:attrNameLst>
                                          <p:attrName>style.visibility</p:attrName>
                                        </p:attrNameLst>
                                      </p:cBhvr>
                                      <p:to>
                                        <p:strVal val="visible"/>
                                      </p:to>
                                    </p:set>
                                  </p:childTnLst>
                                </p:cTn>
                              </p:par>
                            </p:childTnLst>
                          </p:cTn>
                        </p:par>
                      </p:childTnLst>
                    </p:cTn>
                  </p:par>
                  <p:par>
                    <p:cTn id="545" fill="hold">
                      <p:stCondLst>
                        <p:cond delay="indefinite"/>
                      </p:stCondLst>
                      <p:childTnLst>
                        <p:par>
                          <p:cTn id="546" fill="hold">
                            <p:stCondLst>
                              <p:cond delay="0"/>
                            </p:stCondLst>
                            <p:childTnLst>
                              <p:par>
                                <p:cTn id="547" nodeType="clickEffect" fill="hold" presetClass="entr" presetID="1">
                                  <p:stCondLst>
                                    <p:cond delay="0"/>
                                  </p:stCondLst>
                                  <p:childTnLst>
                                    <p:set>
                                      <p:cBhvr>
                                        <p:cTn id="548" dur="1" fill="hold">
                                          <p:stCondLst>
                                            <p:cond delay="0"/>
                                          </p:stCondLst>
                                        </p:cTn>
                                        <p:tgtEl>
                                          <p:spTgt spid="416">
                                            <p:txEl>
                                              <p:pRg st="3" end="3"/>
                                            </p:txEl>
                                          </p:spTgt>
                                        </p:tgtEl>
                                        <p:attrNameLst>
                                          <p:attrName>style.visibility</p:attrName>
                                        </p:attrNameLst>
                                      </p:cBhvr>
                                      <p:to>
                                        <p:strVal val="visible"/>
                                      </p:to>
                                    </p:set>
                                  </p:childTnLst>
                                </p:cTn>
                              </p:par>
                            </p:childTnLst>
                          </p:cTn>
                        </p:par>
                      </p:childTnLst>
                    </p:cTn>
                  </p:par>
                  <p:par>
                    <p:cTn id="549" fill="hold">
                      <p:stCondLst>
                        <p:cond delay="indefinite"/>
                      </p:stCondLst>
                      <p:childTnLst>
                        <p:par>
                          <p:cTn id="550" fill="hold">
                            <p:stCondLst>
                              <p:cond delay="0"/>
                            </p:stCondLst>
                            <p:childTnLst>
                              <p:par>
                                <p:cTn id="551" nodeType="clickEffect" fill="hold" presetClass="entr" presetID="1">
                                  <p:stCondLst>
                                    <p:cond delay="0"/>
                                  </p:stCondLst>
                                  <p:childTnLst>
                                    <p:set>
                                      <p:cBhvr>
                                        <p:cTn id="552" dur="1" fill="hold">
                                          <p:stCondLst>
                                            <p:cond delay="0"/>
                                          </p:stCondLst>
                                        </p:cTn>
                                        <p:tgtEl>
                                          <p:spTgt spid="416">
                                            <p:txEl>
                                              <p:pRg st="4" end="4"/>
                                            </p:txEl>
                                          </p:spTgt>
                                        </p:tgtEl>
                                        <p:attrNameLst>
                                          <p:attrName>style.visibility</p:attrName>
                                        </p:attrNameLst>
                                      </p:cBhvr>
                                      <p:to>
                                        <p:strVal val="visible"/>
                                      </p:to>
                                    </p:se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
                                  <p:stCondLst>
                                    <p:cond delay="0"/>
                                  </p:stCondLst>
                                  <p:childTnLst>
                                    <p:set>
                                      <p:cBhvr>
                                        <p:cTn id="556" dur="1" fill="hold">
                                          <p:stCondLst>
                                            <p:cond delay="0"/>
                                          </p:stCondLst>
                                        </p:cTn>
                                        <p:tgtEl>
                                          <p:spTgt spid="416">
                                            <p:txEl>
                                              <p:pRg st="5" end="5"/>
                                            </p:txEl>
                                          </p:spTgt>
                                        </p:tgtEl>
                                        <p:attrNameLst>
                                          <p:attrName>style.visibility</p:attrName>
                                        </p:attrNameLst>
                                      </p:cBhvr>
                                      <p:to>
                                        <p:strVal val="visible"/>
                                      </p:to>
                                    </p:set>
                                  </p:childTnLst>
                                </p:cTn>
                              </p:par>
                            </p:childTnLst>
                          </p:cTn>
                        </p:par>
                      </p:childTnLst>
                    </p:cTn>
                  </p:par>
                  <p:par>
                    <p:cTn id="557" fill="hold">
                      <p:stCondLst>
                        <p:cond delay="indefinite"/>
                      </p:stCondLst>
                      <p:childTnLst>
                        <p:par>
                          <p:cTn id="558" fill="hold">
                            <p:stCondLst>
                              <p:cond delay="0"/>
                            </p:stCondLst>
                            <p:childTnLst>
                              <p:par>
                                <p:cTn id="559" nodeType="clickEffect" fill="hold" presetClass="entr" presetID="1">
                                  <p:stCondLst>
                                    <p:cond delay="0"/>
                                  </p:stCondLst>
                                  <p:childTnLst>
                                    <p:set>
                                      <p:cBhvr>
                                        <p:cTn id="560" dur="1" fill="hold">
                                          <p:stCondLst>
                                            <p:cond delay="0"/>
                                          </p:stCondLst>
                                        </p:cTn>
                                        <p:tgtEl>
                                          <p:spTgt spid="416">
                                            <p:txEl>
                                              <p:pRg st="6" end="6"/>
                                            </p:txEl>
                                          </p:spTgt>
                                        </p:tgtEl>
                                        <p:attrNameLst>
                                          <p:attrName>style.visibility</p:attrName>
                                        </p:attrNameLst>
                                      </p:cBhvr>
                                      <p:to>
                                        <p:strVal val="visible"/>
                                      </p:to>
                                    </p:set>
                                  </p:childTnLst>
                                </p:cTn>
                              </p:par>
                            </p:childTnLst>
                          </p:cTn>
                        </p:par>
                      </p:childTnLst>
                    </p:cTn>
                  </p:par>
                  <p:par>
                    <p:cTn id="561" fill="hold">
                      <p:stCondLst>
                        <p:cond delay="indefinite"/>
                      </p:stCondLst>
                      <p:childTnLst>
                        <p:par>
                          <p:cTn id="562" fill="hold">
                            <p:stCondLst>
                              <p:cond delay="0"/>
                            </p:stCondLst>
                            <p:childTnLst>
                              <p:par>
                                <p:cTn id="563" nodeType="clickEffect" fill="hold" presetClass="entr" presetID="1">
                                  <p:stCondLst>
                                    <p:cond delay="0"/>
                                  </p:stCondLst>
                                  <p:childTnLst>
                                    <p:set>
                                      <p:cBhvr>
                                        <p:cTn id="564" dur="1" fill="hold">
                                          <p:stCondLst>
                                            <p:cond delay="0"/>
                                          </p:stCondLst>
                                        </p:cTn>
                                        <p:tgtEl>
                                          <p:spTgt spid="416">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5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19"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Right or Wrong? A DB language can be both a data-description and a data-manipulation language.</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Right. Most modern languages include functionalities that support both data manipulation as well as their description.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types of Consistency Constraints are implemented by DDL?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Four types of constraints, including:</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Domain constraints;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Referential integrity;</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Assertions,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Authorization.</a:t>
            </a:r>
            <a:endParaRPr b="0" lang="en-US" sz="1600" spc="-1" strike="noStrike">
              <a:solidFill>
                <a:srgbClr val="000000"/>
              </a:solidFill>
              <a:latin typeface="Arial"/>
            </a:endParaRPr>
          </a:p>
        </p:txBody>
      </p:sp>
      <p:sp>
        <p:nvSpPr>
          <p:cNvPr id="420" name="PlaceHolder 3"/>
          <p:cNvSpPr>
            <a:spLocks noGrp="1"/>
          </p:cNvSpPr>
          <p:nvPr>
            <p:ph type="sldNum" idx="3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441988D-AA29-444C-A4AE-373F2F09FDE0}" type="slidenum">
              <a:rPr b="0" lang="el" sz="1000" spc="-1" strike="noStrike">
                <a:solidFill>
                  <a:schemeClr val="accent1"/>
                </a:solidFill>
                <a:latin typeface="Lato"/>
                <a:ea typeface="Lato"/>
              </a:rPr>
              <a:t>30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65" dur="indefinite" restart="never" nodeType="tmRoot">
          <p:childTnLst>
            <p:seq>
              <p:cTn id="566" dur="indefinite" nodeType="mainSeq">
                <p:childTnLst>
                  <p:par>
                    <p:cTn id="567" fill="hold">
                      <p:stCondLst>
                        <p:cond delay="indefinite"/>
                      </p:stCondLst>
                      <p:childTnLst>
                        <p:par>
                          <p:cTn id="568" fill="hold">
                            <p:stCondLst>
                              <p:cond delay="0"/>
                            </p:stCondLst>
                            <p:childTnLst>
                              <p:par>
                                <p:cTn id="569" nodeType="clickEffect" fill="hold" presetClass="entr" presetID="1">
                                  <p:stCondLst>
                                    <p:cond delay="0"/>
                                  </p:stCondLst>
                                  <p:childTnLst>
                                    <p:set>
                                      <p:cBhvr>
                                        <p:cTn id="570" dur="1" fill="hold">
                                          <p:stCondLst>
                                            <p:cond delay="0"/>
                                          </p:stCondLst>
                                        </p:cTn>
                                        <p:tgtEl>
                                          <p:spTgt spid="419">
                                            <p:txEl>
                                              <p:pRg st="0" end="0"/>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nodeType="clickEffect" fill="hold" presetClass="entr" presetID="1">
                                  <p:stCondLst>
                                    <p:cond delay="0"/>
                                  </p:stCondLst>
                                  <p:childTnLst>
                                    <p:set>
                                      <p:cBhvr>
                                        <p:cTn id="574" dur="1" fill="hold">
                                          <p:stCondLst>
                                            <p:cond delay="0"/>
                                          </p:stCondLst>
                                        </p:cTn>
                                        <p:tgtEl>
                                          <p:spTgt spid="419">
                                            <p:txEl>
                                              <p:pRg st="1" end="1"/>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nodeType="clickEffect" fill="hold" presetClass="entr" presetID="1">
                                  <p:stCondLst>
                                    <p:cond delay="0"/>
                                  </p:stCondLst>
                                  <p:childTnLst>
                                    <p:set>
                                      <p:cBhvr>
                                        <p:cTn id="578" dur="1" fill="hold">
                                          <p:stCondLst>
                                            <p:cond delay="0"/>
                                          </p:stCondLst>
                                        </p:cTn>
                                        <p:tgtEl>
                                          <p:spTgt spid="419">
                                            <p:txEl>
                                              <p:pRg st="2" end="2"/>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nodeType="clickEffect" fill="hold" presetClass="entr" presetID="1">
                                  <p:stCondLst>
                                    <p:cond delay="0"/>
                                  </p:stCondLst>
                                  <p:childTnLst>
                                    <p:set>
                                      <p:cBhvr>
                                        <p:cTn id="582" dur="1" fill="hold">
                                          <p:stCondLst>
                                            <p:cond delay="0"/>
                                          </p:stCondLst>
                                        </p:cTn>
                                        <p:tgtEl>
                                          <p:spTgt spid="419">
                                            <p:txEl>
                                              <p:pRg st="3" end="3"/>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nodeType="clickEffect" fill="hold" presetClass="entr" presetID="1">
                                  <p:stCondLst>
                                    <p:cond delay="0"/>
                                  </p:stCondLst>
                                  <p:childTnLst>
                                    <p:set>
                                      <p:cBhvr>
                                        <p:cTn id="586" dur="1" fill="hold">
                                          <p:stCondLst>
                                            <p:cond delay="0"/>
                                          </p:stCondLst>
                                        </p:cTn>
                                        <p:tgtEl>
                                          <p:spTgt spid="419">
                                            <p:txEl>
                                              <p:pRg st="4" end="4"/>
                                            </p:txEl>
                                          </p:spTgt>
                                        </p:tgtEl>
                                        <p:attrNameLst>
                                          <p:attrName>style.visibility</p:attrName>
                                        </p:attrNameLst>
                                      </p:cBhvr>
                                      <p:to>
                                        <p:strVal val="visible"/>
                                      </p:to>
                                    </p:set>
                                  </p:childTnLst>
                                </p:cTn>
                              </p:par>
                            </p:childTnLst>
                          </p:cTn>
                        </p:par>
                      </p:childTnLst>
                    </p:cTn>
                  </p:par>
                  <p:par>
                    <p:cTn id="587" fill="hold">
                      <p:stCondLst>
                        <p:cond delay="indefinite"/>
                      </p:stCondLst>
                      <p:childTnLst>
                        <p:par>
                          <p:cTn id="588" fill="hold">
                            <p:stCondLst>
                              <p:cond delay="0"/>
                            </p:stCondLst>
                            <p:childTnLst>
                              <p:par>
                                <p:cTn id="589" nodeType="clickEffect" fill="hold" presetClass="entr" presetID="1">
                                  <p:stCondLst>
                                    <p:cond delay="0"/>
                                  </p:stCondLst>
                                  <p:childTnLst>
                                    <p:set>
                                      <p:cBhvr>
                                        <p:cTn id="590" dur="1" fill="hold">
                                          <p:stCondLst>
                                            <p:cond delay="0"/>
                                          </p:stCondLst>
                                        </p:cTn>
                                        <p:tgtEl>
                                          <p:spTgt spid="419">
                                            <p:txEl>
                                              <p:pRg st="5" end="5"/>
                                            </p:txEl>
                                          </p:spTgt>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nodeType="clickEffect" fill="hold" presetClass="entr" presetID="1">
                                  <p:stCondLst>
                                    <p:cond delay="0"/>
                                  </p:stCondLst>
                                  <p:childTnLst>
                                    <p:set>
                                      <p:cBhvr>
                                        <p:cTn id="594" dur="1" fill="hold">
                                          <p:stCondLst>
                                            <p:cond delay="0"/>
                                          </p:stCondLst>
                                        </p:cTn>
                                        <p:tgtEl>
                                          <p:spTgt spid="419">
                                            <p:txEl>
                                              <p:pRg st="6" end="6"/>
                                            </p:txEl>
                                          </p:spTgt>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nodeType="clickEffect" fill="hold" presetClass="entr" presetID="1">
                                  <p:stCondLst>
                                    <p:cond delay="0"/>
                                  </p:stCondLst>
                                  <p:childTnLst>
                                    <p:set>
                                      <p:cBhvr>
                                        <p:cTn id="598" dur="1" fill="hold">
                                          <p:stCondLst>
                                            <p:cond delay="0"/>
                                          </p:stCondLst>
                                        </p:cTn>
                                        <p:tgtEl>
                                          <p:spTgt spid="41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6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22"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are the two main categories of DML?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two main categories of DML are: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Procedural languages,</a:t>
            </a:r>
            <a:r>
              <a:rPr b="0" lang="el" sz="1600" spc="-1" strike="noStrike">
                <a:solidFill>
                  <a:schemeClr val="accent1"/>
                </a:solidFill>
                <a:latin typeface="Lato"/>
                <a:ea typeface="Lato"/>
              </a:rPr>
              <a:t> which require the user to specify what data they want to access and how to do so,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Declarative</a:t>
            </a:r>
            <a:r>
              <a:rPr b="0" lang="el" sz="1600" spc="-1" strike="noStrike">
                <a:solidFill>
                  <a:schemeClr val="accent1"/>
                </a:solidFill>
                <a:latin typeface="Lato"/>
                <a:ea typeface="Lato"/>
              </a:rPr>
              <a:t> (nonprocedural) </a:t>
            </a:r>
            <a:r>
              <a:rPr b="1" lang="el" sz="1600" spc="-1" strike="noStrike">
                <a:solidFill>
                  <a:schemeClr val="accent1"/>
                </a:solidFill>
                <a:latin typeface="Lato"/>
                <a:ea typeface="Lato"/>
              </a:rPr>
              <a:t>languages,</a:t>
            </a:r>
            <a:r>
              <a:rPr b="0" lang="el" sz="1600" spc="-1" strike="noStrike">
                <a:solidFill>
                  <a:schemeClr val="accent1"/>
                </a:solidFill>
                <a:latin typeface="Lato"/>
                <a:ea typeface="Lato"/>
              </a:rPr>
              <a:t> which require users to specify only what data they want to access, without specifying how.</a:t>
            </a:r>
            <a:endParaRPr b="0" lang="en-US" sz="1600" spc="-1" strike="noStrike">
              <a:solidFill>
                <a:srgbClr val="000000"/>
              </a:solidFill>
              <a:latin typeface="Arial"/>
            </a:endParaRPr>
          </a:p>
        </p:txBody>
      </p:sp>
      <p:sp>
        <p:nvSpPr>
          <p:cNvPr id="423" name="PlaceHolder 3"/>
          <p:cNvSpPr>
            <a:spLocks noGrp="1"/>
          </p:cNvSpPr>
          <p:nvPr>
            <p:ph type="sldNum" idx="3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501CBF4-41B3-4B37-BA3E-A29AC4ED3CDF}" type="slidenum">
              <a:rPr b="0" lang="el" sz="1000" spc="-1" strike="noStrike">
                <a:solidFill>
                  <a:schemeClr val="accent1"/>
                </a:solidFill>
                <a:latin typeface="Lato"/>
                <a:ea typeface="Lato"/>
              </a:rPr>
              <a:t>31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99" dur="indefinite" restart="never" nodeType="tmRoot">
          <p:childTnLst>
            <p:seq>
              <p:cTn id="600" dur="indefinite" nodeType="mainSeq">
                <p:childTnLst>
                  <p:par>
                    <p:cTn id="601" fill="hold">
                      <p:stCondLst>
                        <p:cond delay="indefinite"/>
                      </p:stCondLst>
                      <p:childTnLst>
                        <p:par>
                          <p:cTn id="602" fill="hold">
                            <p:stCondLst>
                              <p:cond delay="0"/>
                            </p:stCondLst>
                            <p:childTnLst>
                              <p:par>
                                <p:cTn id="603" nodeType="clickEffect" fill="hold" presetClass="entr" presetID="1">
                                  <p:stCondLst>
                                    <p:cond delay="0"/>
                                  </p:stCondLst>
                                  <p:childTnLst>
                                    <p:set>
                                      <p:cBhvr>
                                        <p:cTn id="604" dur="1" fill="hold">
                                          <p:stCondLst>
                                            <p:cond delay="0"/>
                                          </p:stCondLst>
                                        </p:cTn>
                                        <p:tgtEl>
                                          <p:spTgt spid="422">
                                            <p:txEl>
                                              <p:pRg st="0" end="0"/>
                                            </p:txEl>
                                          </p:spTgt>
                                        </p:tgtEl>
                                        <p:attrNameLst>
                                          <p:attrName>style.visibility</p:attrName>
                                        </p:attrNameLst>
                                      </p:cBhvr>
                                      <p:to>
                                        <p:strVal val="visible"/>
                                      </p:to>
                                    </p:set>
                                  </p:childTnLst>
                                </p:cTn>
                              </p:par>
                            </p:childTnLst>
                          </p:cTn>
                        </p:par>
                      </p:childTnLst>
                    </p:cTn>
                  </p:par>
                  <p:par>
                    <p:cTn id="605" fill="hold">
                      <p:stCondLst>
                        <p:cond delay="indefinite"/>
                      </p:stCondLst>
                      <p:childTnLst>
                        <p:par>
                          <p:cTn id="606" fill="hold">
                            <p:stCondLst>
                              <p:cond delay="0"/>
                            </p:stCondLst>
                            <p:childTnLst>
                              <p:par>
                                <p:cTn id="607" nodeType="clickEffect" fill="hold" presetClass="entr" presetID="1">
                                  <p:stCondLst>
                                    <p:cond delay="0"/>
                                  </p:stCondLst>
                                  <p:childTnLst>
                                    <p:set>
                                      <p:cBhvr>
                                        <p:cTn id="608" dur="1" fill="hold">
                                          <p:stCondLst>
                                            <p:cond delay="0"/>
                                          </p:stCondLst>
                                        </p:cTn>
                                        <p:tgtEl>
                                          <p:spTgt spid="422">
                                            <p:txEl>
                                              <p:pRg st="1" end="1"/>
                                            </p:txEl>
                                          </p:spTgt>
                                        </p:tgtEl>
                                        <p:attrNameLst>
                                          <p:attrName>style.visibility</p:attrName>
                                        </p:attrNameLst>
                                      </p:cBhvr>
                                      <p:to>
                                        <p:strVal val="visible"/>
                                      </p:to>
                                    </p:set>
                                  </p:childTnLst>
                                </p:cTn>
                              </p:par>
                            </p:childTnLst>
                          </p:cTn>
                        </p:par>
                      </p:childTnLst>
                    </p:cTn>
                  </p:par>
                  <p:par>
                    <p:cTn id="609" fill="hold">
                      <p:stCondLst>
                        <p:cond delay="indefinite"/>
                      </p:stCondLst>
                      <p:childTnLst>
                        <p:par>
                          <p:cTn id="610" fill="hold">
                            <p:stCondLst>
                              <p:cond delay="0"/>
                            </p:stCondLst>
                            <p:childTnLst>
                              <p:par>
                                <p:cTn id="611" nodeType="clickEffect" fill="hold" presetClass="entr" presetID="1">
                                  <p:stCondLst>
                                    <p:cond delay="0"/>
                                  </p:stCondLst>
                                  <p:childTnLst>
                                    <p:set>
                                      <p:cBhvr>
                                        <p:cTn id="612" dur="1" fill="hold">
                                          <p:stCondLst>
                                            <p:cond delay="0"/>
                                          </p:stCondLst>
                                        </p:cTn>
                                        <p:tgtEl>
                                          <p:spTgt spid="422">
                                            <p:txEl>
                                              <p:pRg st="2" end="2"/>
                                            </p:txEl>
                                          </p:spTgt>
                                        </p:tgtEl>
                                        <p:attrNameLst>
                                          <p:attrName>style.visibility</p:attrName>
                                        </p:attrNameLst>
                                      </p:cBhvr>
                                      <p:to>
                                        <p:strVal val="visible"/>
                                      </p:to>
                                    </p:set>
                                  </p:childTnLst>
                                </p:cTn>
                              </p:par>
                            </p:childTnLst>
                          </p:cTn>
                        </p:par>
                      </p:childTnLst>
                    </p:cTn>
                  </p:par>
                  <p:par>
                    <p:cTn id="613" fill="hold">
                      <p:stCondLst>
                        <p:cond delay="indefinite"/>
                      </p:stCondLst>
                      <p:childTnLst>
                        <p:par>
                          <p:cTn id="614" fill="hold">
                            <p:stCondLst>
                              <p:cond delay="0"/>
                            </p:stCondLst>
                            <p:childTnLst>
                              <p:par>
                                <p:cTn id="615" nodeType="clickEffect" fill="hold" presetClass="entr" presetID="1">
                                  <p:stCondLst>
                                    <p:cond delay="0"/>
                                  </p:stCondLst>
                                  <p:childTnLst>
                                    <p:set>
                                      <p:cBhvr>
                                        <p:cTn id="616" dur="1" fill="hold">
                                          <p:stCondLst>
                                            <p:cond delay="0"/>
                                          </p:stCondLst>
                                        </p:cTn>
                                        <p:tgtEl>
                                          <p:spTgt spid="422">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Time for Fun!</a:t>
            </a:r>
            <a:endParaRPr b="0" lang="en-US" sz="3600" spc="-1" strike="noStrike">
              <a:solidFill>
                <a:srgbClr val="000000"/>
              </a:solidFill>
              <a:latin typeface="Arial"/>
            </a:endParaRPr>
          </a:p>
        </p:txBody>
      </p:sp>
      <p:sp>
        <p:nvSpPr>
          <p:cNvPr id="425" name="PlaceHolder 2"/>
          <p:cNvSpPr>
            <a:spLocks noGrp="1"/>
          </p:cNvSpPr>
          <p:nvPr>
            <p:ph type="sldNum" idx="3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169853E3-BB8B-4C17-BCB0-885F39426E0B}" type="slidenum">
              <a:rPr b="0" lang="el" sz="1000" spc="-1" strike="noStrike">
                <a:solidFill>
                  <a:schemeClr val="lt1"/>
                </a:solidFill>
                <a:latin typeface="Lato"/>
                <a:ea typeface="Lato"/>
              </a:rPr>
              <a:t>32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1 / n</a:t>
            </a:r>
            <a:endParaRPr b="0" lang="en-US" sz="2600" spc="-1" strike="noStrike">
              <a:solidFill>
                <a:srgbClr val="000000"/>
              </a:solidFill>
              <a:latin typeface="Arial"/>
            </a:endParaRPr>
          </a:p>
        </p:txBody>
      </p:sp>
      <p:sp>
        <p:nvSpPr>
          <p:cNvPr id="427" name="PlaceHolder 2"/>
          <p:cNvSpPr>
            <a:spLocks noGrp="1"/>
          </p:cNvSpPr>
          <p:nvPr>
            <p:ph/>
          </p:nvPr>
        </p:nvSpPr>
        <p:spPr>
          <a:xfrm>
            <a:off x="729360" y="1378080"/>
            <a:ext cx="7688520" cy="28573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Open a browser window and open the following pages into two separate tabs: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u="sng">
                <a:solidFill>
                  <a:schemeClr val="hlink"/>
                </a:solidFill>
                <a:uFillTx/>
                <a:latin typeface="Lato"/>
                <a:ea typeface="Lato"/>
                <a:hlinkClick r:id="rId1"/>
              </a:rPr>
              <a:t>https://dbdiagram.io/home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u="sng">
                <a:solidFill>
                  <a:schemeClr val="hlink"/>
                </a:solidFill>
                <a:uFillTx/>
                <a:latin typeface="Lato"/>
                <a:ea typeface="Lato"/>
                <a:hlinkClick r:id="rId2"/>
              </a:rPr>
              <a:t>https://dbml.dbdiagram.io/docs/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DB Markup Language (DBML) is a high level DB language which we shall use as an introduction to DB design and DB languages.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It also offers automated generation of E-R diagrams, which is quite useful (so, you could use it for that purpose as well).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It will also give us a chance to get accustomed with exploring the wild west of a language’s documentation (check the second link above).</a:t>
            </a:r>
            <a:endParaRPr b="0" lang="en-US" sz="1600" spc="-1" strike="noStrike">
              <a:solidFill>
                <a:srgbClr val="000000"/>
              </a:solidFill>
              <a:latin typeface="Arial"/>
            </a:endParaRPr>
          </a:p>
        </p:txBody>
      </p:sp>
      <p:sp>
        <p:nvSpPr>
          <p:cNvPr id="428" name="Google Shape;410;p48"/>
          <p:cNvSpPr/>
          <p:nvPr/>
        </p:nvSpPr>
        <p:spPr>
          <a:xfrm>
            <a:off x="1565280" y="4235760"/>
            <a:ext cx="6016680" cy="61776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accent1"/>
                </a:solidFill>
                <a:latin typeface="Lato"/>
                <a:ea typeface="Lato"/>
              </a:rPr>
              <a:t>We will not use DBML as our primary DB language, however, we will often make use of its high level features and syntax.</a:t>
            </a:r>
            <a:endParaRPr b="0" lang="en-US" sz="1600" spc="-1" strike="noStrike">
              <a:solidFill>
                <a:srgbClr val="000000"/>
              </a:solidFill>
              <a:latin typeface="Arial"/>
            </a:endParaRPr>
          </a:p>
        </p:txBody>
      </p:sp>
      <p:sp>
        <p:nvSpPr>
          <p:cNvPr id="429" name="PlaceHolder 3"/>
          <p:cNvSpPr>
            <a:spLocks noGrp="1"/>
          </p:cNvSpPr>
          <p:nvPr>
            <p:ph type="sldNum" idx="3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97653E6-24EF-4E8E-94FC-BE461943A1DE}" type="slidenum">
              <a:rPr b="0" lang="el" sz="1000" spc="-1" strike="noStrike">
                <a:solidFill>
                  <a:schemeClr val="accent1"/>
                </a:solidFill>
                <a:latin typeface="Lato"/>
                <a:ea typeface="Lato"/>
              </a:rPr>
              <a:t>33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17" dur="indefinite" restart="never" nodeType="tmRoot">
          <p:childTnLst>
            <p:seq>
              <p:cTn id="618" dur="indefinite" nodeType="mainSeq">
                <p:childTnLst>
                  <p:par>
                    <p:cTn id="619" fill="hold">
                      <p:stCondLst>
                        <p:cond delay="indefinite"/>
                      </p:stCondLst>
                      <p:childTnLst>
                        <p:par>
                          <p:cTn id="620" fill="hold">
                            <p:stCondLst>
                              <p:cond delay="0"/>
                            </p:stCondLst>
                            <p:childTnLst>
                              <p:par>
                                <p:cTn id="621" nodeType="clickEffect" fill="hold" presetClass="entr" presetID="1">
                                  <p:stCondLst>
                                    <p:cond delay="0"/>
                                  </p:stCondLst>
                                  <p:childTnLst>
                                    <p:set>
                                      <p:cBhvr>
                                        <p:cTn id="622" dur="1" fill="hold">
                                          <p:stCondLst>
                                            <p:cond delay="0"/>
                                          </p:stCondLst>
                                        </p:cTn>
                                        <p:tgtEl>
                                          <p:spTgt spid="427">
                                            <p:txEl>
                                              <p:pRg st="0" end="0"/>
                                            </p:txEl>
                                          </p:spTgt>
                                        </p:tgtEl>
                                        <p:attrNameLst>
                                          <p:attrName>style.visibility</p:attrName>
                                        </p:attrNameLst>
                                      </p:cBhvr>
                                      <p:to>
                                        <p:strVal val="visible"/>
                                      </p:to>
                                    </p:set>
                                  </p:childTnLst>
                                </p:cTn>
                              </p:par>
                            </p:childTnLst>
                          </p:cTn>
                        </p:par>
                      </p:childTnLst>
                    </p:cTn>
                  </p:par>
                  <p:par>
                    <p:cTn id="623" fill="hold">
                      <p:stCondLst>
                        <p:cond delay="indefinite"/>
                      </p:stCondLst>
                      <p:childTnLst>
                        <p:par>
                          <p:cTn id="624" fill="hold">
                            <p:stCondLst>
                              <p:cond delay="0"/>
                            </p:stCondLst>
                            <p:childTnLst>
                              <p:par>
                                <p:cTn id="625" nodeType="clickEffect" fill="hold" presetClass="entr" presetID="1">
                                  <p:stCondLst>
                                    <p:cond delay="0"/>
                                  </p:stCondLst>
                                  <p:childTnLst>
                                    <p:set>
                                      <p:cBhvr>
                                        <p:cTn id="626" dur="1" fill="hold">
                                          <p:stCondLst>
                                            <p:cond delay="0"/>
                                          </p:stCondLst>
                                        </p:cTn>
                                        <p:tgtEl>
                                          <p:spTgt spid="427">
                                            <p:txEl>
                                              <p:pRg st="1" end="1"/>
                                            </p:txEl>
                                          </p:spTgt>
                                        </p:tgtEl>
                                        <p:attrNameLst>
                                          <p:attrName>style.visibility</p:attrName>
                                        </p:attrNameLst>
                                      </p:cBhvr>
                                      <p:to>
                                        <p:strVal val="visible"/>
                                      </p:to>
                                    </p:set>
                                  </p:childTnLst>
                                </p:cTn>
                              </p:par>
                            </p:childTnLst>
                          </p:cTn>
                        </p:par>
                      </p:childTnLst>
                    </p:cTn>
                  </p:par>
                  <p:par>
                    <p:cTn id="627" fill="hold">
                      <p:stCondLst>
                        <p:cond delay="indefinite"/>
                      </p:stCondLst>
                      <p:childTnLst>
                        <p:par>
                          <p:cTn id="628" fill="hold">
                            <p:stCondLst>
                              <p:cond delay="0"/>
                            </p:stCondLst>
                            <p:childTnLst>
                              <p:par>
                                <p:cTn id="629" nodeType="clickEffect" fill="hold" presetClass="entr" presetID="1">
                                  <p:stCondLst>
                                    <p:cond delay="0"/>
                                  </p:stCondLst>
                                  <p:childTnLst>
                                    <p:set>
                                      <p:cBhvr>
                                        <p:cTn id="630" dur="1" fill="hold">
                                          <p:stCondLst>
                                            <p:cond delay="0"/>
                                          </p:stCondLst>
                                        </p:cTn>
                                        <p:tgtEl>
                                          <p:spTgt spid="427">
                                            <p:txEl>
                                              <p:pRg st="2" end="2"/>
                                            </p:txEl>
                                          </p:spTgt>
                                        </p:tgtEl>
                                        <p:attrNameLst>
                                          <p:attrName>style.visibility</p:attrName>
                                        </p:attrNameLst>
                                      </p:cBhvr>
                                      <p:to>
                                        <p:strVal val="visible"/>
                                      </p:to>
                                    </p:set>
                                  </p:childTnLst>
                                </p:cTn>
                              </p:par>
                            </p:childTnLst>
                          </p:cTn>
                        </p:par>
                      </p:childTnLst>
                    </p:cTn>
                  </p:par>
                  <p:par>
                    <p:cTn id="631" fill="hold">
                      <p:stCondLst>
                        <p:cond delay="indefinite"/>
                      </p:stCondLst>
                      <p:childTnLst>
                        <p:par>
                          <p:cTn id="632" fill="hold">
                            <p:stCondLst>
                              <p:cond delay="0"/>
                            </p:stCondLst>
                            <p:childTnLst>
                              <p:par>
                                <p:cTn id="633" nodeType="clickEffect" fill="hold" presetClass="entr" presetID="1">
                                  <p:stCondLst>
                                    <p:cond delay="0"/>
                                  </p:stCondLst>
                                  <p:childTnLst>
                                    <p:set>
                                      <p:cBhvr>
                                        <p:cTn id="634" dur="1" fill="hold">
                                          <p:stCondLst>
                                            <p:cond delay="0"/>
                                          </p:stCondLst>
                                        </p:cTn>
                                        <p:tgtEl>
                                          <p:spTgt spid="427">
                                            <p:txEl>
                                              <p:pRg st="3" end="3"/>
                                            </p:txEl>
                                          </p:spTgt>
                                        </p:tgtEl>
                                        <p:attrNameLst>
                                          <p:attrName>style.visibility</p:attrName>
                                        </p:attrNameLst>
                                      </p:cBhvr>
                                      <p:to>
                                        <p:strVal val="visible"/>
                                      </p:to>
                                    </p:set>
                                  </p:childTnLst>
                                </p:cTn>
                              </p:par>
                            </p:childTnLst>
                          </p:cTn>
                        </p:par>
                      </p:childTnLst>
                    </p:cTn>
                  </p:par>
                  <p:par>
                    <p:cTn id="635" fill="hold">
                      <p:stCondLst>
                        <p:cond delay="indefinite"/>
                      </p:stCondLst>
                      <p:childTnLst>
                        <p:par>
                          <p:cTn id="636" fill="hold">
                            <p:stCondLst>
                              <p:cond delay="0"/>
                            </p:stCondLst>
                            <p:childTnLst>
                              <p:par>
                                <p:cTn id="637" nodeType="clickEffect" fill="hold" presetClass="entr" presetID="1">
                                  <p:stCondLst>
                                    <p:cond delay="0"/>
                                  </p:stCondLst>
                                  <p:childTnLst>
                                    <p:set>
                                      <p:cBhvr>
                                        <p:cTn id="638" dur="1" fill="hold">
                                          <p:stCondLst>
                                            <p:cond delay="0"/>
                                          </p:stCondLst>
                                        </p:cTn>
                                        <p:tgtEl>
                                          <p:spTgt spid="427">
                                            <p:txEl>
                                              <p:pRg st="4" end="4"/>
                                            </p:txEl>
                                          </p:spTgt>
                                        </p:tgtEl>
                                        <p:attrNameLst>
                                          <p:attrName>style.visibility</p:attrName>
                                        </p:attrNameLst>
                                      </p:cBhvr>
                                      <p:to>
                                        <p:strVal val="visible"/>
                                      </p:to>
                                    </p:set>
                                  </p:childTnLst>
                                </p:cTn>
                              </p:par>
                            </p:childTnLst>
                          </p:cTn>
                        </p:par>
                      </p:childTnLst>
                    </p:cTn>
                  </p:par>
                  <p:par>
                    <p:cTn id="639" fill="hold">
                      <p:stCondLst>
                        <p:cond delay="indefinite"/>
                      </p:stCondLst>
                      <p:childTnLst>
                        <p:par>
                          <p:cTn id="640" fill="hold">
                            <p:stCondLst>
                              <p:cond delay="0"/>
                            </p:stCondLst>
                            <p:childTnLst>
                              <p:par>
                                <p:cTn id="641" nodeType="clickEffect" fill="hold" presetClass="entr" presetID="1">
                                  <p:stCondLst>
                                    <p:cond delay="0"/>
                                  </p:stCondLst>
                                  <p:childTnLst>
                                    <p:set>
                                      <p:cBhvr>
                                        <p:cTn id="642" dur="1" fill="hold">
                                          <p:stCondLst>
                                            <p:cond delay="0"/>
                                          </p:stCondLst>
                                        </p:cTn>
                                        <p:tgtEl>
                                          <p:spTgt spid="427">
                                            <p:txEl>
                                              <p:pRg st="5" end="5"/>
                                            </p:txEl>
                                          </p:spTgt>
                                        </p:tgtEl>
                                        <p:attrNameLst>
                                          <p:attrName>style.visibility</p:attrName>
                                        </p:attrNameLst>
                                      </p:cBhvr>
                                      <p:to>
                                        <p:strVal val="visible"/>
                                      </p:to>
                                    </p:set>
                                  </p:childTnLst>
                                </p:cTn>
                              </p:par>
                            </p:childTnLst>
                          </p:cTn>
                        </p:par>
                      </p:childTnLst>
                    </p:cTn>
                  </p:par>
                  <p:par>
                    <p:cTn id="643" fill="hold">
                      <p:stCondLst>
                        <p:cond delay="indefinite"/>
                      </p:stCondLst>
                      <p:childTnLst>
                        <p:par>
                          <p:cTn id="644" fill="hold">
                            <p:stCondLst>
                              <p:cond delay="0"/>
                            </p:stCondLst>
                            <p:childTnLst>
                              <p:par>
                                <p:cTn id="645" nodeType="clickEffect" fill="hold" presetClass="entr" presetID="1">
                                  <p:stCondLst>
                                    <p:cond delay="0"/>
                                  </p:stCondLst>
                                  <p:childTnLst>
                                    <p:set>
                                      <p:cBhvr>
                                        <p:cTn id="646"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31" name="PlaceHolder 2"/>
          <p:cNvSpPr>
            <a:spLocks noGrp="1"/>
          </p:cNvSpPr>
          <p:nvPr>
            <p:ph/>
          </p:nvPr>
        </p:nvSpPr>
        <p:spPr>
          <a:xfrm>
            <a:off x="729360" y="1378080"/>
            <a:ext cx="7688520" cy="5349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Click on the </a:t>
            </a:r>
            <a:r>
              <a:rPr b="1" lang="el" sz="1600" spc="-1" strike="noStrike">
                <a:solidFill>
                  <a:schemeClr val="accent1"/>
                </a:solidFill>
                <a:latin typeface="Lato"/>
                <a:ea typeface="Lato"/>
              </a:rPr>
              <a:t>“Create you diagram”</a:t>
            </a:r>
            <a:r>
              <a:rPr b="0" lang="el" sz="1600" spc="-1" strike="noStrike">
                <a:solidFill>
                  <a:schemeClr val="accent1"/>
                </a:solidFill>
                <a:latin typeface="Lato"/>
                <a:ea typeface="Lato"/>
              </a:rPr>
              <a:t> button in: </a:t>
            </a:r>
            <a:r>
              <a:rPr b="0" lang="el" sz="1600" spc="-1" strike="noStrike" u="sng">
                <a:solidFill>
                  <a:schemeClr val="accent5"/>
                </a:solidFill>
                <a:uFillTx/>
                <a:latin typeface="Lato"/>
                <a:ea typeface="Lato"/>
                <a:hlinkClick r:id="rId1"/>
              </a:rPr>
              <a:t>https://dbdiagram.io/home</a:t>
            </a:r>
            <a:endParaRPr b="0" lang="en-US" sz="1600" spc="-1" strike="noStrike">
              <a:solidFill>
                <a:srgbClr val="000000"/>
              </a:solidFill>
              <a:latin typeface="Arial"/>
            </a:endParaRPr>
          </a:p>
        </p:txBody>
      </p:sp>
      <p:pic>
        <p:nvPicPr>
          <p:cNvPr id="432" name="Google Shape;418;p49" descr=""/>
          <p:cNvPicPr/>
          <p:nvPr/>
        </p:nvPicPr>
        <p:blipFill>
          <a:blip r:embed="rId2"/>
          <a:stretch/>
        </p:blipFill>
        <p:spPr>
          <a:xfrm>
            <a:off x="2565360" y="1800000"/>
            <a:ext cx="4296600" cy="3343320"/>
          </a:xfrm>
          <a:prstGeom prst="rect">
            <a:avLst/>
          </a:prstGeom>
          <a:ln w="0">
            <a:noFill/>
          </a:ln>
        </p:spPr>
      </p:pic>
      <p:grpSp>
        <p:nvGrpSpPr>
          <p:cNvPr id="433" name="Google Shape;419;p49"/>
          <p:cNvGrpSpPr/>
          <p:nvPr/>
        </p:nvGrpSpPr>
        <p:grpSpPr>
          <a:xfrm>
            <a:off x="2565360" y="2571840"/>
            <a:ext cx="2639160" cy="455040"/>
            <a:chOff x="2565360" y="2571840"/>
            <a:chExt cx="2639160" cy="455040"/>
          </a:xfrm>
        </p:grpSpPr>
        <p:sp>
          <p:nvSpPr>
            <p:cNvPr id="434" name="Google Shape;420;p49"/>
            <p:cNvSpPr/>
            <p:nvPr/>
          </p:nvSpPr>
          <p:spPr>
            <a:xfrm>
              <a:off x="4223160" y="2763360"/>
              <a:ext cx="981360" cy="263520"/>
            </a:xfrm>
            <a:prstGeom prst="rect">
              <a:avLst/>
            </a:prstGeom>
            <a:noFill/>
            <a:ln w="19050">
              <a:solidFill>
                <a:srgbClr val="eb5600"/>
              </a:solidFill>
              <a:prstDash val="dash"/>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35" name="Google Shape;421;p49"/>
            <p:cNvSpPr/>
            <p:nvPr/>
          </p:nvSpPr>
          <p:spPr>
            <a:xfrm>
              <a:off x="2565360" y="2571840"/>
              <a:ext cx="981360" cy="395640"/>
            </a:xfrm>
            <a:prstGeom prst="rect">
              <a:avLst/>
            </a:prstGeom>
            <a:noFill/>
            <a:ln w="0">
              <a:noFill/>
            </a:ln>
          </p:spPr>
          <p:style>
            <a:lnRef idx="0"/>
            <a:fillRef idx="0"/>
            <a:effectRef idx="0"/>
            <a:fontRef idx="minor"/>
          </p:style>
          <p:txBody>
            <a:bodyPr tIns="91440" bIns="91440" anchor="t">
              <a:spAutoFit/>
            </a:bodyPr>
            <a:p>
              <a:pPr>
                <a:lnSpc>
                  <a:spcPct val="100000"/>
                </a:lnSpc>
                <a:tabLst>
                  <a:tab algn="l" pos="0"/>
                </a:tabLst>
              </a:pPr>
              <a:r>
                <a:rPr b="1" lang="el" sz="1400" spc="-1" strike="noStrike">
                  <a:solidFill>
                    <a:schemeClr val="accent3"/>
                  </a:solidFill>
                  <a:latin typeface="Lato"/>
                  <a:ea typeface="Lato"/>
                </a:rPr>
                <a:t>Click here</a:t>
              </a:r>
              <a:endParaRPr b="0" lang="en-US" sz="1400" spc="-1" strike="noStrike">
                <a:solidFill>
                  <a:srgbClr val="000000"/>
                </a:solidFill>
                <a:latin typeface="Arial"/>
              </a:endParaRPr>
            </a:p>
          </p:txBody>
        </p:sp>
        <p:cxnSp>
          <p:nvCxnSpPr>
            <p:cNvPr id="436" name="Google Shape;422;p49"/>
            <p:cNvCxnSpPr>
              <a:stCxn id="435" idx="3"/>
              <a:endCxn id="434" idx="1"/>
            </p:cNvCxnSpPr>
            <p:nvPr/>
          </p:nvCxnSpPr>
          <p:spPr>
            <a:xfrm>
              <a:off x="3546720" y="2769480"/>
              <a:ext cx="676800" cy="126000"/>
            </a:xfrm>
            <a:prstGeom prst="straightConnector1">
              <a:avLst/>
            </a:prstGeom>
            <a:ln w="19050">
              <a:solidFill>
                <a:srgbClr val="eb5600"/>
              </a:solidFill>
              <a:round/>
              <a:tailEnd len="med" type="stealth" w="med"/>
            </a:ln>
          </p:spPr>
        </p:cxnSp>
      </p:grpSp>
      <p:sp>
        <p:nvSpPr>
          <p:cNvPr id="437" name="PlaceHolder 3"/>
          <p:cNvSpPr>
            <a:spLocks noGrp="1"/>
          </p:cNvSpPr>
          <p:nvPr>
            <p:ph type="sldNum" idx="3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39DA3E9-D6A7-4581-86DC-56F69F1FC4F3}" type="slidenum">
              <a:rPr b="0" lang="el" sz="1000" spc="-1" strike="noStrike">
                <a:solidFill>
                  <a:schemeClr val="accent1"/>
                </a:solidFill>
                <a:latin typeface="Lato"/>
                <a:ea typeface="Lato"/>
              </a:rPr>
              <a:t>34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47" dur="indefinite" restart="never" nodeType="tmRoot">
          <p:childTnLst>
            <p:seq>
              <p:cTn id="648" dur="indefinite" nodeType="mainSeq">
                <p:childTnLst>
                  <p:par>
                    <p:cTn id="649" fill="hold">
                      <p:stCondLst>
                        <p:cond delay="indefinite"/>
                      </p:stCondLst>
                      <p:childTnLst>
                        <p:par>
                          <p:cTn id="650" fill="hold">
                            <p:stCondLst>
                              <p:cond delay="0"/>
                            </p:stCondLst>
                            <p:childTnLst>
                              <p:par>
                                <p:cTn id="651" nodeType="clickEffect" fill="hold" presetClass="entr" presetID="1">
                                  <p:stCondLst>
                                    <p:cond delay="0"/>
                                  </p:stCondLst>
                                  <p:childTnLst>
                                    <p:set>
                                      <p:cBhvr>
                                        <p:cTn id="652" dur="1" fill="hold">
                                          <p:stCondLst>
                                            <p:cond delay="0"/>
                                          </p:stCondLst>
                                        </p:cTn>
                                        <p:tgtEl>
                                          <p:spTgt spid="431"/>
                                        </p:tgtEl>
                                        <p:attrNameLst>
                                          <p:attrName>style.visibility</p:attrName>
                                        </p:attrNameLst>
                                      </p:cBhvr>
                                      <p:to>
                                        <p:strVal val="visible"/>
                                      </p:to>
                                    </p:set>
                                  </p:childTnLst>
                                </p:cTn>
                              </p:par>
                            </p:childTnLst>
                          </p:cTn>
                        </p:par>
                      </p:childTnLst>
                    </p:cTn>
                  </p:par>
                  <p:par>
                    <p:cTn id="653" fill="hold">
                      <p:stCondLst>
                        <p:cond delay="indefinite"/>
                      </p:stCondLst>
                      <p:childTnLst>
                        <p:par>
                          <p:cTn id="654" fill="hold">
                            <p:stCondLst>
                              <p:cond delay="0"/>
                            </p:stCondLst>
                            <p:childTnLst>
                              <p:par>
                                <p:cTn id="655" nodeType="clickEffect" fill="hold" presetClass="entr" presetID="1">
                                  <p:stCondLst>
                                    <p:cond delay="0"/>
                                  </p:stCondLst>
                                  <p:childTnLst>
                                    <p:set>
                                      <p:cBhvr>
                                        <p:cTn id="656" dur="1" fill="hold">
                                          <p:stCondLst>
                                            <p:cond delay="0"/>
                                          </p:stCondLst>
                                        </p:cTn>
                                        <p:tgtEl>
                                          <p:spTgt spid="432"/>
                                        </p:tgtEl>
                                        <p:attrNameLst>
                                          <p:attrName>style.visibility</p:attrName>
                                        </p:attrNameLst>
                                      </p:cBhvr>
                                      <p:to>
                                        <p:strVal val="visible"/>
                                      </p:to>
                                    </p:set>
                                  </p:childTnLst>
                                </p:cTn>
                              </p:par>
                            </p:childTnLst>
                          </p:cTn>
                        </p:par>
                      </p:childTnLst>
                    </p:cTn>
                  </p:par>
                  <p:par>
                    <p:cTn id="657" fill="hold">
                      <p:stCondLst>
                        <p:cond delay="indefinite"/>
                      </p:stCondLst>
                      <p:childTnLst>
                        <p:par>
                          <p:cTn id="658" fill="hold">
                            <p:stCondLst>
                              <p:cond delay="0"/>
                            </p:stCondLst>
                            <p:childTnLst>
                              <p:par>
                                <p:cTn id="659" nodeType="clickEffect" fill="hold" presetClass="entr" presetID="1">
                                  <p:stCondLst>
                                    <p:cond delay="0"/>
                                  </p:stCondLst>
                                  <p:childTnLst>
                                    <p:set>
                                      <p:cBhvr>
                                        <p:cTn id="660"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439" name="PlaceHolder 2"/>
          <p:cNvSpPr>
            <a:spLocks noGrp="1"/>
          </p:cNvSpPr>
          <p:nvPr>
            <p:ph/>
          </p:nvPr>
        </p:nvSpPr>
        <p:spPr>
          <a:xfrm>
            <a:off x="729360" y="1378080"/>
            <a:ext cx="7688520" cy="448920"/>
          </a:xfrm>
          <a:prstGeom prst="rect">
            <a:avLst/>
          </a:prstGeom>
          <a:noFill/>
          <a:ln w="0">
            <a:noFill/>
          </a:ln>
        </p:spPr>
        <p:txBody>
          <a:bodyPr tIns="91440" bIns="91440" anchor="t">
            <a:normAutofit fontScale="95000"/>
          </a:bodyPr>
          <a:p>
            <a:pPr indent="0">
              <a:lnSpc>
                <a:spcPct val="115000"/>
              </a:lnSpc>
              <a:spcAft>
                <a:spcPts val="1199"/>
              </a:spcAft>
              <a:buNone/>
              <a:tabLst>
                <a:tab algn="l" pos="0"/>
              </a:tabLst>
            </a:pPr>
            <a:r>
              <a:rPr b="0" lang="el" sz="1600" spc="-1" strike="noStrike">
                <a:solidFill>
                  <a:schemeClr val="accent1"/>
                </a:solidFill>
                <a:latin typeface="Lato"/>
                <a:ea typeface="Lato"/>
              </a:rPr>
              <a:t>Observe at first the diagram shown on the right of the page. What does it depict?</a:t>
            </a:r>
            <a:endParaRPr b="0" lang="en-US" sz="1600" spc="-1" strike="noStrike">
              <a:solidFill>
                <a:srgbClr val="000000"/>
              </a:solidFill>
              <a:latin typeface="Arial"/>
            </a:endParaRPr>
          </a:p>
        </p:txBody>
      </p:sp>
      <p:pic>
        <p:nvPicPr>
          <p:cNvPr id="440" name="Google Shape;430;p50" descr=""/>
          <p:cNvPicPr/>
          <p:nvPr/>
        </p:nvPicPr>
        <p:blipFill>
          <a:blip r:embed="rId1"/>
          <a:stretch/>
        </p:blipFill>
        <p:spPr>
          <a:xfrm>
            <a:off x="797040" y="1961280"/>
            <a:ext cx="7552800" cy="2666520"/>
          </a:xfrm>
          <a:prstGeom prst="rect">
            <a:avLst/>
          </a:prstGeom>
          <a:ln w="0">
            <a:noFill/>
          </a:ln>
        </p:spPr>
      </p:pic>
      <p:sp>
        <p:nvSpPr>
          <p:cNvPr id="441" name="PlaceHolder 3"/>
          <p:cNvSpPr>
            <a:spLocks noGrp="1"/>
          </p:cNvSpPr>
          <p:nvPr>
            <p:ph type="sldNum" idx="4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18BDB00-3DFA-47F2-8C6E-13661D73181C}" type="slidenum">
              <a:rPr b="0" lang="el" sz="1000" spc="-1" strike="noStrike">
                <a:solidFill>
                  <a:schemeClr val="accent1"/>
                </a:solidFill>
                <a:latin typeface="Lato"/>
                <a:ea typeface="Lato"/>
              </a:rPr>
              <a:t>35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61" dur="indefinite" restart="never" nodeType="tmRoot">
          <p:childTnLst>
            <p:seq>
              <p:cTn id="662" dur="indefinite" nodeType="mainSeq">
                <p:childTnLst>
                  <p:par>
                    <p:cTn id="663" fill="hold">
                      <p:stCondLst>
                        <p:cond delay="indefinite"/>
                      </p:stCondLst>
                      <p:childTnLst>
                        <p:par>
                          <p:cTn id="664" fill="hold">
                            <p:stCondLst>
                              <p:cond delay="0"/>
                            </p:stCondLst>
                            <p:childTnLst>
                              <p:par>
                                <p:cTn id="665" nodeType="clickEffect" fill="hold" presetClass="entr" presetID="1">
                                  <p:stCondLst>
                                    <p:cond delay="0"/>
                                  </p:stCondLst>
                                  <p:childTnLst>
                                    <p:set>
                                      <p:cBhvr>
                                        <p:cTn id="666" dur="1" fill="hold">
                                          <p:stCondLst>
                                            <p:cond delay="0"/>
                                          </p:stCondLst>
                                        </p:cTn>
                                        <p:tgtEl>
                                          <p:spTgt spid="439"/>
                                        </p:tgtEl>
                                        <p:attrNameLst>
                                          <p:attrName>style.visibility</p:attrName>
                                        </p:attrNameLst>
                                      </p:cBhvr>
                                      <p:to>
                                        <p:strVal val="visible"/>
                                      </p:to>
                                    </p:set>
                                  </p:childTnLst>
                                </p:cTn>
                              </p:par>
                            </p:childTnLst>
                          </p:cTn>
                        </p:par>
                      </p:childTnLst>
                    </p:cTn>
                  </p:par>
                  <p:par>
                    <p:cTn id="667" fill="hold">
                      <p:stCondLst>
                        <p:cond delay="indefinite"/>
                      </p:stCondLst>
                      <p:childTnLst>
                        <p:par>
                          <p:cTn id="668" fill="hold">
                            <p:stCondLst>
                              <p:cond delay="0"/>
                            </p:stCondLst>
                            <p:childTnLst>
                              <p:par>
                                <p:cTn id="669" nodeType="clickEffect" fill="hold" presetClass="entr" presetID="1">
                                  <p:stCondLst>
                                    <p:cond delay="0"/>
                                  </p:stCondLst>
                                  <p:childTnLst>
                                    <p:set>
                                      <p:cBhvr>
                                        <p:cTn id="670" dur="1" fill="hold">
                                          <p:stCondLst>
                                            <p:cond delay="0"/>
                                          </p:stCondLst>
                                        </p:cTn>
                                        <p:tgtEl>
                                          <p:spTgt spid="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4 / n</a:t>
            </a:r>
            <a:endParaRPr b="0" lang="en-US" sz="2600" spc="-1" strike="noStrike">
              <a:solidFill>
                <a:srgbClr val="000000"/>
              </a:solidFill>
              <a:latin typeface="Arial"/>
            </a:endParaRPr>
          </a:p>
        </p:txBody>
      </p:sp>
      <p:pic>
        <p:nvPicPr>
          <p:cNvPr id="443" name="Google Shape;437;p51" descr=""/>
          <p:cNvPicPr/>
          <p:nvPr/>
        </p:nvPicPr>
        <p:blipFill>
          <a:blip r:embed="rId1"/>
          <a:stretch/>
        </p:blipFill>
        <p:spPr>
          <a:xfrm>
            <a:off x="797040" y="1859400"/>
            <a:ext cx="7552800" cy="2666520"/>
          </a:xfrm>
          <a:prstGeom prst="rect">
            <a:avLst/>
          </a:prstGeom>
          <a:ln w="0">
            <a:noFill/>
          </a:ln>
        </p:spPr>
      </p:pic>
      <p:grpSp>
        <p:nvGrpSpPr>
          <p:cNvPr id="444" name="Google Shape;438;p51"/>
          <p:cNvGrpSpPr/>
          <p:nvPr/>
        </p:nvGrpSpPr>
        <p:grpSpPr>
          <a:xfrm>
            <a:off x="945360" y="3490200"/>
            <a:ext cx="5062680" cy="909000"/>
            <a:chOff x="945360" y="3490200"/>
            <a:chExt cx="5062680" cy="909000"/>
          </a:xfrm>
        </p:grpSpPr>
        <p:sp>
          <p:nvSpPr>
            <p:cNvPr id="445" name="Google Shape;439;p51"/>
            <p:cNvSpPr/>
            <p:nvPr/>
          </p:nvSpPr>
          <p:spPr>
            <a:xfrm>
              <a:off x="945360" y="4017600"/>
              <a:ext cx="1017720" cy="3816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400" spc="-1" strike="noStrike">
                  <a:solidFill>
                    <a:schemeClr val="dk1"/>
                  </a:solidFill>
                  <a:latin typeface="Consolas"/>
                  <a:ea typeface="Consolas"/>
                </a:rPr>
                <a:t>Entities</a:t>
              </a:r>
              <a:endParaRPr b="0" lang="en-US" sz="1400" spc="-1" strike="noStrike">
                <a:solidFill>
                  <a:srgbClr val="000000"/>
                </a:solidFill>
                <a:latin typeface="Arial"/>
              </a:endParaRPr>
            </a:p>
          </p:txBody>
        </p:sp>
        <p:cxnSp>
          <p:nvCxnSpPr>
            <p:cNvPr id="446" name="Google Shape;440;p51"/>
            <p:cNvCxnSpPr/>
            <p:nvPr/>
          </p:nvCxnSpPr>
          <p:spPr>
            <a:xfrm flipV="1">
              <a:off x="1708560" y="3490200"/>
              <a:ext cx="345600" cy="527400"/>
            </a:xfrm>
            <a:prstGeom prst="straightConnector1">
              <a:avLst/>
            </a:prstGeom>
            <a:ln w="19050">
              <a:solidFill>
                <a:srgbClr val="1a9988"/>
              </a:solidFill>
              <a:prstDash val="dash"/>
              <a:round/>
              <a:tailEnd len="med" type="stealth" w="med"/>
            </a:ln>
          </p:spPr>
        </p:cxnSp>
        <p:cxnSp>
          <p:nvCxnSpPr>
            <p:cNvPr id="447" name="Google Shape;441;p51"/>
            <p:cNvCxnSpPr/>
            <p:nvPr/>
          </p:nvCxnSpPr>
          <p:spPr>
            <a:xfrm flipV="1">
              <a:off x="1861200" y="3690000"/>
              <a:ext cx="1765800" cy="480240"/>
            </a:xfrm>
            <a:prstGeom prst="straightConnector1">
              <a:avLst/>
            </a:prstGeom>
            <a:ln w="19050">
              <a:solidFill>
                <a:srgbClr val="1a9988"/>
              </a:solidFill>
              <a:prstDash val="dash"/>
              <a:round/>
              <a:tailEnd len="med" type="stealth" w="med"/>
            </a:ln>
          </p:spPr>
        </p:cxnSp>
        <p:cxnSp>
          <p:nvCxnSpPr>
            <p:cNvPr id="448" name="Google Shape;442;p51"/>
            <p:cNvCxnSpPr/>
            <p:nvPr/>
          </p:nvCxnSpPr>
          <p:spPr>
            <a:xfrm>
              <a:off x="1963080" y="4284360"/>
              <a:ext cx="4045320" cy="360"/>
            </a:xfrm>
            <a:prstGeom prst="straightConnector1">
              <a:avLst/>
            </a:prstGeom>
            <a:ln w="19050">
              <a:solidFill>
                <a:srgbClr val="1a9988"/>
              </a:solidFill>
              <a:prstDash val="dash"/>
              <a:round/>
              <a:tailEnd len="med" type="stealth" w="med"/>
            </a:ln>
          </p:spPr>
        </p:cxnSp>
      </p:grpSp>
      <p:grpSp>
        <p:nvGrpSpPr>
          <p:cNvPr id="449" name="Google Shape;443;p51"/>
          <p:cNvGrpSpPr/>
          <p:nvPr/>
        </p:nvGrpSpPr>
        <p:grpSpPr>
          <a:xfrm>
            <a:off x="3435840" y="1283400"/>
            <a:ext cx="2499480" cy="1288800"/>
            <a:chOff x="3435840" y="1283400"/>
            <a:chExt cx="2499480" cy="1288800"/>
          </a:xfrm>
        </p:grpSpPr>
        <p:sp>
          <p:nvSpPr>
            <p:cNvPr id="450" name="Google Shape;444;p51"/>
            <p:cNvSpPr/>
            <p:nvPr/>
          </p:nvSpPr>
          <p:spPr>
            <a:xfrm>
              <a:off x="3899520" y="1283400"/>
              <a:ext cx="1572120" cy="399600"/>
            </a:xfrm>
            <a:prstGeom prst="rect">
              <a:avLst/>
            </a:prstGeom>
            <a:noFill/>
            <a:ln w="0">
              <a:noFill/>
            </a:ln>
          </p:spPr>
          <p:style>
            <a:lnRef idx="0"/>
            <a:fillRef idx="0"/>
            <a:effectRef idx="0"/>
            <a:fontRef idx="minor"/>
          </p:style>
          <p:txBody>
            <a:bodyPr tIns="91440" bIns="91440" anchor="t">
              <a:noAutofit/>
            </a:bodyPr>
            <a:p>
              <a:pPr algn="ctr">
                <a:lnSpc>
                  <a:spcPct val="100000"/>
                </a:lnSpc>
                <a:tabLst>
                  <a:tab algn="l" pos="0"/>
                </a:tabLst>
              </a:pPr>
              <a:r>
                <a:rPr b="0" lang="el" sz="1400" spc="-1" strike="noStrike">
                  <a:solidFill>
                    <a:schemeClr val="accent3"/>
                  </a:solidFill>
                  <a:latin typeface="Consolas"/>
                  <a:ea typeface="Consolas"/>
                </a:rPr>
                <a:t>Relationships</a:t>
              </a:r>
              <a:endParaRPr b="0" lang="en-US" sz="1400" spc="-1" strike="noStrike">
                <a:solidFill>
                  <a:srgbClr val="000000"/>
                </a:solidFill>
                <a:latin typeface="Arial"/>
              </a:endParaRPr>
            </a:p>
          </p:txBody>
        </p:sp>
        <p:cxnSp>
          <p:nvCxnSpPr>
            <p:cNvPr id="451" name="Google Shape;445;p51"/>
            <p:cNvCxnSpPr>
              <a:stCxn id="450" idx="1"/>
            </p:cNvCxnSpPr>
            <p:nvPr/>
          </p:nvCxnSpPr>
          <p:spPr>
            <a:xfrm flipV="1" rot="10800000">
              <a:off x="3435840" y="1483200"/>
              <a:ext cx="464040" cy="1025640"/>
            </a:xfrm>
            <a:prstGeom prst="bentConnector3">
              <a:avLst>
                <a:gd name="adj1" fmla="val 100000"/>
              </a:avLst>
            </a:prstGeom>
            <a:ln w="19050">
              <a:solidFill>
                <a:srgbClr val="eb5600"/>
              </a:solidFill>
              <a:prstDash val="dash"/>
              <a:round/>
              <a:tailEnd len="med" type="stealth" w="med"/>
            </a:ln>
          </p:spPr>
        </p:cxnSp>
        <p:cxnSp>
          <p:nvCxnSpPr>
            <p:cNvPr id="452" name="Google Shape;446;p51"/>
            <p:cNvCxnSpPr>
              <a:stCxn id="450" idx="3"/>
            </p:cNvCxnSpPr>
            <p:nvPr/>
          </p:nvCxnSpPr>
          <p:spPr>
            <a:xfrm>
              <a:off x="5471640" y="1483200"/>
              <a:ext cx="464040" cy="1089360"/>
            </a:xfrm>
            <a:prstGeom prst="bentConnector3">
              <a:avLst>
                <a:gd name="adj1" fmla="val 100000"/>
              </a:avLst>
            </a:prstGeom>
            <a:ln w="19050">
              <a:solidFill>
                <a:srgbClr val="eb5600"/>
              </a:solidFill>
              <a:prstDash val="dash"/>
              <a:round/>
              <a:tailEnd len="med" type="stealth" w="med"/>
            </a:ln>
          </p:spPr>
        </p:cxnSp>
      </p:grpSp>
      <p:sp>
        <p:nvSpPr>
          <p:cNvPr id="453" name="PlaceHolder 2"/>
          <p:cNvSpPr>
            <a:spLocks noGrp="1"/>
          </p:cNvSpPr>
          <p:nvPr>
            <p:ph type="sldNum" idx="4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8CDF78F-BD72-4379-A743-40DB1F74D6D3}" type="slidenum">
              <a:rPr b="0" lang="el" sz="1000" spc="-1" strike="noStrike">
                <a:solidFill>
                  <a:schemeClr val="accent1"/>
                </a:solidFill>
                <a:latin typeface="Lato"/>
                <a:ea typeface="Lato"/>
              </a:rPr>
              <a:t>36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71" dur="indefinite" restart="never" nodeType="tmRoot">
          <p:childTnLst>
            <p:seq>
              <p:cTn id="672" dur="indefinite" nodeType="mainSeq">
                <p:childTnLst>
                  <p:par>
                    <p:cTn id="673" fill="hold">
                      <p:stCondLst>
                        <p:cond delay="indefinite"/>
                      </p:stCondLst>
                      <p:childTnLst>
                        <p:par>
                          <p:cTn id="674" fill="hold">
                            <p:stCondLst>
                              <p:cond delay="0"/>
                            </p:stCondLst>
                            <p:childTnLst>
                              <p:par>
                                <p:cTn id="675" nodeType="clickEffect" fill="hold" presetClass="entr" presetID="1">
                                  <p:stCondLst>
                                    <p:cond delay="0"/>
                                  </p:stCondLst>
                                  <p:childTnLst>
                                    <p:set>
                                      <p:cBhvr>
                                        <p:cTn id="676" dur="1" fill="hold">
                                          <p:stCondLst>
                                            <p:cond delay="0"/>
                                          </p:stCondLst>
                                        </p:cTn>
                                        <p:tgtEl>
                                          <p:spTgt spid="443"/>
                                        </p:tgtEl>
                                        <p:attrNameLst>
                                          <p:attrName>style.visibility</p:attrName>
                                        </p:attrNameLst>
                                      </p:cBhvr>
                                      <p:to>
                                        <p:strVal val="visible"/>
                                      </p:to>
                                    </p:set>
                                  </p:childTnLst>
                                </p:cTn>
                              </p:par>
                            </p:childTnLst>
                          </p:cTn>
                        </p:par>
                      </p:childTnLst>
                    </p:cTn>
                  </p:par>
                  <p:par>
                    <p:cTn id="677" fill="hold">
                      <p:stCondLst>
                        <p:cond delay="indefinite"/>
                      </p:stCondLst>
                      <p:childTnLst>
                        <p:par>
                          <p:cTn id="678" fill="hold">
                            <p:stCondLst>
                              <p:cond delay="0"/>
                            </p:stCondLst>
                            <p:childTnLst>
                              <p:par>
                                <p:cTn id="679" nodeType="clickEffect" fill="hold" presetClass="entr" presetID="1">
                                  <p:stCondLst>
                                    <p:cond delay="0"/>
                                  </p:stCondLst>
                                  <p:childTnLst>
                                    <p:set>
                                      <p:cBhvr>
                                        <p:cTn id="680" dur="1" fill="hold">
                                          <p:stCondLst>
                                            <p:cond delay="0"/>
                                          </p:stCondLst>
                                        </p:cTn>
                                        <p:tgtEl>
                                          <p:spTgt spid="444"/>
                                        </p:tgtEl>
                                        <p:attrNameLst>
                                          <p:attrName>style.visibility</p:attrName>
                                        </p:attrNameLst>
                                      </p:cBhvr>
                                      <p:to>
                                        <p:strVal val="visible"/>
                                      </p:to>
                                    </p:set>
                                  </p:childTnLst>
                                </p:cTn>
                              </p:par>
                            </p:childTnLst>
                          </p:cTn>
                        </p:par>
                      </p:childTnLst>
                    </p:cTn>
                  </p:par>
                  <p:par>
                    <p:cTn id="681" fill="hold">
                      <p:stCondLst>
                        <p:cond delay="indefinite"/>
                      </p:stCondLst>
                      <p:childTnLst>
                        <p:par>
                          <p:cTn id="682" fill="hold">
                            <p:stCondLst>
                              <p:cond delay="0"/>
                            </p:stCondLst>
                            <p:childTnLst>
                              <p:par>
                                <p:cTn id="683" nodeType="clickEffect" fill="hold" presetClass="entr" presetID="1">
                                  <p:stCondLst>
                                    <p:cond delay="0"/>
                                  </p:stCondLst>
                                  <p:childTnLst>
                                    <p:set>
                                      <p:cBhvr>
                                        <p:cTn id="684"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5 / n</a:t>
            </a:r>
            <a:endParaRPr b="0" lang="en-US" sz="2600" spc="-1" strike="noStrike">
              <a:solidFill>
                <a:srgbClr val="000000"/>
              </a:solidFill>
              <a:latin typeface="Arial"/>
            </a:endParaRPr>
          </a:p>
        </p:txBody>
      </p:sp>
      <p:pic>
        <p:nvPicPr>
          <p:cNvPr id="455" name="Google Shape;453;p52" descr=""/>
          <p:cNvPicPr/>
          <p:nvPr/>
        </p:nvPicPr>
        <p:blipFill>
          <a:blip r:embed="rId1"/>
          <a:stretch/>
        </p:blipFill>
        <p:spPr>
          <a:xfrm>
            <a:off x="795240" y="1623240"/>
            <a:ext cx="7552800" cy="2666520"/>
          </a:xfrm>
          <a:prstGeom prst="rect">
            <a:avLst/>
          </a:prstGeom>
          <a:ln w="0">
            <a:noFill/>
          </a:ln>
        </p:spPr>
      </p:pic>
      <p:grpSp>
        <p:nvGrpSpPr>
          <p:cNvPr id="456" name="Google Shape;454;p52"/>
          <p:cNvGrpSpPr/>
          <p:nvPr/>
        </p:nvGrpSpPr>
        <p:grpSpPr>
          <a:xfrm>
            <a:off x="890640" y="2208600"/>
            <a:ext cx="7169400" cy="1954080"/>
            <a:chOff x="890640" y="2208600"/>
            <a:chExt cx="7169400" cy="1954080"/>
          </a:xfrm>
        </p:grpSpPr>
        <p:sp>
          <p:nvSpPr>
            <p:cNvPr id="457" name="Google Shape;455;p52"/>
            <p:cNvSpPr/>
            <p:nvPr/>
          </p:nvSpPr>
          <p:spPr>
            <a:xfrm>
              <a:off x="3681360" y="2208600"/>
              <a:ext cx="1926720" cy="272520"/>
            </a:xfrm>
            <a:prstGeom prst="rect">
              <a:avLst/>
            </a:prstGeom>
            <a:noFill/>
            <a:ln w="19050">
              <a:solidFill>
                <a:srgbClr val="eb5600"/>
              </a:solidFill>
              <a:prstDash val="dash"/>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58" name="Google Shape;456;p52"/>
            <p:cNvSpPr/>
            <p:nvPr/>
          </p:nvSpPr>
          <p:spPr>
            <a:xfrm>
              <a:off x="6133320" y="2208600"/>
              <a:ext cx="1926720" cy="272520"/>
            </a:xfrm>
            <a:prstGeom prst="rect">
              <a:avLst/>
            </a:prstGeom>
            <a:noFill/>
            <a:ln w="19050">
              <a:solidFill>
                <a:srgbClr val="eb5600"/>
              </a:solidFill>
              <a:prstDash val="dash"/>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459" name="Google Shape;457;p52"/>
            <p:cNvSpPr/>
            <p:nvPr/>
          </p:nvSpPr>
          <p:spPr>
            <a:xfrm>
              <a:off x="890640" y="3799440"/>
              <a:ext cx="1435680" cy="36324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400" spc="-1" strike="noStrike">
                  <a:solidFill>
                    <a:schemeClr val="accent3"/>
                  </a:solidFill>
                  <a:latin typeface="Consolas"/>
                  <a:ea typeface="Consolas"/>
                </a:rPr>
                <a:t>Primary key</a:t>
              </a:r>
              <a:endParaRPr b="0" lang="en-US" sz="1400" spc="-1" strike="noStrike">
                <a:solidFill>
                  <a:srgbClr val="000000"/>
                </a:solidFill>
                <a:latin typeface="Arial"/>
              </a:endParaRPr>
            </a:p>
          </p:txBody>
        </p:sp>
        <p:cxnSp>
          <p:nvCxnSpPr>
            <p:cNvPr id="460" name="Google Shape;458;p52"/>
            <p:cNvCxnSpPr/>
            <p:nvPr/>
          </p:nvCxnSpPr>
          <p:spPr>
            <a:xfrm flipV="1">
              <a:off x="2081160" y="2544840"/>
              <a:ext cx="1573200" cy="1272960"/>
            </a:xfrm>
            <a:prstGeom prst="straightConnector1">
              <a:avLst/>
            </a:prstGeom>
            <a:ln w="19050">
              <a:solidFill>
                <a:srgbClr val="eb5600"/>
              </a:solidFill>
              <a:prstDash val="dash"/>
              <a:round/>
              <a:tailEnd len="med" type="stealth" w="med"/>
            </a:ln>
          </p:spPr>
        </p:cxnSp>
        <p:cxnSp>
          <p:nvCxnSpPr>
            <p:cNvPr id="461" name="Google Shape;459;p52"/>
            <p:cNvCxnSpPr/>
            <p:nvPr/>
          </p:nvCxnSpPr>
          <p:spPr>
            <a:xfrm flipV="1">
              <a:off x="2233800" y="2554200"/>
              <a:ext cx="3838320" cy="1415880"/>
            </a:xfrm>
            <a:prstGeom prst="straightConnector1">
              <a:avLst/>
            </a:prstGeom>
            <a:ln w="19050">
              <a:solidFill>
                <a:srgbClr val="eb5600"/>
              </a:solidFill>
              <a:prstDash val="dash"/>
              <a:round/>
              <a:tailEnd len="med" type="stealth" w="med"/>
            </a:ln>
          </p:spPr>
        </p:cxnSp>
      </p:grpSp>
      <p:sp>
        <p:nvSpPr>
          <p:cNvPr id="462" name="Google Shape;460;p52"/>
          <p:cNvSpPr/>
          <p:nvPr/>
        </p:nvSpPr>
        <p:spPr>
          <a:xfrm>
            <a:off x="990720" y="4362840"/>
            <a:ext cx="4826160" cy="61776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noAutofit/>
          </a:bodyPr>
          <a:p>
            <a:pPr>
              <a:lnSpc>
                <a:spcPct val="100000"/>
              </a:lnSpc>
              <a:tabLst>
                <a:tab algn="l" pos="0"/>
              </a:tabLst>
            </a:pPr>
            <a:r>
              <a:rPr b="1" lang="el" sz="1400" spc="-1" strike="noStrike">
                <a:solidFill>
                  <a:schemeClr val="accent3"/>
                </a:solidFill>
                <a:latin typeface="Consolas"/>
                <a:ea typeface="Consolas"/>
              </a:rPr>
              <a:t>Primary key:</a:t>
            </a:r>
            <a:r>
              <a:rPr b="0" lang="el" sz="1400" spc="-1" strike="noStrike">
                <a:solidFill>
                  <a:schemeClr val="accent1"/>
                </a:solidFill>
                <a:latin typeface="Consolas"/>
                <a:ea typeface="Consolas"/>
              </a:rPr>
              <a:t> an attribute that uniquely identifies a certain entity (e.g., user id).</a:t>
            </a:r>
            <a:endParaRPr b="0" lang="en-US" sz="1400" spc="-1" strike="noStrike">
              <a:solidFill>
                <a:srgbClr val="000000"/>
              </a:solidFill>
              <a:latin typeface="Arial"/>
            </a:endParaRPr>
          </a:p>
        </p:txBody>
      </p:sp>
      <p:sp>
        <p:nvSpPr>
          <p:cNvPr id="463" name="PlaceHolder 2"/>
          <p:cNvSpPr>
            <a:spLocks noGrp="1"/>
          </p:cNvSpPr>
          <p:nvPr>
            <p:ph type="sldNum" idx="4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ACD2C91-B239-49EC-B8DF-5C08FFAD4449}" type="slidenum">
              <a:rPr b="0" lang="el" sz="1000" spc="-1" strike="noStrike">
                <a:solidFill>
                  <a:schemeClr val="accent1"/>
                </a:solidFill>
                <a:latin typeface="Lato"/>
                <a:ea typeface="Lato"/>
              </a:rPr>
              <a:t>37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85" dur="indefinite" restart="never" nodeType="tmRoot">
          <p:childTnLst>
            <p:seq>
              <p:cTn id="686" dur="indefinite" nodeType="mainSeq">
                <p:childTnLst>
                  <p:par>
                    <p:cTn id="687" fill="hold">
                      <p:stCondLst>
                        <p:cond delay="indefinite"/>
                      </p:stCondLst>
                      <p:childTnLst>
                        <p:par>
                          <p:cTn id="688" fill="hold">
                            <p:stCondLst>
                              <p:cond delay="0"/>
                            </p:stCondLst>
                            <p:childTnLst>
                              <p:par>
                                <p:cTn id="689" nodeType="clickEffect" fill="hold" presetClass="entr" presetID="1">
                                  <p:stCondLst>
                                    <p:cond delay="0"/>
                                  </p:stCondLst>
                                  <p:childTnLst>
                                    <p:set>
                                      <p:cBhvr>
                                        <p:cTn id="690" dur="1" fill="hold">
                                          <p:stCondLst>
                                            <p:cond delay="0"/>
                                          </p:stCondLst>
                                        </p:cTn>
                                        <p:tgtEl>
                                          <p:spTgt spid="455"/>
                                        </p:tgtEl>
                                        <p:attrNameLst>
                                          <p:attrName>style.visibility</p:attrName>
                                        </p:attrNameLst>
                                      </p:cBhvr>
                                      <p:to>
                                        <p:strVal val="visible"/>
                                      </p:to>
                                    </p:set>
                                  </p:childTnLst>
                                </p:cTn>
                              </p:par>
                            </p:childTnLst>
                          </p:cTn>
                        </p:par>
                      </p:childTnLst>
                    </p:cTn>
                  </p:par>
                  <p:par>
                    <p:cTn id="691" fill="hold">
                      <p:stCondLst>
                        <p:cond delay="indefinite"/>
                      </p:stCondLst>
                      <p:childTnLst>
                        <p:par>
                          <p:cTn id="692" fill="hold">
                            <p:stCondLst>
                              <p:cond delay="0"/>
                            </p:stCondLst>
                            <p:childTnLst>
                              <p:par>
                                <p:cTn id="693" nodeType="clickEffect" fill="hold" presetClass="entr" presetID="1">
                                  <p:stCondLst>
                                    <p:cond delay="0"/>
                                  </p:stCondLst>
                                  <p:childTnLst>
                                    <p:set>
                                      <p:cBhvr>
                                        <p:cTn id="694" dur="1" fill="hold">
                                          <p:stCondLst>
                                            <p:cond delay="0"/>
                                          </p:stCondLst>
                                        </p:cTn>
                                        <p:tgtEl>
                                          <p:spTgt spid="456"/>
                                        </p:tgtEl>
                                        <p:attrNameLst>
                                          <p:attrName>style.visibility</p:attrName>
                                        </p:attrNameLst>
                                      </p:cBhvr>
                                      <p:to>
                                        <p:strVal val="visible"/>
                                      </p:to>
                                    </p:set>
                                  </p:childTnLst>
                                </p:cTn>
                              </p:par>
                            </p:childTnLst>
                          </p:cTn>
                        </p:par>
                      </p:childTnLst>
                    </p:cTn>
                  </p:par>
                  <p:par>
                    <p:cTn id="695" fill="hold">
                      <p:stCondLst>
                        <p:cond delay="indefinite"/>
                      </p:stCondLst>
                      <p:childTnLst>
                        <p:par>
                          <p:cTn id="696" fill="hold">
                            <p:stCondLst>
                              <p:cond delay="0"/>
                            </p:stCondLst>
                            <p:childTnLst>
                              <p:par>
                                <p:cTn id="697" nodeType="clickEffect" fill="hold" presetClass="entr" presetID="1">
                                  <p:stCondLst>
                                    <p:cond delay="0"/>
                                  </p:stCondLst>
                                  <p:childTnLst>
                                    <p:set>
                                      <p:cBhvr>
                                        <p:cTn id="698" dur="1" fill="hold">
                                          <p:stCondLst>
                                            <p:cond delay="0"/>
                                          </p:stCondLst>
                                        </p:cTn>
                                        <p:tgtEl>
                                          <p:spTgt spid="4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6 / n</a:t>
            </a:r>
            <a:endParaRPr b="0" lang="en-US" sz="2600" spc="-1" strike="noStrike">
              <a:solidFill>
                <a:srgbClr val="000000"/>
              </a:solidFill>
              <a:latin typeface="Arial"/>
            </a:endParaRPr>
          </a:p>
        </p:txBody>
      </p:sp>
      <p:pic>
        <p:nvPicPr>
          <p:cNvPr id="465" name="Google Shape;467;p53" descr=""/>
          <p:cNvPicPr/>
          <p:nvPr/>
        </p:nvPicPr>
        <p:blipFill>
          <a:blip r:embed="rId1"/>
          <a:stretch/>
        </p:blipFill>
        <p:spPr>
          <a:xfrm>
            <a:off x="797040" y="1814040"/>
            <a:ext cx="7552800" cy="2666520"/>
          </a:xfrm>
          <a:prstGeom prst="rect">
            <a:avLst/>
          </a:prstGeom>
          <a:ln w="0">
            <a:noFill/>
          </a:ln>
        </p:spPr>
      </p:pic>
      <p:grpSp>
        <p:nvGrpSpPr>
          <p:cNvPr id="466" name="Google Shape;468;p53"/>
          <p:cNvGrpSpPr/>
          <p:nvPr/>
        </p:nvGrpSpPr>
        <p:grpSpPr>
          <a:xfrm>
            <a:off x="945360" y="2890440"/>
            <a:ext cx="2472120" cy="1480320"/>
            <a:chOff x="945360" y="2890440"/>
            <a:chExt cx="2472120" cy="1480320"/>
          </a:xfrm>
        </p:grpSpPr>
        <p:sp>
          <p:nvSpPr>
            <p:cNvPr id="467" name="Google Shape;469;p53"/>
            <p:cNvSpPr/>
            <p:nvPr/>
          </p:nvSpPr>
          <p:spPr>
            <a:xfrm>
              <a:off x="945360" y="3835800"/>
              <a:ext cx="1526760" cy="53496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400" spc="-1" strike="noStrike">
                  <a:solidFill>
                    <a:schemeClr val="accent3"/>
                  </a:solidFill>
                  <a:latin typeface="Consolas"/>
                  <a:ea typeface="Consolas"/>
                </a:rPr>
                <a:t>Many-to-one relationship</a:t>
              </a:r>
              <a:endParaRPr b="0" lang="en-US" sz="1400" spc="-1" strike="noStrike">
                <a:solidFill>
                  <a:srgbClr val="000000"/>
                </a:solidFill>
                <a:latin typeface="Arial"/>
              </a:endParaRPr>
            </a:p>
          </p:txBody>
        </p:sp>
        <p:cxnSp>
          <p:nvCxnSpPr>
            <p:cNvPr id="468" name="Google Shape;470;p53"/>
            <p:cNvCxnSpPr>
              <a:stCxn id="467" idx="3"/>
            </p:cNvCxnSpPr>
            <p:nvPr/>
          </p:nvCxnSpPr>
          <p:spPr>
            <a:xfrm flipV="1">
              <a:off x="2472120" y="2890440"/>
              <a:ext cx="945720" cy="1213200"/>
            </a:xfrm>
            <a:prstGeom prst="bentConnector3">
              <a:avLst>
                <a:gd name="adj1" fmla="val 100000"/>
              </a:avLst>
            </a:prstGeom>
            <a:ln w="19050">
              <a:solidFill>
                <a:srgbClr val="eb5600"/>
              </a:solidFill>
              <a:prstDash val="dash"/>
              <a:round/>
              <a:tailEnd len="med" type="stealth" w="med"/>
            </a:ln>
          </p:spPr>
        </p:cxnSp>
      </p:grpSp>
      <p:grpSp>
        <p:nvGrpSpPr>
          <p:cNvPr id="469" name="Google Shape;471;p53"/>
          <p:cNvGrpSpPr/>
          <p:nvPr/>
        </p:nvGrpSpPr>
        <p:grpSpPr>
          <a:xfrm>
            <a:off x="3635640" y="2772000"/>
            <a:ext cx="2126880" cy="1521360"/>
            <a:chOff x="3635640" y="2772000"/>
            <a:chExt cx="2126880" cy="1521360"/>
          </a:xfrm>
        </p:grpSpPr>
        <p:sp>
          <p:nvSpPr>
            <p:cNvPr id="470" name="Google Shape;472;p53"/>
            <p:cNvSpPr/>
            <p:nvPr/>
          </p:nvSpPr>
          <p:spPr>
            <a:xfrm>
              <a:off x="3635640" y="3912840"/>
              <a:ext cx="1526760" cy="3805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400" spc="-1" strike="noStrike">
                  <a:solidFill>
                    <a:schemeClr val="dk1"/>
                  </a:solidFill>
                  <a:latin typeface="Consolas"/>
                  <a:ea typeface="Consolas"/>
                </a:rPr>
                <a:t>One-to-many relationship</a:t>
              </a:r>
              <a:endParaRPr b="0" lang="en-US" sz="1400" spc="-1" strike="noStrike">
                <a:solidFill>
                  <a:srgbClr val="000000"/>
                </a:solidFill>
                <a:latin typeface="Arial"/>
              </a:endParaRPr>
            </a:p>
          </p:txBody>
        </p:sp>
        <p:cxnSp>
          <p:nvCxnSpPr>
            <p:cNvPr id="471" name="Google Shape;473;p53"/>
            <p:cNvCxnSpPr>
              <a:stCxn id="470" idx="3"/>
            </p:cNvCxnSpPr>
            <p:nvPr/>
          </p:nvCxnSpPr>
          <p:spPr>
            <a:xfrm flipV="1">
              <a:off x="5162400" y="2772000"/>
              <a:ext cx="600480" cy="1331280"/>
            </a:xfrm>
            <a:prstGeom prst="bentConnector3">
              <a:avLst>
                <a:gd name="adj1" fmla="val 99940"/>
              </a:avLst>
            </a:prstGeom>
            <a:ln w="19050">
              <a:solidFill>
                <a:srgbClr val="1a9988"/>
              </a:solidFill>
              <a:prstDash val="dash"/>
              <a:round/>
              <a:tailEnd len="med" type="stealth" w="med"/>
            </a:ln>
          </p:spPr>
        </p:cxnSp>
      </p:grpSp>
      <p:sp>
        <p:nvSpPr>
          <p:cNvPr id="472" name="PlaceHolder 2"/>
          <p:cNvSpPr>
            <a:spLocks noGrp="1"/>
          </p:cNvSpPr>
          <p:nvPr>
            <p:ph type="sldNum" idx="4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8CA90B0-79EA-4A2B-B94B-8382438D97EE}" type="slidenum">
              <a:rPr b="0" lang="el" sz="1000" spc="-1" strike="noStrike">
                <a:solidFill>
                  <a:schemeClr val="accent1"/>
                </a:solidFill>
                <a:latin typeface="Lato"/>
                <a:ea typeface="Lato"/>
              </a:rPr>
              <a:t>38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99" dur="indefinite" restart="never" nodeType="tmRoot">
          <p:childTnLst>
            <p:seq>
              <p:cTn id="700" dur="indefinite" nodeType="mainSeq">
                <p:childTnLst>
                  <p:par>
                    <p:cTn id="701" fill="hold">
                      <p:stCondLst>
                        <p:cond delay="indefinite"/>
                      </p:stCondLst>
                      <p:childTnLst>
                        <p:par>
                          <p:cTn id="702" fill="hold">
                            <p:stCondLst>
                              <p:cond delay="0"/>
                            </p:stCondLst>
                            <p:childTnLst>
                              <p:par>
                                <p:cTn id="703" nodeType="clickEffect" fill="hold" presetClass="entr" presetID="1">
                                  <p:stCondLst>
                                    <p:cond delay="0"/>
                                  </p:stCondLst>
                                  <p:childTnLst>
                                    <p:set>
                                      <p:cBhvr>
                                        <p:cTn id="704" dur="1" fill="hold">
                                          <p:stCondLst>
                                            <p:cond delay="0"/>
                                          </p:stCondLst>
                                        </p:cTn>
                                        <p:tgtEl>
                                          <p:spTgt spid="465"/>
                                        </p:tgtEl>
                                        <p:attrNameLst>
                                          <p:attrName>style.visibility</p:attrName>
                                        </p:attrNameLst>
                                      </p:cBhvr>
                                      <p:to>
                                        <p:strVal val="visible"/>
                                      </p:to>
                                    </p:set>
                                  </p:childTnLst>
                                </p:cTn>
                              </p:par>
                            </p:childTnLst>
                          </p:cTn>
                        </p:par>
                      </p:childTnLst>
                    </p:cTn>
                  </p:par>
                  <p:par>
                    <p:cTn id="705" fill="hold">
                      <p:stCondLst>
                        <p:cond delay="indefinite"/>
                      </p:stCondLst>
                      <p:childTnLst>
                        <p:par>
                          <p:cTn id="706" fill="hold">
                            <p:stCondLst>
                              <p:cond delay="0"/>
                            </p:stCondLst>
                            <p:childTnLst>
                              <p:par>
                                <p:cTn id="707" nodeType="clickEffect" fill="hold" presetClass="entr" presetID="1">
                                  <p:stCondLst>
                                    <p:cond delay="0"/>
                                  </p:stCondLst>
                                  <p:childTnLst>
                                    <p:set>
                                      <p:cBhvr>
                                        <p:cTn id="708" dur="1" fill="hold">
                                          <p:stCondLst>
                                            <p:cond delay="0"/>
                                          </p:stCondLst>
                                        </p:cTn>
                                        <p:tgtEl>
                                          <p:spTgt spid="466"/>
                                        </p:tgtEl>
                                        <p:attrNameLst>
                                          <p:attrName>style.visibility</p:attrName>
                                        </p:attrNameLst>
                                      </p:cBhvr>
                                      <p:to>
                                        <p:strVal val="visible"/>
                                      </p:to>
                                    </p:set>
                                  </p:childTnLst>
                                </p:cTn>
                              </p:par>
                            </p:childTnLst>
                          </p:cTn>
                        </p:par>
                      </p:childTnLst>
                    </p:cTn>
                  </p:par>
                  <p:par>
                    <p:cTn id="709" fill="hold">
                      <p:stCondLst>
                        <p:cond delay="indefinite"/>
                      </p:stCondLst>
                      <p:childTnLst>
                        <p:par>
                          <p:cTn id="710" fill="hold">
                            <p:stCondLst>
                              <p:cond delay="0"/>
                            </p:stCondLst>
                            <p:childTnLst>
                              <p:par>
                                <p:cTn id="711" nodeType="clickEffect" fill="hold" presetClass="entr" presetID="1">
                                  <p:stCondLst>
                                    <p:cond delay="0"/>
                                  </p:stCondLst>
                                  <p:childTnLst>
                                    <p:set>
                                      <p:cBhvr>
                                        <p:cTn id="712"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Exploring a DB Language 7 / n</a:t>
            </a:r>
            <a:endParaRPr b="0" lang="en-US" sz="2600" spc="-1" strike="noStrike">
              <a:solidFill>
                <a:srgbClr val="000000"/>
              </a:solidFill>
              <a:latin typeface="Arial"/>
            </a:endParaRPr>
          </a:p>
        </p:txBody>
      </p:sp>
      <p:sp>
        <p:nvSpPr>
          <p:cNvPr id="474" name="PlaceHolder 2"/>
          <p:cNvSpPr>
            <a:spLocks noGrp="1"/>
          </p:cNvSpPr>
          <p:nvPr>
            <p:ph/>
          </p:nvPr>
        </p:nvSpPr>
        <p:spPr>
          <a:xfrm>
            <a:off x="729360" y="1378080"/>
            <a:ext cx="7688520" cy="2961720"/>
          </a:xfrm>
          <a:prstGeom prst="rect">
            <a:avLst/>
          </a:prstGeom>
          <a:noFill/>
          <a:ln w="0">
            <a:noFill/>
          </a:ln>
        </p:spPr>
        <p:txBody>
          <a:bodyPr tIns="91440" bIns="91440" anchor="t">
            <a:noAutofit/>
          </a:bodyPr>
          <a:p>
            <a:pPr marL="457200" indent="-317520">
              <a:lnSpc>
                <a:spcPct val="115000"/>
              </a:lnSpc>
              <a:buClr>
                <a:srgbClr val="595959"/>
              </a:buClr>
              <a:buFont typeface="Lato"/>
              <a:buChar char="●"/>
            </a:pPr>
            <a:r>
              <a:rPr b="0" lang="el" sz="1400" spc="-1" strike="noStrike">
                <a:solidFill>
                  <a:schemeClr val="accent1"/>
                </a:solidFill>
                <a:latin typeface="Lato"/>
                <a:ea typeface="Lato"/>
              </a:rPr>
              <a:t>Split to groups of 2 or 3.</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Discuss how the visual elements we saw above are expressed into DBML. You can always consult the language’s documentation: </a:t>
            </a:r>
            <a:r>
              <a:rPr b="0" lang="el" sz="1400" spc="-1" strike="noStrike" u="sng">
                <a:solidFill>
                  <a:schemeClr val="hlink"/>
                </a:solidFill>
                <a:uFillTx/>
                <a:latin typeface="Lato"/>
                <a:ea typeface="Lato"/>
                <a:hlinkClick r:id="rId1"/>
              </a:rPr>
              <a:t>https://dbml.dbdiagram.io/docs/</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Open in a new tab the DBML diagram editor found at: </a:t>
            </a:r>
            <a:r>
              <a:rPr b="0" lang="el" sz="1400" spc="-1" strike="noStrike" u="sng">
                <a:solidFill>
                  <a:schemeClr val="hlink"/>
                </a:solidFill>
                <a:uFillTx/>
                <a:latin typeface="Lato"/>
                <a:ea typeface="Lato"/>
                <a:hlinkClick r:id="rId2"/>
              </a:rPr>
              <a:t>https://dbdiagram.io/d</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You aim is to design a small DB schema for the XYZ University Computer Science Department including the following entities:</a:t>
            </a:r>
            <a:endParaRPr b="0" lang="en-US" sz="1400" spc="-1" strike="noStrike">
              <a:solidFill>
                <a:srgbClr val="000000"/>
              </a:solidFill>
              <a:latin typeface="Arial"/>
            </a:endParaRPr>
          </a:p>
          <a:p>
            <a:pPr lvl="1" marL="914400" indent="-317520">
              <a:lnSpc>
                <a:spcPct val="115000"/>
              </a:lnSpc>
              <a:buClr>
                <a:srgbClr val="595959"/>
              </a:buClr>
              <a:buFont typeface="Lato"/>
              <a:buChar char="○"/>
            </a:pPr>
            <a:r>
              <a:rPr b="0" lang="el" sz="1400" spc="-1" strike="noStrike">
                <a:solidFill>
                  <a:schemeClr val="accent1"/>
                </a:solidFill>
                <a:latin typeface="Lato"/>
                <a:ea typeface="Lato"/>
              </a:rPr>
              <a:t>students;</a:t>
            </a:r>
            <a:endParaRPr b="0" lang="en-US" sz="1400" spc="-1" strike="noStrike">
              <a:solidFill>
                <a:srgbClr val="000000"/>
              </a:solidFill>
              <a:latin typeface="Arial"/>
            </a:endParaRPr>
          </a:p>
          <a:p>
            <a:pPr lvl="1" marL="914400" indent="-317520">
              <a:lnSpc>
                <a:spcPct val="115000"/>
              </a:lnSpc>
              <a:buClr>
                <a:srgbClr val="595959"/>
              </a:buClr>
              <a:buFont typeface="Lato"/>
              <a:buChar char="○"/>
            </a:pPr>
            <a:r>
              <a:rPr b="0" lang="el" sz="1400" spc="-1" strike="noStrike">
                <a:solidFill>
                  <a:schemeClr val="accent1"/>
                </a:solidFill>
                <a:latin typeface="Lato"/>
                <a:ea typeface="Lato"/>
              </a:rPr>
              <a:t>faculty;</a:t>
            </a:r>
            <a:endParaRPr b="0" lang="en-US" sz="1400" spc="-1" strike="noStrike">
              <a:solidFill>
                <a:srgbClr val="000000"/>
              </a:solidFill>
              <a:latin typeface="Arial"/>
            </a:endParaRPr>
          </a:p>
          <a:p>
            <a:pPr lvl="1" marL="914400" indent="-317520">
              <a:lnSpc>
                <a:spcPct val="115000"/>
              </a:lnSpc>
              <a:buClr>
                <a:srgbClr val="595959"/>
              </a:buClr>
              <a:buFont typeface="Lato"/>
              <a:buChar char="○"/>
            </a:pPr>
            <a:r>
              <a:rPr b="0" lang="el" sz="1400" spc="-1" strike="noStrike">
                <a:solidFill>
                  <a:schemeClr val="accent1"/>
                </a:solidFill>
                <a:latin typeface="Lato"/>
                <a:ea typeface="Lato"/>
              </a:rPr>
              <a:t>courses.</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Which attributes should each of the above entities include? Discuss with your team.</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Write the appropriate commands on the code editor (left) to generate the corresponding tables.</a:t>
            </a:r>
            <a:endParaRPr b="0" lang="en-US" sz="1400" spc="-1" strike="noStrike">
              <a:solidFill>
                <a:srgbClr val="000000"/>
              </a:solidFill>
              <a:latin typeface="Arial"/>
            </a:endParaRPr>
          </a:p>
          <a:p>
            <a:pPr marL="457200" indent="-317520">
              <a:lnSpc>
                <a:spcPct val="115000"/>
              </a:lnSpc>
              <a:buClr>
                <a:srgbClr val="595959"/>
              </a:buClr>
              <a:buFont typeface="Lato"/>
              <a:buChar char="●"/>
            </a:pPr>
            <a:r>
              <a:rPr b="0" lang="el" sz="1400" spc="-1" strike="noStrike">
                <a:solidFill>
                  <a:schemeClr val="accent1"/>
                </a:solidFill>
                <a:latin typeface="Lato"/>
                <a:ea typeface="Lato"/>
              </a:rPr>
              <a:t>What relationships should be included? Write the corresponding DBML code to demonstrate them.</a:t>
            </a:r>
            <a:endParaRPr b="0" lang="en-US" sz="1400" spc="-1" strike="noStrike">
              <a:solidFill>
                <a:srgbClr val="000000"/>
              </a:solidFill>
              <a:latin typeface="Arial"/>
            </a:endParaRPr>
          </a:p>
        </p:txBody>
      </p:sp>
      <p:sp>
        <p:nvSpPr>
          <p:cNvPr id="475" name="PlaceHolder 3"/>
          <p:cNvSpPr>
            <a:spLocks noGrp="1"/>
          </p:cNvSpPr>
          <p:nvPr>
            <p:ph type="sldNum" idx="4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0B3BA3B-2F6C-40F7-8114-30AFC4C6197F}" type="slidenum">
              <a:rPr b="0" lang="el" sz="1000" spc="-1" strike="noStrike">
                <a:solidFill>
                  <a:schemeClr val="accent1"/>
                </a:solidFill>
                <a:latin typeface="Lato"/>
                <a:ea typeface="Lato"/>
              </a:rPr>
              <a:t>39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713" dur="indefinite" restart="never" nodeType="tmRoot">
          <p:childTnLst>
            <p:seq>
              <p:cTn id="714" dur="indefinite" nodeType="mainSeq">
                <p:childTnLst>
                  <p:par>
                    <p:cTn id="715" fill="hold">
                      <p:stCondLst>
                        <p:cond delay="indefinite"/>
                      </p:stCondLst>
                      <p:childTnLst>
                        <p:par>
                          <p:cTn id="716" fill="hold">
                            <p:stCondLst>
                              <p:cond delay="0"/>
                            </p:stCondLst>
                            <p:childTnLst>
                              <p:par>
                                <p:cTn id="717" nodeType="clickEffect" fill="hold" presetClass="entr" presetID="1">
                                  <p:stCondLst>
                                    <p:cond delay="0"/>
                                  </p:stCondLst>
                                  <p:childTnLst>
                                    <p:set>
                                      <p:cBhvr>
                                        <p:cTn id="718" dur="1" fill="hold">
                                          <p:stCondLst>
                                            <p:cond delay="0"/>
                                          </p:stCondLst>
                                        </p:cTn>
                                        <p:tgtEl>
                                          <p:spTgt spid="474">
                                            <p:txEl>
                                              <p:pRg st="0" end="0"/>
                                            </p:txEl>
                                          </p:spTgt>
                                        </p:tgtEl>
                                        <p:attrNameLst>
                                          <p:attrName>style.visibility</p:attrName>
                                        </p:attrNameLst>
                                      </p:cBhvr>
                                      <p:to>
                                        <p:strVal val="visible"/>
                                      </p:to>
                                    </p:set>
                                  </p:childTnLst>
                                </p:cTn>
                              </p:par>
                            </p:childTnLst>
                          </p:cTn>
                        </p:par>
                      </p:childTnLst>
                    </p:cTn>
                  </p:par>
                  <p:par>
                    <p:cTn id="719" fill="hold">
                      <p:stCondLst>
                        <p:cond delay="indefinite"/>
                      </p:stCondLst>
                      <p:childTnLst>
                        <p:par>
                          <p:cTn id="720" fill="hold">
                            <p:stCondLst>
                              <p:cond delay="0"/>
                            </p:stCondLst>
                            <p:childTnLst>
                              <p:par>
                                <p:cTn id="721" nodeType="clickEffect" fill="hold" presetClass="entr" presetID="1">
                                  <p:stCondLst>
                                    <p:cond delay="0"/>
                                  </p:stCondLst>
                                  <p:childTnLst>
                                    <p:set>
                                      <p:cBhvr>
                                        <p:cTn id="722" dur="1" fill="hold">
                                          <p:stCondLst>
                                            <p:cond delay="0"/>
                                          </p:stCondLst>
                                        </p:cTn>
                                        <p:tgtEl>
                                          <p:spTgt spid="474">
                                            <p:txEl>
                                              <p:pRg st="1" end="1"/>
                                            </p:txEl>
                                          </p:spTgt>
                                        </p:tgtEl>
                                        <p:attrNameLst>
                                          <p:attrName>style.visibility</p:attrName>
                                        </p:attrNameLst>
                                      </p:cBhvr>
                                      <p:to>
                                        <p:strVal val="visible"/>
                                      </p:to>
                                    </p:set>
                                  </p:childTnLst>
                                </p:cTn>
                              </p:par>
                            </p:childTnLst>
                          </p:cTn>
                        </p:par>
                      </p:childTnLst>
                    </p:cTn>
                  </p:par>
                  <p:par>
                    <p:cTn id="723" fill="hold">
                      <p:stCondLst>
                        <p:cond delay="indefinite"/>
                      </p:stCondLst>
                      <p:childTnLst>
                        <p:par>
                          <p:cTn id="724" fill="hold">
                            <p:stCondLst>
                              <p:cond delay="0"/>
                            </p:stCondLst>
                            <p:childTnLst>
                              <p:par>
                                <p:cTn id="725" nodeType="clickEffect" fill="hold" presetClass="entr" presetID="1">
                                  <p:stCondLst>
                                    <p:cond delay="0"/>
                                  </p:stCondLst>
                                  <p:childTnLst>
                                    <p:set>
                                      <p:cBhvr>
                                        <p:cTn id="726" dur="1" fill="hold">
                                          <p:stCondLst>
                                            <p:cond delay="0"/>
                                          </p:stCondLst>
                                        </p:cTn>
                                        <p:tgtEl>
                                          <p:spTgt spid="474">
                                            <p:txEl>
                                              <p:pRg st="2" end="2"/>
                                            </p:txEl>
                                          </p:spTgt>
                                        </p:tgtEl>
                                        <p:attrNameLst>
                                          <p:attrName>style.visibility</p:attrName>
                                        </p:attrNameLst>
                                      </p:cBhvr>
                                      <p:to>
                                        <p:strVal val="visible"/>
                                      </p:to>
                                    </p:set>
                                  </p:childTnLst>
                                </p:cTn>
                              </p:par>
                            </p:childTnLst>
                          </p:cTn>
                        </p:par>
                      </p:childTnLst>
                    </p:cTn>
                  </p:par>
                  <p:par>
                    <p:cTn id="727" fill="hold">
                      <p:stCondLst>
                        <p:cond delay="indefinite"/>
                      </p:stCondLst>
                      <p:childTnLst>
                        <p:par>
                          <p:cTn id="728" fill="hold">
                            <p:stCondLst>
                              <p:cond delay="0"/>
                            </p:stCondLst>
                            <p:childTnLst>
                              <p:par>
                                <p:cTn id="729" nodeType="clickEffect" fill="hold" presetClass="entr" presetID="1">
                                  <p:stCondLst>
                                    <p:cond delay="0"/>
                                  </p:stCondLst>
                                  <p:childTnLst>
                                    <p:set>
                                      <p:cBhvr>
                                        <p:cTn id="730" dur="1" fill="hold">
                                          <p:stCondLst>
                                            <p:cond delay="0"/>
                                          </p:stCondLst>
                                        </p:cTn>
                                        <p:tgtEl>
                                          <p:spTgt spid="474">
                                            <p:txEl>
                                              <p:pRg st="3" end="3"/>
                                            </p:txEl>
                                          </p:spTgt>
                                        </p:tgtEl>
                                        <p:attrNameLst>
                                          <p:attrName>style.visibility</p:attrName>
                                        </p:attrNameLst>
                                      </p:cBhvr>
                                      <p:to>
                                        <p:strVal val="visible"/>
                                      </p:to>
                                    </p:set>
                                  </p:childTnLst>
                                </p:cTn>
                              </p:par>
                            </p:childTnLst>
                          </p:cTn>
                        </p:par>
                      </p:childTnLst>
                    </p:cTn>
                  </p:par>
                  <p:par>
                    <p:cTn id="731" fill="hold">
                      <p:stCondLst>
                        <p:cond delay="indefinite"/>
                      </p:stCondLst>
                      <p:childTnLst>
                        <p:par>
                          <p:cTn id="732" fill="hold">
                            <p:stCondLst>
                              <p:cond delay="0"/>
                            </p:stCondLst>
                            <p:childTnLst>
                              <p:par>
                                <p:cTn id="733" nodeType="clickEffect" fill="hold" presetClass="entr" presetID="1">
                                  <p:stCondLst>
                                    <p:cond delay="0"/>
                                  </p:stCondLst>
                                  <p:childTnLst>
                                    <p:set>
                                      <p:cBhvr>
                                        <p:cTn id="734" dur="1" fill="hold">
                                          <p:stCondLst>
                                            <p:cond delay="0"/>
                                          </p:stCondLst>
                                        </p:cTn>
                                        <p:tgtEl>
                                          <p:spTgt spid="474">
                                            <p:txEl>
                                              <p:pRg st="4" end="4"/>
                                            </p:txEl>
                                          </p:spTgt>
                                        </p:tgtEl>
                                        <p:attrNameLst>
                                          <p:attrName>style.visibility</p:attrName>
                                        </p:attrNameLst>
                                      </p:cBhvr>
                                      <p:to>
                                        <p:strVal val="visible"/>
                                      </p:to>
                                    </p:set>
                                  </p:childTnLst>
                                </p:cTn>
                              </p:par>
                            </p:childTnLst>
                          </p:cTn>
                        </p:par>
                      </p:childTnLst>
                    </p:cTn>
                  </p:par>
                  <p:par>
                    <p:cTn id="735" fill="hold">
                      <p:stCondLst>
                        <p:cond delay="indefinite"/>
                      </p:stCondLst>
                      <p:childTnLst>
                        <p:par>
                          <p:cTn id="736" fill="hold">
                            <p:stCondLst>
                              <p:cond delay="0"/>
                            </p:stCondLst>
                            <p:childTnLst>
                              <p:par>
                                <p:cTn id="737" nodeType="clickEffect" fill="hold" presetClass="entr" presetID="1">
                                  <p:stCondLst>
                                    <p:cond delay="0"/>
                                  </p:stCondLst>
                                  <p:childTnLst>
                                    <p:set>
                                      <p:cBhvr>
                                        <p:cTn id="738" dur="1" fill="hold">
                                          <p:stCondLst>
                                            <p:cond delay="0"/>
                                          </p:stCondLst>
                                        </p:cTn>
                                        <p:tgtEl>
                                          <p:spTgt spid="474">
                                            <p:txEl>
                                              <p:pRg st="5" end="5"/>
                                            </p:txEl>
                                          </p:spTgt>
                                        </p:tgtEl>
                                        <p:attrNameLst>
                                          <p:attrName>style.visibility</p:attrName>
                                        </p:attrNameLst>
                                      </p:cBhvr>
                                      <p:to>
                                        <p:strVal val="visible"/>
                                      </p:to>
                                    </p:set>
                                  </p:childTnLst>
                                </p:cTn>
                              </p:par>
                            </p:childTnLst>
                          </p:cTn>
                        </p:par>
                      </p:childTnLst>
                    </p:cTn>
                  </p:par>
                  <p:par>
                    <p:cTn id="739" fill="hold">
                      <p:stCondLst>
                        <p:cond delay="indefinite"/>
                      </p:stCondLst>
                      <p:childTnLst>
                        <p:par>
                          <p:cTn id="740" fill="hold">
                            <p:stCondLst>
                              <p:cond delay="0"/>
                            </p:stCondLst>
                            <p:childTnLst>
                              <p:par>
                                <p:cTn id="741" nodeType="clickEffect" fill="hold" presetClass="entr" presetID="1">
                                  <p:stCondLst>
                                    <p:cond delay="0"/>
                                  </p:stCondLst>
                                  <p:childTnLst>
                                    <p:set>
                                      <p:cBhvr>
                                        <p:cTn id="742" dur="1" fill="hold">
                                          <p:stCondLst>
                                            <p:cond delay="0"/>
                                          </p:stCondLst>
                                        </p:cTn>
                                        <p:tgtEl>
                                          <p:spTgt spid="474">
                                            <p:txEl>
                                              <p:pRg st="6" end="6"/>
                                            </p:txEl>
                                          </p:spTgt>
                                        </p:tgtEl>
                                        <p:attrNameLst>
                                          <p:attrName>style.visibility</p:attrName>
                                        </p:attrNameLst>
                                      </p:cBhvr>
                                      <p:to>
                                        <p:strVal val="visible"/>
                                      </p:to>
                                    </p:set>
                                  </p:childTnLst>
                                </p:cTn>
                              </p:par>
                            </p:childTnLst>
                          </p:cTn>
                        </p:par>
                      </p:childTnLst>
                    </p:cTn>
                  </p:par>
                  <p:par>
                    <p:cTn id="743" fill="hold">
                      <p:stCondLst>
                        <p:cond delay="indefinite"/>
                      </p:stCondLst>
                      <p:childTnLst>
                        <p:par>
                          <p:cTn id="744" fill="hold">
                            <p:stCondLst>
                              <p:cond delay="0"/>
                            </p:stCondLst>
                            <p:childTnLst>
                              <p:par>
                                <p:cTn id="745" nodeType="clickEffect" fill="hold" presetClass="entr" presetID="1">
                                  <p:stCondLst>
                                    <p:cond delay="0"/>
                                  </p:stCondLst>
                                  <p:childTnLst>
                                    <p:set>
                                      <p:cBhvr>
                                        <p:cTn id="746" dur="1" fill="hold">
                                          <p:stCondLst>
                                            <p:cond delay="0"/>
                                          </p:stCondLst>
                                        </p:cTn>
                                        <p:tgtEl>
                                          <p:spTgt spid="474">
                                            <p:txEl>
                                              <p:pRg st="7" end="7"/>
                                            </p:txEl>
                                          </p:spTgt>
                                        </p:tgtEl>
                                        <p:attrNameLst>
                                          <p:attrName>style.visibility</p:attrName>
                                        </p:attrNameLst>
                                      </p:cBhvr>
                                      <p:to>
                                        <p:strVal val="visible"/>
                                      </p:to>
                                    </p:set>
                                  </p:childTnLst>
                                </p:cTn>
                              </p:par>
                            </p:childTnLst>
                          </p:cTn>
                        </p:par>
                      </p:childTnLst>
                    </p:cTn>
                  </p:par>
                  <p:par>
                    <p:cTn id="747" fill="hold">
                      <p:stCondLst>
                        <p:cond delay="indefinite"/>
                      </p:stCondLst>
                      <p:childTnLst>
                        <p:par>
                          <p:cTn id="748" fill="hold">
                            <p:stCondLst>
                              <p:cond delay="0"/>
                            </p:stCondLst>
                            <p:childTnLst>
                              <p:par>
                                <p:cTn id="749" nodeType="clickEffect" fill="hold" presetClass="entr" presetID="1">
                                  <p:stCondLst>
                                    <p:cond delay="0"/>
                                  </p:stCondLst>
                                  <p:childTnLst>
                                    <p:set>
                                      <p:cBhvr>
                                        <p:cTn id="750" dur="1" fill="hold">
                                          <p:stCondLst>
                                            <p:cond delay="0"/>
                                          </p:stCondLst>
                                        </p:cTn>
                                        <p:tgtEl>
                                          <p:spTgt spid="474">
                                            <p:txEl>
                                              <p:pRg st="8" end="8"/>
                                            </p:txEl>
                                          </p:spTgt>
                                        </p:tgtEl>
                                        <p:attrNameLst>
                                          <p:attrName>style.visibility</p:attrName>
                                        </p:attrNameLst>
                                      </p:cBhvr>
                                      <p:to>
                                        <p:strVal val="visible"/>
                                      </p:to>
                                    </p:set>
                                  </p:childTnLst>
                                </p:cTn>
                              </p:par>
                            </p:childTnLst>
                          </p:cTn>
                        </p:par>
                      </p:childTnLst>
                    </p:cTn>
                  </p:par>
                  <p:par>
                    <p:cTn id="751" fill="hold">
                      <p:stCondLst>
                        <p:cond delay="indefinite"/>
                      </p:stCondLst>
                      <p:childTnLst>
                        <p:par>
                          <p:cTn id="752" fill="hold">
                            <p:stCondLst>
                              <p:cond delay="0"/>
                            </p:stCondLst>
                            <p:childTnLst>
                              <p:par>
                                <p:cTn id="753" nodeType="clickEffect" fill="hold" presetClass="entr" presetID="1">
                                  <p:stCondLst>
                                    <p:cond delay="0"/>
                                  </p:stCondLst>
                                  <p:childTnLst>
                                    <p:set>
                                      <p:cBhvr>
                                        <p:cTn id="754" dur="1" fill="hold">
                                          <p:stCondLst>
                                            <p:cond delay="0"/>
                                          </p:stCondLst>
                                        </p:cTn>
                                        <p:tgtEl>
                                          <p:spTgt spid="474">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Homework!</a:t>
            </a:r>
            <a:endParaRPr b="0" lang="en-US" sz="2600" spc="-1" strike="noStrike">
              <a:solidFill>
                <a:srgbClr val="000000"/>
              </a:solidFill>
              <a:latin typeface="Arial"/>
            </a:endParaRPr>
          </a:p>
        </p:txBody>
      </p:sp>
      <p:sp>
        <p:nvSpPr>
          <p:cNvPr id="47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Expand your work done in classroom regarding the XYZ University Computer Science Department. You might, among others, consider the following:</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Which other entities should be included?</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What are their attributes?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Which other relationships are required?</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Collect the corresponding DBML code, the generated E-R graph and a brief description of your way of thinking in a single document, which you should send me at: </a:t>
            </a:r>
            <a:r>
              <a:rPr b="0" lang="el" sz="1600" spc="-1" strike="noStrike" u="sng">
                <a:solidFill>
                  <a:schemeClr val="hlink"/>
                </a:solidFill>
                <a:uFillTx/>
                <a:latin typeface="Lato"/>
                <a:ea typeface="Lato"/>
                <a:hlinkClick r:id="rId1"/>
              </a:rPr>
              <a:t>v.markos@mc-class.gr</a:t>
            </a:r>
            <a:r>
              <a:rPr b="0" lang="el" sz="1600" spc="-1" strike="noStrike">
                <a:solidFill>
                  <a:schemeClr val="accent1"/>
                </a:solidFill>
                <a:latin typeface="Lato"/>
                <a:ea typeface="Lato"/>
              </a:rPr>
              <a:t>.</a:t>
            </a:r>
            <a:endParaRPr b="0" lang="en-US" sz="1600" spc="-1" strike="noStrike">
              <a:solidFill>
                <a:srgbClr val="000000"/>
              </a:solidFill>
              <a:latin typeface="Arial"/>
            </a:endParaRPr>
          </a:p>
        </p:txBody>
      </p:sp>
      <p:sp>
        <p:nvSpPr>
          <p:cNvPr id="478" name="PlaceHolder 3"/>
          <p:cNvSpPr>
            <a:spLocks noGrp="1"/>
          </p:cNvSpPr>
          <p:nvPr>
            <p:ph type="sldNum" idx="4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C660B99-01C3-4127-BA62-1C11528D84A4}"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480"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pic>
        <p:nvPicPr>
          <p:cNvPr id="481" name="Google Shape;495;p56" descr="">
            <a:hlinkClick r:id="rId1"/>
          </p:cNvPr>
          <p:cNvPicPr/>
          <p:nvPr/>
        </p:nvPicPr>
        <p:blipFill>
          <a:blip r:embed="rId2"/>
          <a:stretch/>
        </p:blipFill>
        <p:spPr>
          <a:xfrm>
            <a:off x="5457240" y="1143000"/>
            <a:ext cx="2857320" cy="2857320"/>
          </a:xfrm>
          <a:prstGeom prst="rect">
            <a:avLst/>
          </a:prstGeom>
          <a:ln w="0">
            <a:noFill/>
          </a:ln>
        </p:spPr>
      </p:pic>
      <p:sp>
        <p:nvSpPr>
          <p:cNvPr id="482" name="Google Shape;496;p56"/>
          <p:cNvSpPr/>
          <p:nvPr/>
        </p:nvSpPr>
        <p:spPr>
          <a:xfrm>
            <a:off x="4729320" y="4077360"/>
            <a:ext cx="4312440" cy="45828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l" sz="1600" spc="-1" strike="noStrike" u="sng">
                <a:solidFill>
                  <a:schemeClr val="hlink"/>
                </a:solidFill>
                <a:uFillTx/>
                <a:latin typeface="Consolas"/>
                <a:ea typeface="Consolas"/>
                <a:hlinkClick r:id="rId3"/>
              </a:rPr>
              <a:t>https://forms.gle/edpsrRjMWJwPtv3U9</a:t>
            </a:r>
            <a:endParaRPr b="0" lang="en-US" sz="1600" spc="-1" strike="noStrike">
              <a:solidFill>
                <a:srgbClr val="000000"/>
              </a:solidFill>
              <a:latin typeface="Arial"/>
            </a:endParaRPr>
          </a:p>
        </p:txBody>
      </p:sp>
      <p:sp>
        <p:nvSpPr>
          <p:cNvPr id="483" name="PlaceHolder 3"/>
          <p:cNvSpPr>
            <a:spLocks noGrp="1"/>
          </p:cNvSpPr>
          <p:nvPr>
            <p:ph type="sldNum" idx="4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2B3DB4E-7929-4DBF-9315-EAAC79F9D433}"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2026-02-01T20:36:08Z</dcterms:modified>
  <cp:revision>2</cp:revision>
  <dc:subject/>
  <dc:title/>
</cp:coreProperties>
</file>