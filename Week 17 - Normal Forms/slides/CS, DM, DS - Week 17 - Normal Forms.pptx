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35B253-0520-4A7A-85E3-E1401721C60F}">
  <a:tblStyle styleId="{5535B253-0520-4A7A-85E3-E1401721C6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4072b17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4072b17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4072b17f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c4072b17f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4072b17fc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c4072b17fc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4072b17f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4072b17f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4072b17fc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c4072b17f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4072b17fc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c4072b17f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4072b17fc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c4072b17fc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4072b17fc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c4072b17f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4072b17f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4072b17f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c4072b17fc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c4072b17fc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4072b17fc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c4072b17fc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4072b17fc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c4072b17fc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c4072b17fc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c4072b17fc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c4072b17fc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c4072b17fc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4072b17fc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c4072b17f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c4072b17fc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c4072b17f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c4072b17fc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c4072b17fc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c4072b17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c4072b17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c4072b17f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c4072b17f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c4072b17f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c4072b17f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6590950" y="3866975"/>
            <a:ext cx="194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  <p:grpSp>
        <p:nvGrpSpPr>
          <p:cNvPr id="28" name="Google Shape;28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Εκτός ύλης">
  <p:cSld name="TITLE_AND_BODY_1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Not relevant for the assessment of the module!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">
  <p:cSld name="TITLE_AND_BODY_1_1">
    <p:bg>
      <p:bgPr>
        <a:solidFill>
          <a:schemeClr val="l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Heads up!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44" name="Google Shape;44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ύριο μέρος - Προσοχή! 1">
  <p:cSld name="TITLE_AND_BODY_1_1_1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lt1"/>
                </a:solidFill>
              </a:rPr>
              <a:t>Quick Revision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52" name="Google Shape;52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3" name="Google Shape;53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8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729325" y="1474150"/>
            <a:ext cx="37743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2" type="body"/>
          </p:nvPr>
        </p:nvSpPr>
        <p:spPr>
          <a:xfrm>
            <a:off x="4643600" y="1474075"/>
            <a:ext cx="37743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9"/>
          <p:cNvSpPr txBox="1"/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0"/>
          <p:cNvSpPr txBox="1"/>
          <p:nvPr>
            <p:ph type="title"/>
          </p:nvPr>
        </p:nvSpPr>
        <p:spPr>
          <a:xfrm>
            <a:off x="721225" y="523413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721225" y="1452775"/>
            <a:ext cx="3300900" cy="29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7" name="Google Shape;87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4" name="Google Shape;94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7" name="Google Shape;97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5" name="Google Shape;105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ato"/>
              <a:buNone/>
              <a:defRPr sz="8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157325" y="41050"/>
            <a:ext cx="892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Lato"/>
              <a:buNone/>
              <a:defRPr b="0" sz="10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forms.gle/edpsrRjMWJwPtv3U9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forms.gle/edpsrRjMWJwPtv3U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Computer Systems, Data Management &amp; Data Structures</a:t>
            </a:r>
            <a:endParaRPr/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Markos Vassilis</a:t>
            </a:r>
            <a:br>
              <a:rPr lang="el"/>
            </a:br>
            <a:r>
              <a:rPr lang="el"/>
              <a:t>Mediterranean College, Spring 2023-2024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029600" y="4001275"/>
            <a:ext cx="2388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 txBox="1"/>
          <p:nvPr>
            <p:ph idx="2" type="subTitle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Week 17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Normal Forms</a:t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Employees of a Local Company…</a:t>
            </a:r>
            <a:endParaRPr/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132" name="Google Shape;132;p18"/>
          <p:cNvGraphicFramePr/>
          <p:nvPr/>
        </p:nvGraphicFramePr>
        <p:xfrm>
          <a:off x="405100" y="177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042175"/>
                <a:gridCol w="860675"/>
                <a:gridCol w="628375"/>
                <a:gridCol w="1637475"/>
                <a:gridCol w="1042175"/>
                <a:gridCol w="1042175"/>
                <a:gridCol w="1042175"/>
                <a:gridCol w="1042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Duties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1, 2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Managing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Primary Keys…</a:t>
            </a:r>
            <a:endParaRPr/>
          </a:p>
        </p:txBody>
      </p:sp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139" name="Google Shape;139;p19"/>
          <p:cNvGraphicFramePr/>
          <p:nvPr/>
        </p:nvGraphicFramePr>
        <p:xfrm>
          <a:off x="405100" y="177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042175"/>
                <a:gridCol w="860675"/>
                <a:gridCol w="628375"/>
                <a:gridCol w="1637475"/>
                <a:gridCol w="1042175"/>
                <a:gridCol w="1042175"/>
                <a:gridCol w="1042175"/>
                <a:gridCol w="1042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Duties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1, 2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Managing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More on Primary Keys…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the above setting, we have assumed that the Name, Address and Role fields are </a:t>
            </a:r>
            <a:r>
              <a:rPr b="1" lang="el"/>
              <a:t>jointly sufficient</a:t>
            </a:r>
            <a:r>
              <a:rPr lang="el"/>
              <a:t> to identify each employee.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Such keys are called composite keys.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general, this is quite common in practice.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However, in this specific scenario, we could also expect to have access to some sort of unique identifier like SSN (Social Security Number).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convenience, we will use shorthands as the ones below for the (Name, Address, Role) triplet, for brevity and clarity: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Alice, Manager, Red Str 12 → AMR12.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Alice, Cashier, White Str 2 → ACW2.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Charlie, Security, Red Str 12 → CSR12.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…</a:t>
            </a:r>
            <a:endParaRPr/>
          </a:p>
        </p:txBody>
      </p:sp>
      <p:sp>
        <p:nvSpPr>
          <p:cNvPr id="146" name="Google Shape;146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Multiple Values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729450" y="1378000"/>
            <a:ext cx="7688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Can we avoid having columns admitting multiple values? How?</a:t>
            </a:r>
            <a:endParaRPr/>
          </a:p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154" name="Google Shape;154;p21"/>
          <p:cNvGraphicFramePr/>
          <p:nvPr/>
        </p:nvGraphicFramePr>
        <p:xfrm>
          <a:off x="381725" y="185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048025"/>
                <a:gridCol w="865525"/>
                <a:gridCol w="631875"/>
                <a:gridCol w="1646625"/>
                <a:gridCol w="1048025"/>
                <a:gridCol w="1048025"/>
                <a:gridCol w="1048025"/>
                <a:gridCol w="1048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Duties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1, 2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Managing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Multiple Values</a:t>
            </a:r>
            <a:endParaRPr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729450" y="1378000"/>
            <a:ext cx="7688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At first, let’s create separate table for each of those columns…</a:t>
            </a:r>
            <a:endParaRPr/>
          </a:p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162" name="Google Shape;162;p22"/>
          <p:cNvGraphicFramePr/>
          <p:nvPr/>
        </p:nvGraphicFramePr>
        <p:xfrm>
          <a:off x="149250" y="185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922100"/>
                <a:gridCol w="761500"/>
                <a:gridCol w="922100"/>
                <a:gridCol w="922100"/>
                <a:gridCol w="922100"/>
                <a:gridCol w="727600"/>
                <a:gridCol w="1116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Duties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Managing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3" name="Google Shape;163;p22"/>
          <p:cNvGraphicFramePr/>
          <p:nvPr/>
        </p:nvGraphicFramePr>
        <p:xfrm>
          <a:off x="6544350" y="185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124200"/>
                <a:gridCol w="112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 Id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1234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2345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Multiple Values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729450" y="1378000"/>
            <a:ext cx="76887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The employee—customer relationship is many–to–many, so we will also need a junction table.</a:t>
            </a:r>
            <a:endParaRPr/>
          </a:p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171" name="Google Shape;171;p23"/>
          <p:cNvGraphicFramePr/>
          <p:nvPr/>
        </p:nvGraphicFramePr>
        <p:xfrm>
          <a:off x="4422050" y="208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124200"/>
                <a:gridCol w="112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 Id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</a:t>
                      </a:r>
                      <a:endParaRPr b="1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1234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2345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2" name="Google Shape;172;p23"/>
          <p:cNvGraphicFramePr/>
          <p:nvPr/>
        </p:nvGraphicFramePr>
        <p:xfrm>
          <a:off x="6790250" y="208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961675"/>
                <a:gridCol w="119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Store Id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Employee ID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1234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AMR12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2345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AMR12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1234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ACW2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2345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BCB1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1234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CSR12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2345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DSB7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23"/>
          <p:cNvGraphicFramePr/>
          <p:nvPr/>
        </p:nvGraphicFramePr>
        <p:xfrm>
          <a:off x="149250" y="208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608425"/>
                <a:gridCol w="502450"/>
                <a:gridCol w="608425"/>
                <a:gridCol w="608425"/>
                <a:gridCol w="493175"/>
                <a:gridCol w="595350"/>
                <a:gridCol w="736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9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sz="9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9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sz="9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9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sz="9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9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Duties</a:t>
                      </a:r>
                      <a:endParaRPr b="1" sz="9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9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 sz="9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9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 sz="9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9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 sz="9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Managing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6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6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First Normal Form (1NF)</a:t>
            </a:r>
            <a:endParaRPr/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we have achieve with this design is that </a:t>
            </a:r>
            <a:r>
              <a:rPr b="1" lang="el"/>
              <a:t>no column has multiple / nested values.</a:t>
            </a:r>
            <a:r>
              <a:rPr lang="el"/>
              <a:t> But, why is that useful?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Mainly, because we can use simple data structures (i.e., 2D arrays) to represent our data.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So, our DDL (Data Description Language) need not be that complex.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Introducing Foreign Keys to represent relationships is really flexible and easy to follow (as in our junction table, here).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form is called the </a:t>
            </a:r>
            <a:r>
              <a:rPr b="1" lang="el"/>
              <a:t>First Normal Form (1NF)</a:t>
            </a:r>
            <a:r>
              <a:rPr lang="el"/>
              <a:t> of a DB.</a:t>
            </a:r>
            <a:endParaRPr/>
          </a:p>
        </p:txBody>
      </p:sp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Meditate on the Following Table</a:t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729450" y="1378000"/>
            <a:ext cx="76887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Is there anything peculiar?</a:t>
            </a:r>
            <a:endParaRPr/>
          </a:p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188" name="Google Shape;188;p25"/>
          <p:cNvGraphicFramePr/>
          <p:nvPr/>
        </p:nvGraphicFramePr>
        <p:xfrm>
          <a:off x="705338" y="208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133475"/>
                <a:gridCol w="936050"/>
                <a:gridCol w="1133475"/>
                <a:gridCol w="1133475"/>
                <a:gridCol w="918775"/>
                <a:gridCol w="1109125"/>
                <a:gridCol w="1372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Duties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Managing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Direct Dependencies</a:t>
            </a:r>
            <a:endParaRPr/>
          </a:p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729450" y="1378000"/>
            <a:ext cx="76887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‘Duties’ are fully determined only by the ‘Role’ part of an employee’s PK.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why not have a separate table for that?</a:t>
            </a:r>
            <a:endParaRPr/>
          </a:p>
        </p:txBody>
      </p:sp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196" name="Google Shape;196;p26"/>
          <p:cNvGraphicFramePr/>
          <p:nvPr/>
        </p:nvGraphicFramePr>
        <p:xfrm>
          <a:off x="1367500" y="228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768000"/>
                <a:gridCol w="768900"/>
                <a:gridCol w="1050950"/>
                <a:gridCol w="10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26"/>
          <p:cNvGraphicFramePr/>
          <p:nvPr/>
        </p:nvGraphicFramePr>
        <p:xfrm>
          <a:off x="5478325" y="228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863975"/>
                <a:gridCol w="1437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Duties</a:t>
                      </a:r>
                      <a:endParaRPr b="1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Managing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service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checks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Second Normal Form (2NF)</a:t>
            </a:r>
            <a:endParaRPr/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we have essentially demanded above was that </a:t>
            </a:r>
            <a:r>
              <a:rPr b="1" lang="el"/>
              <a:t>each column depends on the PK in its </a:t>
            </a:r>
            <a:r>
              <a:rPr b="1" lang="el"/>
              <a:t>entirety</a:t>
            </a:r>
            <a:r>
              <a:rPr lang="el"/>
              <a:t>, and not just parts of it.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all our tables satisfy this property, then our DB is in what we call </a:t>
            </a:r>
            <a:r>
              <a:rPr b="1" lang="el"/>
              <a:t>Second Normal Form (2NF).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Dependencies as the ones we show above (e.g., between the ‘Role’ and ‘Duties’ columns) are called </a:t>
            </a:r>
            <a:r>
              <a:rPr b="1" lang="el"/>
              <a:t>functional dependencies</a:t>
            </a:r>
            <a:r>
              <a:rPr lang="el"/>
              <a:t>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Useful to spot hidden relationships within our 1NF DB.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/>
              <a:t>A DB must first be in 1NF to bring it to 2NF!</a:t>
            </a:r>
            <a:endParaRPr b="1"/>
          </a:p>
        </p:txBody>
      </p:sp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Meditate (again) on the Following Table</a:t>
            </a:r>
            <a:endParaRPr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729450" y="1378000"/>
            <a:ext cx="7688700" cy="4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Is there anything peculiar?</a:t>
            </a:r>
            <a:endParaRPr/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212" name="Google Shape;212;p28"/>
          <p:cNvGraphicFramePr/>
          <p:nvPr/>
        </p:nvGraphicFramePr>
        <p:xfrm>
          <a:off x="1272063" y="20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133475"/>
                <a:gridCol w="936050"/>
                <a:gridCol w="1133475"/>
                <a:gridCol w="918775"/>
                <a:gridCol w="1109125"/>
                <a:gridCol w="1372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Transitive Functional Dependencies</a:t>
            </a:r>
            <a:endParaRPr/>
          </a:p>
        </p:txBody>
      </p:sp>
      <p:sp>
        <p:nvSpPr>
          <p:cNvPr id="218" name="Google Shape;218;p29"/>
          <p:cNvSpPr txBox="1"/>
          <p:nvPr>
            <p:ph idx="1" type="body"/>
          </p:nvPr>
        </p:nvSpPr>
        <p:spPr>
          <a:xfrm>
            <a:off x="729450" y="1378000"/>
            <a:ext cx="76887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‘Supervisor’ depends on (i.e., is predicted by) ‘Group’ which depends on the PK.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why not have them in a separate table?</a:t>
            </a:r>
            <a:endParaRPr/>
          </a:p>
        </p:txBody>
      </p:sp>
      <p:sp>
        <p:nvSpPr>
          <p:cNvPr id="219" name="Google Shape;219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220" name="Google Shape;220;p29"/>
          <p:cNvGraphicFramePr/>
          <p:nvPr/>
        </p:nvGraphicFramePr>
        <p:xfrm>
          <a:off x="1270263" y="21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133475"/>
                <a:gridCol w="936050"/>
                <a:gridCol w="1133475"/>
                <a:gridCol w="918775"/>
                <a:gridCol w="1109125"/>
                <a:gridCol w="1372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Transitive Functional Dependencies</a:t>
            </a:r>
            <a:endParaRPr/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729450" y="1378000"/>
            <a:ext cx="76887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‘Supervisor’ depends on (i.e., is predicted by) ‘Group’ which depends on the PK.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why not have them in a separate table?</a:t>
            </a:r>
            <a:endParaRPr/>
          </a:p>
        </p:txBody>
      </p:sp>
      <p:sp>
        <p:nvSpPr>
          <p:cNvPr id="227" name="Google Shape;227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228" name="Google Shape;228;p30"/>
          <p:cNvGraphicFramePr/>
          <p:nvPr/>
        </p:nvGraphicFramePr>
        <p:xfrm>
          <a:off x="1176613" y="21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926875"/>
                <a:gridCol w="765425"/>
                <a:gridCol w="926875"/>
                <a:gridCol w="751300"/>
                <a:gridCol w="75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Address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Salary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1,500 €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Alice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White Str 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Cashier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 Str 1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Charlie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Str 12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1,050 €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David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Brown Str 7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1,150 €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9" name="Google Shape;229;p30"/>
          <p:cNvGraphicFramePr/>
          <p:nvPr/>
        </p:nvGraphicFramePr>
        <p:xfrm>
          <a:off x="5887888" y="21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{5535B253-0520-4A7A-85E3-E1401721C60F}</a:tableStyleId>
              </a:tblPr>
              <a:tblGrid>
                <a:gridCol w="1109125"/>
                <a:gridCol w="1372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 u="sng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Group</a:t>
                      </a:r>
                      <a:endParaRPr b="1" sz="1300" u="sng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3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Supervisor</a:t>
                      </a:r>
                      <a:endParaRPr b="1" sz="13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Fred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George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Third Normal Form (3NF)</a:t>
            </a:r>
            <a:endParaRPr/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729450" y="1378000"/>
            <a:ext cx="7688700" cy="3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Much like functional dependencies, </a:t>
            </a:r>
            <a:r>
              <a:rPr b="1" lang="el"/>
              <a:t>transitive functional dependencies</a:t>
            </a:r>
            <a:r>
              <a:rPr lang="el"/>
              <a:t> are dependencies of columns on other columns (regardless of whether they participate in the PK) which, eventually, depend on the PK.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those cases, we have to create separate tables to reach the </a:t>
            </a:r>
            <a:r>
              <a:rPr b="1" lang="el"/>
              <a:t>Third Normal Form (3NF).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But, why? In this case we have introduced more complexity, no?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Actually, this stage usually helps us extend our design in the future.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E.g., what if each group has also a vice–supervisor in the future?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Having a separate table makes things easy.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Keeping that information on the Employees table makes things more complicated.</a:t>
            </a:r>
            <a:endParaRPr/>
          </a:p>
        </p:txBody>
      </p:sp>
      <p:sp>
        <p:nvSpPr>
          <p:cNvPr id="236" name="Google Shape;236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EKNF, BCNF, 4NF, ETNF, 5NF, DKNF, 6NF</a:t>
            </a:r>
            <a:endParaRPr/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There are other normal forms: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Elementary Key NF (EKNF)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Boyce–Codd NF (BCNF)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Fourth NF (4NF)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Essential Tuple NF (ETNF)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Fifth NF (5NF)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Domain–key NF (DKNF)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Sixth NF (6NF)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You need not worry about them (for the moment)...</a:t>
            </a:r>
            <a:endParaRPr/>
          </a:p>
        </p:txBody>
      </p:sp>
      <p:sp>
        <p:nvSpPr>
          <p:cNvPr id="243" name="Google Shape;243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Homework</a:t>
            </a:r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Write a brief (300 — 600 words) essay about some normal forms of your choice. Explain the rationale behind them, why / why not use them in certain cases, and provide a brief example.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You can draw inspiration from today’s example(s) and also build on them to present some normal forms beyond the first three.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Submit</a:t>
            </a:r>
            <a:r>
              <a:rPr lang="el"/>
              <a:t> your work at: v.markos@mc-class.gr</a:t>
            </a:r>
            <a:endParaRPr/>
          </a:p>
        </p:txBody>
      </p:sp>
      <p:sp>
        <p:nvSpPr>
          <p:cNvPr id="250" name="Google Shape;250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Fun Time!</a:t>
            </a:r>
            <a:endParaRPr/>
          </a:p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Book–stores and DB</a:t>
            </a:r>
            <a:endParaRPr/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Follow today’s tutorial found at: ‘./Labs/tutorial_0.pdf’.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We will work on this scenario for, probably, the rest of this semester, so pay close attention to it!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Also, be careful with your design choices as they will affect your future implementation by a lot!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case you don’t manage to complete all work in class, work on your own at home!</a:t>
            </a:r>
            <a:endParaRPr/>
          </a:p>
        </p:txBody>
      </p:sp>
      <p:sp>
        <p:nvSpPr>
          <p:cNvPr id="263" name="Google Shape;263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Any Questions?</a:t>
            </a:r>
            <a:endParaRPr/>
          </a:p>
        </p:txBody>
      </p:sp>
      <p:sp>
        <p:nvSpPr>
          <p:cNvPr id="269" name="Google Shape;269;p3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Don’t forget to fill-in the questionnaire! (check right)</a:t>
            </a:r>
            <a:endParaRPr/>
          </a:p>
        </p:txBody>
      </p:sp>
      <p:pic>
        <p:nvPicPr>
          <p:cNvPr id="270" name="Google Shape;270;p3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075" y="11430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6"/>
          <p:cNvSpPr txBox="1"/>
          <p:nvPr/>
        </p:nvSpPr>
        <p:spPr>
          <a:xfrm>
            <a:off x="4729425" y="4077425"/>
            <a:ext cx="43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https://forms.gle/edpsrRjMWJwPtv3U9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" name="Google Shape;272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