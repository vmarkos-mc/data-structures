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13.xml.rels" ContentType="application/vnd.openxmlformats-package.relationships+xml"/>
  <Override PartName="/ppt/slideLayouts/_rels/slideLayout58.xml.rels" ContentType="application/vnd.openxmlformats-package.relationships+xml"/>
  <Override PartName="/ppt/slideLayouts/_rels/slideLayout65.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12.xml.rels" ContentType="application/vnd.openxmlformats-package.relationships+xml"/>
  <Override PartName="/ppt/slideLayouts/_rels/slideLayout55.xml.rels" ContentType="application/vnd.openxmlformats-package.relationships+xml"/>
  <Override PartName="/ppt/slideLayouts/_rels/slideLayout54.xml.rels" ContentType="application/vnd.openxmlformats-package.relationships+xml"/>
  <Override PartName="/ppt/slideLayouts/_rels/slideLayout69.xml.rels" ContentType="application/vnd.openxmlformats-package.relationships+xml"/>
  <Override PartName="/ppt/slideLayouts/_rels/slideLayout63.xml.rels" ContentType="application/vnd.openxmlformats-package.relationships+xml"/>
  <Override PartName="/ppt/slideLayouts/_rels/slideLayout47.xml.rels" ContentType="application/vnd.openxmlformats-package.relationships+xml"/>
  <Override PartName="/ppt/slideLayouts/_rels/slideLayout53.xml.rels" ContentType="application/vnd.openxmlformats-package.relationships+xml"/>
  <Override PartName="/ppt/slideLayouts/_rels/slideLayout46.xml.rels" ContentType="application/vnd.openxmlformats-package.relationships+xml"/>
  <Override PartName="/ppt/slideLayouts/_rels/slideLayout62.xml.rels" ContentType="application/vnd.openxmlformats-package.relationships+xml"/>
  <Override PartName="/ppt/slideLayouts/_rels/slideLayout50.xml.rels" ContentType="application/vnd.openxmlformats-package.relationships+xml"/>
  <Override PartName="/ppt/slideLayouts/_rels/slideLayout52.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30.xml.rels" ContentType="application/vnd.openxmlformats-package.relationships+xml"/>
  <Override PartName="/ppt/slideLayouts/_rels/slideLayout45.xml.rels" ContentType="application/vnd.openxmlformats-package.relationships+xml"/>
  <Override PartName="/ppt/slideLayouts/_rels/slideLayout14.xml.rels" ContentType="application/vnd.openxmlformats-package.relationships+xml"/>
  <Override PartName="/ppt/slideLayouts/_rels/slideLayout8.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5.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31.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64.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58.xml" ContentType="application/vnd.openxmlformats-officedocument.presentationml.slideLayout+xml"/>
  <Override PartName="/ppt/slideLayouts/slideLayout17.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72.xml" ContentType="application/vnd.openxmlformats-officedocument.presentationml.slideLayout+xml"/>
  <Override PartName="/ppt/slideLayouts/slideLayout23.xml" ContentType="application/vnd.openxmlformats-officedocument.presentationml.slideLayout+xml"/>
  <Override PartName="/ppt/slideLayouts/slideLayout71.xml" ContentType="application/vnd.openxmlformats-officedocument.presentationml.slideLayout+xml"/>
  <Override PartName="/ppt/slideLayouts/slideLayout29.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70.xml" ContentType="application/vnd.openxmlformats-officedocument.presentationml.slideLayout+xml"/>
  <Override PartName="/ppt/slideLayouts/slideLayout28.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6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media/image1.png" ContentType="image/png"/>
  <Override PartName="/ppt/media/image2.png" ContentType="image/png"/>
  <Override PartName="/ppt/media/image3.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8.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6.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28.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slide16.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9D832D62-7DB2-4D51-BBD1-F5D6A306414C}"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7ED3272C-BCDC-4366-97E9-971F3A2325EC}"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CDD2FBB7-9520-499D-9D44-92310E9DAC37}"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20C55240-C078-46A1-B02A-4AAABA71282C}"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CD71AD93-9A08-4588-B87C-E49414796BBA}"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0CF97B89-234C-4549-89F0-0DC0F37CDA8C}"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993F1D88-9A16-4E6A-9917-422414844B9A}"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84259147-8E85-4BB8-A5A8-DD3C11DB2259}"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19D43384-0F90-42B4-AEDE-79588733FAB2}"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9CABD0A0-205A-49FD-9D5C-E3540DD53992}"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2AE03817-7636-4766-9E8C-1723DBFBD4E3}"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91DD18A5-D815-4772-8FD0-EA7FF90562A4}"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583562A0-2F63-4954-8B8E-AAEEAB1CB291}"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3933201F-CC76-41B4-B750-D45C412E2116}"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89A93576-716D-49FC-B315-2EAC6BFCBB4C}"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211B400D-ABBF-46F7-8A56-D9DBAC96A9A5}"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937147C1-D642-4AB9-B681-6AD7F41976A9}"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63443102-0104-47C2-A722-D3A1756C5A73}"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2E4E4242-4621-4AD4-A890-BF3BCD8D0CA4}"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35CDC52F-8067-4867-914B-03AF5BEC20AE}"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FF317C1F-ACE3-4072-B1EB-BFFE97588832}"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20D378C9-365A-46DC-A273-829800A0A143}"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E6849C99-9225-45A6-8335-1CD31A1DE185}"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729D0422-F186-48B6-B7B8-1C1024DA4103}"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A3B17F5A-9222-4613-9766-B24AAD3371BE}"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FD72C793-3E2D-4638-A575-E239A81A4D00}"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075014FB-0B2B-4290-BC7E-5D383FC51DCD}"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B98269A3-D66A-407B-B804-FD97B0032E7D}"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941399DF-28D1-4514-BCB9-76DDD63E8472}"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F9555762-44FC-4E5B-AE9A-D47E43584702}"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7E4784AB-927D-43F4-907B-9A13ACE60AAE}"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3575DDAF-9876-4967-B122-F0345A7A15A4}"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A50FDC67-7AA5-4324-88B4-D38D893D4993}"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434FFA46-1DF8-41F3-A5B2-B6E3A5CC2A14}"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D40C61BE-8636-4743-A7AE-E743CB040A5F}"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062D2665-3770-4D58-BC2C-1894343E5CD8}"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D5B18EB3-035F-45C3-B406-3DB68639F16C}"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EECA8DC3-5300-4EF3-BDCF-C85289743538}"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9"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38DD610B-E414-4A23-8D6C-0446BCD88870}"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E0EEA490-F534-4B3D-85A4-49E6693A542D}"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CEE59340-E7C3-439D-B28B-C408B68909CF}"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DDB7CB9F-07D7-4269-A924-116CD98664F6}"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8"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5F224111-F833-4987-BD53-5B1B3A0D12D6}"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0"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2"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0FA8BF78-D7CC-4273-96B2-C478A8E9F36A}"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6"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E4E9F579-D3AC-4C98-9573-1120A44EE233}"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8"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8172922F-D8BF-48D4-AED8-8510F5C78A18}"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3"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4"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A1B1C1D7-8137-41A6-9DAB-14897F019107}"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6"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7"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8"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9"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0"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1"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8FE868E2-4A58-4100-B736-794F9B0B6411}" type="slidenum">
              <a:t>&lt;#&gt;</a:t>
            </a:fld>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B0A9EE1F-9884-456A-9AAA-53BA6215AA0A}" type="slidenum">
              <a:t>&lt;#&gt;</a:t>
            </a:fld>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0"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0F6D7F1D-ADB4-4F6B-8569-6BC84E55F40D}" type="slidenum">
              <a:t>&lt;#&gt;</a:t>
            </a:fld>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2"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5"/>
          </p:nvPr>
        </p:nvSpPr>
        <p:spPr/>
        <p:txBody>
          <a:bodyPr/>
          <a:p>
            <a:fld id="{C68E96F9-3082-4F3F-8BBF-8DB7333C2C5F}" type="slidenum">
              <a:t>&lt;#&gt;</a:t>
            </a:fld>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85"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5"/>
          </p:nvPr>
        </p:nvSpPr>
        <p:spPr/>
        <p:txBody>
          <a:bodyPr/>
          <a:p>
            <a:fld id="{D46FDC4A-F006-4325-9B93-A4810077220A}" type="slidenum">
              <a:t>&lt;#&gt;</a:t>
            </a:fld>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5"/>
          </p:nvPr>
        </p:nvSpPr>
        <p:spPr/>
        <p:txBody>
          <a:bodyPr/>
          <a:p>
            <a:fld id="{6D6FDAF4-B134-479F-815C-DFBF51F48DA1}" type="slidenum">
              <a:t>&lt;#&gt;</a:t>
            </a:fld>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7"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5"/>
          </p:nvPr>
        </p:nvSpPr>
        <p:spPr/>
        <p:txBody>
          <a:bodyPr/>
          <a:p>
            <a:fld id="{2FFC3FB7-31F2-4EA1-8A92-77F07B74BD3C}" type="slidenum">
              <a:t>&lt;#&gt;</a:t>
            </a:fld>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9"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0"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1"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5E46A54F-9C8F-4139-B26A-7F5C3E1700B1}" type="slidenum">
              <a:t>&lt;#&gt;</a:t>
            </a:fld>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9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5"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BC63747D-F3EC-4A66-9ECB-0C322B6DECD8}" type="slidenum">
              <a:t>&lt;#&gt;</a:t>
            </a:fld>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97"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9"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2A6D5EA0-F51E-41A3-8B41-F44B4F8974E1}" type="slidenum">
              <a:t>&lt;#&gt;</a:t>
            </a:fld>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1"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2"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5"/>
          </p:nvPr>
        </p:nvSpPr>
        <p:spPr/>
        <p:txBody>
          <a:bodyPr/>
          <a:p>
            <a:fld id="{5710C006-1909-4BD5-9B85-9CAEFE5C2B2F}" type="slidenum">
              <a:t>&lt;#&gt;</a:t>
            </a:fld>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6"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7"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5"/>
          </p:nvPr>
        </p:nvSpPr>
        <p:spPr/>
        <p:txBody>
          <a:bodyPr/>
          <a:p>
            <a:fld id="{B1D567C7-B28A-4EE1-B25F-68EB3AE64C19}" type="slidenum">
              <a:t>&lt;#&gt;</a:t>
            </a:fld>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9"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0"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1"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2"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3"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4"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5"/>
          </p:nvPr>
        </p:nvSpPr>
        <p:spPr/>
        <p:txBody>
          <a:bodyPr/>
          <a:p>
            <a:fld id="{A2104F9C-B993-4979-AEEF-52405673EC4B}" type="slidenum">
              <a:t>&lt;#&gt;</a:t>
            </a:fld>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3D12124C-84D8-4D76-A78E-6D3270709ECA}" type="slidenum">
              <a:t>&lt;#&gt;</a:t>
            </a:fld>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3"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6"/>
          </p:nvPr>
        </p:nvSpPr>
        <p:spPr/>
        <p:txBody>
          <a:bodyPr/>
          <a:p>
            <a:fld id="{D86C4A8A-23C4-43E2-885F-7565AF576C86}" type="slidenum">
              <a:t>&lt;#&gt;</a:t>
            </a:fld>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5"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6"/>
          </p:nvPr>
        </p:nvSpPr>
        <p:spPr/>
        <p:txBody>
          <a:bodyPr/>
          <a:p>
            <a:fld id="{6B5C037F-C753-47C7-B5B2-703DE2541071}" type="slidenum">
              <a:t>&lt;#&gt;</a:t>
            </a:fld>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28"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953B4816-BB9F-4A5B-991F-4FB06C22F04B}" type="slidenum">
              <a:t>&lt;#&gt;</a:t>
            </a:fld>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6"/>
          </p:nvPr>
        </p:nvSpPr>
        <p:spPr/>
        <p:txBody>
          <a:bodyPr/>
          <a:p>
            <a:fld id="{2F8AA369-D00E-41EB-892D-14BC32013953}" type="slidenum">
              <a:t>&lt;#&gt;</a:t>
            </a:fld>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30"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6"/>
          </p:nvPr>
        </p:nvSpPr>
        <p:spPr/>
        <p:txBody>
          <a:bodyPr/>
          <a:p>
            <a:fld id="{11F13703-9654-4C56-83F5-FDB36F4F4416}" type="slidenum">
              <a:t>&lt;#&gt;</a:t>
            </a:fld>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32"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3"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4"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6"/>
          </p:nvPr>
        </p:nvSpPr>
        <p:spPr/>
        <p:txBody>
          <a:bodyPr/>
          <a:p>
            <a:fld id="{103426FF-0840-43A8-AD4A-225162FFE3DB}" type="slidenum">
              <a:t>&lt;#&gt;</a:t>
            </a:fld>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36"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8"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6"/>
          </p:nvPr>
        </p:nvSpPr>
        <p:spPr/>
        <p:txBody>
          <a:bodyPr/>
          <a:p>
            <a:fld id="{4A55EFF1-5B3D-46D9-BA00-FA09D02FFC7C}" type="slidenum">
              <a:t>&lt;#&gt;</a:t>
            </a:fld>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2"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6"/>
          </p:nvPr>
        </p:nvSpPr>
        <p:spPr/>
        <p:txBody>
          <a:bodyPr/>
          <a:p>
            <a:fld id="{7740C89D-D43C-41D6-95B2-B3011E53F112}" type="slidenum">
              <a:t>&lt;#&gt;</a:t>
            </a:fld>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4"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5"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D6BD1A91-B148-4E40-A527-11C1411B9466}" type="slidenum">
              <a:t>&lt;#&gt;</a:t>
            </a:fld>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7"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9"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0"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6"/>
          </p:nvPr>
        </p:nvSpPr>
        <p:spPr/>
        <p:txBody>
          <a:bodyPr/>
          <a:p>
            <a:fld id="{D6FF550C-4ED4-4C2E-B095-CEC4D303B981}" type="slidenum">
              <a:t>&lt;#&gt;</a:t>
            </a:fld>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52"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3"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4"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5"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6"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7"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6"/>
          </p:nvPr>
        </p:nvSpPr>
        <p:spPr/>
        <p:txBody>
          <a:bodyPr/>
          <a:p>
            <a:fld id="{D60A6A0D-DEC1-4456-8A24-D5DE0AA62599}"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0;p2"/>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1;p2"/>
          <p:cNvGrpSpPr/>
          <p:nvPr/>
        </p:nvGrpSpPr>
        <p:grpSpPr>
          <a:xfrm>
            <a:off x="530280" y="1205640"/>
            <a:ext cx="1342800" cy="17280"/>
            <a:chOff x="530280" y="1205640"/>
            <a:chExt cx="1342800" cy="17280"/>
          </a:xfrm>
        </p:grpSpPr>
        <p:sp>
          <p:nvSpPr>
            <p:cNvPr id="2" name="Google Shape;12;p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3;p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BDE85FD-1726-49CA-9259-B029308780EA}"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7;p2"/>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0;p3"/>
          <p:cNvGrpSpPr/>
          <p:nvPr/>
        </p:nvGrpSpPr>
        <p:grpSpPr>
          <a:xfrm>
            <a:off x="530280" y="1205640"/>
            <a:ext cx="1342800" cy="17280"/>
            <a:chOff x="530280" y="1205640"/>
            <a:chExt cx="1342800" cy="17280"/>
          </a:xfrm>
        </p:grpSpPr>
        <p:sp>
          <p:nvSpPr>
            <p:cNvPr id="45" name="Google Shape;21;p3"/>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2;p3"/>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E3F1E8BD-4717-4F86-B06D-D832F76C835C}"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86" name="Google Shape;50;p7"/>
          <p:cNvSpPr/>
          <p:nvPr/>
        </p:nvSpPr>
        <p:spPr>
          <a:xfrm>
            <a:off x="0" y="0"/>
            <a:ext cx="9143640" cy="487440"/>
          </a:xfrm>
          <a:prstGeom prst="rect">
            <a:avLst/>
          </a:prstGeom>
          <a:solidFill>
            <a:schemeClr val="accent2"/>
          </a:solidFill>
          <a:ln w="9525">
            <a:solidFill>
              <a:srgbClr val="6aa4c8"/>
            </a:solidFill>
            <a:round/>
          </a:ln>
        </p:spPr>
        <p:style>
          <a:lnRef idx="0"/>
          <a:fillRef idx="0"/>
          <a:effectRef idx="0"/>
          <a:fontRef idx="minor"/>
        </p:style>
        <p:txBody>
          <a:bodyPr tIns="91440" bIns="91440" anchor="ctr">
            <a:noAutofit/>
          </a:bodyPr>
          <a:p>
            <a:pPr>
              <a:lnSpc>
                <a:spcPct val="100000"/>
              </a:lnSpc>
              <a:tabLst>
                <a:tab algn="l" pos="0"/>
              </a:tabLst>
            </a:pPr>
            <a:r>
              <a:rPr b="1" lang="el" sz="1400" spc="-1" strike="noStrike">
                <a:solidFill>
                  <a:schemeClr val="lt1"/>
                </a:solidFill>
                <a:latin typeface="Arial"/>
                <a:ea typeface="Arial"/>
              </a:rPr>
              <a:t>Quick Revision</a:t>
            </a:r>
            <a:endParaRPr b="0" lang="en-US" sz="1400" spc="-1" strike="noStrike">
              <a:solidFill>
                <a:srgbClr val="000000"/>
              </a:solidFill>
              <a:latin typeface="Arial"/>
            </a:endParaRPr>
          </a:p>
        </p:txBody>
      </p:sp>
      <p:grpSp>
        <p:nvGrpSpPr>
          <p:cNvPr id="87" name="Google Shape;51;p7"/>
          <p:cNvGrpSpPr/>
          <p:nvPr/>
        </p:nvGrpSpPr>
        <p:grpSpPr>
          <a:xfrm>
            <a:off x="530280" y="1205640"/>
            <a:ext cx="1342800" cy="17280"/>
            <a:chOff x="530280" y="1205640"/>
            <a:chExt cx="1342800" cy="17280"/>
          </a:xfrm>
        </p:grpSpPr>
        <p:sp>
          <p:nvSpPr>
            <p:cNvPr id="88" name="Google Shape;52;p7"/>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53;p7"/>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899FE21-3A9F-4921-81FB-C247F8CD122B}"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9" name="Google Shape;26;p4"/>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30" name="Google Shape;27;p4"/>
          <p:cNvGrpSpPr/>
          <p:nvPr/>
        </p:nvGrpSpPr>
        <p:grpSpPr>
          <a:xfrm>
            <a:off x="530280" y="1205640"/>
            <a:ext cx="1342800" cy="17280"/>
            <a:chOff x="530280" y="1205640"/>
            <a:chExt cx="1342800" cy="17280"/>
          </a:xfrm>
        </p:grpSpPr>
        <p:sp>
          <p:nvSpPr>
            <p:cNvPr id="131" name="Google Shape;28;p4"/>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32" name="Google Shape;29;p4"/>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3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34"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35" name="PlaceHolder 3"/>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91AFDDF-3B48-49D4-BC38-727AE70A4415}"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172" name="Google Shape;42;p6"/>
          <p:cNvSpPr/>
          <p:nvPr/>
        </p:nvSpPr>
        <p:spPr>
          <a:xfrm>
            <a:off x="0" y="0"/>
            <a:ext cx="9143640" cy="487440"/>
          </a:xfrm>
          <a:prstGeom prst="rect">
            <a:avLst/>
          </a:prstGeom>
          <a:solidFill>
            <a:schemeClr val="dk1"/>
          </a:solidFill>
          <a:ln w="9525">
            <a:solidFill>
              <a:srgbClr val="1a9988"/>
            </a:solidFill>
            <a:round/>
          </a:ln>
        </p:spPr>
        <p:style>
          <a:lnRef idx="0"/>
          <a:fillRef idx="0"/>
          <a:effectRef idx="0"/>
          <a:fontRef idx="minor"/>
        </p:style>
        <p:txBody>
          <a:bodyPr tIns="91440" bIns="91440" anchor="ctr">
            <a:noAutofit/>
          </a:bodyPr>
          <a:p>
            <a:pPr>
              <a:lnSpc>
                <a:spcPct val="100000"/>
              </a:lnSpc>
              <a:tabLst>
                <a:tab algn="l" pos="0"/>
              </a:tabLst>
            </a:pPr>
            <a:r>
              <a:rPr b="1" lang="el" sz="1400" spc="-1" strike="noStrike">
                <a:solidFill>
                  <a:schemeClr val="lt1"/>
                </a:solidFill>
                <a:latin typeface="Arial"/>
                <a:ea typeface="Arial"/>
              </a:rPr>
              <a:t>Heads up!</a:t>
            </a:r>
            <a:endParaRPr b="0" lang="en-US" sz="1400" spc="-1" strike="noStrike">
              <a:solidFill>
                <a:srgbClr val="000000"/>
              </a:solidFill>
              <a:latin typeface="Arial"/>
            </a:endParaRPr>
          </a:p>
        </p:txBody>
      </p:sp>
      <p:grpSp>
        <p:nvGrpSpPr>
          <p:cNvPr id="173" name="Google Shape;43;p6"/>
          <p:cNvGrpSpPr/>
          <p:nvPr/>
        </p:nvGrpSpPr>
        <p:grpSpPr>
          <a:xfrm>
            <a:off x="530280" y="1205640"/>
            <a:ext cx="1342800" cy="17280"/>
            <a:chOff x="530280" y="1205640"/>
            <a:chExt cx="1342800" cy="17280"/>
          </a:xfrm>
        </p:grpSpPr>
        <p:sp>
          <p:nvSpPr>
            <p:cNvPr id="174" name="Google Shape;44;p6"/>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75" name="Google Shape;45;p6"/>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7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77"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178" name="PlaceHolder 3"/>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B1271B5-CBC0-4BAC-8030-48131AEB0354}"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5" name="Google Shape;88;p12"/>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216" name="Google Shape;89;p12"/>
          <p:cNvGrpSpPr/>
          <p:nvPr/>
        </p:nvGrpSpPr>
        <p:grpSpPr>
          <a:xfrm>
            <a:off x="530280" y="1205640"/>
            <a:ext cx="1342800" cy="17280"/>
            <a:chOff x="530280" y="1205640"/>
            <a:chExt cx="1342800" cy="17280"/>
          </a:xfrm>
        </p:grpSpPr>
        <p:sp>
          <p:nvSpPr>
            <p:cNvPr id="217" name="Google Shape;90;p1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218" name="Google Shape;91;p1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219"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220" name="PlaceHolder 2"/>
          <p:cNvSpPr>
            <a:spLocks noGrp="1"/>
          </p:cNvSpPr>
          <p:nvPr>
            <p:ph type="body"/>
          </p:nvPr>
        </p:nvSpPr>
        <p:spPr>
          <a:xfrm>
            <a:off x="5174280" y="1352520"/>
            <a:ext cx="3373920" cy="3025080"/>
          </a:xfrm>
          <a:prstGeom prst="rect">
            <a:avLst/>
          </a:prstGeom>
          <a:noFill/>
          <a:ln w="0">
            <a:noFill/>
          </a:ln>
        </p:spPr>
        <p:txBody>
          <a:bodyPr tIns="91440" bIns="91440" anchor="t">
            <a:normAutofit fontScale="74000"/>
          </a:bodyPr>
          <a:p>
            <a:pPr marL="319680" indent="-23976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639360" indent="-23976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959040" indent="-21312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278720" indent="-15984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1598400" indent="-15984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1918080" indent="-15984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2237760" indent="-15984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221"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1D9D9AA-971B-409C-90D0-E896F2073FDD}"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hyperlink" Target="https://dbdiagram.io/d" TargetMode="External"/><Relationship Id="rId2" Type="http://schemas.openxmlformats.org/officeDocument/2006/relationships/hyperlink" Target="https://dbml.dbdiagram.io/docs/" TargetMode="External"/><Relationship Id="rId3" Type="http://schemas.openxmlformats.org/officeDocument/2006/relationships/slideLayout" Target="../slideLayouts/slideLayout3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9.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9.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9.xml"/>
</Relationships>
</file>

<file path=ppt/slides/_rels/slide28.xml.rels><?xml version="1.0" encoding="UTF-8"?>
<Relationships xmlns="http://schemas.openxmlformats.org/package/2006/relationships"><Relationship Id="rId1" Type="http://schemas.openxmlformats.org/officeDocument/2006/relationships/hyperlink" Target="https://forms.gle/edpsrRjMWJwPtv3U9" TargetMode="External"/><Relationship Id="rId2" Type="http://schemas.openxmlformats.org/officeDocument/2006/relationships/image" Target="../media/image3.png"/><Relationship Id="rId3" Type="http://schemas.openxmlformats.org/officeDocument/2006/relationships/hyperlink" Target="https://forms.gle/edpsrRjMWJwPtv3U9" TargetMode="External"/><Relationship Id="rId4" Type="http://schemas.openxmlformats.org/officeDocument/2006/relationships/slideLayout" Target="../slideLayouts/slideLayout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Computer Systems, Data Structures &amp; Data Management</a:t>
            </a:r>
            <a:endParaRPr b="0" lang="en-US" sz="4200" spc="-1" strike="noStrike">
              <a:solidFill>
                <a:srgbClr val="000000"/>
              </a:solidFill>
              <a:latin typeface="Arial"/>
            </a:endParaRPr>
          </a:p>
        </p:txBody>
      </p:sp>
      <p:sp>
        <p:nvSpPr>
          <p:cNvPr id="259" name="PlaceHolder 2"/>
          <p:cNvSpPr>
            <a:spLocks noGrp="1"/>
          </p:cNvSpPr>
          <p:nvPr>
            <p:ph type="subTitle"/>
          </p:nvPr>
        </p:nvSpPr>
        <p:spPr>
          <a:xfrm>
            <a:off x="729720" y="3173040"/>
            <a:ext cx="7687800" cy="82800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Markos Vassilis</a:t>
            </a:r>
            <a:endParaRPr b="0" lang="en-US" sz="1600" spc="-1" strike="noStrike">
              <a:solidFill>
                <a:srgbClr val="000000"/>
              </a:solidFill>
              <a:latin typeface="Arial"/>
            </a:endParaRPr>
          </a:p>
          <a:p>
            <a:pPr indent="0">
              <a:lnSpc>
                <a:spcPct val="100000"/>
              </a:lnSpc>
              <a:buNone/>
              <a:tabLst>
                <a:tab algn="l" pos="0"/>
              </a:tabLst>
            </a:pPr>
            <a:r>
              <a:rPr b="0" lang="el" sz="1600" spc="-1" strike="noStrike">
                <a:solidFill>
                  <a:schemeClr val="accent1"/>
                </a:solidFill>
                <a:latin typeface="Lato"/>
                <a:ea typeface="Lato"/>
              </a:rPr>
              <a:t>Mediterranean College</a:t>
            </a:r>
            <a:endParaRPr b="0" lang="en-US" sz="1600" spc="-1" strike="noStrike">
              <a:solidFill>
                <a:srgbClr val="000000"/>
              </a:solidFill>
              <a:latin typeface="Arial"/>
            </a:endParaRPr>
          </a:p>
        </p:txBody>
      </p:sp>
      <p:sp>
        <p:nvSpPr>
          <p:cNvPr id="260" name="Google Shape;114;p16"/>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261"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tabLst>
                <a:tab algn="l" pos="0"/>
              </a:tabLst>
            </a:pPr>
            <a:r>
              <a:rPr b="0" lang="el" sz="1300" spc="-1" strike="noStrike">
                <a:solidFill>
                  <a:schemeClr val="accent1"/>
                </a:solidFill>
                <a:latin typeface="Lato"/>
                <a:ea typeface="Lato"/>
              </a:rPr>
              <a:t>Week 14</a:t>
            </a:r>
            <a:endParaRPr b="0" lang="en-US" sz="1300" spc="-1" strike="noStrike">
              <a:solidFill>
                <a:srgbClr val="000000"/>
              </a:solidFill>
              <a:latin typeface="Arial"/>
            </a:endParaRPr>
          </a:p>
          <a:p>
            <a:pPr algn="ctr">
              <a:lnSpc>
                <a:spcPct val="115000"/>
              </a:lnSpc>
              <a:spcBef>
                <a:spcPts val="1199"/>
              </a:spcBef>
              <a:spcAft>
                <a:spcPts val="1199"/>
              </a:spcAft>
              <a:tabLst>
                <a:tab algn="l" pos="0"/>
              </a:tabLst>
            </a:pP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A Quick Catch-up first…</a:t>
            </a:r>
            <a:endParaRPr b="0" lang="en-US" sz="3600" spc="-1" strike="noStrike">
              <a:solidFill>
                <a:srgbClr val="000000"/>
              </a:solidFill>
              <a:latin typeface="Arial"/>
            </a:endParaRPr>
          </a:p>
        </p:txBody>
      </p:sp>
      <p:sp>
        <p:nvSpPr>
          <p:cNvPr id="263" name="PlaceHolder 2"/>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81DFE630-AB8D-45E9-8808-7D4781CCFE5D}"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last time… 1 / n</a:t>
            </a:r>
            <a:endParaRPr b="0" lang="en-US" sz="2600" spc="-1" strike="noStrike">
              <a:solidFill>
                <a:srgbClr val="000000"/>
              </a:solidFill>
              <a:latin typeface="Arial"/>
            </a:endParaRPr>
          </a:p>
        </p:txBody>
      </p:sp>
      <p:sp>
        <p:nvSpPr>
          <p:cNvPr id="265" name="PlaceHolder 2"/>
          <p:cNvSpPr>
            <a:spLocks noGrp="1"/>
          </p:cNvSpPr>
          <p:nvPr>
            <p:ph/>
          </p:nvPr>
        </p:nvSpPr>
        <p:spPr>
          <a:xfrm>
            <a:off x="729360" y="1378080"/>
            <a:ext cx="7688520" cy="36115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is the main reason for using a DB?</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Data are inherently unstructured, so DBs are used to impose structure and organization on them, to facilitate further processing (searching, splitting, sorting etc).</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What are some problems that arose with the use of system files for storing data back in the 60s?</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Some of the most significant problems include: data inconsistency, redundancy, difficulty of access, data isolation, integrity and atomicity problems, concurrent access anomalies and security issues.</a:t>
            </a:r>
            <a:endParaRPr b="0" lang="en-US" sz="1600" spc="-1" strike="noStrike">
              <a:solidFill>
                <a:srgbClr val="000000"/>
              </a:solidFill>
              <a:latin typeface="Arial"/>
            </a:endParaRPr>
          </a:p>
        </p:txBody>
      </p:sp>
      <p:sp>
        <p:nvSpPr>
          <p:cNvPr id="266" name="PlaceHolder 3"/>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544B4E67-C404-4266-84D3-DA46368AE504}"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2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2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265">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last time… 2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26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Briefly describe the three levels of DB abstraction:</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 three levels of DB abstraction are:</a:t>
            </a:r>
            <a:endParaRPr b="0" lang="en-US" sz="1600" spc="-1" strike="noStrike">
              <a:solidFill>
                <a:srgbClr val="000000"/>
              </a:solidFill>
              <a:latin typeface="Arial"/>
            </a:endParaRPr>
          </a:p>
          <a:p>
            <a:pPr lvl="1" marL="9144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Physical level:</a:t>
            </a:r>
            <a:r>
              <a:rPr b="0" lang="el" sz="1600" spc="-1" strike="noStrike">
                <a:solidFill>
                  <a:schemeClr val="accent1"/>
                </a:solidFill>
                <a:latin typeface="Lato"/>
                <a:ea typeface="Lato"/>
              </a:rPr>
              <a:t> Data as stored at the lowest level (e.g., the primitive data structures used for that purpose).</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Logical level:</a:t>
            </a:r>
            <a:r>
              <a:rPr b="0" lang="el" sz="1600" spc="-1" strike="noStrike">
                <a:solidFill>
                  <a:schemeClr val="accent1"/>
                </a:solidFill>
                <a:latin typeface="Lato"/>
                <a:ea typeface="Lato"/>
              </a:rPr>
              <a:t> Data as organised through higher-level constructs (e.g., teacher, course, student of the XYZ University).</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View level:</a:t>
            </a:r>
            <a:r>
              <a:rPr b="0" lang="el" sz="1600" spc="-1" strike="noStrike">
                <a:solidFill>
                  <a:schemeClr val="accent1"/>
                </a:solidFill>
                <a:latin typeface="Lato"/>
                <a:ea typeface="Lato"/>
              </a:rPr>
              <a:t> Data or portions of them as distributed to non-expert end users.</a:t>
            </a:r>
            <a:endParaRPr b="0" lang="en-US" sz="1600" spc="-1" strike="noStrike">
              <a:solidFill>
                <a:srgbClr val="000000"/>
              </a:solidFill>
              <a:latin typeface="Arial"/>
            </a:endParaRPr>
          </a:p>
        </p:txBody>
      </p:sp>
      <p:sp>
        <p:nvSpPr>
          <p:cNvPr id="269" name="PlaceHolder 3"/>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9D713EE-976A-4B7D-8171-63E6193FE29C}"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9" dur="indefinite" restart="never" nodeType="tmRoot">
          <p:childTnLst>
            <p:seq>
              <p:cTn id="20" dur="indefinite" nodeType="mainSeq">
                <p:childTnLst>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268">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268">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1">
                                  <p:stCondLst>
                                    <p:cond delay="0"/>
                                  </p:stCondLst>
                                  <p:childTnLst>
                                    <p:set>
                                      <p:cBhvr>
                                        <p:cTn id="32" dur="1" fill="hold">
                                          <p:stCondLst>
                                            <p:cond delay="0"/>
                                          </p:stCondLst>
                                        </p:cTn>
                                        <p:tgtEl>
                                          <p:spTgt spid="268">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268">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268">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last time… 3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271" name="PlaceHolder 2"/>
          <p:cNvSpPr>
            <a:spLocks noGrp="1"/>
          </p:cNvSpPr>
          <p:nvPr>
            <p:ph/>
          </p:nvPr>
        </p:nvSpPr>
        <p:spPr>
          <a:xfrm>
            <a:off x="729360" y="1378080"/>
            <a:ext cx="7688520" cy="35845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is a DB instance and what a DB schema? What is their main difference?</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DB schemas refer to the design of a database which remains, in general, intact throughout the course of time. On the contrary, DB instances refer to “snapshots” of a DB at a specific moment in time and, in general, are subject to change as data are altered, added or removed from a DB.</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What levels of abstraction apply to DB schemas?</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The same that apply to DBs, i.e., there are physical schemas, referring to the lowest level organisation of a DB, logical schemas, referring to higher level organisation, and subschemas, referring to how the various DB views are organised.</a:t>
            </a:r>
            <a:endParaRPr b="0" lang="en-US" sz="1600" spc="-1" strike="noStrike">
              <a:solidFill>
                <a:srgbClr val="000000"/>
              </a:solidFill>
              <a:latin typeface="Arial"/>
            </a:endParaRPr>
          </a:p>
        </p:txBody>
      </p:sp>
      <p:sp>
        <p:nvSpPr>
          <p:cNvPr id="272"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B373F80-6E44-4CA1-999C-CA460671A1EF}" type="slidenum">
              <a:rPr b="0" lang="el" sz="1000" spc="-1" strike="noStrike">
                <a:solidFill>
                  <a:schemeClr val="accent1"/>
                </a:solidFill>
                <a:latin typeface="Lato"/>
                <a:ea typeface="Lato"/>
              </a:rPr>
              <a:t>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1" dur="indefinite" restart="never" nodeType="tmRoot">
          <p:childTnLst>
            <p:seq>
              <p:cTn id="42" dur="indefinite" nodeType="mainSeq">
                <p:childTnLst>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271">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271">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271">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271">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last time… 4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274"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is a data model?</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A </a:t>
            </a:r>
            <a:r>
              <a:rPr b="1" lang="el" sz="1600" spc="-1" strike="noStrike">
                <a:solidFill>
                  <a:schemeClr val="accent1"/>
                </a:solidFill>
                <a:latin typeface="Lato"/>
                <a:ea typeface="Lato"/>
              </a:rPr>
              <a:t>data model</a:t>
            </a:r>
            <a:r>
              <a:rPr b="0" lang="el" sz="1600" spc="-1" strike="noStrike">
                <a:solidFill>
                  <a:schemeClr val="accent1"/>
                </a:solidFill>
                <a:latin typeface="Lato"/>
                <a:ea typeface="Lato"/>
              </a:rPr>
              <a:t> is a collection of conceptual tools for describing data, data relationships, data semantics, and consistency constraints.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What are the four main data model categories?</a:t>
            </a:r>
            <a:endParaRPr b="0" lang="en-US" sz="1600" spc="-1" strike="noStrike">
              <a:solidFill>
                <a:srgbClr val="000000"/>
              </a:solidFill>
              <a:latin typeface="Arial"/>
            </a:endParaRPr>
          </a:p>
          <a:p>
            <a:pPr indent="0">
              <a:lnSpc>
                <a:spcPct val="115000"/>
              </a:lnSpc>
              <a:spcBef>
                <a:spcPts val="1199"/>
              </a:spcBef>
              <a:buNone/>
              <a:tabLst>
                <a:tab algn="l" pos="0"/>
              </a:tabLst>
            </a:pPr>
            <a:r>
              <a:rPr b="1" lang="el" sz="1600" spc="-1" strike="noStrike">
                <a:solidFill>
                  <a:schemeClr val="accent1"/>
                </a:solidFill>
                <a:latin typeface="Lato"/>
                <a:ea typeface="Lato"/>
              </a:rPr>
              <a:t>	</a:t>
            </a:r>
            <a:r>
              <a:rPr b="0" lang="el" sz="1600" spc="-1" strike="noStrike">
                <a:solidFill>
                  <a:schemeClr val="accent1"/>
                </a:solidFill>
                <a:latin typeface="Lato"/>
                <a:ea typeface="Lato"/>
              </a:rPr>
              <a:t>The main data model categories include:</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Relational models, which represent data through tables of similar records;</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E-R models, which represent data through entities interrelated through relationships;</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Object-based models, which borrow concepts from OOP, and;</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Semi-structured models, allowing for more relaxed data representation.</a:t>
            </a:r>
            <a:endParaRPr b="0" lang="en-US" sz="1600" spc="-1" strike="noStrike">
              <a:solidFill>
                <a:srgbClr val="000000"/>
              </a:solidFill>
              <a:latin typeface="Arial"/>
            </a:endParaRPr>
          </a:p>
        </p:txBody>
      </p:sp>
      <p:sp>
        <p:nvSpPr>
          <p:cNvPr id="275" name="PlaceHolder 3"/>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51C7EE4-FD5E-4ADD-AD43-22706FB9DA47}" type="slidenum">
              <a:rPr b="0" lang="el" sz="1000" spc="-1" strike="noStrike">
                <a:solidFill>
                  <a:schemeClr val="accent1"/>
                </a:solidFill>
                <a:latin typeface="Lato"/>
                <a:ea typeface="Lato"/>
              </a:rPr>
              <a:t>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9" dur="indefinite" restart="never" nodeType="tmRoot">
          <p:childTnLst>
            <p:seq>
              <p:cTn id="60" dur="indefinite" nodeType="mainSeq">
                <p:childTnLst>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274">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nodeType="clickEffect" fill="hold" presetClass="entr" presetID="1">
                                  <p:stCondLst>
                                    <p:cond delay="0"/>
                                  </p:stCondLst>
                                  <p:childTnLst>
                                    <p:set>
                                      <p:cBhvr>
                                        <p:cTn id="68" dur="1" fill="hold">
                                          <p:stCondLst>
                                            <p:cond delay="0"/>
                                          </p:stCondLst>
                                        </p:cTn>
                                        <p:tgtEl>
                                          <p:spTgt spid="274">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nodeType="clickEffect" fill="hold" presetClass="entr" presetID="1">
                                  <p:stCondLst>
                                    <p:cond delay="0"/>
                                  </p:stCondLst>
                                  <p:childTnLst>
                                    <p:set>
                                      <p:cBhvr>
                                        <p:cTn id="72" dur="1" fill="hold">
                                          <p:stCondLst>
                                            <p:cond delay="0"/>
                                          </p:stCondLst>
                                        </p:cTn>
                                        <p:tgtEl>
                                          <p:spTgt spid="274">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nodeType="clickEffect" fill="hold" presetClass="entr" presetID="1">
                                  <p:stCondLst>
                                    <p:cond delay="0"/>
                                  </p:stCondLst>
                                  <p:childTnLst>
                                    <p:set>
                                      <p:cBhvr>
                                        <p:cTn id="76" dur="1" fill="hold">
                                          <p:stCondLst>
                                            <p:cond delay="0"/>
                                          </p:stCondLst>
                                        </p:cTn>
                                        <p:tgtEl>
                                          <p:spTgt spid="274">
                                            <p:txEl>
                                              <p:pRg st="3" end="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nodeType="clickEffect" fill="hold" presetClass="entr" presetID="1">
                                  <p:stCondLst>
                                    <p:cond delay="0"/>
                                  </p:stCondLst>
                                  <p:childTnLst>
                                    <p:set>
                                      <p:cBhvr>
                                        <p:cTn id="80" dur="1" fill="hold">
                                          <p:stCondLst>
                                            <p:cond delay="0"/>
                                          </p:stCondLst>
                                        </p:cTn>
                                        <p:tgtEl>
                                          <p:spTgt spid="274">
                                            <p:txEl>
                                              <p:pRg st="4" end="4"/>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nodeType="clickEffect" fill="hold" presetClass="entr" presetID="1">
                                  <p:stCondLst>
                                    <p:cond delay="0"/>
                                  </p:stCondLst>
                                  <p:childTnLst>
                                    <p:set>
                                      <p:cBhvr>
                                        <p:cTn id="84" dur="1" fill="hold">
                                          <p:stCondLst>
                                            <p:cond delay="0"/>
                                          </p:stCondLst>
                                        </p:cTn>
                                        <p:tgtEl>
                                          <p:spTgt spid="274">
                                            <p:txEl>
                                              <p:pRg st="5" end="5"/>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nodeType="clickEffect" fill="hold" presetClass="entr" presetID="1">
                                  <p:stCondLst>
                                    <p:cond delay="0"/>
                                  </p:stCondLst>
                                  <p:childTnLst>
                                    <p:set>
                                      <p:cBhvr>
                                        <p:cTn id="88" dur="1" fill="hold">
                                          <p:stCondLst>
                                            <p:cond delay="0"/>
                                          </p:stCondLst>
                                        </p:cTn>
                                        <p:tgtEl>
                                          <p:spTgt spid="274">
                                            <p:txEl>
                                              <p:pRg st="6" end="6"/>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nodeType="clickEffect" fill="hold" presetClass="entr" presetID="1">
                                  <p:stCondLst>
                                    <p:cond delay="0"/>
                                  </p:stCondLst>
                                  <p:childTnLst>
                                    <p:set>
                                      <p:cBhvr>
                                        <p:cTn id="92" dur="1" fill="hold">
                                          <p:stCondLst>
                                            <p:cond delay="0"/>
                                          </p:stCondLst>
                                        </p:cTn>
                                        <p:tgtEl>
                                          <p:spTgt spid="274">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last time… 5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277" name="PlaceHolder 2"/>
          <p:cNvSpPr>
            <a:spLocks noGrp="1"/>
          </p:cNvSpPr>
          <p:nvPr>
            <p:ph/>
          </p:nvPr>
        </p:nvSpPr>
        <p:spPr>
          <a:xfrm>
            <a:off x="729360" y="1378080"/>
            <a:ext cx="7688520" cy="3765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Right or Wrong? A DB language can be both a data-description and a data-manipulation language.</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Right. Most modern languages include functionalities that support both data manipulation as well as their description.</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What types of Consistency Constraints are implemented by DDL?</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Four types of constraints, including:</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Domain constraints;</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Referential integrity;</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Assertions, and;</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Authorization.</a:t>
            </a:r>
            <a:endParaRPr b="0" lang="en-US" sz="1600" spc="-1" strike="noStrike">
              <a:solidFill>
                <a:srgbClr val="000000"/>
              </a:solidFill>
              <a:latin typeface="Arial"/>
            </a:endParaRPr>
          </a:p>
        </p:txBody>
      </p:sp>
      <p:sp>
        <p:nvSpPr>
          <p:cNvPr id="278"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B4F3AA7-3079-4C2C-ABD8-A06D66A13B88}"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93" dur="indefinite" restart="never" nodeType="tmRoot">
          <p:childTnLst>
            <p:seq>
              <p:cTn id="94" dur="indefinite" nodeType="mainSeq">
                <p:childTnLst>
                  <p:par>
                    <p:cTn id="95" fill="hold">
                      <p:stCondLst>
                        <p:cond delay="indefinite"/>
                      </p:stCondLst>
                      <p:childTnLst>
                        <p:par>
                          <p:cTn id="96" fill="hold">
                            <p:stCondLst>
                              <p:cond delay="0"/>
                            </p:stCondLst>
                            <p:childTnLst>
                              <p:par>
                                <p:cTn id="97" nodeType="clickEffect" fill="hold" presetClass="entr" presetID="1">
                                  <p:stCondLst>
                                    <p:cond delay="0"/>
                                  </p:stCondLst>
                                  <p:childTnLst>
                                    <p:set>
                                      <p:cBhvr>
                                        <p:cTn id="98" dur="1" fill="hold">
                                          <p:stCondLst>
                                            <p:cond delay="0"/>
                                          </p:stCondLst>
                                        </p:cTn>
                                        <p:tgtEl>
                                          <p:spTgt spid="277">
                                            <p:txEl>
                                              <p:pRg st="0" end="0"/>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nodeType="clickEffect" fill="hold" presetClass="entr" presetID="1">
                                  <p:stCondLst>
                                    <p:cond delay="0"/>
                                  </p:stCondLst>
                                  <p:childTnLst>
                                    <p:set>
                                      <p:cBhvr>
                                        <p:cTn id="102" dur="1" fill="hold">
                                          <p:stCondLst>
                                            <p:cond delay="0"/>
                                          </p:stCondLst>
                                        </p:cTn>
                                        <p:tgtEl>
                                          <p:spTgt spid="277">
                                            <p:txEl>
                                              <p:pRg st="1" end="1"/>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nodeType="clickEffect" fill="hold" presetClass="entr" presetID="1">
                                  <p:stCondLst>
                                    <p:cond delay="0"/>
                                  </p:stCondLst>
                                  <p:childTnLst>
                                    <p:set>
                                      <p:cBhvr>
                                        <p:cTn id="106" dur="1" fill="hold">
                                          <p:stCondLst>
                                            <p:cond delay="0"/>
                                          </p:stCondLst>
                                        </p:cTn>
                                        <p:tgtEl>
                                          <p:spTgt spid="277">
                                            <p:txEl>
                                              <p:pRg st="2" end="2"/>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nodeType="clickEffect" fill="hold" presetClass="entr" presetID="1">
                                  <p:stCondLst>
                                    <p:cond delay="0"/>
                                  </p:stCondLst>
                                  <p:childTnLst>
                                    <p:set>
                                      <p:cBhvr>
                                        <p:cTn id="110" dur="1" fill="hold">
                                          <p:stCondLst>
                                            <p:cond delay="0"/>
                                          </p:stCondLst>
                                        </p:cTn>
                                        <p:tgtEl>
                                          <p:spTgt spid="277">
                                            <p:txEl>
                                              <p:pRg st="3" end="3"/>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nodeType="clickEffect" fill="hold" presetClass="entr" presetID="1">
                                  <p:stCondLst>
                                    <p:cond delay="0"/>
                                  </p:stCondLst>
                                  <p:childTnLst>
                                    <p:set>
                                      <p:cBhvr>
                                        <p:cTn id="114" dur="1" fill="hold">
                                          <p:stCondLst>
                                            <p:cond delay="0"/>
                                          </p:stCondLst>
                                        </p:cTn>
                                        <p:tgtEl>
                                          <p:spTgt spid="277">
                                            <p:txEl>
                                              <p:pRg st="4" end="4"/>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nodeType="clickEffect" fill="hold" presetClass="entr" presetID="1">
                                  <p:stCondLst>
                                    <p:cond delay="0"/>
                                  </p:stCondLst>
                                  <p:childTnLst>
                                    <p:set>
                                      <p:cBhvr>
                                        <p:cTn id="118" dur="1" fill="hold">
                                          <p:stCondLst>
                                            <p:cond delay="0"/>
                                          </p:stCondLst>
                                        </p:cTn>
                                        <p:tgtEl>
                                          <p:spTgt spid="277">
                                            <p:txEl>
                                              <p:pRg st="5" end="5"/>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nodeType="clickEffect" fill="hold" presetClass="entr" presetID="1">
                                  <p:stCondLst>
                                    <p:cond delay="0"/>
                                  </p:stCondLst>
                                  <p:childTnLst>
                                    <p:set>
                                      <p:cBhvr>
                                        <p:cTn id="122" dur="1" fill="hold">
                                          <p:stCondLst>
                                            <p:cond delay="0"/>
                                          </p:stCondLst>
                                        </p:cTn>
                                        <p:tgtEl>
                                          <p:spTgt spid="277">
                                            <p:txEl>
                                              <p:pRg st="6" end="6"/>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nodeType="clickEffect" fill="hold" presetClass="entr" presetID="1">
                                  <p:stCondLst>
                                    <p:cond delay="0"/>
                                  </p:stCondLst>
                                  <p:childTnLst>
                                    <p:set>
                                      <p:cBhvr>
                                        <p:cTn id="126" dur="1" fill="hold">
                                          <p:stCondLst>
                                            <p:cond delay="0"/>
                                          </p:stCondLst>
                                        </p:cTn>
                                        <p:tgtEl>
                                          <p:spTgt spid="277">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last time… 6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28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are the two main categories of DML?</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 two main categories of DML are:</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Procedural languages,</a:t>
            </a:r>
            <a:r>
              <a:rPr b="0" lang="el" sz="1600" spc="-1" strike="noStrike">
                <a:solidFill>
                  <a:schemeClr val="accent1"/>
                </a:solidFill>
                <a:latin typeface="Lato"/>
                <a:ea typeface="Lato"/>
              </a:rPr>
              <a:t> which require the user to specify what data they want to access and how to do so, and;</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Declarative</a:t>
            </a:r>
            <a:r>
              <a:rPr b="0" lang="el" sz="1600" spc="-1" strike="noStrike">
                <a:solidFill>
                  <a:schemeClr val="accent1"/>
                </a:solidFill>
                <a:latin typeface="Lato"/>
                <a:ea typeface="Lato"/>
              </a:rPr>
              <a:t> (nonprocedural) </a:t>
            </a:r>
            <a:r>
              <a:rPr b="1" lang="el" sz="1600" spc="-1" strike="noStrike">
                <a:solidFill>
                  <a:schemeClr val="accent1"/>
                </a:solidFill>
                <a:latin typeface="Lato"/>
                <a:ea typeface="Lato"/>
              </a:rPr>
              <a:t>languages,</a:t>
            </a:r>
            <a:r>
              <a:rPr b="0" lang="el" sz="1600" spc="-1" strike="noStrike">
                <a:solidFill>
                  <a:schemeClr val="accent1"/>
                </a:solidFill>
                <a:latin typeface="Lato"/>
                <a:ea typeface="Lato"/>
              </a:rPr>
              <a:t> which require users to specify only what data they want to access, without specifying how.</a:t>
            </a:r>
            <a:endParaRPr b="0" lang="en-US" sz="1600" spc="-1" strike="noStrike">
              <a:solidFill>
                <a:srgbClr val="000000"/>
              </a:solidFill>
              <a:latin typeface="Arial"/>
            </a:endParaRPr>
          </a:p>
        </p:txBody>
      </p:sp>
      <p:sp>
        <p:nvSpPr>
          <p:cNvPr id="281" name="PlaceHolder 3"/>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E10A4E22-8671-4A21-ADFA-E1377877C7E9}"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27" dur="indefinite" restart="never" nodeType="tmRoot">
          <p:childTnLst>
            <p:seq>
              <p:cTn id="128" dur="indefinite" nodeType="mainSeq">
                <p:childTnLst>
                  <p:par>
                    <p:cTn id="129" fill="hold">
                      <p:stCondLst>
                        <p:cond delay="indefinite"/>
                      </p:stCondLst>
                      <p:childTnLst>
                        <p:par>
                          <p:cTn id="130" fill="hold">
                            <p:stCondLst>
                              <p:cond delay="0"/>
                            </p:stCondLst>
                            <p:childTnLst>
                              <p:par>
                                <p:cTn id="131" nodeType="clickEffect" fill="hold" presetClass="entr" presetID="1">
                                  <p:stCondLst>
                                    <p:cond delay="0"/>
                                  </p:stCondLst>
                                  <p:childTnLst>
                                    <p:set>
                                      <p:cBhvr>
                                        <p:cTn id="132" dur="1" fill="hold">
                                          <p:stCondLst>
                                            <p:cond delay="0"/>
                                          </p:stCondLst>
                                        </p:cTn>
                                        <p:tgtEl>
                                          <p:spTgt spid="280">
                                            <p:txEl>
                                              <p:pRg st="0" end="0"/>
                                            </p:txEl>
                                          </p:spTgt>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nodeType="clickEffect" fill="hold" presetClass="entr" presetID="1">
                                  <p:stCondLst>
                                    <p:cond delay="0"/>
                                  </p:stCondLst>
                                  <p:childTnLst>
                                    <p:set>
                                      <p:cBhvr>
                                        <p:cTn id="136" dur="1" fill="hold">
                                          <p:stCondLst>
                                            <p:cond delay="0"/>
                                          </p:stCondLst>
                                        </p:cTn>
                                        <p:tgtEl>
                                          <p:spTgt spid="280">
                                            <p:txEl>
                                              <p:pRg st="1" end="1"/>
                                            </p:txEl>
                                          </p:spTgt>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nodeType="clickEffect" fill="hold" presetClass="entr" presetID="1">
                                  <p:stCondLst>
                                    <p:cond delay="0"/>
                                  </p:stCondLst>
                                  <p:childTnLst>
                                    <p:set>
                                      <p:cBhvr>
                                        <p:cTn id="140" dur="1" fill="hold">
                                          <p:stCondLst>
                                            <p:cond delay="0"/>
                                          </p:stCondLst>
                                        </p:cTn>
                                        <p:tgtEl>
                                          <p:spTgt spid="280">
                                            <p:txEl>
                                              <p:pRg st="2" end="2"/>
                                            </p:txEl>
                                          </p:spTgt>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nodeType="clickEffect" fill="hold" presetClass="entr" presetID="1">
                                  <p:stCondLst>
                                    <p:cond delay="0"/>
                                  </p:stCondLst>
                                  <p:childTnLst>
                                    <p:set>
                                      <p:cBhvr>
                                        <p:cTn id="144" dur="1" fill="hold">
                                          <p:stCondLst>
                                            <p:cond delay="0"/>
                                          </p:stCondLst>
                                        </p:cTn>
                                        <p:tgtEl>
                                          <p:spTgt spid="280">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Database Design</a:t>
            </a:r>
            <a:endParaRPr b="0" lang="en-US" sz="3600" spc="-1" strike="noStrike">
              <a:solidFill>
                <a:srgbClr val="000000"/>
              </a:solidFill>
              <a:latin typeface="Arial"/>
            </a:endParaRPr>
          </a:p>
        </p:txBody>
      </p:sp>
      <p:sp>
        <p:nvSpPr>
          <p:cNvPr id="283" name="PlaceHolder 2"/>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48B84B04-45E7-41DA-906B-FD266CA94B34}" type="slidenum">
              <a:rPr b="0" lang="el" sz="1000" spc="-1" strike="noStrike">
                <a:solidFill>
                  <a:schemeClr val="lt1"/>
                </a:solidFill>
                <a:latin typeface="Lato"/>
                <a:ea typeface="Lato"/>
              </a:rPr>
              <a:t>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The XYZ University</a:t>
            </a:r>
            <a:endParaRPr b="0" lang="en-US" sz="2600" spc="-1" strike="noStrike">
              <a:solidFill>
                <a:srgbClr val="000000"/>
              </a:solidFill>
              <a:latin typeface="Arial"/>
            </a:endParaRPr>
          </a:p>
        </p:txBody>
      </p:sp>
      <p:sp>
        <p:nvSpPr>
          <p:cNvPr id="285" name="PlaceHolder 2"/>
          <p:cNvSpPr>
            <a:spLocks noGrp="1"/>
          </p:cNvSpPr>
          <p:nvPr>
            <p:ph/>
          </p:nvPr>
        </p:nvSpPr>
        <p:spPr>
          <a:xfrm>
            <a:off x="729360" y="1378080"/>
            <a:ext cx="7688520" cy="337140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In our previous lecture we discussed the case of the XYZ University. Think of it for a moment…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Now, open: </a:t>
            </a:r>
            <a:r>
              <a:rPr b="0" lang="el" sz="1600" spc="-1" strike="noStrike" u="sng">
                <a:solidFill>
                  <a:schemeClr val="hlink"/>
                </a:solidFill>
                <a:uFillTx/>
                <a:latin typeface="Lato"/>
                <a:ea typeface="Lato"/>
                <a:hlinkClick r:id="rId1"/>
              </a:rPr>
              <a:t>https://dbdiagram.io/d</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Try to design a simple databases including three (or more) tables regarding the case of the XYZ University - the tables you will include need not be the same as last time.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Don’t forget to add relationships between your tables!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DBML Docs: </a:t>
            </a:r>
            <a:r>
              <a:rPr b="0" lang="el" sz="1600" spc="-1" strike="noStrike" u="sng">
                <a:solidFill>
                  <a:schemeClr val="hlink"/>
                </a:solidFill>
                <a:uFillTx/>
                <a:latin typeface="Lato"/>
                <a:ea typeface="Lato"/>
                <a:hlinkClick r:id="rId2"/>
              </a:rPr>
              <a:t>https://dbml.dbdiagram.io/docs/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Don’t close the browser tab you are working on, we will use it throughout the lecture.</a:t>
            </a:r>
            <a:endParaRPr b="0" lang="en-US" sz="1600" spc="-1" strike="noStrike">
              <a:solidFill>
                <a:srgbClr val="000000"/>
              </a:solidFill>
              <a:latin typeface="Arial"/>
            </a:endParaRPr>
          </a:p>
        </p:txBody>
      </p:sp>
      <p:sp>
        <p:nvSpPr>
          <p:cNvPr id="286" name="PlaceHolder 3"/>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30F1287-CC25-4776-B051-79E49A53D4F0}" type="slidenum">
              <a:rPr b="0" lang="el" sz="1000" spc="-1" strike="noStrike">
                <a:solidFill>
                  <a:schemeClr val="accent1"/>
                </a:solidFill>
                <a:latin typeface="Lato"/>
                <a:ea typeface="Lato"/>
              </a:rPr>
              <a:t>10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45" dur="indefinite" restart="never" nodeType="tmRoot">
          <p:childTnLst>
            <p:seq>
              <p:cTn id="146" dur="indefinite" nodeType="mainSeq">
                <p:childTnLst>
                  <p:par>
                    <p:cTn id="147" fill="hold">
                      <p:stCondLst>
                        <p:cond delay="indefinite"/>
                      </p:stCondLst>
                      <p:childTnLst>
                        <p:par>
                          <p:cTn id="148" fill="hold">
                            <p:stCondLst>
                              <p:cond delay="0"/>
                            </p:stCondLst>
                            <p:childTnLst>
                              <p:par>
                                <p:cTn id="149" nodeType="clickEffect" fill="hold" presetClass="entr" presetID="1">
                                  <p:stCondLst>
                                    <p:cond delay="0"/>
                                  </p:stCondLst>
                                  <p:childTnLst>
                                    <p:set>
                                      <p:cBhvr>
                                        <p:cTn id="150" dur="1" fill="hold">
                                          <p:stCondLst>
                                            <p:cond delay="0"/>
                                          </p:stCondLst>
                                        </p:cTn>
                                        <p:tgtEl>
                                          <p:spTgt spid="285">
                                            <p:txEl>
                                              <p:pRg st="0" end="0"/>
                                            </p:txEl>
                                          </p:spTgt>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nodeType="clickEffect" fill="hold" presetClass="entr" presetID="1">
                                  <p:stCondLst>
                                    <p:cond delay="0"/>
                                  </p:stCondLst>
                                  <p:childTnLst>
                                    <p:set>
                                      <p:cBhvr>
                                        <p:cTn id="154" dur="1" fill="hold">
                                          <p:stCondLst>
                                            <p:cond delay="0"/>
                                          </p:stCondLst>
                                        </p:cTn>
                                        <p:tgtEl>
                                          <p:spTgt spid="285">
                                            <p:txEl>
                                              <p:pRg st="1" end="1"/>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nodeType="clickEffect" fill="hold" presetClass="entr" presetID="1">
                                  <p:stCondLst>
                                    <p:cond delay="0"/>
                                  </p:stCondLst>
                                  <p:childTnLst>
                                    <p:set>
                                      <p:cBhvr>
                                        <p:cTn id="158" dur="1" fill="hold">
                                          <p:stCondLst>
                                            <p:cond delay="0"/>
                                          </p:stCondLst>
                                        </p:cTn>
                                        <p:tgtEl>
                                          <p:spTgt spid="285">
                                            <p:txEl>
                                              <p:pRg st="2" end="2"/>
                                            </p:txEl>
                                          </p:spTgt>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nodeType="clickEffect" fill="hold" presetClass="entr" presetID="1">
                                  <p:stCondLst>
                                    <p:cond delay="0"/>
                                  </p:stCondLst>
                                  <p:childTnLst>
                                    <p:set>
                                      <p:cBhvr>
                                        <p:cTn id="162" dur="1" fill="hold">
                                          <p:stCondLst>
                                            <p:cond delay="0"/>
                                          </p:stCondLst>
                                        </p:cTn>
                                        <p:tgtEl>
                                          <p:spTgt spid="285">
                                            <p:txEl>
                                              <p:pRg st="3" end="3"/>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nodeType="clickEffect" fill="hold" presetClass="entr" presetID="1">
                                  <p:stCondLst>
                                    <p:cond delay="0"/>
                                  </p:stCondLst>
                                  <p:childTnLst>
                                    <p:set>
                                      <p:cBhvr>
                                        <p:cTn id="166" dur="1" fill="hold">
                                          <p:stCondLst>
                                            <p:cond delay="0"/>
                                          </p:stCondLst>
                                        </p:cTn>
                                        <p:tgtEl>
                                          <p:spTgt spid="285">
                                            <p:txEl>
                                              <p:pRg st="4" end="4"/>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nodeType="clickEffect" fill="hold" presetClass="entr" presetID="1">
                                  <p:stCondLst>
                                    <p:cond delay="0"/>
                                  </p:stCondLst>
                                  <p:childTnLst>
                                    <p:set>
                                      <p:cBhvr>
                                        <p:cTn id="170" dur="1" fill="hold">
                                          <p:stCondLst>
                                            <p:cond delay="0"/>
                                          </p:stCondLst>
                                        </p:cTn>
                                        <p:tgtEl>
                                          <p:spTgt spid="285">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Database Design Process 1 / n</a:t>
            </a:r>
            <a:endParaRPr b="0" lang="en-US" sz="2600" spc="-1" strike="noStrike">
              <a:solidFill>
                <a:srgbClr val="000000"/>
              </a:solidFill>
              <a:latin typeface="Arial"/>
            </a:endParaRPr>
          </a:p>
        </p:txBody>
      </p:sp>
      <p:sp>
        <p:nvSpPr>
          <p:cNvPr id="288" name="PlaceHolder 2"/>
          <p:cNvSpPr>
            <a:spLocks noGrp="1"/>
          </p:cNvSpPr>
          <p:nvPr>
            <p:ph/>
          </p:nvPr>
        </p:nvSpPr>
        <p:spPr>
          <a:xfrm>
            <a:off x="729360" y="1378080"/>
            <a:ext cx="7688520" cy="224856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Specify</a:t>
            </a:r>
            <a:r>
              <a:rPr b="0" lang="el" sz="1600" spc="-1" strike="noStrike">
                <a:solidFill>
                  <a:schemeClr val="accent1"/>
                </a:solidFill>
                <a:latin typeface="Lato"/>
                <a:ea typeface="Lato"/>
              </a:rPr>
              <a:t> data needs (this is done with the assistance of domain experts).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Conceptual-design phase:</a:t>
            </a:r>
            <a:r>
              <a:rPr b="0" lang="el" sz="1600" spc="-1" strike="noStrike">
                <a:solidFill>
                  <a:schemeClr val="accent1"/>
                </a:solidFill>
                <a:latin typeface="Lato"/>
                <a:ea typeface="Lato"/>
              </a:rPr>
              <a:t> Translation of the requirements to a specific data model.</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Logical-Design phase:</a:t>
            </a:r>
            <a:r>
              <a:rPr b="0" lang="el" sz="1600" spc="-1" strike="noStrike">
                <a:solidFill>
                  <a:schemeClr val="accent1"/>
                </a:solidFill>
                <a:latin typeface="Lato"/>
                <a:ea typeface="Lato"/>
              </a:rPr>
              <a:t> Translation of the data model to the specific DB system that will be used.</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Physical-Design phase:</a:t>
            </a:r>
            <a:r>
              <a:rPr b="0" lang="el" sz="1600" spc="-1" strike="noStrike">
                <a:solidFill>
                  <a:schemeClr val="accent1"/>
                </a:solidFill>
                <a:latin typeface="Lato"/>
                <a:ea typeface="Lato"/>
              </a:rPr>
              <a:t> Discussion and selection of the actual data structures, file systems and algorithms that will be used.</a:t>
            </a:r>
            <a:endParaRPr b="0" lang="en-US" sz="1600" spc="-1" strike="noStrike">
              <a:solidFill>
                <a:srgbClr val="000000"/>
              </a:solidFill>
              <a:latin typeface="Arial"/>
            </a:endParaRPr>
          </a:p>
        </p:txBody>
      </p:sp>
      <p:sp>
        <p:nvSpPr>
          <p:cNvPr id="289" name="PlaceHolder 3"/>
          <p:cNvSpPr>
            <a:spLocks noGrp="1"/>
          </p:cNvSpPr>
          <p:nvPr>
            <p:ph type="sldNum" idx="1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C710C9F-7ACD-4E85-86F4-8D706F268AA9}" type="slidenum">
              <a:rPr b="0" lang="el" sz="1000" spc="-1" strike="noStrike">
                <a:solidFill>
                  <a:schemeClr val="accent1"/>
                </a:solidFill>
                <a:latin typeface="Lato"/>
                <a:ea typeface="Lato"/>
              </a:rPr>
              <a:t>11</a:t>
            </a:fld>
            <a:endParaRPr b="0" lang="en-US" sz="1000" spc="-1" strike="noStrike">
              <a:solidFill>
                <a:srgbClr val="000000"/>
              </a:solidFill>
              <a:latin typeface="Times New Roman"/>
            </a:endParaRPr>
          </a:p>
        </p:txBody>
      </p:sp>
      <p:sp>
        <p:nvSpPr>
          <p:cNvPr id="290" name="Google Shape;184;p26"/>
          <p:cNvSpPr/>
          <p:nvPr/>
        </p:nvSpPr>
        <p:spPr>
          <a:xfrm>
            <a:off x="1208880" y="3735720"/>
            <a:ext cx="6725880" cy="945000"/>
          </a:xfrm>
          <a:prstGeom prst="rect">
            <a:avLst/>
          </a:prstGeom>
          <a:solidFill>
            <a:srgbClr val="fce5cd"/>
          </a:solidFill>
          <a:ln w="19050">
            <a:solidFill>
              <a:srgbClr val="eb5600"/>
            </a:solidFill>
            <a:prstDash val="dash"/>
            <a:round/>
          </a:ln>
        </p:spPr>
        <p:style>
          <a:lnRef idx="0"/>
          <a:fillRef idx="0"/>
          <a:effectRef idx="0"/>
          <a:fontRef idx="minor"/>
        </p:style>
        <p:txBody>
          <a:bodyPr tIns="91440" bIns="91440" anchor="t">
            <a:noAutofit/>
          </a:bodyPr>
          <a:p>
            <a:pPr>
              <a:lnSpc>
                <a:spcPct val="100000"/>
              </a:lnSpc>
              <a:tabLst>
                <a:tab algn="l" pos="0"/>
              </a:tabLst>
            </a:pPr>
            <a:r>
              <a:rPr b="0" lang="el" sz="1600" spc="-1" strike="noStrike">
                <a:solidFill>
                  <a:srgbClr val="000000"/>
                </a:solidFill>
                <a:latin typeface="Consolas"/>
                <a:ea typeface="Consolas"/>
              </a:rPr>
              <a:t>No matter what, we need to </a:t>
            </a:r>
            <a:r>
              <a:rPr b="1" lang="el" sz="1600" spc="-1" strike="noStrike">
                <a:solidFill>
                  <a:schemeClr val="accent3"/>
                </a:solidFill>
                <a:latin typeface="Consolas"/>
                <a:ea typeface="Consolas"/>
              </a:rPr>
              <a:t>avoid</a:t>
            </a:r>
            <a:r>
              <a:rPr b="0" lang="el" sz="1600" spc="-1" strike="noStrike">
                <a:solidFill>
                  <a:srgbClr val="000000"/>
                </a:solidFill>
                <a:latin typeface="Consolas"/>
                <a:ea typeface="Consolas"/>
              </a:rPr>
              <a:t> </a:t>
            </a:r>
            <a:r>
              <a:rPr b="1" lang="el" sz="1600" spc="-1" strike="noStrike">
                <a:solidFill>
                  <a:schemeClr val="accent3"/>
                </a:solidFill>
                <a:latin typeface="Consolas"/>
                <a:ea typeface="Consolas"/>
              </a:rPr>
              <a:t>redundancy</a:t>
            </a:r>
            <a:r>
              <a:rPr b="0" lang="el" sz="1600" spc="-1" strike="noStrike">
                <a:solidFill>
                  <a:srgbClr val="000000"/>
                </a:solidFill>
                <a:latin typeface="Consolas"/>
                <a:ea typeface="Consolas"/>
              </a:rPr>
              <a:t>, i.e., repeating information, and </a:t>
            </a:r>
            <a:r>
              <a:rPr b="1" lang="el" sz="1600" spc="-1" strike="noStrike">
                <a:solidFill>
                  <a:schemeClr val="accent3"/>
                </a:solidFill>
                <a:latin typeface="Consolas"/>
                <a:ea typeface="Consolas"/>
              </a:rPr>
              <a:t>incompleteness</a:t>
            </a:r>
            <a:r>
              <a:rPr b="0" lang="el" sz="1600" spc="-1" strike="noStrike">
                <a:solidFill>
                  <a:srgbClr val="000000"/>
                </a:solidFill>
                <a:latin typeface="Consolas"/>
                <a:ea typeface="Consolas"/>
              </a:rPr>
              <a:t>, i.e., missing information. Each DB should be minimally complete!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71" dur="indefinite" restart="never" nodeType="tmRoot">
          <p:childTnLst>
            <p:seq>
              <p:cTn id="172" dur="indefinite" nodeType="mainSeq">
                <p:childTnLst>
                  <p:par>
                    <p:cTn id="173" fill="hold">
                      <p:stCondLst>
                        <p:cond delay="indefinite"/>
                      </p:stCondLst>
                      <p:childTnLst>
                        <p:par>
                          <p:cTn id="174" fill="hold">
                            <p:stCondLst>
                              <p:cond delay="0"/>
                            </p:stCondLst>
                            <p:childTnLst>
                              <p:par>
                                <p:cTn id="175" nodeType="clickEffect" fill="hold" presetClass="entr" presetID="1">
                                  <p:stCondLst>
                                    <p:cond delay="0"/>
                                  </p:stCondLst>
                                  <p:childTnLst>
                                    <p:set>
                                      <p:cBhvr>
                                        <p:cTn id="176" dur="1" fill="hold">
                                          <p:stCondLst>
                                            <p:cond delay="0"/>
                                          </p:stCondLst>
                                        </p:cTn>
                                        <p:tgtEl>
                                          <p:spTgt spid="288">
                                            <p:txEl>
                                              <p:pRg st="0" end="0"/>
                                            </p:txEl>
                                          </p:spTgt>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nodeType="clickEffect" fill="hold" presetClass="entr" presetID="1">
                                  <p:stCondLst>
                                    <p:cond delay="0"/>
                                  </p:stCondLst>
                                  <p:childTnLst>
                                    <p:set>
                                      <p:cBhvr>
                                        <p:cTn id="180" dur="1" fill="hold">
                                          <p:stCondLst>
                                            <p:cond delay="0"/>
                                          </p:stCondLst>
                                        </p:cTn>
                                        <p:tgtEl>
                                          <p:spTgt spid="288">
                                            <p:txEl>
                                              <p:pRg st="1" end="1"/>
                                            </p:txEl>
                                          </p:spTgt>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nodeType="clickEffect" fill="hold" presetClass="entr" presetID="1">
                                  <p:stCondLst>
                                    <p:cond delay="0"/>
                                  </p:stCondLst>
                                  <p:childTnLst>
                                    <p:set>
                                      <p:cBhvr>
                                        <p:cTn id="184" dur="1" fill="hold">
                                          <p:stCondLst>
                                            <p:cond delay="0"/>
                                          </p:stCondLst>
                                        </p:cTn>
                                        <p:tgtEl>
                                          <p:spTgt spid="288">
                                            <p:txEl>
                                              <p:pRg st="2" end="2"/>
                                            </p:txEl>
                                          </p:spTgt>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nodeType="clickEffect" fill="hold" presetClass="entr" presetID="1">
                                  <p:stCondLst>
                                    <p:cond delay="0"/>
                                  </p:stCondLst>
                                  <p:childTnLst>
                                    <p:set>
                                      <p:cBhvr>
                                        <p:cTn id="188" dur="1" fill="hold">
                                          <p:stCondLst>
                                            <p:cond delay="0"/>
                                          </p:stCondLst>
                                        </p:cTn>
                                        <p:tgtEl>
                                          <p:spTgt spid="288">
                                            <p:txEl>
                                              <p:pRg st="3" end="3"/>
                                            </p:txEl>
                                          </p:spTgt>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nodeType="clickEffect" fill="hold" presetClass="entr" presetID="1">
                                  <p:stCondLst>
                                    <p:cond delay="0"/>
                                  </p:stCondLst>
                                  <p:childTnLst>
                                    <p:set>
                                      <p:cBhvr>
                                        <p:cTn id="192"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(Reminder) The E-R Model 1 / n</a:t>
            </a:r>
            <a:endParaRPr b="0" lang="en-US" sz="2600" spc="-1" strike="noStrike">
              <a:solidFill>
                <a:srgbClr val="000000"/>
              </a:solidFill>
              <a:latin typeface="Arial"/>
            </a:endParaRPr>
          </a:p>
        </p:txBody>
      </p:sp>
      <p:sp>
        <p:nvSpPr>
          <p:cNvPr id="292" name="PlaceHolder 2"/>
          <p:cNvSpPr>
            <a:spLocks noGrp="1"/>
          </p:cNvSpPr>
          <p:nvPr>
            <p:ph/>
          </p:nvPr>
        </p:nvSpPr>
        <p:spPr>
          <a:xfrm>
            <a:off x="729360" y="1378080"/>
            <a:ext cx="7688520" cy="14666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Entity set:</a:t>
            </a:r>
            <a:r>
              <a:rPr b="0" lang="el" sz="1600" spc="-1" strike="noStrike">
                <a:solidFill>
                  <a:schemeClr val="accent1"/>
                </a:solidFill>
                <a:latin typeface="Lato"/>
                <a:ea typeface="Lato"/>
              </a:rPr>
              <a:t> The set of all entities, i.e., of all “things” in our application scenario.</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Relationship set:</a:t>
            </a:r>
            <a:r>
              <a:rPr b="0" lang="el" sz="1600" spc="-1" strike="noStrike">
                <a:solidFill>
                  <a:schemeClr val="accent1"/>
                </a:solidFill>
                <a:latin typeface="Lato"/>
                <a:ea typeface="Lato"/>
              </a:rPr>
              <a:t> The set of all relationships among entities, e.g., an instructor of the XYZ University is a member of one of its departments.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Unified Modeling Language (UML)</a:t>
            </a:r>
            <a:r>
              <a:rPr b="0" lang="el" sz="1600" spc="-1" strike="noStrike">
                <a:solidFill>
                  <a:schemeClr val="accent1"/>
                </a:solidFill>
                <a:latin typeface="Lato"/>
                <a:ea typeface="Lato"/>
              </a:rPr>
              <a:t> is a common way to represent E-R models:</a:t>
            </a:r>
            <a:endParaRPr b="0" lang="en-US" sz="1600" spc="-1" strike="noStrike">
              <a:solidFill>
                <a:srgbClr val="000000"/>
              </a:solidFill>
              <a:latin typeface="Arial"/>
            </a:endParaRPr>
          </a:p>
        </p:txBody>
      </p:sp>
      <p:sp>
        <p:nvSpPr>
          <p:cNvPr id="293" name="PlaceHolder 3"/>
          <p:cNvSpPr>
            <a:spLocks noGrp="1"/>
          </p:cNvSpPr>
          <p:nvPr>
            <p:ph type="sldNum" idx="1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8EE40C4-67B9-46A5-AE4F-C40F8BFFDF8B}"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pic>
        <p:nvPicPr>
          <p:cNvPr id="294" name="Google Shape;192;p27" descr=""/>
          <p:cNvPicPr/>
          <p:nvPr/>
        </p:nvPicPr>
        <p:blipFill>
          <a:blip r:embed="rId1"/>
          <a:stretch/>
        </p:blipFill>
        <p:spPr>
          <a:xfrm>
            <a:off x="1152360" y="2845080"/>
            <a:ext cx="6838560" cy="1571400"/>
          </a:xfrm>
          <a:prstGeom prst="rect">
            <a:avLst/>
          </a:prstGeom>
          <a:ln w="0">
            <a:noFill/>
          </a:ln>
        </p:spPr>
      </p:pic>
      <p:grpSp>
        <p:nvGrpSpPr>
          <p:cNvPr id="295" name="Google Shape;193;p27"/>
          <p:cNvGrpSpPr/>
          <p:nvPr/>
        </p:nvGrpSpPr>
        <p:grpSpPr>
          <a:xfrm>
            <a:off x="545400" y="4153680"/>
            <a:ext cx="5562720" cy="884160"/>
            <a:chOff x="545400" y="4153680"/>
            <a:chExt cx="5562720" cy="884160"/>
          </a:xfrm>
        </p:grpSpPr>
        <p:sp>
          <p:nvSpPr>
            <p:cNvPr id="296" name="Google Shape;194;p27"/>
            <p:cNvSpPr/>
            <p:nvPr/>
          </p:nvSpPr>
          <p:spPr>
            <a:xfrm>
              <a:off x="545400" y="4644720"/>
              <a:ext cx="899280" cy="393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l" sz="1600" spc="-1" strike="noStrike">
                  <a:solidFill>
                    <a:schemeClr val="dk1"/>
                  </a:solidFill>
                  <a:latin typeface="Lato"/>
                  <a:ea typeface="Lato"/>
                </a:rPr>
                <a:t>Entities</a:t>
              </a:r>
              <a:endParaRPr b="0" lang="en-US" sz="1600" spc="-1" strike="noStrike">
                <a:solidFill>
                  <a:srgbClr val="000000"/>
                </a:solidFill>
                <a:latin typeface="Arial"/>
              </a:endParaRPr>
            </a:p>
          </p:txBody>
        </p:sp>
        <p:cxnSp>
          <p:nvCxnSpPr>
            <p:cNvPr id="297" name="Google Shape;195;p27"/>
            <p:cNvCxnSpPr/>
            <p:nvPr/>
          </p:nvCxnSpPr>
          <p:spPr>
            <a:xfrm flipV="1">
              <a:off x="1308600" y="4280760"/>
              <a:ext cx="609840" cy="382320"/>
            </a:xfrm>
            <a:prstGeom prst="straightConnector1">
              <a:avLst/>
            </a:prstGeom>
            <a:ln w="19050">
              <a:solidFill>
                <a:srgbClr val="1a9988"/>
              </a:solidFill>
              <a:prstDash val="dash"/>
              <a:round/>
              <a:tailEnd len="med" type="triangle" w="med"/>
            </a:ln>
          </p:spPr>
        </p:cxnSp>
        <p:cxnSp>
          <p:nvCxnSpPr>
            <p:cNvPr id="298" name="Google Shape;196;p27"/>
            <p:cNvCxnSpPr>
              <a:stCxn id="296" idx="3"/>
            </p:cNvCxnSpPr>
            <p:nvPr/>
          </p:nvCxnSpPr>
          <p:spPr>
            <a:xfrm flipV="1">
              <a:off x="1444680" y="4153680"/>
              <a:ext cx="4663800" cy="687960"/>
            </a:xfrm>
            <a:prstGeom prst="straightConnector1">
              <a:avLst/>
            </a:prstGeom>
            <a:ln w="19050">
              <a:solidFill>
                <a:srgbClr val="1a9988"/>
              </a:solidFill>
              <a:prstDash val="dash"/>
              <a:round/>
              <a:tailEnd len="med" type="triangle" w="med"/>
            </a:ln>
          </p:spPr>
        </p:cxnSp>
      </p:grpSp>
      <p:grpSp>
        <p:nvGrpSpPr>
          <p:cNvPr id="299" name="Google Shape;197;p27"/>
          <p:cNvGrpSpPr/>
          <p:nvPr/>
        </p:nvGrpSpPr>
        <p:grpSpPr>
          <a:xfrm>
            <a:off x="5017320" y="3935520"/>
            <a:ext cx="2426760" cy="927000"/>
            <a:chOff x="5017320" y="3935520"/>
            <a:chExt cx="2426760" cy="927000"/>
          </a:xfrm>
        </p:grpSpPr>
        <p:sp>
          <p:nvSpPr>
            <p:cNvPr id="300" name="Google Shape;198;p27"/>
            <p:cNvSpPr/>
            <p:nvPr/>
          </p:nvSpPr>
          <p:spPr>
            <a:xfrm>
              <a:off x="6108120" y="4526640"/>
              <a:ext cx="1335960" cy="3358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l" sz="1600" spc="-1" strike="noStrike">
                  <a:solidFill>
                    <a:schemeClr val="accent3"/>
                  </a:solidFill>
                  <a:latin typeface="Lato"/>
                  <a:ea typeface="Lato"/>
                </a:rPr>
                <a:t>Relationship</a:t>
              </a:r>
              <a:endParaRPr b="0" lang="en-US" sz="1600" spc="-1" strike="noStrike">
                <a:solidFill>
                  <a:srgbClr val="000000"/>
                </a:solidFill>
                <a:latin typeface="Arial"/>
              </a:endParaRPr>
            </a:p>
          </p:txBody>
        </p:sp>
        <p:cxnSp>
          <p:nvCxnSpPr>
            <p:cNvPr id="301" name="Google Shape;199;p27"/>
            <p:cNvCxnSpPr>
              <a:stCxn id="300" idx="1"/>
            </p:cNvCxnSpPr>
            <p:nvPr/>
          </p:nvCxnSpPr>
          <p:spPr>
            <a:xfrm flipH="1" flipV="1">
              <a:off x="5017320" y="3935520"/>
              <a:ext cx="1091160" cy="759240"/>
            </a:xfrm>
            <a:prstGeom prst="straightConnector1">
              <a:avLst/>
            </a:prstGeom>
            <a:ln w="19050">
              <a:solidFill>
                <a:srgbClr val="eb5600"/>
              </a:solidFill>
              <a:prstDash val="dash"/>
              <a:round/>
              <a:tailEnd len="med" type="triangle" w="med"/>
            </a:ln>
          </p:spPr>
        </p:cxnSp>
      </p:grpSp>
    </p:spTree>
  </p:cSld>
  <mc:AlternateContent>
    <mc:Choice Requires="p14">
      <p:transition spd="slow" p14:dur="2000"/>
    </mc:Choice>
    <mc:Fallback>
      <p:transition spd="slow"/>
    </mc:Fallback>
  </mc:AlternateContent>
  <p:timing>
    <p:tnLst>
      <p:par>
        <p:cTn id="193" dur="indefinite" restart="never" nodeType="tmRoot">
          <p:childTnLst>
            <p:seq>
              <p:cTn id="194" dur="indefinite" nodeType="mainSeq">
                <p:childTnLst>
                  <p:par>
                    <p:cTn id="195" fill="hold">
                      <p:stCondLst>
                        <p:cond delay="indefinite"/>
                      </p:stCondLst>
                      <p:childTnLst>
                        <p:par>
                          <p:cTn id="196" fill="hold">
                            <p:stCondLst>
                              <p:cond delay="0"/>
                            </p:stCondLst>
                            <p:childTnLst>
                              <p:par>
                                <p:cTn id="197" nodeType="clickEffect" fill="hold" presetClass="entr" presetID="1">
                                  <p:stCondLst>
                                    <p:cond delay="0"/>
                                  </p:stCondLst>
                                  <p:childTnLst>
                                    <p:set>
                                      <p:cBhvr>
                                        <p:cTn id="198" dur="1" fill="hold">
                                          <p:stCondLst>
                                            <p:cond delay="0"/>
                                          </p:stCondLst>
                                        </p:cTn>
                                        <p:tgtEl>
                                          <p:spTgt spid="292">
                                            <p:txEl>
                                              <p:pRg st="0" end="0"/>
                                            </p:txEl>
                                          </p:spTgt>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nodeType="clickEffect" fill="hold" presetClass="entr" presetID="1">
                                  <p:stCondLst>
                                    <p:cond delay="0"/>
                                  </p:stCondLst>
                                  <p:childTnLst>
                                    <p:set>
                                      <p:cBhvr>
                                        <p:cTn id="202" dur="1" fill="hold">
                                          <p:stCondLst>
                                            <p:cond delay="0"/>
                                          </p:stCondLst>
                                        </p:cTn>
                                        <p:tgtEl>
                                          <p:spTgt spid="292">
                                            <p:txEl>
                                              <p:pRg st="1" end="1"/>
                                            </p:txEl>
                                          </p:spTgt>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nodeType="clickEffect" fill="hold" presetClass="entr" presetID="1">
                                  <p:stCondLst>
                                    <p:cond delay="0"/>
                                  </p:stCondLst>
                                  <p:childTnLst>
                                    <p:set>
                                      <p:cBhvr>
                                        <p:cTn id="206" dur="1" fill="hold">
                                          <p:stCondLst>
                                            <p:cond delay="0"/>
                                          </p:stCondLst>
                                        </p:cTn>
                                        <p:tgtEl>
                                          <p:spTgt spid="292">
                                            <p:txEl>
                                              <p:pRg st="2" end="2"/>
                                            </p:txEl>
                                          </p:spTgt>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nodeType="clickEffect" fill="hold" presetClass="entr" presetID="1">
                                  <p:stCondLst>
                                    <p:cond delay="0"/>
                                  </p:stCondLst>
                                  <p:childTnLst>
                                    <p:set>
                                      <p:cBhvr>
                                        <p:cTn id="210" dur="1" fill="hold">
                                          <p:stCondLst>
                                            <p:cond delay="0"/>
                                          </p:stCondLst>
                                        </p:cTn>
                                        <p:tgtEl>
                                          <p:spTgt spid="294"/>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nodeType="clickEffect" fill="hold" presetClass="entr" presetID="1">
                                  <p:stCondLst>
                                    <p:cond delay="0"/>
                                  </p:stCondLst>
                                  <p:childTnLst>
                                    <p:set>
                                      <p:cBhvr>
                                        <p:cTn id="214" dur="1" fill="hold">
                                          <p:stCondLst>
                                            <p:cond delay="0"/>
                                          </p:stCondLst>
                                        </p:cTn>
                                        <p:tgtEl>
                                          <p:spTgt spid="295"/>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nodeType="clickEffect" fill="hold" presetClass="entr" presetID="1">
                                  <p:stCondLst>
                                    <p:cond delay="0"/>
                                  </p:stCondLst>
                                  <p:childTnLst>
                                    <p:set>
                                      <p:cBhvr>
                                        <p:cTn id="218"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(Reminder) The E-R Model 2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0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Entities are described by </a:t>
            </a:r>
            <a:r>
              <a:rPr b="1" lang="el" sz="1600" spc="-1" strike="noStrike">
                <a:solidFill>
                  <a:schemeClr val="accent1"/>
                </a:solidFill>
                <a:latin typeface="Lato"/>
                <a:ea typeface="Lato"/>
              </a:rPr>
              <a:t>attributes</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Attributes have </a:t>
            </a:r>
            <a:r>
              <a:rPr b="1" lang="el" sz="1600" spc="-1" strike="noStrike">
                <a:solidFill>
                  <a:schemeClr val="accent1"/>
                </a:solidFill>
                <a:latin typeface="Lato"/>
                <a:ea typeface="Lato"/>
              </a:rPr>
              <a:t>values</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Attributes also have </a:t>
            </a:r>
            <a:r>
              <a:rPr b="1" lang="el" sz="1600" spc="-1" strike="noStrike">
                <a:solidFill>
                  <a:schemeClr val="accent1"/>
                </a:solidFill>
                <a:latin typeface="Lato"/>
                <a:ea typeface="Lato"/>
              </a:rPr>
              <a:t>domains</a:t>
            </a:r>
            <a:r>
              <a:rPr b="0" lang="el" sz="1600" spc="-1" strike="noStrike">
                <a:solidFill>
                  <a:schemeClr val="accent1"/>
                </a:solidFill>
                <a:latin typeface="Lato"/>
                <a:ea typeface="Lato"/>
              </a:rPr>
              <a:t>, i.e., sets of permitted values they can take: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single-valued attributes</a:t>
            </a:r>
            <a:r>
              <a:rPr b="0" lang="el" sz="1600" spc="-1" strike="noStrike">
                <a:solidFill>
                  <a:schemeClr val="accent1"/>
                </a:solidFill>
                <a:latin typeface="Lato"/>
                <a:ea typeface="Lato"/>
              </a:rPr>
              <a:t>, which admit one value at a time;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multivalued attributes</a:t>
            </a:r>
            <a:r>
              <a:rPr b="0" lang="el" sz="1600" spc="-1" strike="noStrike">
                <a:solidFill>
                  <a:schemeClr val="accent1"/>
                </a:solidFill>
                <a:latin typeface="Lato"/>
                <a:ea typeface="Lato"/>
              </a:rPr>
              <a:t>, which admit potentially many values at a time (e.g., one’s phone numbers).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derived attributes</a:t>
            </a:r>
            <a:r>
              <a:rPr b="0" lang="el" sz="1600" spc="-1" strike="noStrike">
                <a:solidFill>
                  <a:schemeClr val="accent1"/>
                </a:solidFill>
                <a:latin typeface="Lato"/>
                <a:ea typeface="Lato"/>
              </a:rPr>
              <a:t>, which are determined by other entities (e.g., attending students, which represents the number of students in a certain course).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Attributes can be </a:t>
            </a:r>
            <a:r>
              <a:rPr b="1" lang="el" sz="1600" spc="-1" strike="noStrike">
                <a:solidFill>
                  <a:schemeClr val="accent1"/>
                </a:solidFill>
                <a:latin typeface="Lato"/>
                <a:ea typeface="Lato"/>
              </a:rPr>
              <a:t>simple</a:t>
            </a:r>
            <a:r>
              <a:rPr b="0" lang="el" sz="1600" spc="-1" strike="noStrike">
                <a:solidFill>
                  <a:schemeClr val="accent1"/>
                </a:solidFill>
                <a:latin typeface="Lato"/>
                <a:ea typeface="Lato"/>
              </a:rPr>
              <a:t> or </a:t>
            </a:r>
            <a:r>
              <a:rPr b="1" lang="el" sz="1600" spc="-1" strike="noStrike">
                <a:solidFill>
                  <a:schemeClr val="accent1"/>
                </a:solidFill>
                <a:latin typeface="Lato"/>
                <a:ea typeface="Lato"/>
              </a:rPr>
              <a:t>composite</a:t>
            </a:r>
            <a:r>
              <a:rPr b="0" lang="el" sz="1600" spc="-1" strike="noStrike">
                <a:solidFill>
                  <a:schemeClr val="accent1"/>
                </a:solidFill>
                <a:latin typeface="Lato"/>
                <a:ea typeface="Lato"/>
              </a:rPr>
              <a:t> (comprising of other attributes).</a:t>
            </a:r>
            <a:endParaRPr b="0" lang="en-US" sz="1600" spc="-1" strike="noStrike">
              <a:solidFill>
                <a:srgbClr val="000000"/>
              </a:solidFill>
              <a:latin typeface="Arial"/>
            </a:endParaRPr>
          </a:p>
        </p:txBody>
      </p:sp>
      <p:sp>
        <p:nvSpPr>
          <p:cNvPr id="304" name="PlaceHolder 3"/>
          <p:cNvSpPr>
            <a:spLocks noGrp="1"/>
          </p:cNvSpPr>
          <p:nvPr>
            <p:ph type="sldNum" idx="1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C0B469A-1D50-45BD-9E07-AE0545E74E45}" type="slidenum">
              <a:rPr b="0" lang="el" sz="1000" spc="-1" strike="noStrike">
                <a:solidFill>
                  <a:schemeClr val="accent1"/>
                </a:solidFill>
                <a:latin typeface="Lato"/>
                <a:ea typeface="Lato"/>
              </a:rPr>
              <a:t>13</a:t>
            </a:fld>
            <a:endParaRPr b="0" lang="en-US" sz="1000" spc="-1" strike="noStrike">
              <a:solidFill>
                <a:srgbClr val="000000"/>
              </a:solidFill>
              <a:latin typeface="Times New Roman"/>
            </a:endParaRPr>
          </a:p>
        </p:txBody>
      </p:sp>
      <p:sp>
        <p:nvSpPr>
          <p:cNvPr id="305" name="Google Shape;207;p28"/>
          <p:cNvSpPr/>
          <p:nvPr/>
        </p:nvSpPr>
        <p:spPr>
          <a:xfrm>
            <a:off x="2736000" y="4081320"/>
            <a:ext cx="3672000" cy="899640"/>
          </a:xfrm>
          <a:prstGeom prst="rect">
            <a:avLst/>
          </a:prstGeom>
          <a:solidFill>
            <a:srgbClr val="d9ead3"/>
          </a:solidFill>
          <a:ln w="19050">
            <a:solidFill>
              <a:srgbClr val="1a9988"/>
            </a:solidFill>
            <a:prstDash val="dash"/>
            <a:round/>
          </a:ln>
        </p:spPr>
        <p:style>
          <a:lnRef idx="0"/>
          <a:fillRef idx="0"/>
          <a:effectRef idx="0"/>
          <a:fontRef idx="minor"/>
        </p:style>
        <p:txBody>
          <a:bodyPr tIns="91440" bIns="91440" anchor="t">
            <a:noAutofit/>
          </a:bodyPr>
          <a:p>
            <a:pPr>
              <a:lnSpc>
                <a:spcPct val="100000"/>
              </a:lnSpc>
              <a:tabLst>
                <a:tab algn="l" pos="0"/>
              </a:tabLst>
            </a:pPr>
            <a:r>
              <a:rPr b="0" lang="el" sz="1600" spc="-1" strike="noStrike">
                <a:solidFill>
                  <a:schemeClr val="accent1"/>
                </a:solidFill>
                <a:latin typeface="Lato"/>
                <a:ea typeface="Lato"/>
              </a:rPr>
              <a:t>“</a:t>
            </a:r>
            <a:r>
              <a:rPr b="1" lang="el" sz="1600" spc="-1" strike="noStrike">
                <a:solidFill>
                  <a:schemeClr val="dk1"/>
                </a:solidFill>
                <a:latin typeface="Lato"/>
                <a:ea typeface="Lato"/>
              </a:rPr>
              <a:t>Single</a:t>
            </a:r>
            <a:r>
              <a:rPr b="0" lang="el" sz="1600" spc="-1" strike="noStrike">
                <a:solidFill>
                  <a:schemeClr val="accent1"/>
                </a:solidFill>
                <a:latin typeface="Lato"/>
                <a:ea typeface="Lato"/>
              </a:rPr>
              <a:t>” and “</a:t>
            </a:r>
            <a:r>
              <a:rPr b="1" lang="el" sz="1600" spc="-1" strike="noStrike">
                <a:solidFill>
                  <a:schemeClr val="dk1"/>
                </a:solidFill>
                <a:latin typeface="Lato"/>
                <a:ea typeface="Lato"/>
              </a:rPr>
              <a:t>multi</a:t>
            </a:r>
            <a:r>
              <a:rPr b="0" lang="el" sz="1600" spc="-1" strike="noStrike">
                <a:solidFill>
                  <a:schemeClr val="accent1"/>
                </a:solidFill>
                <a:latin typeface="Lato"/>
                <a:ea typeface="Lato"/>
              </a:rPr>
              <a:t>” in the above refer to a </a:t>
            </a:r>
            <a:r>
              <a:rPr b="1" lang="el" sz="1600" spc="-1" strike="noStrike">
                <a:solidFill>
                  <a:schemeClr val="accent3"/>
                </a:solidFill>
                <a:latin typeface="Lato"/>
                <a:ea typeface="Lato"/>
              </a:rPr>
              <a:t>specific instance</a:t>
            </a:r>
            <a:r>
              <a:rPr b="0" lang="el" sz="1600" spc="-1" strike="noStrike">
                <a:solidFill>
                  <a:schemeClr val="accent1"/>
                </a:solidFill>
                <a:latin typeface="Lato"/>
                <a:ea typeface="Lato"/>
              </a:rPr>
              <a:t> of an entity and not the entity in its entirety.</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19" dur="indefinite" restart="never" nodeType="tmRoot">
          <p:childTnLst>
            <p:seq>
              <p:cTn id="220" dur="indefinite" nodeType="mainSeq">
                <p:childTnLst>
                  <p:par>
                    <p:cTn id="221" fill="hold">
                      <p:stCondLst>
                        <p:cond delay="indefinite"/>
                      </p:stCondLst>
                      <p:childTnLst>
                        <p:par>
                          <p:cTn id="222" fill="hold">
                            <p:stCondLst>
                              <p:cond delay="0"/>
                            </p:stCondLst>
                            <p:childTnLst>
                              <p:par>
                                <p:cTn id="223" nodeType="clickEffect" fill="hold" presetClass="entr" presetID="1">
                                  <p:stCondLst>
                                    <p:cond delay="0"/>
                                  </p:stCondLst>
                                  <p:childTnLst>
                                    <p:set>
                                      <p:cBhvr>
                                        <p:cTn id="224" dur="1" fill="hold">
                                          <p:stCondLst>
                                            <p:cond delay="0"/>
                                          </p:stCondLst>
                                        </p:cTn>
                                        <p:tgtEl>
                                          <p:spTgt spid="303">
                                            <p:txEl>
                                              <p:pRg st="0" end="0"/>
                                            </p:txEl>
                                          </p:spTgt>
                                        </p:tgtEl>
                                        <p:attrNameLst>
                                          <p:attrName>style.visibility</p:attrName>
                                        </p:attrNameLst>
                                      </p:cBhvr>
                                      <p:to>
                                        <p:strVal val="visible"/>
                                      </p:to>
                                    </p:set>
                                  </p:childTnLst>
                                </p:cTn>
                              </p:par>
                            </p:childTnLst>
                          </p:cTn>
                        </p:par>
                      </p:childTnLst>
                    </p:cTn>
                  </p:par>
                  <p:par>
                    <p:cTn id="225" fill="hold">
                      <p:stCondLst>
                        <p:cond delay="indefinite"/>
                      </p:stCondLst>
                      <p:childTnLst>
                        <p:par>
                          <p:cTn id="226" fill="hold">
                            <p:stCondLst>
                              <p:cond delay="0"/>
                            </p:stCondLst>
                            <p:childTnLst>
                              <p:par>
                                <p:cTn id="227" nodeType="clickEffect" fill="hold" presetClass="entr" presetID="1">
                                  <p:stCondLst>
                                    <p:cond delay="0"/>
                                  </p:stCondLst>
                                  <p:childTnLst>
                                    <p:set>
                                      <p:cBhvr>
                                        <p:cTn id="228" dur="1" fill="hold">
                                          <p:stCondLst>
                                            <p:cond delay="0"/>
                                          </p:stCondLst>
                                        </p:cTn>
                                        <p:tgtEl>
                                          <p:spTgt spid="303">
                                            <p:txEl>
                                              <p:pRg st="1" end="1"/>
                                            </p:txEl>
                                          </p:spTgt>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nodeType="clickEffect" fill="hold" presetClass="entr" presetID="1">
                                  <p:stCondLst>
                                    <p:cond delay="0"/>
                                  </p:stCondLst>
                                  <p:childTnLst>
                                    <p:set>
                                      <p:cBhvr>
                                        <p:cTn id="232" dur="1" fill="hold">
                                          <p:stCondLst>
                                            <p:cond delay="0"/>
                                          </p:stCondLst>
                                        </p:cTn>
                                        <p:tgtEl>
                                          <p:spTgt spid="303">
                                            <p:txEl>
                                              <p:pRg st="2" end="2"/>
                                            </p:txEl>
                                          </p:spTgt>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nodeType="clickEffect" fill="hold" presetClass="entr" presetID="1">
                                  <p:stCondLst>
                                    <p:cond delay="0"/>
                                  </p:stCondLst>
                                  <p:childTnLst>
                                    <p:set>
                                      <p:cBhvr>
                                        <p:cTn id="236" dur="1" fill="hold">
                                          <p:stCondLst>
                                            <p:cond delay="0"/>
                                          </p:stCondLst>
                                        </p:cTn>
                                        <p:tgtEl>
                                          <p:spTgt spid="303">
                                            <p:txEl>
                                              <p:pRg st="3" end="3"/>
                                            </p:txEl>
                                          </p:spTgt>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nodeType="clickEffect" fill="hold" presetClass="entr" presetID="1">
                                  <p:stCondLst>
                                    <p:cond delay="0"/>
                                  </p:stCondLst>
                                  <p:childTnLst>
                                    <p:set>
                                      <p:cBhvr>
                                        <p:cTn id="240" dur="1" fill="hold">
                                          <p:stCondLst>
                                            <p:cond delay="0"/>
                                          </p:stCondLst>
                                        </p:cTn>
                                        <p:tgtEl>
                                          <p:spTgt spid="303">
                                            <p:txEl>
                                              <p:pRg st="4" end="4"/>
                                            </p:txEl>
                                          </p:spTgt>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nodeType="clickEffect" fill="hold" presetClass="entr" presetID="1">
                                  <p:stCondLst>
                                    <p:cond delay="0"/>
                                  </p:stCondLst>
                                  <p:childTnLst>
                                    <p:set>
                                      <p:cBhvr>
                                        <p:cTn id="244" dur="1" fill="hold">
                                          <p:stCondLst>
                                            <p:cond delay="0"/>
                                          </p:stCondLst>
                                        </p:cTn>
                                        <p:tgtEl>
                                          <p:spTgt spid="303">
                                            <p:txEl>
                                              <p:pRg st="5" end="5"/>
                                            </p:txEl>
                                          </p:spTgt>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nodeType="clickEffect" fill="hold" presetClass="entr" presetID="1">
                                  <p:stCondLst>
                                    <p:cond delay="0"/>
                                  </p:stCondLst>
                                  <p:childTnLst>
                                    <p:set>
                                      <p:cBhvr>
                                        <p:cTn id="248" dur="1" fill="hold">
                                          <p:stCondLst>
                                            <p:cond delay="0"/>
                                          </p:stCondLst>
                                        </p:cTn>
                                        <p:tgtEl>
                                          <p:spTgt spid="303">
                                            <p:txEl>
                                              <p:pRg st="6" end="6"/>
                                            </p:txEl>
                                          </p:spTgt>
                                        </p:tgtEl>
                                        <p:attrNameLst>
                                          <p:attrName>style.visibility</p:attrName>
                                        </p:attrNameLst>
                                      </p:cBhvr>
                                      <p:to>
                                        <p:strVal val="visible"/>
                                      </p:to>
                                    </p:set>
                                  </p:childTnLst>
                                </p:cTn>
                              </p:par>
                            </p:childTnLst>
                          </p:cTn>
                        </p:par>
                      </p:childTnLst>
                    </p:cTn>
                  </p:par>
                  <p:par>
                    <p:cTn id="249" fill="hold">
                      <p:stCondLst>
                        <p:cond delay="indefinite"/>
                      </p:stCondLst>
                      <p:childTnLst>
                        <p:par>
                          <p:cTn id="250" fill="hold">
                            <p:stCondLst>
                              <p:cond delay="0"/>
                            </p:stCondLst>
                            <p:childTnLst>
                              <p:par>
                                <p:cTn id="251" nodeType="clickEffect" fill="hold" presetClass="entr" presetID="1">
                                  <p:stCondLst>
                                    <p:cond delay="0"/>
                                  </p:stCondLst>
                                  <p:childTnLst>
                                    <p:set>
                                      <p:cBhvr>
                                        <p:cTn id="252" dur="1" fill="hold">
                                          <p:stCondLst>
                                            <p:cond delay="0"/>
                                          </p:stCondLst>
                                        </p:cTn>
                                        <p:tgtEl>
                                          <p:spTgt spid="3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Cardinalities 1 / n</a:t>
            </a:r>
            <a:endParaRPr b="0" lang="en-US" sz="2600" spc="-1" strike="noStrike">
              <a:solidFill>
                <a:srgbClr val="000000"/>
              </a:solidFill>
              <a:latin typeface="Arial"/>
            </a:endParaRPr>
          </a:p>
        </p:txBody>
      </p:sp>
      <p:sp>
        <p:nvSpPr>
          <p:cNvPr id="30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Cardinality</a:t>
            </a:r>
            <a:r>
              <a:rPr b="0" lang="el" sz="1600" spc="-1" strike="noStrike">
                <a:solidFill>
                  <a:schemeClr val="accent1"/>
                </a:solidFill>
                <a:latin typeface="Lato"/>
                <a:ea typeface="Lato"/>
              </a:rPr>
              <a:t> (in data models): The number of entities to which another entity can be associated through a relationship set:</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one-to-one;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one-to-many;</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many-to-many.</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For instance, a department has many instructors, so this is a one (department) to many (instructors) relationship.</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If each instructor should be member of a single department, then this is a one-to-one relationship.</a:t>
            </a:r>
            <a:endParaRPr b="0" lang="en-US" sz="1600" spc="-1" strike="noStrike">
              <a:solidFill>
                <a:srgbClr val="000000"/>
              </a:solidFill>
              <a:latin typeface="Arial"/>
            </a:endParaRPr>
          </a:p>
        </p:txBody>
      </p:sp>
      <p:sp>
        <p:nvSpPr>
          <p:cNvPr id="308" name="PlaceHolder 3"/>
          <p:cNvSpPr>
            <a:spLocks noGrp="1"/>
          </p:cNvSpPr>
          <p:nvPr>
            <p:ph type="sldNum" idx="1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7B1871B-99DE-4BD8-92AD-E849E0F711B8}" type="slidenum">
              <a:rPr b="0" lang="el" sz="1000" spc="-1" strike="noStrike">
                <a:solidFill>
                  <a:schemeClr val="accent1"/>
                </a:solidFill>
                <a:latin typeface="Lato"/>
                <a:ea typeface="Lato"/>
              </a:rPr>
              <a:t>14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53" dur="indefinite" restart="never" nodeType="tmRoot">
          <p:childTnLst>
            <p:seq>
              <p:cTn id="254" dur="indefinite" nodeType="mainSeq">
                <p:childTnLst>
                  <p:par>
                    <p:cTn id="255" fill="hold">
                      <p:stCondLst>
                        <p:cond delay="indefinite"/>
                      </p:stCondLst>
                      <p:childTnLst>
                        <p:par>
                          <p:cTn id="256" fill="hold">
                            <p:stCondLst>
                              <p:cond delay="0"/>
                            </p:stCondLst>
                            <p:childTnLst>
                              <p:par>
                                <p:cTn id="257" nodeType="clickEffect" fill="hold" presetClass="entr" presetID="1">
                                  <p:stCondLst>
                                    <p:cond delay="0"/>
                                  </p:stCondLst>
                                  <p:childTnLst>
                                    <p:set>
                                      <p:cBhvr>
                                        <p:cTn id="258" dur="1" fill="hold">
                                          <p:stCondLst>
                                            <p:cond delay="0"/>
                                          </p:stCondLst>
                                        </p:cTn>
                                        <p:tgtEl>
                                          <p:spTgt spid="307">
                                            <p:txEl>
                                              <p:pRg st="0" end="0"/>
                                            </p:txEl>
                                          </p:spTgt>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nodeType="clickEffect" fill="hold" presetClass="entr" presetID="1">
                                  <p:stCondLst>
                                    <p:cond delay="0"/>
                                  </p:stCondLst>
                                  <p:childTnLst>
                                    <p:set>
                                      <p:cBhvr>
                                        <p:cTn id="262" dur="1" fill="hold">
                                          <p:stCondLst>
                                            <p:cond delay="0"/>
                                          </p:stCondLst>
                                        </p:cTn>
                                        <p:tgtEl>
                                          <p:spTgt spid="307">
                                            <p:txEl>
                                              <p:pRg st="1" end="1"/>
                                            </p:txEl>
                                          </p:spTgt>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nodeType="clickEffect" fill="hold" presetClass="entr" presetID="1">
                                  <p:stCondLst>
                                    <p:cond delay="0"/>
                                  </p:stCondLst>
                                  <p:childTnLst>
                                    <p:set>
                                      <p:cBhvr>
                                        <p:cTn id="266" dur="1" fill="hold">
                                          <p:stCondLst>
                                            <p:cond delay="0"/>
                                          </p:stCondLst>
                                        </p:cTn>
                                        <p:tgtEl>
                                          <p:spTgt spid="307">
                                            <p:txEl>
                                              <p:pRg st="2" end="2"/>
                                            </p:txEl>
                                          </p:spTgt>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nodeType="clickEffect" fill="hold" presetClass="entr" presetID="1">
                                  <p:stCondLst>
                                    <p:cond delay="0"/>
                                  </p:stCondLst>
                                  <p:childTnLst>
                                    <p:set>
                                      <p:cBhvr>
                                        <p:cTn id="270" dur="1" fill="hold">
                                          <p:stCondLst>
                                            <p:cond delay="0"/>
                                          </p:stCondLst>
                                        </p:cTn>
                                        <p:tgtEl>
                                          <p:spTgt spid="307">
                                            <p:txEl>
                                              <p:pRg st="3" end="3"/>
                                            </p:txEl>
                                          </p:spTgt>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nodeType="clickEffect" fill="hold" presetClass="entr" presetID="1">
                                  <p:stCondLst>
                                    <p:cond delay="0"/>
                                  </p:stCondLst>
                                  <p:childTnLst>
                                    <p:set>
                                      <p:cBhvr>
                                        <p:cTn id="274" dur="1" fill="hold">
                                          <p:stCondLst>
                                            <p:cond delay="0"/>
                                          </p:stCondLst>
                                        </p:cTn>
                                        <p:tgtEl>
                                          <p:spTgt spid="307">
                                            <p:txEl>
                                              <p:pRg st="4" end="4"/>
                                            </p:txEl>
                                          </p:spTgt>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nodeType="clickEffect" fill="hold" presetClass="entr" presetID="1">
                                  <p:stCondLst>
                                    <p:cond delay="0"/>
                                  </p:stCondLst>
                                  <p:childTnLst>
                                    <p:set>
                                      <p:cBhvr>
                                        <p:cTn id="278" dur="1" fill="hold">
                                          <p:stCondLst>
                                            <p:cond delay="0"/>
                                          </p:stCondLst>
                                        </p:cTn>
                                        <p:tgtEl>
                                          <p:spTgt spid="307">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Cardinalities 2 / n</a:t>
            </a:r>
            <a:endParaRPr b="0" lang="en-US" sz="2600" spc="-1" strike="noStrike">
              <a:solidFill>
                <a:srgbClr val="000000"/>
              </a:solidFill>
              <a:latin typeface="Arial"/>
            </a:endParaRPr>
          </a:p>
        </p:txBody>
      </p:sp>
      <p:sp>
        <p:nvSpPr>
          <p:cNvPr id="31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What is the cardinality of the following relationships?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Instructor and Department?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Student and Department?</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Instructor and Advisor?</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Student and Advisor?</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Department and XYZ University?</a:t>
            </a:r>
            <a:endParaRPr b="0" lang="en-US" sz="1600" spc="-1" strike="noStrike">
              <a:solidFill>
                <a:srgbClr val="000000"/>
              </a:solidFill>
              <a:latin typeface="Arial"/>
            </a:endParaRPr>
          </a:p>
        </p:txBody>
      </p:sp>
      <p:sp>
        <p:nvSpPr>
          <p:cNvPr id="311" name="PlaceHolder 3"/>
          <p:cNvSpPr>
            <a:spLocks noGrp="1"/>
          </p:cNvSpPr>
          <p:nvPr>
            <p:ph type="sldNum" idx="2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FA5D35D-C27A-4367-A540-F06A58D0607A}" type="slidenum">
              <a:rPr b="0" lang="el" sz="1000" spc="-1" strike="noStrike">
                <a:solidFill>
                  <a:schemeClr val="accent1"/>
                </a:solidFill>
                <a:latin typeface="Lato"/>
                <a:ea typeface="Lato"/>
              </a:rPr>
              <a:t>15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79" dur="indefinite" restart="never" nodeType="tmRoot">
          <p:childTnLst>
            <p:seq>
              <p:cTn id="280" dur="indefinite" nodeType="mainSeq">
                <p:childTnLst>
                  <p:par>
                    <p:cTn id="281" fill="hold">
                      <p:stCondLst>
                        <p:cond delay="indefinite"/>
                      </p:stCondLst>
                      <p:childTnLst>
                        <p:par>
                          <p:cTn id="282" fill="hold">
                            <p:stCondLst>
                              <p:cond delay="0"/>
                            </p:stCondLst>
                            <p:childTnLst>
                              <p:par>
                                <p:cTn id="283" nodeType="clickEffect" fill="hold" presetClass="entr" presetID="1">
                                  <p:stCondLst>
                                    <p:cond delay="0"/>
                                  </p:stCondLst>
                                  <p:childTnLst>
                                    <p:set>
                                      <p:cBhvr>
                                        <p:cTn id="284" dur="1" fill="hold">
                                          <p:stCondLst>
                                            <p:cond delay="0"/>
                                          </p:stCondLst>
                                        </p:cTn>
                                        <p:tgtEl>
                                          <p:spTgt spid="310">
                                            <p:txEl>
                                              <p:pRg st="0" end="0"/>
                                            </p:txEl>
                                          </p:spTgt>
                                        </p:tgtEl>
                                        <p:attrNameLst>
                                          <p:attrName>style.visibility</p:attrName>
                                        </p:attrNameLst>
                                      </p:cBhvr>
                                      <p:to>
                                        <p:strVal val="visible"/>
                                      </p:to>
                                    </p:set>
                                  </p:childTnLst>
                                </p:cTn>
                              </p:par>
                            </p:childTnLst>
                          </p:cTn>
                        </p:par>
                      </p:childTnLst>
                    </p:cTn>
                  </p:par>
                  <p:par>
                    <p:cTn id="285" fill="hold">
                      <p:stCondLst>
                        <p:cond delay="indefinite"/>
                      </p:stCondLst>
                      <p:childTnLst>
                        <p:par>
                          <p:cTn id="286" fill="hold">
                            <p:stCondLst>
                              <p:cond delay="0"/>
                            </p:stCondLst>
                            <p:childTnLst>
                              <p:par>
                                <p:cTn id="287" nodeType="clickEffect" fill="hold" presetClass="entr" presetID="1">
                                  <p:stCondLst>
                                    <p:cond delay="0"/>
                                  </p:stCondLst>
                                  <p:childTnLst>
                                    <p:set>
                                      <p:cBhvr>
                                        <p:cTn id="288" dur="1" fill="hold">
                                          <p:stCondLst>
                                            <p:cond delay="0"/>
                                          </p:stCondLst>
                                        </p:cTn>
                                        <p:tgtEl>
                                          <p:spTgt spid="310">
                                            <p:txEl>
                                              <p:pRg st="1" end="1"/>
                                            </p:txEl>
                                          </p:spTgt>
                                        </p:tgtEl>
                                        <p:attrNameLst>
                                          <p:attrName>style.visibility</p:attrName>
                                        </p:attrNameLst>
                                      </p:cBhvr>
                                      <p:to>
                                        <p:strVal val="visible"/>
                                      </p:to>
                                    </p:set>
                                  </p:childTnLst>
                                </p:cTn>
                              </p:par>
                            </p:childTnLst>
                          </p:cTn>
                        </p:par>
                      </p:childTnLst>
                    </p:cTn>
                  </p:par>
                  <p:par>
                    <p:cTn id="289" fill="hold">
                      <p:stCondLst>
                        <p:cond delay="indefinite"/>
                      </p:stCondLst>
                      <p:childTnLst>
                        <p:par>
                          <p:cTn id="290" fill="hold">
                            <p:stCondLst>
                              <p:cond delay="0"/>
                            </p:stCondLst>
                            <p:childTnLst>
                              <p:par>
                                <p:cTn id="291" nodeType="clickEffect" fill="hold" presetClass="entr" presetID="1">
                                  <p:stCondLst>
                                    <p:cond delay="0"/>
                                  </p:stCondLst>
                                  <p:childTnLst>
                                    <p:set>
                                      <p:cBhvr>
                                        <p:cTn id="292" dur="1" fill="hold">
                                          <p:stCondLst>
                                            <p:cond delay="0"/>
                                          </p:stCondLst>
                                        </p:cTn>
                                        <p:tgtEl>
                                          <p:spTgt spid="310">
                                            <p:txEl>
                                              <p:pRg st="2" end="2"/>
                                            </p:txEl>
                                          </p:spTgt>
                                        </p:tgtEl>
                                        <p:attrNameLst>
                                          <p:attrName>style.visibility</p:attrName>
                                        </p:attrNameLst>
                                      </p:cBhvr>
                                      <p:to>
                                        <p:strVal val="visible"/>
                                      </p:to>
                                    </p:set>
                                  </p:childTnLst>
                                </p:cTn>
                              </p:par>
                            </p:childTnLst>
                          </p:cTn>
                        </p:par>
                      </p:childTnLst>
                    </p:cTn>
                  </p:par>
                  <p:par>
                    <p:cTn id="293" fill="hold">
                      <p:stCondLst>
                        <p:cond delay="indefinite"/>
                      </p:stCondLst>
                      <p:childTnLst>
                        <p:par>
                          <p:cTn id="294" fill="hold">
                            <p:stCondLst>
                              <p:cond delay="0"/>
                            </p:stCondLst>
                            <p:childTnLst>
                              <p:par>
                                <p:cTn id="295" nodeType="clickEffect" fill="hold" presetClass="entr" presetID="1">
                                  <p:stCondLst>
                                    <p:cond delay="0"/>
                                  </p:stCondLst>
                                  <p:childTnLst>
                                    <p:set>
                                      <p:cBhvr>
                                        <p:cTn id="296" dur="1" fill="hold">
                                          <p:stCondLst>
                                            <p:cond delay="0"/>
                                          </p:stCondLst>
                                        </p:cTn>
                                        <p:tgtEl>
                                          <p:spTgt spid="310">
                                            <p:txEl>
                                              <p:pRg st="3" end="3"/>
                                            </p:txEl>
                                          </p:spTgt>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nodeType="clickEffect" fill="hold" presetClass="entr" presetID="1">
                                  <p:stCondLst>
                                    <p:cond delay="0"/>
                                  </p:stCondLst>
                                  <p:childTnLst>
                                    <p:set>
                                      <p:cBhvr>
                                        <p:cTn id="300" dur="1" fill="hold">
                                          <p:stCondLst>
                                            <p:cond delay="0"/>
                                          </p:stCondLst>
                                        </p:cTn>
                                        <p:tgtEl>
                                          <p:spTgt spid="310">
                                            <p:txEl>
                                              <p:pRg st="4" end="4"/>
                                            </p:txEl>
                                          </p:spTgt>
                                        </p:tgtEl>
                                        <p:attrNameLst>
                                          <p:attrName>style.visibility</p:attrName>
                                        </p:attrNameLst>
                                      </p:cBhvr>
                                      <p:to>
                                        <p:strVal val="visible"/>
                                      </p:to>
                                    </p:set>
                                  </p:childTnLst>
                                </p:cTn>
                              </p:par>
                            </p:childTnLst>
                          </p:cTn>
                        </p:par>
                      </p:childTnLst>
                    </p:cTn>
                  </p:par>
                  <p:par>
                    <p:cTn id="301" fill="hold">
                      <p:stCondLst>
                        <p:cond delay="indefinite"/>
                      </p:stCondLst>
                      <p:childTnLst>
                        <p:par>
                          <p:cTn id="302" fill="hold">
                            <p:stCondLst>
                              <p:cond delay="0"/>
                            </p:stCondLst>
                            <p:childTnLst>
                              <p:par>
                                <p:cTn id="303" nodeType="clickEffect" fill="hold" presetClass="entr" presetID="1">
                                  <p:stCondLst>
                                    <p:cond delay="0"/>
                                  </p:stCondLst>
                                  <p:childTnLst>
                                    <p:set>
                                      <p:cBhvr>
                                        <p:cTn id="304" dur="1" fill="hold">
                                          <p:stCondLst>
                                            <p:cond delay="0"/>
                                          </p:stCondLst>
                                        </p:cTn>
                                        <p:tgtEl>
                                          <p:spTgt spid="310">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The XYZ “Faculty” Table - Do you see any issues?</a:t>
            </a:r>
            <a:endParaRPr b="0" lang="en-US" sz="2600" spc="-1" strike="noStrike">
              <a:solidFill>
                <a:srgbClr val="000000"/>
              </a:solidFill>
              <a:latin typeface="Arial"/>
            </a:endParaRPr>
          </a:p>
        </p:txBody>
      </p:sp>
      <p:sp>
        <p:nvSpPr>
          <p:cNvPr id="313" name="PlaceHolder 2"/>
          <p:cNvSpPr>
            <a:spLocks noGrp="1"/>
          </p:cNvSpPr>
          <p:nvPr>
            <p:ph type="sldNum" idx="2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F45BA25-7ECC-4C5D-A7AC-A769A079CCA8}" type="slidenum">
              <a:rPr b="0" lang="el" sz="1000" spc="-1" strike="noStrike">
                <a:solidFill>
                  <a:schemeClr val="accent1"/>
                </a:solidFill>
                <a:latin typeface="Lato"/>
                <a:ea typeface="Lato"/>
              </a:rPr>
              <a:t>16</a:t>
            </a:fld>
            <a:endParaRPr b="0" lang="en-US" sz="1000" spc="-1" strike="noStrike">
              <a:solidFill>
                <a:srgbClr val="000000"/>
              </a:solidFill>
              <a:latin typeface="Times New Roman"/>
            </a:endParaRPr>
          </a:p>
        </p:txBody>
      </p:sp>
      <p:pic>
        <p:nvPicPr>
          <p:cNvPr id="314" name="Google Shape;228;p31" descr=""/>
          <p:cNvPicPr/>
          <p:nvPr/>
        </p:nvPicPr>
        <p:blipFill>
          <a:blip r:embed="rId1"/>
          <a:stretch/>
        </p:blipFill>
        <p:spPr>
          <a:xfrm>
            <a:off x="1195560" y="1244520"/>
            <a:ext cx="6752880" cy="350496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Data Normalisation</a:t>
            </a:r>
            <a:endParaRPr b="0" lang="en-US" sz="2600" spc="-1" strike="noStrike">
              <a:solidFill>
                <a:srgbClr val="000000"/>
              </a:solidFill>
              <a:latin typeface="Arial"/>
            </a:endParaRPr>
          </a:p>
        </p:txBody>
      </p:sp>
      <p:sp>
        <p:nvSpPr>
          <p:cNvPr id="316" name="PlaceHolder 2"/>
          <p:cNvSpPr>
            <a:spLocks noGrp="1"/>
          </p:cNvSpPr>
          <p:nvPr>
            <p:ph/>
          </p:nvPr>
        </p:nvSpPr>
        <p:spPr>
          <a:xfrm>
            <a:off x="729360" y="1378080"/>
            <a:ext cx="7688520" cy="27392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To avoid cases where we: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have data repetition;</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cannot represent certain information;</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t>
            </a:r>
            <a:r>
              <a:rPr b="0" lang="el" sz="1600" spc="-1" strike="noStrike">
                <a:solidFill>
                  <a:schemeClr val="accent1"/>
                </a:solidFill>
                <a:latin typeface="Lato"/>
                <a:ea typeface="Lato"/>
              </a:rPr>
              <a:t>we use </a:t>
            </a:r>
            <a:r>
              <a:rPr b="1" lang="el" sz="1600" spc="-1" strike="noStrike">
                <a:solidFill>
                  <a:schemeClr val="accent1"/>
                </a:solidFill>
                <a:latin typeface="Lato"/>
                <a:ea typeface="Lato"/>
              </a:rPr>
              <a:t>data normalisation</a:t>
            </a:r>
            <a:r>
              <a:rPr b="0" lang="el" sz="1600" spc="-1" strike="noStrike">
                <a:solidFill>
                  <a:schemeClr val="accent1"/>
                </a:solidFill>
                <a:latin typeface="Lato"/>
                <a:ea typeface="Lato"/>
              </a:rPr>
              <a:t>, i.e., impose certain normal forms to our DB schemata.</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What could we do better for XYZ?</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Use separate tables for instructors and departments?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0" lang="el" sz="1600" spc="-1" strike="noStrike">
                <a:solidFill>
                  <a:schemeClr val="accent1"/>
                </a:solidFill>
                <a:latin typeface="Lato"/>
                <a:ea typeface="Lato"/>
              </a:rPr>
              <a:t>Use </a:t>
            </a:r>
            <a:r>
              <a:rPr b="0" lang="el" sz="1600" spc="-1" strike="noStrike">
                <a:solidFill>
                  <a:schemeClr val="accent1"/>
                </a:solidFill>
                <a:latin typeface="Consolas"/>
                <a:ea typeface="Consolas"/>
              </a:rPr>
              <a:t>nulls</a:t>
            </a:r>
            <a:r>
              <a:rPr b="0" lang="el" sz="1600" spc="-1" strike="noStrike">
                <a:solidFill>
                  <a:schemeClr val="accent1"/>
                </a:solidFill>
                <a:latin typeface="Lato"/>
                <a:ea typeface="Lato"/>
              </a:rPr>
              <a:t> for missing information?</a:t>
            </a:r>
            <a:endParaRPr b="0" lang="en-US" sz="1600" spc="-1" strike="noStrike">
              <a:solidFill>
                <a:srgbClr val="000000"/>
              </a:solidFill>
              <a:latin typeface="Arial"/>
            </a:endParaRPr>
          </a:p>
        </p:txBody>
      </p:sp>
      <p:sp>
        <p:nvSpPr>
          <p:cNvPr id="317" name="PlaceHolder 3"/>
          <p:cNvSpPr>
            <a:spLocks noGrp="1"/>
          </p:cNvSpPr>
          <p:nvPr>
            <p:ph type="sldNum" idx="2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4175EDE-FD65-4AFD-A6A7-C3F9D3D4B171}" type="slidenum">
              <a:rPr b="0" lang="el" sz="1000" spc="-1" strike="noStrike">
                <a:solidFill>
                  <a:schemeClr val="accent1"/>
                </a:solidFill>
                <a:latin typeface="Lato"/>
                <a:ea typeface="Lato"/>
              </a:rPr>
              <a:t>17</a:t>
            </a:fld>
            <a:endParaRPr b="0" lang="en-US" sz="1000" spc="-1" strike="noStrike">
              <a:solidFill>
                <a:srgbClr val="000000"/>
              </a:solidFill>
              <a:latin typeface="Times New Roman"/>
            </a:endParaRPr>
          </a:p>
        </p:txBody>
      </p:sp>
      <p:sp>
        <p:nvSpPr>
          <p:cNvPr id="318" name="Google Shape;236;p32"/>
          <p:cNvSpPr/>
          <p:nvPr/>
        </p:nvSpPr>
        <p:spPr>
          <a:xfrm>
            <a:off x="2448000" y="4117680"/>
            <a:ext cx="4251240" cy="917640"/>
          </a:xfrm>
          <a:prstGeom prst="rect">
            <a:avLst/>
          </a:prstGeom>
          <a:solidFill>
            <a:srgbClr val="fce5cd"/>
          </a:solidFill>
          <a:ln w="19050">
            <a:solidFill>
              <a:srgbClr val="eb5600"/>
            </a:solidFill>
            <a:prstDash val="dash"/>
            <a:round/>
          </a:ln>
        </p:spPr>
        <p:style>
          <a:lnRef idx="0"/>
          <a:fillRef idx="0"/>
          <a:effectRef idx="0"/>
          <a:fontRef idx="minor"/>
        </p:style>
        <p:txBody>
          <a:bodyPr tIns="91440" bIns="91440" anchor="t">
            <a:noAutofit/>
          </a:bodyPr>
          <a:p>
            <a:pPr>
              <a:lnSpc>
                <a:spcPct val="100000"/>
              </a:lnSpc>
              <a:tabLst>
                <a:tab algn="l" pos="0"/>
              </a:tabLst>
            </a:pPr>
            <a:r>
              <a:rPr b="1" lang="el" sz="1600" spc="-1" strike="noStrike">
                <a:solidFill>
                  <a:schemeClr val="accent3"/>
                </a:solidFill>
                <a:latin typeface="Consolas"/>
                <a:ea typeface="Consolas"/>
              </a:rPr>
              <a:t>Null</a:t>
            </a:r>
            <a:r>
              <a:rPr b="0" lang="el" sz="1600" spc="-1" strike="noStrike">
                <a:solidFill>
                  <a:srgbClr val="000000"/>
                </a:solidFill>
                <a:latin typeface="Consolas"/>
                <a:ea typeface="Consolas"/>
              </a:rPr>
              <a:t>: Special value indicating that a certain piece of data is missing. </a:t>
            </a:r>
            <a:r>
              <a:rPr b="1" lang="el" sz="1600" spc="-1" strike="noStrike">
                <a:solidFill>
                  <a:schemeClr val="accent3"/>
                </a:solidFill>
                <a:latin typeface="Consolas"/>
                <a:ea typeface="Consolas"/>
              </a:rPr>
              <a:t>Better to be avoided.</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05" dur="indefinite" restart="never" nodeType="tmRoot">
          <p:childTnLst>
            <p:seq>
              <p:cTn id="306" dur="indefinite" nodeType="mainSeq">
                <p:childTnLst>
                  <p:par>
                    <p:cTn id="307" fill="hold">
                      <p:stCondLst>
                        <p:cond delay="indefinite"/>
                      </p:stCondLst>
                      <p:childTnLst>
                        <p:par>
                          <p:cTn id="308" fill="hold">
                            <p:stCondLst>
                              <p:cond delay="0"/>
                            </p:stCondLst>
                            <p:childTnLst>
                              <p:par>
                                <p:cTn id="309" nodeType="clickEffect" fill="hold" presetClass="entr" presetID="1">
                                  <p:stCondLst>
                                    <p:cond delay="0"/>
                                  </p:stCondLst>
                                  <p:childTnLst>
                                    <p:set>
                                      <p:cBhvr>
                                        <p:cTn id="310" dur="1" fill="hold">
                                          <p:stCondLst>
                                            <p:cond delay="0"/>
                                          </p:stCondLst>
                                        </p:cTn>
                                        <p:tgtEl>
                                          <p:spTgt spid="316">
                                            <p:txEl>
                                              <p:pRg st="0" end="0"/>
                                            </p:txEl>
                                          </p:spTgt>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nodeType="clickEffect" fill="hold" presetClass="entr" presetID="1">
                                  <p:stCondLst>
                                    <p:cond delay="0"/>
                                  </p:stCondLst>
                                  <p:childTnLst>
                                    <p:set>
                                      <p:cBhvr>
                                        <p:cTn id="314" dur="1" fill="hold">
                                          <p:stCondLst>
                                            <p:cond delay="0"/>
                                          </p:stCondLst>
                                        </p:cTn>
                                        <p:tgtEl>
                                          <p:spTgt spid="316">
                                            <p:txEl>
                                              <p:pRg st="1" end="1"/>
                                            </p:txEl>
                                          </p:spTgt>
                                        </p:tgtEl>
                                        <p:attrNameLst>
                                          <p:attrName>style.visibility</p:attrName>
                                        </p:attrNameLst>
                                      </p:cBhvr>
                                      <p:to>
                                        <p:strVal val="visible"/>
                                      </p:to>
                                    </p:set>
                                  </p:childTnLst>
                                </p:cTn>
                              </p:par>
                            </p:childTnLst>
                          </p:cTn>
                        </p:par>
                      </p:childTnLst>
                    </p:cTn>
                  </p:par>
                  <p:par>
                    <p:cTn id="315" fill="hold">
                      <p:stCondLst>
                        <p:cond delay="indefinite"/>
                      </p:stCondLst>
                      <p:childTnLst>
                        <p:par>
                          <p:cTn id="316" fill="hold">
                            <p:stCondLst>
                              <p:cond delay="0"/>
                            </p:stCondLst>
                            <p:childTnLst>
                              <p:par>
                                <p:cTn id="317" nodeType="clickEffect" fill="hold" presetClass="entr" presetID="1">
                                  <p:stCondLst>
                                    <p:cond delay="0"/>
                                  </p:stCondLst>
                                  <p:childTnLst>
                                    <p:set>
                                      <p:cBhvr>
                                        <p:cTn id="318" dur="1" fill="hold">
                                          <p:stCondLst>
                                            <p:cond delay="0"/>
                                          </p:stCondLst>
                                        </p:cTn>
                                        <p:tgtEl>
                                          <p:spTgt spid="316">
                                            <p:txEl>
                                              <p:pRg st="2" end="2"/>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nodeType="clickEffect" fill="hold" presetClass="entr" presetID="1">
                                  <p:stCondLst>
                                    <p:cond delay="0"/>
                                  </p:stCondLst>
                                  <p:childTnLst>
                                    <p:set>
                                      <p:cBhvr>
                                        <p:cTn id="322" dur="1" fill="hold">
                                          <p:stCondLst>
                                            <p:cond delay="0"/>
                                          </p:stCondLst>
                                        </p:cTn>
                                        <p:tgtEl>
                                          <p:spTgt spid="316">
                                            <p:txEl>
                                              <p:pRg st="3" end="3"/>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nodeType="clickEffect" fill="hold" presetClass="entr" presetID="1">
                                  <p:stCondLst>
                                    <p:cond delay="0"/>
                                  </p:stCondLst>
                                  <p:childTnLst>
                                    <p:set>
                                      <p:cBhvr>
                                        <p:cTn id="326" dur="1" fill="hold">
                                          <p:stCondLst>
                                            <p:cond delay="0"/>
                                          </p:stCondLst>
                                        </p:cTn>
                                        <p:tgtEl>
                                          <p:spTgt spid="316">
                                            <p:txEl>
                                              <p:pRg st="4" end="4"/>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nodeType="clickEffect" fill="hold" presetClass="entr" presetID="1">
                                  <p:stCondLst>
                                    <p:cond delay="0"/>
                                  </p:stCondLst>
                                  <p:childTnLst>
                                    <p:set>
                                      <p:cBhvr>
                                        <p:cTn id="330" dur="1" fill="hold">
                                          <p:stCondLst>
                                            <p:cond delay="0"/>
                                          </p:stCondLst>
                                        </p:cTn>
                                        <p:tgtEl>
                                          <p:spTgt spid="316">
                                            <p:txEl>
                                              <p:pRg st="5" end="5"/>
                                            </p:txEl>
                                          </p:spTgt>
                                        </p:tgtEl>
                                        <p:attrNameLst>
                                          <p:attrName>style.visibility</p:attrName>
                                        </p:attrNameLst>
                                      </p:cBhvr>
                                      <p:to>
                                        <p:strVal val="visible"/>
                                      </p:to>
                                    </p:set>
                                  </p:childTnLst>
                                </p:cTn>
                              </p:par>
                            </p:childTnLst>
                          </p:cTn>
                        </p:par>
                      </p:childTnLst>
                    </p:cTn>
                  </p:par>
                  <p:par>
                    <p:cTn id="331" fill="hold">
                      <p:stCondLst>
                        <p:cond delay="indefinite"/>
                      </p:stCondLst>
                      <p:childTnLst>
                        <p:par>
                          <p:cTn id="332" fill="hold">
                            <p:stCondLst>
                              <p:cond delay="0"/>
                            </p:stCondLst>
                            <p:childTnLst>
                              <p:par>
                                <p:cTn id="333" nodeType="clickEffect" fill="hold" presetClass="entr" presetID="1">
                                  <p:stCondLst>
                                    <p:cond delay="0"/>
                                  </p:stCondLst>
                                  <p:childTnLst>
                                    <p:set>
                                      <p:cBhvr>
                                        <p:cTn id="334" dur="1" fill="hold">
                                          <p:stCondLst>
                                            <p:cond delay="0"/>
                                          </p:stCondLst>
                                        </p:cTn>
                                        <p:tgtEl>
                                          <p:spTgt spid="316">
                                            <p:txEl>
                                              <p:pRg st="6" end="6"/>
                                            </p:txEl>
                                          </p:spTgt>
                                        </p:tgtEl>
                                        <p:attrNameLst>
                                          <p:attrName>style.visibility</p:attrName>
                                        </p:attrNameLst>
                                      </p:cBhvr>
                                      <p:to>
                                        <p:strVal val="visible"/>
                                      </p:to>
                                    </p:set>
                                  </p:childTnLst>
                                </p:cTn>
                              </p:par>
                            </p:childTnLst>
                          </p:cTn>
                        </p:par>
                      </p:childTnLst>
                    </p:cTn>
                  </p:par>
                  <p:par>
                    <p:cTn id="335" fill="hold">
                      <p:stCondLst>
                        <p:cond delay="indefinite"/>
                      </p:stCondLst>
                      <p:childTnLst>
                        <p:par>
                          <p:cTn id="336" fill="hold">
                            <p:stCondLst>
                              <p:cond delay="0"/>
                            </p:stCondLst>
                            <p:childTnLst>
                              <p:par>
                                <p:cTn id="337" nodeType="clickEffect" fill="hold" presetClass="entr" presetID="1">
                                  <p:stCondLst>
                                    <p:cond delay="0"/>
                                  </p:stCondLst>
                                  <p:childTnLst>
                                    <p:set>
                                      <p:cBhvr>
                                        <p:cTn id="338" dur="1" fill="hold">
                                          <p:stCondLst>
                                            <p:cond delay="0"/>
                                          </p:stCondLst>
                                        </p:cTn>
                                        <p:tgtEl>
                                          <p:spTgt spid="316">
                                            <p:txEl>
                                              <p:pRg st="7" end="7"/>
                                            </p:txEl>
                                          </p:spTgt>
                                        </p:tgtEl>
                                        <p:attrNameLst>
                                          <p:attrName>style.visibility</p:attrName>
                                        </p:attrNameLst>
                                      </p:cBhvr>
                                      <p:to>
                                        <p:strVal val="visible"/>
                                      </p:to>
                                    </p:set>
                                  </p:childTnLst>
                                </p:cTn>
                              </p:par>
                            </p:childTnLst>
                          </p:cTn>
                        </p:par>
                      </p:childTnLst>
                    </p:cTn>
                  </p:par>
                  <p:par>
                    <p:cTn id="339" fill="hold">
                      <p:stCondLst>
                        <p:cond delay="indefinite"/>
                      </p:stCondLst>
                      <p:childTnLst>
                        <p:par>
                          <p:cTn id="340" fill="hold">
                            <p:stCondLst>
                              <p:cond delay="0"/>
                            </p:stCondLst>
                            <p:childTnLst>
                              <p:par>
                                <p:cTn id="341" nodeType="clickEffect" fill="hold" presetClass="entr" presetID="1">
                                  <p:stCondLst>
                                    <p:cond delay="0"/>
                                  </p:stCondLst>
                                  <p:childTnLst>
                                    <p:set>
                                      <p:cBhvr>
                                        <p:cTn id="342" dur="1" fill="hold">
                                          <p:stCondLst>
                                            <p:cond delay="0"/>
                                          </p:stCondLst>
                                        </p:cTn>
                                        <p:tgtEl>
                                          <p:spTgt spid="3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Back to the XYZ University</a:t>
            </a:r>
            <a:endParaRPr b="0" lang="en-US" sz="2600" spc="-1" strike="noStrike">
              <a:solidFill>
                <a:srgbClr val="000000"/>
              </a:solidFill>
              <a:latin typeface="Arial"/>
            </a:endParaRPr>
          </a:p>
        </p:txBody>
      </p:sp>
      <p:sp>
        <p:nvSpPr>
          <p:cNvPr id="32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Having all this knowledge, how would you restructure your database? (see the tab you have left open on your browser)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Extend you DB to cover a more complex setting than what it currently covers - add tables and / or relationships between / among them and existing ones.</a:t>
            </a:r>
            <a:endParaRPr b="0" lang="en-US" sz="1600" spc="-1" strike="noStrike">
              <a:solidFill>
                <a:srgbClr val="000000"/>
              </a:solidFill>
              <a:latin typeface="Arial"/>
            </a:endParaRPr>
          </a:p>
        </p:txBody>
      </p:sp>
      <p:sp>
        <p:nvSpPr>
          <p:cNvPr id="321" name="PlaceHolder 3"/>
          <p:cNvSpPr>
            <a:spLocks noGrp="1"/>
          </p:cNvSpPr>
          <p:nvPr>
            <p:ph type="sldNum" idx="2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904DC94-3C2B-4B50-9BD1-F0547E289353}" type="slidenum">
              <a:rPr b="0" lang="el" sz="1000" spc="-1" strike="noStrike">
                <a:solidFill>
                  <a:schemeClr val="accent1"/>
                </a:solidFill>
                <a:latin typeface="Lato"/>
                <a:ea typeface="Lato"/>
              </a:rPr>
              <a:t>18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43" dur="indefinite" restart="never" nodeType="tmRoot">
          <p:childTnLst>
            <p:seq>
              <p:cTn id="344" dur="indefinite" nodeType="mainSeq">
                <p:childTnLst>
                  <p:par>
                    <p:cTn id="345" fill="hold">
                      <p:stCondLst>
                        <p:cond delay="indefinite"/>
                      </p:stCondLst>
                      <p:childTnLst>
                        <p:par>
                          <p:cTn id="346" fill="hold">
                            <p:stCondLst>
                              <p:cond delay="0"/>
                            </p:stCondLst>
                            <p:childTnLst>
                              <p:par>
                                <p:cTn id="347" nodeType="clickEffect" fill="hold" presetClass="entr" presetID="1">
                                  <p:stCondLst>
                                    <p:cond delay="0"/>
                                  </p:stCondLst>
                                  <p:childTnLst>
                                    <p:set>
                                      <p:cBhvr>
                                        <p:cTn id="348" dur="1" fill="hold">
                                          <p:stCondLst>
                                            <p:cond delay="0"/>
                                          </p:stCondLst>
                                        </p:cTn>
                                        <p:tgtEl>
                                          <p:spTgt spid="320">
                                            <p:txEl>
                                              <p:pRg st="0" end="0"/>
                                            </p:txEl>
                                          </p:spTgt>
                                        </p:tgtEl>
                                        <p:attrNameLst>
                                          <p:attrName>style.visibility</p:attrName>
                                        </p:attrNameLst>
                                      </p:cBhvr>
                                      <p:to>
                                        <p:strVal val="visible"/>
                                      </p:to>
                                    </p:set>
                                  </p:childTnLst>
                                </p:cTn>
                              </p:par>
                            </p:childTnLst>
                          </p:cTn>
                        </p:par>
                      </p:childTnLst>
                    </p:cTn>
                  </p:par>
                  <p:par>
                    <p:cTn id="349" fill="hold">
                      <p:stCondLst>
                        <p:cond delay="indefinite"/>
                      </p:stCondLst>
                      <p:childTnLst>
                        <p:par>
                          <p:cTn id="350" fill="hold">
                            <p:stCondLst>
                              <p:cond delay="0"/>
                            </p:stCondLst>
                            <p:childTnLst>
                              <p:par>
                                <p:cTn id="351" nodeType="clickEffect" fill="hold" presetClass="entr" presetID="1">
                                  <p:stCondLst>
                                    <p:cond delay="0"/>
                                  </p:stCondLst>
                                  <p:childTnLst>
                                    <p:set>
                                      <p:cBhvr>
                                        <p:cTn id="352" dur="1" fill="hold">
                                          <p:stCondLst>
                                            <p:cond delay="0"/>
                                          </p:stCondLst>
                                        </p:cTn>
                                        <p:tgtEl>
                                          <p:spTgt spid="320">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1 / n</a:t>
            </a:r>
            <a:endParaRPr b="0" lang="en-US" sz="2600" spc="-1" strike="noStrike">
              <a:solidFill>
                <a:srgbClr val="000000"/>
              </a:solidFill>
              <a:latin typeface="Arial"/>
            </a:endParaRPr>
          </a:p>
        </p:txBody>
      </p:sp>
      <p:sp>
        <p:nvSpPr>
          <p:cNvPr id="323" name="PlaceHolder 2"/>
          <p:cNvSpPr>
            <a:spLocks noGrp="1"/>
          </p:cNvSpPr>
          <p:nvPr>
            <p:ph/>
          </p:nvPr>
        </p:nvSpPr>
        <p:spPr>
          <a:xfrm>
            <a:off x="729360" y="1378080"/>
            <a:ext cx="7688520" cy="35899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Which are the key steps in DB design?</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There are four key steps:</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Data-needs specification;</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Conceptual-design phase;</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Logical-design phase;</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Physical-design phase.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Which are the two main sources of problems we avoid when we carefully design our DB?</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Redundancy (i.e., information repetition) and incompleteness (i.e., missing information).</a:t>
            </a:r>
            <a:endParaRPr b="0" lang="en-US" sz="1600" spc="-1" strike="noStrike">
              <a:solidFill>
                <a:srgbClr val="000000"/>
              </a:solidFill>
              <a:latin typeface="Arial"/>
            </a:endParaRPr>
          </a:p>
        </p:txBody>
      </p:sp>
      <p:sp>
        <p:nvSpPr>
          <p:cNvPr id="324" name="PlaceHolder 3"/>
          <p:cNvSpPr>
            <a:spLocks noGrp="1"/>
          </p:cNvSpPr>
          <p:nvPr>
            <p:ph type="sldNum" idx="2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BAD16E1-C0C2-49CD-AB57-25793A130B8E}" type="slidenum">
              <a:rPr b="0" lang="el" sz="1000" spc="-1" strike="noStrike">
                <a:solidFill>
                  <a:schemeClr val="accent1"/>
                </a:solidFill>
                <a:latin typeface="Lato"/>
                <a:ea typeface="Lato"/>
              </a:rPr>
              <a:t>19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2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26"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types of attributes are there, with respect to values count?</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There are:</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single-valued attributes;</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multivalued attributes;</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derived attributes.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Right or Wrong? A single-valued attribute takes a single value for all instances of an entity.</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Wrong. It takes a single value for each instance, potentially a different one.</a:t>
            </a:r>
            <a:endParaRPr b="0" lang="en-US" sz="1600" spc="-1" strike="noStrike">
              <a:solidFill>
                <a:srgbClr val="000000"/>
              </a:solidFill>
              <a:latin typeface="Arial"/>
            </a:endParaRPr>
          </a:p>
        </p:txBody>
      </p:sp>
      <p:sp>
        <p:nvSpPr>
          <p:cNvPr id="327" name="PlaceHolder 3"/>
          <p:cNvSpPr>
            <a:spLocks noGrp="1"/>
          </p:cNvSpPr>
          <p:nvPr>
            <p:ph type="sldNum" idx="2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36AF83E-0181-4B9B-8D08-2827017B3568}" type="slidenum">
              <a:rPr b="0" lang="el" sz="1000" spc="-1" strike="noStrike">
                <a:solidFill>
                  <a:schemeClr val="accent1"/>
                </a:solidFill>
                <a:latin typeface="Lato"/>
                <a:ea typeface="Lato"/>
              </a:rPr>
              <a:t>20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3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29" name="PlaceHolder 2"/>
          <p:cNvSpPr>
            <a:spLocks noGrp="1"/>
          </p:cNvSpPr>
          <p:nvPr>
            <p:ph/>
          </p:nvPr>
        </p:nvSpPr>
        <p:spPr>
          <a:xfrm>
            <a:off x="729360" y="1378080"/>
            <a:ext cx="7688520" cy="325296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is “cardinality” in data modelling?</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 number of entities to which another entity can be associated through a relationship set:</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one-to-one;</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one-to-many;</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many-to-many.</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Name two benefits of data normalisation.</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Through data normalisation one avoids repetition of data as well as cases where some specific information cannot be represented in the DB.</a:t>
            </a:r>
            <a:endParaRPr b="0" lang="en-US" sz="1600" spc="-1" strike="noStrike">
              <a:solidFill>
                <a:srgbClr val="000000"/>
              </a:solidFill>
              <a:latin typeface="Arial"/>
            </a:endParaRPr>
          </a:p>
        </p:txBody>
      </p:sp>
      <p:sp>
        <p:nvSpPr>
          <p:cNvPr id="330" name="PlaceHolder 3"/>
          <p:cNvSpPr>
            <a:spLocks noGrp="1"/>
          </p:cNvSpPr>
          <p:nvPr>
            <p:ph type="sldNum" idx="2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34C37BE-1F95-43FB-BDED-CC7C7ECDB22B}" type="slidenum">
              <a:rPr b="0" lang="el" sz="1000" spc="-1" strike="noStrike">
                <a:solidFill>
                  <a:schemeClr val="accent1"/>
                </a:solidFill>
                <a:latin typeface="Lato"/>
                <a:ea typeface="Lato"/>
              </a:rPr>
              <a:t>21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Fun Time!</a:t>
            </a:r>
            <a:endParaRPr b="0" lang="en-US" sz="3600" spc="-1" strike="noStrike">
              <a:solidFill>
                <a:srgbClr val="000000"/>
              </a:solidFill>
              <a:latin typeface="Arial"/>
            </a:endParaRPr>
          </a:p>
        </p:txBody>
      </p:sp>
      <p:sp>
        <p:nvSpPr>
          <p:cNvPr id="332" name="PlaceHolder 2"/>
          <p:cNvSpPr>
            <a:spLocks noGrp="1"/>
          </p:cNvSpPr>
          <p:nvPr>
            <p:ph type="sldNum" idx="2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9691905E-7B79-4D24-ABA0-56A9C522E03C}" type="slidenum">
              <a:rPr b="0" lang="el" sz="1000" spc="-1" strike="noStrike">
                <a:solidFill>
                  <a:schemeClr val="lt1"/>
                </a:solidFill>
                <a:latin typeface="Lato"/>
                <a:ea typeface="Lato"/>
              </a:rPr>
              <a:t>22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Some Guidelines by MS 1 / n</a:t>
            </a:r>
            <a:endParaRPr b="0" lang="en-US" sz="2600" spc="-1" strike="noStrike">
              <a:solidFill>
                <a:srgbClr val="000000"/>
              </a:solidFill>
              <a:latin typeface="Arial"/>
            </a:endParaRPr>
          </a:p>
        </p:txBody>
      </p:sp>
      <p:sp>
        <p:nvSpPr>
          <p:cNvPr id="334"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1" lang="el" sz="1600" spc="-1" strike="noStrike">
                <a:solidFill>
                  <a:schemeClr val="accent1"/>
                </a:solidFill>
                <a:latin typeface="Lato"/>
                <a:ea typeface="Lato"/>
              </a:rPr>
              <a:t>Organizing data:</a:t>
            </a:r>
            <a:r>
              <a:rPr b="0" lang="el" sz="1600" spc="-1" strike="noStrike">
                <a:solidFill>
                  <a:schemeClr val="accent1"/>
                </a:solidFill>
                <a:latin typeface="Lato"/>
                <a:ea typeface="Lato"/>
              </a:rPr>
              <a:t> Once you have an idea of the data you would like to collect, you need to decide how many tables you might want to use to organize the data efficiently. In Excel, we might keep several numbered columns to keep track of things, i.e. Medication1, Medication 2…, but in Access we should create a second table to track the numbered fields.</a:t>
            </a:r>
            <a:endParaRPr b="0" lang="en-US" sz="1600" spc="-1" strike="noStrike">
              <a:solidFill>
                <a:srgbClr val="000000"/>
              </a:solidFill>
              <a:latin typeface="Arial"/>
            </a:endParaRPr>
          </a:p>
          <a:p>
            <a:pPr marL="452520" indent="-326520">
              <a:lnSpc>
                <a:spcPct val="115000"/>
              </a:lnSpc>
              <a:buClr>
                <a:srgbClr val="595959"/>
              </a:buClr>
              <a:buFont typeface="Lato"/>
              <a:buChar char="●"/>
            </a:pPr>
            <a:r>
              <a:rPr b="1" lang="el" sz="1600" spc="-1" strike="noStrike">
                <a:solidFill>
                  <a:schemeClr val="accent1"/>
                </a:solidFill>
                <a:latin typeface="Lato"/>
                <a:ea typeface="Lato"/>
              </a:rPr>
              <a:t>No Derived Fields:</a:t>
            </a:r>
            <a:r>
              <a:rPr b="0" lang="el" sz="1600" spc="-1" strike="noStrike">
                <a:solidFill>
                  <a:schemeClr val="accent1"/>
                </a:solidFill>
                <a:latin typeface="Lato"/>
                <a:ea typeface="Lato"/>
              </a:rPr>
              <a:t> By using the relationships between our datasets, we can derive missing data. If we are creating a new appointment for a patient, we only need to put in their Medical Record Number (or other unique identifier). The patient's name, phone number, and other information can be derived from the Patient Table.</a:t>
            </a:r>
            <a:endParaRPr b="0" lang="en-US" sz="1600" spc="-1" strike="noStrike">
              <a:solidFill>
                <a:srgbClr val="000000"/>
              </a:solidFill>
              <a:latin typeface="Arial"/>
            </a:endParaRPr>
          </a:p>
        </p:txBody>
      </p:sp>
      <p:sp>
        <p:nvSpPr>
          <p:cNvPr id="335" name="PlaceHolder 3"/>
          <p:cNvSpPr>
            <a:spLocks noGrp="1"/>
          </p:cNvSpPr>
          <p:nvPr>
            <p:ph type="sldNum" idx="2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E7C1267-EC72-441B-9436-941D4C6E38E4}" type="slidenum">
              <a:rPr b="0" lang="el" sz="1000" spc="-1" strike="noStrike">
                <a:solidFill>
                  <a:schemeClr val="accent1"/>
                </a:solidFill>
                <a:latin typeface="Lato"/>
                <a:ea typeface="Lato"/>
              </a:rPr>
              <a:t>23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53" dur="indefinite" restart="never" nodeType="tmRoot">
          <p:childTnLst>
            <p:seq>
              <p:cTn id="354" dur="indefinite" nodeType="mainSeq">
                <p:childTnLst>
                  <p:par>
                    <p:cTn id="355" fill="hold">
                      <p:stCondLst>
                        <p:cond delay="indefinite"/>
                      </p:stCondLst>
                      <p:childTnLst>
                        <p:par>
                          <p:cTn id="356" fill="hold">
                            <p:stCondLst>
                              <p:cond delay="0"/>
                            </p:stCondLst>
                            <p:childTnLst>
                              <p:par>
                                <p:cTn id="357" nodeType="clickEffect" fill="hold" presetClass="entr" presetID="1">
                                  <p:stCondLst>
                                    <p:cond delay="0"/>
                                  </p:stCondLst>
                                  <p:childTnLst>
                                    <p:set>
                                      <p:cBhvr>
                                        <p:cTn id="358" dur="1" fill="hold">
                                          <p:stCondLst>
                                            <p:cond delay="0"/>
                                          </p:stCondLst>
                                        </p:cTn>
                                        <p:tgtEl>
                                          <p:spTgt spid="334">
                                            <p:txEl>
                                              <p:pRg st="0" end="0"/>
                                            </p:txEl>
                                          </p:spTgt>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nodeType="clickEffect" fill="hold" presetClass="entr" presetID="1">
                                  <p:stCondLst>
                                    <p:cond delay="0"/>
                                  </p:stCondLst>
                                  <p:childTnLst>
                                    <p:set>
                                      <p:cBhvr>
                                        <p:cTn id="362" dur="1" fill="hold">
                                          <p:stCondLst>
                                            <p:cond delay="0"/>
                                          </p:stCondLst>
                                        </p:cTn>
                                        <p:tgtEl>
                                          <p:spTgt spid="334">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Some Guidelines by MS 2 / n</a:t>
            </a:r>
            <a:endParaRPr b="0" lang="en-US" sz="2600" spc="-1" strike="noStrike">
              <a:solidFill>
                <a:srgbClr val="000000"/>
              </a:solidFill>
              <a:latin typeface="Arial"/>
            </a:endParaRPr>
          </a:p>
        </p:txBody>
      </p:sp>
      <p:sp>
        <p:nvSpPr>
          <p:cNvPr id="33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Data is broken down into Smallest Logical Parts:</a:t>
            </a:r>
            <a:r>
              <a:rPr b="0" lang="el" sz="1600" spc="-1" strike="noStrike">
                <a:solidFill>
                  <a:schemeClr val="accent1"/>
                </a:solidFill>
                <a:latin typeface="Lato"/>
                <a:ea typeface="Lato"/>
              </a:rPr>
              <a:t> Pulling fields together in Access is often simple; pulling them apart usually requires human intervention. Think of this as breaking up the data into its smallest sort‐able part.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Descriptive Field Names:</a:t>
            </a:r>
            <a:r>
              <a:rPr b="0" lang="el" sz="1600" spc="-1" strike="noStrike">
                <a:solidFill>
                  <a:schemeClr val="accent1"/>
                </a:solidFill>
                <a:latin typeface="Lato"/>
                <a:ea typeface="Lato"/>
              </a:rPr>
              <a:t> It's tempting to use abbreviations when we are creating our data tables, but if the title we use is too vague or too abbreviated we may not be able to recall why we created that field. DOB – Date of Birth or Department of Babies? SSN – Social Security Number or Shands System Number?</a:t>
            </a:r>
            <a:endParaRPr b="0" lang="en-US" sz="1600" spc="-1" strike="noStrike">
              <a:solidFill>
                <a:srgbClr val="000000"/>
              </a:solidFill>
              <a:latin typeface="Arial"/>
            </a:endParaRPr>
          </a:p>
        </p:txBody>
      </p:sp>
      <p:sp>
        <p:nvSpPr>
          <p:cNvPr id="338" name="PlaceHolder 3"/>
          <p:cNvSpPr>
            <a:spLocks noGrp="1"/>
          </p:cNvSpPr>
          <p:nvPr>
            <p:ph type="sldNum" idx="2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617F312-49C0-4646-A4ED-231B149E751C}" type="slidenum">
              <a:rPr b="0" lang="el" sz="1000" spc="-1" strike="noStrike">
                <a:solidFill>
                  <a:schemeClr val="accent1"/>
                </a:solidFill>
                <a:latin typeface="Lato"/>
                <a:ea typeface="Lato"/>
              </a:rPr>
              <a:t>24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63" dur="indefinite" restart="never" nodeType="tmRoot">
          <p:childTnLst>
            <p:seq>
              <p:cTn id="364" dur="indefinite" nodeType="mainSeq">
                <p:childTnLst>
                  <p:par>
                    <p:cTn id="365" fill="hold">
                      <p:stCondLst>
                        <p:cond delay="indefinite"/>
                      </p:stCondLst>
                      <p:childTnLst>
                        <p:par>
                          <p:cTn id="366" fill="hold">
                            <p:stCondLst>
                              <p:cond delay="0"/>
                            </p:stCondLst>
                            <p:childTnLst>
                              <p:par>
                                <p:cTn id="367" nodeType="clickEffect" fill="hold" presetClass="entr" presetID="1">
                                  <p:stCondLst>
                                    <p:cond delay="0"/>
                                  </p:stCondLst>
                                  <p:childTnLst>
                                    <p:set>
                                      <p:cBhvr>
                                        <p:cTn id="368" dur="1" fill="hold">
                                          <p:stCondLst>
                                            <p:cond delay="0"/>
                                          </p:stCondLst>
                                        </p:cTn>
                                        <p:tgtEl>
                                          <p:spTgt spid="337">
                                            <p:txEl>
                                              <p:pRg st="0" end="0"/>
                                            </p:txEl>
                                          </p:spTgt>
                                        </p:tgtEl>
                                        <p:attrNameLst>
                                          <p:attrName>style.visibility</p:attrName>
                                        </p:attrNameLst>
                                      </p:cBhvr>
                                      <p:to>
                                        <p:strVal val="visible"/>
                                      </p:to>
                                    </p:set>
                                  </p:childTnLst>
                                </p:cTn>
                              </p:par>
                            </p:childTnLst>
                          </p:cTn>
                        </p:par>
                      </p:childTnLst>
                    </p:cTn>
                  </p:par>
                  <p:par>
                    <p:cTn id="369" fill="hold">
                      <p:stCondLst>
                        <p:cond delay="indefinite"/>
                      </p:stCondLst>
                      <p:childTnLst>
                        <p:par>
                          <p:cTn id="370" fill="hold">
                            <p:stCondLst>
                              <p:cond delay="0"/>
                            </p:stCondLst>
                            <p:childTnLst>
                              <p:par>
                                <p:cTn id="371" nodeType="clickEffect" fill="hold" presetClass="entr" presetID="1">
                                  <p:stCondLst>
                                    <p:cond delay="0"/>
                                  </p:stCondLst>
                                  <p:childTnLst>
                                    <p:set>
                                      <p:cBhvr>
                                        <p:cTn id="372" dur="1" fill="hold">
                                          <p:stCondLst>
                                            <p:cond delay="0"/>
                                          </p:stCondLst>
                                        </p:cTn>
                                        <p:tgtEl>
                                          <p:spTgt spid="337">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Some Guidelines by MS 3 / n</a:t>
            </a:r>
            <a:endParaRPr b="0" lang="en-US" sz="2600" spc="-1" strike="noStrike">
              <a:solidFill>
                <a:srgbClr val="000000"/>
              </a:solidFill>
              <a:latin typeface="Arial"/>
            </a:endParaRPr>
          </a:p>
        </p:txBody>
      </p:sp>
      <p:sp>
        <p:nvSpPr>
          <p:cNvPr id="340"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1" lang="el" sz="1600" spc="-1" strike="noStrike">
                <a:solidFill>
                  <a:schemeClr val="accent1"/>
                </a:solidFill>
                <a:latin typeface="Lato"/>
                <a:ea typeface="Lato"/>
              </a:rPr>
              <a:t>Unique Field Names:</a:t>
            </a:r>
            <a:r>
              <a:rPr b="0" lang="el" sz="1600" spc="-1" strike="noStrike">
                <a:solidFill>
                  <a:schemeClr val="accent1"/>
                </a:solidFill>
                <a:latin typeface="Lato"/>
                <a:ea typeface="Lato"/>
              </a:rPr>
              <a:t> Be sure to differentiate between the field names in each Table. We can have a 'First Name' in our Patient Table and a 'First Name' in our Doctor Table but this can lead to confusion when we try to pull both Tables into one database object.</a:t>
            </a:r>
            <a:endParaRPr b="0" lang="en-US" sz="1600" spc="-1" strike="noStrike">
              <a:solidFill>
                <a:srgbClr val="000000"/>
              </a:solidFill>
              <a:latin typeface="Arial"/>
            </a:endParaRPr>
          </a:p>
          <a:p>
            <a:pPr marL="452520" indent="-326520">
              <a:lnSpc>
                <a:spcPct val="115000"/>
              </a:lnSpc>
              <a:buClr>
                <a:srgbClr val="595959"/>
              </a:buClr>
              <a:buFont typeface="Lato"/>
              <a:buChar char="●"/>
            </a:pPr>
            <a:r>
              <a:rPr b="1" lang="el" sz="1600" spc="-1" strike="noStrike">
                <a:solidFill>
                  <a:schemeClr val="accent1"/>
                </a:solidFill>
                <a:latin typeface="Lato"/>
                <a:ea typeface="Lato"/>
              </a:rPr>
              <a:t>No Calculated Fields:</a:t>
            </a:r>
            <a:r>
              <a:rPr b="0" lang="el" sz="1600" spc="-1" strike="noStrike">
                <a:solidFill>
                  <a:schemeClr val="accent1"/>
                </a:solidFill>
                <a:latin typeface="Lato"/>
                <a:ea typeface="Lato"/>
              </a:rPr>
              <a:t> In Microsoft Excel, we can perform our calculations on the same sheet as our data, but a Table in Access is stagnant data, it does not change unless you make it change. Access will let you create calculations in Queries, Forms and Reports. Newer versions of Access do have a Calculated field type for the table. This embeds a calculation in the record and is not always reflected in a data entry form.</a:t>
            </a:r>
            <a:endParaRPr b="0" lang="en-US" sz="1600" spc="-1" strike="noStrike">
              <a:solidFill>
                <a:srgbClr val="000000"/>
              </a:solidFill>
              <a:latin typeface="Arial"/>
            </a:endParaRPr>
          </a:p>
        </p:txBody>
      </p:sp>
      <p:sp>
        <p:nvSpPr>
          <p:cNvPr id="341" name="PlaceHolder 3"/>
          <p:cNvSpPr>
            <a:spLocks noGrp="1"/>
          </p:cNvSpPr>
          <p:nvPr>
            <p:ph type="sldNum" idx="3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296EF54-3A8F-47D5-A756-771F979AA757}" type="slidenum">
              <a:rPr b="0" lang="el" sz="1000" spc="-1" strike="noStrike">
                <a:solidFill>
                  <a:schemeClr val="accent1"/>
                </a:solidFill>
                <a:latin typeface="Lato"/>
                <a:ea typeface="Lato"/>
              </a:rPr>
              <a:t>25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73" dur="indefinite" restart="never" nodeType="tmRoot">
          <p:childTnLst>
            <p:seq>
              <p:cTn id="374" dur="indefinite" nodeType="mainSeq">
                <p:childTnLst>
                  <p:par>
                    <p:cTn id="375" fill="hold">
                      <p:stCondLst>
                        <p:cond delay="indefinite"/>
                      </p:stCondLst>
                      <p:childTnLst>
                        <p:par>
                          <p:cTn id="376" fill="hold">
                            <p:stCondLst>
                              <p:cond delay="0"/>
                            </p:stCondLst>
                            <p:childTnLst>
                              <p:par>
                                <p:cTn id="377" nodeType="clickEffect" fill="hold" presetClass="entr" presetID="1">
                                  <p:stCondLst>
                                    <p:cond delay="0"/>
                                  </p:stCondLst>
                                  <p:childTnLst>
                                    <p:set>
                                      <p:cBhvr>
                                        <p:cTn id="378" dur="1" fill="hold">
                                          <p:stCondLst>
                                            <p:cond delay="0"/>
                                          </p:stCondLst>
                                        </p:cTn>
                                        <p:tgtEl>
                                          <p:spTgt spid="340">
                                            <p:txEl>
                                              <p:pRg st="0" end="0"/>
                                            </p:txEl>
                                          </p:spTgt>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nodeType="clickEffect" fill="hold" presetClass="entr" presetID="1">
                                  <p:stCondLst>
                                    <p:cond delay="0"/>
                                  </p:stCondLst>
                                  <p:childTnLst>
                                    <p:set>
                                      <p:cBhvr>
                                        <p:cTn id="382" dur="1" fill="hold">
                                          <p:stCondLst>
                                            <p:cond delay="0"/>
                                          </p:stCondLst>
                                        </p:cTn>
                                        <p:tgtEl>
                                          <p:spTgt spid="340">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Some Guidelines by MS 4  / n</a:t>
            </a:r>
            <a:endParaRPr b="0" lang="en-US" sz="2600" spc="-1" strike="noStrike">
              <a:solidFill>
                <a:srgbClr val="000000"/>
              </a:solidFill>
              <a:latin typeface="Arial"/>
            </a:endParaRPr>
          </a:p>
        </p:txBody>
      </p:sp>
      <p:sp>
        <p:nvSpPr>
          <p:cNvPr id="34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Unique Records:</a:t>
            </a:r>
            <a:r>
              <a:rPr b="0" lang="el" sz="1600" spc="-1" strike="noStrike">
                <a:solidFill>
                  <a:schemeClr val="accent1"/>
                </a:solidFill>
                <a:latin typeface="Lato"/>
                <a:ea typeface="Lato"/>
              </a:rPr>
              <a:t> It's important that each Table has a way to keep records unique. We can do this by setting one field (column) to be a </a:t>
            </a:r>
            <a:r>
              <a:rPr b="1" lang="el" sz="1600" spc="-1" strike="noStrike">
                <a:solidFill>
                  <a:schemeClr val="accent1"/>
                </a:solidFill>
                <a:latin typeface="Lato"/>
                <a:ea typeface="Lato"/>
              </a:rPr>
              <a:t>Primary Key</a:t>
            </a:r>
            <a:r>
              <a:rPr b="0" lang="el" sz="1600" spc="-1" strike="noStrike">
                <a:solidFill>
                  <a:schemeClr val="accent1"/>
                </a:solidFill>
                <a:latin typeface="Lato"/>
                <a:ea typeface="Lato"/>
              </a:rPr>
              <a:t> field. When a field is set as a Primary Key, Access will not allow any duplication nor blanks. When there is not a unique field in your data set, you can use an AutoNumber. AutoNumbers are incremented or random fields that are always unique.</a:t>
            </a:r>
            <a:endParaRPr b="0" lang="en-US" sz="1600" spc="-1" strike="noStrike">
              <a:solidFill>
                <a:srgbClr val="000000"/>
              </a:solidFill>
              <a:latin typeface="Arial"/>
            </a:endParaRPr>
          </a:p>
        </p:txBody>
      </p:sp>
      <p:sp>
        <p:nvSpPr>
          <p:cNvPr id="344" name="PlaceHolder 3"/>
          <p:cNvSpPr>
            <a:spLocks noGrp="1"/>
          </p:cNvSpPr>
          <p:nvPr>
            <p:ph type="sldNum" idx="3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A2FB6DF-4F16-4FBE-AF34-3A849681D508}" type="slidenum">
              <a:rPr b="0" lang="el" sz="1000" spc="-1" strike="noStrike">
                <a:solidFill>
                  <a:schemeClr val="accent1"/>
                </a:solidFill>
                <a:latin typeface="Lato"/>
                <a:ea typeface="Lato"/>
              </a:rPr>
              <a:t>26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83" dur="indefinite" restart="never" nodeType="tmRoot">
          <p:childTnLst>
            <p:seq>
              <p:cTn id="384" dur="indefinite" nodeType="mainSeq">
                <p:childTnLst>
                  <p:par>
                    <p:cTn id="385" fill="hold">
                      <p:stCondLst>
                        <p:cond delay="indefinite"/>
                      </p:stCondLst>
                      <p:childTnLst>
                        <p:par>
                          <p:cTn id="386" fill="hold">
                            <p:stCondLst>
                              <p:cond delay="0"/>
                            </p:stCondLst>
                            <p:childTnLst>
                              <p:par>
                                <p:cTn id="387" nodeType="clickEffect" fill="hold" presetClass="entr" presetID="1">
                                  <p:stCondLst>
                                    <p:cond delay="0"/>
                                  </p:stCondLst>
                                  <p:childTnLst>
                                    <p:set>
                                      <p:cBhvr>
                                        <p:cTn id="388" dur="1" fill="hold">
                                          <p:stCondLst>
                                            <p:cond delay="0"/>
                                          </p:stCondLst>
                                        </p:cTn>
                                        <p:tgtEl>
                                          <p:spTgt spid="343">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Lab</a:t>
            </a:r>
            <a:endParaRPr b="0" lang="en-US" sz="2600" spc="-1" strike="noStrike">
              <a:solidFill>
                <a:srgbClr val="000000"/>
              </a:solidFill>
              <a:latin typeface="Arial"/>
            </a:endParaRPr>
          </a:p>
        </p:txBody>
      </p:sp>
      <p:sp>
        <p:nvSpPr>
          <p:cNvPr id="346"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Open:</a:t>
            </a:r>
            <a:endParaRPr b="0" lang="en-US" sz="1600" spc="-1" strike="noStrike">
              <a:solidFill>
                <a:srgbClr val="000000"/>
              </a:solidFill>
              <a:latin typeface="Arial"/>
            </a:endParaRPr>
          </a:p>
          <a:p>
            <a:pPr indent="0" algn="ctr">
              <a:lnSpc>
                <a:spcPct val="115000"/>
              </a:lnSpc>
              <a:spcBef>
                <a:spcPts val="1199"/>
              </a:spcBef>
              <a:buNone/>
              <a:tabLst>
                <a:tab algn="l" pos="0"/>
              </a:tabLst>
            </a:pPr>
            <a:r>
              <a:rPr b="0" lang="el" sz="1600" spc="-1" strike="noStrike">
                <a:solidFill>
                  <a:schemeClr val="accent1"/>
                </a:solidFill>
                <a:latin typeface="Consolas"/>
                <a:ea typeface="Consolas"/>
              </a:rPr>
              <a:t>./labs/Lab 13 - Introduction to Databases</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Lato"/>
                <a:ea typeface="Lato"/>
              </a:rPr>
              <a:t>and follow the instructions found there.</a:t>
            </a:r>
            <a:endParaRPr b="0" lang="en-US" sz="1600" spc="-1" strike="noStrike">
              <a:solidFill>
                <a:srgbClr val="000000"/>
              </a:solidFill>
              <a:latin typeface="Arial"/>
            </a:endParaRPr>
          </a:p>
          <a:p>
            <a:pPr indent="0">
              <a:lnSpc>
                <a:spcPct val="115000"/>
              </a:lnSpc>
              <a:spcBef>
                <a:spcPts val="1199"/>
              </a:spcBef>
              <a:buNone/>
              <a:tabLst>
                <a:tab algn="l" pos="0"/>
              </a:tabLst>
            </a:pPr>
            <a:r>
              <a:rPr b="0" lang="el" sz="1600" spc="-1" strike="noStrike">
                <a:solidFill>
                  <a:schemeClr val="accent1"/>
                </a:solidFill>
                <a:latin typeface="Lato"/>
                <a:ea typeface="Lato"/>
              </a:rPr>
              <a:t>Additional materials to help you get started can be found in:</a:t>
            </a:r>
            <a:endParaRPr b="0" lang="en-US" sz="1600" spc="-1" strike="noStrike">
              <a:solidFill>
                <a:srgbClr val="000000"/>
              </a:solidFill>
              <a:latin typeface="Arial"/>
            </a:endParaRPr>
          </a:p>
          <a:p>
            <a:pPr indent="0" algn="ctr">
              <a:lnSpc>
                <a:spcPct val="115000"/>
              </a:lnSpc>
              <a:spcBef>
                <a:spcPts val="1199"/>
              </a:spcBef>
              <a:spcAft>
                <a:spcPts val="1199"/>
              </a:spcAft>
              <a:buNone/>
              <a:tabLst>
                <a:tab algn="l" pos="0"/>
              </a:tabLst>
            </a:pPr>
            <a:r>
              <a:rPr b="0" lang="el" sz="1600" spc="-1" strike="noStrike">
                <a:solidFill>
                  <a:schemeClr val="accent1"/>
                </a:solidFill>
                <a:latin typeface="Consolas"/>
                <a:ea typeface="Consolas"/>
              </a:rPr>
              <a:t>./labs</a:t>
            </a:r>
            <a:endParaRPr b="0" lang="en-US" sz="1600" spc="-1" strike="noStrike">
              <a:solidFill>
                <a:srgbClr val="000000"/>
              </a:solidFill>
              <a:latin typeface="Arial"/>
            </a:endParaRPr>
          </a:p>
        </p:txBody>
      </p:sp>
      <p:sp>
        <p:nvSpPr>
          <p:cNvPr id="347" name="PlaceHolder 3"/>
          <p:cNvSpPr>
            <a:spLocks noGrp="1"/>
          </p:cNvSpPr>
          <p:nvPr>
            <p:ph type="sldNum" idx="3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40AC3A1-7575-4612-AB52-8E31357ACD4A}"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89" dur="indefinite" restart="never" nodeType="tmRoot">
          <p:childTnLst>
            <p:seq>
              <p:cTn id="390" dur="indefinite" nodeType="mainSeq">
                <p:childTnLst>
                  <p:par>
                    <p:cTn id="391" fill="hold">
                      <p:stCondLst>
                        <p:cond delay="indefinite"/>
                      </p:stCondLst>
                      <p:childTnLst>
                        <p:par>
                          <p:cTn id="392" fill="hold">
                            <p:stCondLst>
                              <p:cond delay="0"/>
                            </p:stCondLst>
                            <p:childTnLst>
                              <p:par>
                                <p:cTn id="393" nodeType="clickEffect" fill="hold" presetClass="entr" presetID="1">
                                  <p:stCondLst>
                                    <p:cond delay="0"/>
                                  </p:stCondLst>
                                  <p:childTnLst>
                                    <p:set>
                                      <p:cBhvr>
                                        <p:cTn id="394" dur="1" fill="hold">
                                          <p:stCondLst>
                                            <p:cond delay="0"/>
                                          </p:stCondLst>
                                        </p:cTn>
                                        <p:tgtEl>
                                          <p:spTgt spid="346">
                                            <p:txEl>
                                              <p:pRg st="0" end="0"/>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nodeType="clickEffect" fill="hold" presetClass="entr" presetID="1">
                                  <p:stCondLst>
                                    <p:cond delay="0"/>
                                  </p:stCondLst>
                                  <p:childTnLst>
                                    <p:set>
                                      <p:cBhvr>
                                        <p:cTn id="398" dur="1" fill="hold">
                                          <p:stCondLst>
                                            <p:cond delay="0"/>
                                          </p:stCondLst>
                                        </p:cTn>
                                        <p:tgtEl>
                                          <p:spTgt spid="346">
                                            <p:txEl>
                                              <p:pRg st="1" end="1"/>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nodeType="clickEffect" fill="hold" presetClass="entr" presetID="1">
                                  <p:stCondLst>
                                    <p:cond delay="0"/>
                                  </p:stCondLst>
                                  <p:childTnLst>
                                    <p:set>
                                      <p:cBhvr>
                                        <p:cTn id="402" dur="1" fill="hold">
                                          <p:stCondLst>
                                            <p:cond delay="0"/>
                                          </p:stCondLst>
                                        </p:cTn>
                                        <p:tgtEl>
                                          <p:spTgt spid="346">
                                            <p:txEl>
                                              <p:pRg st="2" end="2"/>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nodeType="clickEffect" fill="hold" presetClass="entr" presetID="1">
                                  <p:stCondLst>
                                    <p:cond delay="0"/>
                                  </p:stCondLst>
                                  <p:childTnLst>
                                    <p:set>
                                      <p:cBhvr>
                                        <p:cTn id="406" dur="1" fill="hold">
                                          <p:stCondLst>
                                            <p:cond delay="0"/>
                                          </p:stCondLst>
                                        </p:cTn>
                                        <p:tgtEl>
                                          <p:spTgt spid="346">
                                            <p:txEl>
                                              <p:pRg st="3" end="3"/>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nodeType="clickEffect" fill="hold" presetClass="entr" presetID="1">
                                  <p:stCondLst>
                                    <p:cond delay="0"/>
                                  </p:stCondLst>
                                  <p:childTnLst>
                                    <p:set>
                                      <p:cBhvr>
                                        <p:cTn id="410" dur="1" fill="hold">
                                          <p:stCondLst>
                                            <p:cond delay="0"/>
                                          </p:stCondLst>
                                        </p:cTn>
                                        <p:tgtEl>
                                          <p:spTgt spid="346">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349" name="PlaceHolder 2"/>
          <p:cNvSpPr>
            <a:spLocks noGrp="1"/>
          </p:cNvSpPr>
          <p:nvPr>
            <p:ph type="subTitle"/>
          </p:nvPr>
        </p:nvSpPr>
        <p:spPr>
          <a:xfrm>
            <a:off x="725040" y="3161520"/>
            <a:ext cx="3300480" cy="7585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Don’t forget to fill-in the questionnaire! (check right)</a:t>
            </a:r>
            <a:endParaRPr b="0" lang="en-US" sz="1600" spc="-1" strike="noStrike">
              <a:solidFill>
                <a:srgbClr val="000000"/>
              </a:solidFill>
              <a:latin typeface="Arial"/>
            </a:endParaRPr>
          </a:p>
        </p:txBody>
      </p:sp>
      <p:pic>
        <p:nvPicPr>
          <p:cNvPr id="350" name="Google Shape;312;p43" descr="">
            <a:hlinkClick r:id="rId1"/>
          </p:cNvPr>
          <p:cNvPicPr/>
          <p:nvPr/>
        </p:nvPicPr>
        <p:blipFill>
          <a:blip r:embed="rId2"/>
          <a:stretch/>
        </p:blipFill>
        <p:spPr>
          <a:xfrm>
            <a:off x="5457240" y="1143000"/>
            <a:ext cx="2857320" cy="2857320"/>
          </a:xfrm>
          <a:prstGeom prst="rect">
            <a:avLst/>
          </a:prstGeom>
          <a:ln w="0">
            <a:noFill/>
          </a:ln>
        </p:spPr>
      </p:pic>
      <p:sp>
        <p:nvSpPr>
          <p:cNvPr id="351" name="Google Shape;313;p43"/>
          <p:cNvSpPr/>
          <p:nvPr/>
        </p:nvSpPr>
        <p:spPr>
          <a:xfrm>
            <a:off x="4729320" y="4077360"/>
            <a:ext cx="4312440" cy="45828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l" sz="1600" spc="-1" strike="noStrike" u="sng">
                <a:solidFill>
                  <a:schemeClr val="hlink"/>
                </a:solidFill>
                <a:uFillTx/>
                <a:latin typeface="Consolas"/>
                <a:ea typeface="Consolas"/>
                <a:hlinkClick r:id="rId3"/>
              </a:rPr>
              <a:t>https://forms.gle/edpsrRjMWJwPtv3U9</a:t>
            </a:r>
            <a:endParaRPr b="0" lang="en-US" sz="1600" spc="-1" strike="noStrike">
              <a:solidFill>
                <a:srgbClr val="000000"/>
              </a:solidFill>
              <a:latin typeface="Arial"/>
            </a:endParaRPr>
          </a:p>
        </p:txBody>
      </p:sp>
      <p:sp>
        <p:nvSpPr>
          <p:cNvPr id="352" name="PlaceHolder 3"/>
          <p:cNvSpPr>
            <a:spLocks noGrp="1"/>
          </p:cNvSpPr>
          <p:nvPr>
            <p:ph type="sldNum" idx="3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7B08B582-2639-43BD-A0AC-A8FADB111AD1}"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2026-02-01T20:36:32Z</dcterms:modified>
  <cp:revision>2</cp:revision>
  <dc:subject/>
  <dc:title/>
</cp:coreProperties>
</file>