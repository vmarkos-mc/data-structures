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Raleway"/>
      <p:regular r:id="rId40"/>
      <p:bold r:id="rId41"/>
      <p:italic r:id="rId42"/>
      <p:boldItalic r:id="rId43"/>
    </p:embeddedFont>
    <p:embeddedFont>
      <p:font typeface="La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regular.fntdata"/><Relationship Id="rId20" Type="http://schemas.openxmlformats.org/officeDocument/2006/relationships/slide" Target="slides/slide15.xml"/><Relationship Id="rId42" Type="http://schemas.openxmlformats.org/officeDocument/2006/relationships/font" Target="fonts/Raleway-italic.fntdata"/><Relationship Id="rId41" Type="http://schemas.openxmlformats.org/officeDocument/2006/relationships/font" Target="fonts/Raleway-bold.fntdata"/><Relationship Id="rId22" Type="http://schemas.openxmlformats.org/officeDocument/2006/relationships/slide" Target="slides/slide17.xml"/><Relationship Id="rId44" Type="http://schemas.openxmlformats.org/officeDocument/2006/relationships/font" Target="fonts/Lato-regular.fntdata"/><Relationship Id="rId21" Type="http://schemas.openxmlformats.org/officeDocument/2006/relationships/slide" Target="slides/slide16.xml"/><Relationship Id="rId43" Type="http://schemas.openxmlformats.org/officeDocument/2006/relationships/font" Target="fonts/Raleway-boldItalic.fntdata"/><Relationship Id="rId24" Type="http://schemas.openxmlformats.org/officeDocument/2006/relationships/slide" Target="slides/slide19.xml"/><Relationship Id="rId46" Type="http://schemas.openxmlformats.org/officeDocument/2006/relationships/font" Target="fonts/Lato-italic.fntdata"/><Relationship Id="rId23" Type="http://schemas.openxmlformats.org/officeDocument/2006/relationships/slide" Target="slides/slide18.xml"/><Relationship Id="rId45"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Lat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69688a06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c69688a06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c69688a067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c69688a067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69688a067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c69688a067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c69688a067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c69688a067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c69688a067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c69688a067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c69688a067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c69688a067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c69688a067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c69688a067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c69688a067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c69688a067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c69688a067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c69688a067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c69688a067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c69688a067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c69688a067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c69688a067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c69688a067_1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c69688a067_1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c69688a067_1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c69688a067_1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c69688a067_1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c69688a067_1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c69688a067_1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c69688a067_1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c69688a067_1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c69688a067_1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2c69688a067_1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2c69688a067_1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c69688a067_1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c69688a067_1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c69688a067_1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c69688a067_1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2c69688a067_1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2c69688a067_1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2c69688a067_1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2c69688a067_1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c69688a067_1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c69688a067_1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2c69688a067_1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2c69688a067_1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c69688a067_1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2c69688a067_1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2c69688a067_1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2c69688a067_1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2c69688a067_1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2c69688a067_1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2c69688a067_1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2c69688a067_1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2c69688a067_1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2c69688a067_1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2c69688a067_1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2c69688a067_1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2c69688a067_1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2c69688a067_1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c69688a067_1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c69688a067_1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c69688a067_1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c69688a067_1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c69688a067_1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2c69688a067_1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0" name="Shape 10"/>
        <p:cNvGrpSpPr/>
        <p:nvPr/>
      </p:nvGrpSpPr>
      <p:grpSpPr>
        <a:xfrm>
          <a:off x="0" y="0"/>
          <a:ext cx="0" cy="0"/>
          <a:chOff x="0" y="0"/>
          <a:chExt cx="0" cy="0"/>
        </a:xfrm>
      </p:grpSpPr>
      <p:sp>
        <p:nvSpPr>
          <p:cNvPr id="11" name="Google Shape;11;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830392" y="1191256"/>
            <a:ext cx="745763" cy="45826"/>
            <a:chOff x="4580561" y="2589004"/>
            <a:chExt cx="1064464" cy="25200"/>
          </a:xfrm>
        </p:grpSpPr>
        <p:sp>
          <p:nvSpPr>
            <p:cNvPr id="13" name="Google Shape;13;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Font typeface="Lato"/>
              <a:buNone/>
              <a:defRPr sz="4200">
                <a:latin typeface="Lato"/>
                <a:ea typeface="Lato"/>
                <a:cs typeface="Lato"/>
                <a:sym typeface="Lato"/>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6" name="Google Shape;16;p2"/>
          <p:cNvSpPr txBox="1"/>
          <p:nvPr>
            <p:ph idx="1" type="subTitle"/>
          </p:nvPr>
        </p:nvSpPr>
        <p:spPr>
          <a:xfrm>
            <a:off x="729625" y="3172900"/>
            <a:ext cx="7688100" cy="738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7" name="Google Shape;17;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
        <p:nvSpPr>
          <p:cNvPr id="18" name="Google Shape;18;p2"/>
          <p:cNvSpPr txBox="1"/>
          <p:nvPr/>
        </p:nvSpPr>
        <p:spPr>
          <a:xfrm>
            <a:off x="6590950" y="3866975"/>
            <a:ext cx="19455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9" name="Google Shape;19;p2"/>
          <p:cNvSpPr txBox="1"/>
          <p:nvPr>
            <p:ph idx="2" type="subTitle"/>
          </p:nvPr>
        </p:nvSpPr>
        <p:spPr>
          <a:xfrm>
            <a:off x="6057025" y="3821800"/>
            <a:ext cx="2360700" cy="1121700"/>
          </a:xfrm>
          <a:prstGeom prst="rect">
            <a:avLst/>
          </a:prstGeom>
        </p:spPr>
        <p:txBody>
          <a:bodyPr anchorCtr="0" anchor="t" bIns="91425" lIns="91425" spcFirstLastPara="1" rIns="91425" wrap="square" tIns="91425">
            <a:normAutofit/>
          </a:bodyPr>
          <a:lstStyle>
            <a:lvl1pPr lvl="0" algn="r">
              <a:spcBef>
                <a:spcPts val="0"/>
              </a:spcBef>
              <a:spcAft>
                <a:spcPts val="0"/>
              </a:spcAft>
              <a:buSzPts val="1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0" name="Shape 20"/>
        <p:cNvGrpSpPr/>
        <p:nvPr/>
      </p:nvGrpSpPr>
      <p:grpSpPr>
        <a:xfrm>
          <a:off x="0" y="0"/>
          <a:ext cx="0" cy="0"/>
          <a:chOff x="0" y="0"/>
          <a:chExt cx="0" cy="0"/>
        </a:xfrm>
      </p:grpSpPr>
      <p:grpSp>
        <p:nvGrpSpPr>
          <p:cNvPr id="21" name="Google Shape;21;p3"/>
          <p:cNvGrpSpPr/>
          <p:nvPr/>
        </p:nvGrpSpPr>
        <p:grpSpPr>
          <a:xfrm>
            <a:off x="830392" y="1191256"/>
            <a:ext cx="745763" cy="45826"/>
            <a:chOff x="4580561" y="2589004"/>
            <a:chExt cx="1064464" cy="25200"/>
          </a:xfrm>
        </p:grpSpPr>
        <p:sp>
          <p:nvSpPr>
            <p:cNvPr id="22" name="Google Shape;22;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Font typeface="Lato"/>
              <a:buNone/>
              <a:defRPr sz="3600">
                <a:solidFill>
                  <a:schemeClr val="lt1"/>
                </a:solidFill>
                <a:latin typeface="Lato"/>
                <a:ea typeface="Lato"/>
                <a:cs typeface="Lato"/>
                <a:sym typeface="Lato"/>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5" name="Google Shape;25;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000">
              <a:solidFill>
                <a:srgbClr val="CCCCCC"/>
              </a:solidFill>
            </a:endParaRPr>
          </a:p>
        </p:txBody>
      </p:sp>
      <p:grpSp>
        <p:nvGrpSpPr>
          <p:cNvPr id="28" name="Google Shape;28;p4"/>
          <p:cNvGrpSpPr/>
          <p:nvPr/>
        </p:nvGrpSpPr>
        <p:grpSpPr>
          <a:xfrm>
            <a:off x="830392" y="1191256"/>
            <a:ext cx="745763" cy="45826"/>
            <a:chOff x="4580561" y="2589004"/>
            <a:chExt cx="1064464" cy="25200"/>
          </a:xfrm>
        </p:grpSpPr>
        <p:sp>
          <p:nvSpPr>
            <p:cNvPr id="29" name="Google Shape;29;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 name="Google Shape;31;p4"/>
          <p:cNvSpPr txBox="1"/>
          <p:nvPr>
            <p:ph type="title"/>
          </p:nvPr>
        </p:nvSpPr>
        <p:spPr>
          <a:xfrm>
            <a:off x="729450" y="571925"/>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Lato"/>
              <a:buNone/>
              <a:defRPr sz="2600">
                <a:latin typeface="Lato"/>
                <a:ea typeface="Lato"/>
                <a:cs typeface="Lato"/>
                <a:sym typeface="Lato"/>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2" name="Google Shape;32;p4"/>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3" name="Google Shape;33;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Εκτός ύλης">
  <p:cSld name="TITLE_AND_BODY_1">
    <p:bg>
      <p:bgPr>
        <a:solidFill>
          <a:schemeClr val="lt2"/>
        </a:solidFill>
      </p:bgPr>
    </p:bg>
    <p:spTree>
      <p:nvGrpSpPr>
        <p:cNvPr id="34" name="Shape 34"/>
        <p:cNvGrpSpPr/>
        <p:nvPr/>
      </p:nvGrpSpPr>
      <p:grpSpPr>
        <a:xfrm>
          <a:off x="0" y="0"/>
          <a:ext cx="0" cy="0"/>
          <a:chOff x="0" y="0"/>
          <a:chExt cx="0" cy="0"/>
        </a:xfrm>
      </p:grpSpPr>
      <p:sp>
        <p:nvSpPr>
          <p:cNvPr id="35" name="Google Shape;35;p5"/>
          <p:cNvSpPr/>
          <p:nvPr/>
        </p:nvSpPr>
        <p:spPr>
          <a:xfrm>
            <a:off x="0" y="0"/>
            <a:ext cx="9144000" cy="4878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l">
                <a:solidFill>
                  <a:schemeClr val="lt1"/>
                </a:solidFill>
              </a:rPr>
              <a:t>Not relevant for the assessment of the module!</a:t>
            </a:r>
            <a:endParaRPr b="1">
              <a:solidFill>
                <a:schemeClr val="lt1"/>
              </a:solidFill>
            </a:endParaRPr>
          </a:p>
        </p:txBody>
      </p:sp>
      <p:grpSp>
        <p:nvGrpSpPr>
          <p:cNvPr id="36" name="Google Shape;36;p5"/>
          <p:cNvGrpSpPr/>
          <p:nvPr/>
        </p:nvGrpSpPr>
        <p:grpSpPr>
          <a:xfrm>
            <a:off x="830392" y="1191256"/>
            <a:ext cx="745763" cy="45826"/>
            <a:chOff x="4580561" y="2589004"/>
            <a:chExt cx="1064464" cy="25200"/>
          </a:xfrm>
        </p:grpSpPr>
        <p:sp>
          <p:nvSpPr>
            <p:cNvPr id="37" name="Google Shape;37;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5"/>
          <p:cNvSpPr txBox="1"/>
          <p:nvPr>
            <p:ph type="title"/>
          </p:nvPr>
        </p:nvSpPr>
        <p:spPr>
          <a:xfrm>
            <a:off x="729450" y="571925"/>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Font typeface="Lato"/>
              <a:buNone/>
              <a:defRPr sz="2600">
                <a:latin typeface="Lato"/>
                <a:ea typeface="Lato"/>
                <a:cs typeface="Lato"/>
                <a:sym typeface="Lato"/>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40" name="Google Shape;40;p5"/>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41" name="Google Shape;41;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Προσοχή!">
  <p:cSld name="TITLE_AND_BODY_1_1">
    <p:bg>
      <p:bgPr>
        <a:solidFill>
          <a:schemeClr val="lt2"/>
        </a:solidFill>
      </p:bgPr>
    </p:bg>
    <p:spTree>
      <p:nvGrpSpPr>
        <p:cNvPr id="42" name="Shape 42"/>
        <p:cNvGrpSpPr/>
        <p:nvPr/>
      </p:nvGrpSpPr>
      <p:grpSpPr>
        <a:xfrm>
          <a:off x="0" y="0"/>
          <a:ext cx="0" cy="0"/>
          <a:chOff x="0" y="0"/>
          <a:chExt cx="0" cy="0"/>
        </a:xfrm>
      </p:grpSpPr>
      <p:sp>
        <p:nvSpPr>
          <p:cNvPr id="43" name="Google Shape;43;p6"/>
          <p:cNvSpPr/>
          <p:nvPr/>
        </p:nvSpPr>
        <p:spPr>
          <a:xfrm>
            <a:off x="0" y="0"/>
            <a:ext cx="9144000" cy="48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l">
                <a:solidFill>
                  <a:schemeClr val="lt1"/>
                </a:solidFill>
              </a:rPr>
              <a:t>Heads up!</a:t>
            </a:r>
            <a:endParaRPr b="1">
              <a:solidFill>
                <a:schemeClr val="lt1"/>
              </a:solidFill>
            </a:endParaRPr>
          </a:p>
        </p:txBody>
      </p:sp>
      <p:grpSp>
        <p:nvGrpSpPr>
          <p:cNvPr id="44" name="Google Shape;44;p6"/>
          <p:cNvGrpSpPr/>
          <p:nvPr/>
        </p:nvGrpSpPr>
        <p:grpSpPr>
          <a:xfrm>
            <a:off x="830392" y="1191256"/>
            <a:ext cx="745763" cy="45826"/>
            <a:chOff x="4580561" y="2589004"/>
            <a:chExt cx="1064464" cy="25200"/>
          </a:xfrm>
        </p:grpSpPr>
        <p:sp>
          <p:nvSpPr>
            <p:cNvPr id="45" name="Google Shape;45;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6"/>
          <p:cNvSpPr txBox="1"/>
          <p:nvPr>
            <p:ph type="title"/>
          </p:nvPr>
        </p:nvSpPr>
        <p:spPr>
          <a:xfrm>
            <a:off x="729450" y="571925"/>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Font typeface="Lato"/>
              <a:buNone/>
              <a:defRPr sz="2600">
                <a:latin typeface="Lato"/>
                <a:ea typeface="Lato"/>
                <a:cs typeface="Lato"/>
                <a:sym typeface="Lato"/>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48" name="Google Shape;48;p6"/>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49" name="Google Shape;49;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Προσοχή! 1">
  <p:cSld name="TITLE_AND_BODY_1_1_1">
    <p:bg>
      <p:bgPr>
        <a:solidFill>
          <a:schemeClr val="lt2"/>
        </a:solidFill>
      </p:bgPr>
    </p:bg>
    <p:spTree>
      <p:nvGrpSpPr>
        <p:cNvPr id="50" name="Shape 50"/>
        <p:cNvGrpSpPr/>
        <p:nvPr/>
      </p:nvGrpSpPr>
      <p:grpSpPr>
        <a:xfrm>
          <a:off x="0" y="0"/>
          <a:ext cx="0" cy="0"/>
          <a:chOff x="0" y="0"/>
          <a:chExt cx="0" cy="0"/>
        </a:xfrm>
      </p:grpSpPr>
      <p:sp>
        <p:nvSpPr>
          <p:cNvPr id="51" name="Google Shape;51;p7"/>
          <p:cNvSpPr/>
          <p:nvPr/>
        </p:nvSpPr>
        <p:spPr>
          <a:xfrm>
            <a:off x="0" y="0"/>
            <a:ext cx="9144000" cy="4878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l">
                <a:solidFill>
                  <a:schemeClr val="lt1"/>
                </a:solidFill>
              </a:rPr>
              <a:t>Quick Revision</a:t>
            </a:r>
            <a:endParaRPr b="1">
              <a:solidFill>
                <a:schemeClr val="lt1"/>
              </a:solidFill>
            </a:endParaRPr>
          </a:p>
        </p:txBody>
      </p:sp>
      <p:grpSp>
        <p:nvGrpSpPr>
          <p:cNvPr id="52" name="Google Shape;52;p7"/>
          <p:cNvGrpSpPr/>
          <p:nvPr/>
        </p:nvGrpSpPr>
        <p:grpSpPr>
          <a:xfrm>
            <a:off x="830392" y="1191256"/>
            <a:ext cx="745763" cy="45826"/>
            <a:chOff x="4580561" y="2589004"/>
            <a:chExt cx="1064464" cy="25200"/>
          </a:xfrm>
        </p:grpSpPr>
        <p:sp>
          <p:nvSpPr>
            <p:cNvPr id="53" name="Google Shape;53;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 name="Google Shape;55;p7"/>
          <p:cNvSpPr txBox="1"/>
          <p:nvPr>
            <p:ph type="title"/>
          </p:nvPr>
        </p:nvSpPr>
        <p:spPr>
          <a:xfrm>
            <a:off x="729450" y="571925"/>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Font typeface="Lato"/>
              <a:buNone/>
              <a:defRPr sz="2600">
                <a:latin typeface="Lato"/>
                <a:ea typeface="Lato"/>
                <a:cs typeface="Lato"/>
                <a:sym typeface="Lato"/>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56" name="Google Shape;56;p7"/>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57" name="Google Shape;57;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8" name="Shape 58"/>
        <p:cNvGrpSpPr/>
        <p:nvPr/>
      </p:nvGrpSpPr>
      <p:grpSpPr>
        <a:xfrm>
          <a:off x="0" y="0"/>
          <a:ext cx="0" cy="0"/>
          <a:chOff x="0" y="0"/>
          <a:chExt cx="0" cy="0"/>
        </a:xfrm>
      </p:grpSpPr>
      <p:sp>
        <p:nvSpPr>
          <p:cNvPr id="59" name="Google Shape;59;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 name="Google Shape;60;p8"/>
          <p:cNvGrpSpPr/>
          <p:nvPr/>
        </p:nvGrpSpPr>
        <p:grpSpPr>
          <a:xfrm>
            <a:off x="830392" y="1191256"/>
            <a:ext cx="745763" cy="45826"/>
            <a:chOff x="4580561" y="2589004"/>
            <a:chExt cx="1064464" cy="25200"/>
          </a:xfrm>
        </p:grpSpPr>
        <p:sp>
          <p:nvSpPr>
            <p:cNvPr id="61" name="Google Shape;61;p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8"/>
          <p:cNvSpPr txBox="1"/>
          <p:nvPr>
            <p:ph type="title"/>
          </p:nvPr>
        </p:nvSpPr>
        <p:spPr>
          <a:xfrm>
            <a:off x="727800" y="571925"/>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Lato"/>
              <a:buNone/>
              <a:defRPr sz="2600">
                <a:latin typeface="Lato"/>
                <a:ea typeface="Lato"/>
                <a:cs typeface="Lato"/>
                <a:sym typeface="Lato"/>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4" name="Google Shape;64;p8"/>
          <p:cNvSpPr txBox="1"/>
          <p:nvPr>
            <p:ph idx="1" type="body"/>
          </p:nvPr>
        </p:nvSpPr>
        <p:spPr>
          <a:xfrm>
            <a:off x="729325" y="1474150"/>
            <a:ext cx="3774300" cy="286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5" name="Google Shape;65;p8"/>
          <p:cNvSpPr txBox="1"/>
          <p:nvPr>
            <p:ph idx="2" type="body"/>
          </p:nvPr>
        </p:nvSpPr>
        <p:spPr>
          <a:xfrm>
            <a:off x="4643600" y="1474075"/>
            <a:ext cx="3774300" cy="286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6" name="Google Shape;66;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
        <p:nvSpPr>
          <p:cNvPr id="67" name="Google Shape;67;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000">
              <a:solidFill>
                <a:srgbClr val="CCCCCC"/>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9"/>
          <p:cNvGrpSpPr/>
          <p:nvPr/>
        </p:nvGrpSpPr>
        <p:grpSpPr>
          <a:xfrm>
            <a:off x="830392" y="1191256"/>
            <a:ext cx="745763" cy="45826"/>
            <a:chOff x="4580561" y="2589004"/>
            <a:chExt cx="1064464" cy="25200"/>
          </a:xfrm>
        </p:grpSpPr>
        <p:sp>
          <p:nvSpPr>
            <p:cNvPr id="71" name="Google Shape;71;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9"/>
          <p:cNvSpPr txBox="1"/>
          <p:nvPr>
            <p:ph type="title"/>
          </p:nvPr>
        </p:nvSpPr>
        <p:spPr>
          <a:xfrm>
            <a:off x="727800" y="571925"/>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Lato"/>
              <a:buNone/>
              <a:defRPr sz="2600">
                <a:latin typeface="Lato"/>
                <a:ea typeface="Lato"/>
                <a:cs typeface="Lato"/>
                <a:sym typeface="Lato"/>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4" name="Google Shape;74;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
        <p:nvSpPr>
          <p:cNvPr id="75" name="Google Shape;75;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000">
              <a:solidFill>
                <a:srgbClr val="CCCCCC"/>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10"/>
          <p:cNvGrpSpPr/>
          <p:nvPr/>
        </p:nvGrpSpPr>
        <p:grpSpPr>
          <a:xfrm>
            <a:off x="830392" y="1191256"/>
            <a:ext cx="745763" cy="45826"/>
            <a:chOff x="4580561" y="2589004"/>
            <a:chExt cx="1064464" cy="25200"/>
          </a:xfrm>
        </p:grpSpPr>
        <p:sp>
          <p:nvSpPr>
            <p:cNvPr id="79" name="Google Shape;79;p1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0"/>
          <p:cNvSpPr txBox="1"/>
          <p:nvPr>
            <p:ph type="title"/>
          </p:nvPr>
        </p:nvSpPr>
        <p:spPr>
          <a:xfrm>
            <a:off x="721225" y="523413"/>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Lato"/>
              <a:buNone/>
              <a:defRPr sz="2600">
                <a:latin typeface="Lato"/>
                <a:ea typeface="Lato"/>
                <a:cs typeface="Lato"/>
                <a:sym typeface="Lato"/>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82" name="Google Shape;82;p10"/>
          <p:cNvSpPr txBox="1"/>
          <p:nvPr>
            <p:ph idx="1" type="body"/>
          </p:nvPr>
        </p:nvSpPr>
        <p:spPr>
          <a:xfrm>
            <a:off x="721225" y="1452775"/>
            <a:ext cx="3300900" cy="2926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3" name="Google Shape;83;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
        <p:nvSpPr>
          <p:cNvPr id="84" name="Google Shape;84;p1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000">
              <a:solidFill>
                <a:srgbClr val="CCCCCC"/>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85" name="Shape 85"/>
        <p:cNvGrpSpPr/>
        <p:nvPr/>
      </p:nvGrpSpPr>
      <p:grpSpPr>
        <a:xfrm>
          <a:off x="0" y="0"/>
          <a:ext cx="0" cy="0"/>
          <a:chOff x="0" y="0"/>
          <a:chExt cx="0" cy="0"/>
        </a:xfrm>
      </p:grpSpPr>
      <p:grpSp>
        <p:nvGrpSpPr>
          <p:cNvPr id="86" name="Google Shape;86;p11"/>
          <p:cNvGrpSpPr/>
          <p:nvPr/>
        </p:nvGrpSpPr>
        <p:grpSpPr>
          <a:xfrm>
            <a:off x="830392" y="4169130"/>
            <a:ext cx="745763" cy="45826"/>
            <a:chOff x="4580561" y="2589004"/>
            <a:chExt cx="1064464" cy="25200"/>
          </a:xfrm>
        </p:grpSpPr>
        <p:sp>
          <p:nvSpPr>
            <p:cNvPr id="87" name="Google Shape;87;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11"/>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Font typeface="Lato"/>
              <a:buNone/>
              <a:defRPr sz="3600">
                <a:solidFill>
                  <a:schemeClr val="lt1"/>
                </a:solidFill>
                <a:latin typeface="Lato"/>
                <a:ea typeface="Lato"/>
                <a:cs typeface="Lato"/>
                <a:sym typeface="Lato"/>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0" name="Google Shape;90;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sp>
        <p:nvSpPr>
          <p:cNvPr id="92" name="Google Shape;92;p12"/>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 name="Google Shape;93;p12"/>
          <p:cNvGrpSpPr/>
          <p:nvPr/>
        </p:nvGrpSpPr>
        <p:grpSpPr>
          <a:xfrm>
            <a:off x="830392" y="1191256"/>
            <a:ext cx="745763" cy="45826"/>
            <a:chOff x="4580561" y="2589004"/>
            <a:chExt cx="1064464" cy="25200"/>
          </a:xfrm>
        </p:grpSpPr>
        <p:sp>
          <p:nvSpPr>
            <p:cNvPr id="94" name="Google Shape;94;p1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12"/>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Lato"/>
              <a:buNone/>
              <a:defRPr sz="2600">
                <a:latin typeface="Lato"/>
                <a:ea typeface="Lato"/>
                <a:cs typeface="Lato"/>
                <a:sym typeface="Lato"/>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97" name="Google Shape;97;p12"/>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8" name="Google Shape;98;p12"/>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sp>
        <p:nvSpPr>
          <p:cNvPr id="101" name="Google Shape;101;p13"/>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2" name="Google Shape;102;p1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03" name="Shape 103"/>
        <p:cNvGrpSpPr/>
        <p:nvPr/>
      </p:nvGrpSpPr>
      <p:grpSpPr>
        <a:xfrm>
          <a:off x="0" y="0"/>
          <a:ext cx="0" cy="0"/>
          <a:chOff x="0" y="0"/>
          <a:chExt cx="0" cy="0"/>
        </a:xfrm>
      </p:grpSpPr>
      <p:grpSp>
        <p:nvGrpSpPr>
          <p:cNvPr id="104" name="Google Shape;104;p14"/>
          <p:cNvGrpSpPr/>
          <p:nvPr/>
        </p:nvGrpSpPr>
        <p:grpSpPr>
          <a:xfrm>
            <a:off x="830392" y="4169130"/>
            <a:ext cx="745763" cy="45826"/>
            <a:chOff x="4580561" y="2589004"/>
            <a:chExt cx="1064464" cy="25200"/>
          </a:xfrm>
        </p:grpSpPr>
        <p:sp>
          <p:nvSpPr>
            <p:cNvPr id="105" name="Google Shape;105;p1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4"/>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Font typeface="Lato"/>
              <a:buNone/>
              <a:defRPr sz="8000">
                <a:solidFill>
                  <a:schemeClr val="lt1"/>
                </a:solidFill>
                <a:latin typeface="Lato"/>
                <a:ea typeface="Lato"/>
                <a:cs typeface="Lato"/>
                <a:sym typeface="Lato"/>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08" name="Google Shape;108;p14"/>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109" name="Google Shape;109;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0" name="Shape 110"/>
        <p:cNvGrpSpPr/>
        <p:nvPr/>
      </p:nvGrpSpPr>
      <p:grpSpPr>
        <a:xfrm>
          <a:off x="0" y="0"/>
          <a:ext cx="0" cy="0"/>
          <a:chOff x="0" y="0"/>
          <a:chExt cx="0" cy="0"/>
        </a:xfrm>
      </p:grpSpPr>
      <p:sp>
        <p:nvSpPr>
          <p:cNvPr id="111" name="Google Shape;111;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
        <p:nvSpPr>
          <p:cNvPr id="9" name="Google Shape;9;p1"/>
          <p:cNvSpPr txBox="1"/>
          <p:nvPr>
            <p:ph idx="2" type="title"/>
          </p:nvPr>
        </p:nvSpPr>
        <p:spPr>
          <a:xfrm>
            <a:off x="157325" y="41050"/>
            <a:ext cx="8927700" cy="393600"/>
          </a:xfrm>
          <a:prstGeom prst="rect">
            <a:avLst/>
          </a:prstGeom>
          <a:noFill/>
          <a:ln>
            <a:noFill/>
          </a:ln>
        </p:spPr>
        <p:txBody>
          <a:bodyPr anchorCtr="0" anchor="t" bIns="91425" lIns="91425" spcFirstLastPara="1" rIns="91425" wrap="square" tIns="91425">
            <a:noAutofit/>
          </a:bodyPr>
          <a:lstStyle>
            <a:lvl1pPr lvl="0" rtl="0" algn="r">
              <a:spcBef>
                <a:spcPts val="0"/>
              </a:spcBef>
              <a:spcAft>
                <a:spcPts val="0"/>
              </a:spcAft>
              <a:buClr>
                <a:srgbClr val="CCCCCC"/>
              </a:buClr>
              <a:buSzPts val="1000"/>
              <a:buFont typeface="Lato"/>
              <a:buNone/>
              <a:defRPr b="0" sz="1000">
                <a:solidFill>
                  <a:srgbClr val="CCCCCC"/>
                </a:solidFill>
                <a:latin typeface="Lato"/>
                <a:ea typeface="Lato"/>
                <a:cs typeface="Lato"/>
                <a:sym typeface="Lat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www.righto.com/2012/11/obama-on-sorting-1m-integers-bubble.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mailto:v.markos@mc-class.gr" TargetMode="External"/><Relationship Id="rId4" Type="http://schemas.openxmlformats.org/officeDocument/2006/relationships/image" Target="../media/image3.gif"/><Relationship Id="rId5" Type="http://schemas.openxmlformats.org/officeDocument/2006/relationships/hyperlink" Target="https://en.wikipedia.org/wiki/Quicksor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hyperlink" Target="https://forms.gle/zezKMVzhaT4xyJgk8" TargetMode="External"/><Relationship Id="rId4" Type="http://schemas.openxmlformats.org/officeDocument/2006/relationships/hyperlink" Target="https://forms.gle/zezKMVzhaT4xyJgk8" TargetMode="External"/><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Computer Systems, Data Structures &amp; Data Management</a:t>
            </a:r>
            <a:endParaRPr/>
          </a:p>
        </p:txBody>
      </p:sp>
      <p:sp>
        <p:nvSpPr>
          <p:cNvPr id="117" name="Google Shape;117;p16"/>
          <p:cNvSpPr txBox="1"/>
          <p:nvPr>
            <p:ph idx="1" type="subTitle"/>
          </p:nvPr>
        </p:nvSpPr>
        <p:spPr>
          <a:xfrm>
            <a:off x="729625" y="3172900"/>
            <a:ext cx="7688100" cy="73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Markos Vassilis</a:t>
            </a:r>
            <a:br>
              <a:rPr lang="el"/>
            </a:br>
            <a:r>
              <a:rPr lang="el"/>
              <a:t>Mediterranean College, Spring 2024-2025</a:t>
            </a:r>
            <a:endParaRPr/>
          </a:p>
        </p:txBody>
      </p:sp>
      <p:sp>
        <p:nvSpPr>
          <p:cNvPr id="118" name="Google Shape;118;p16"/>
          <p:cNvSpPr txBox="1"/>
          <p:nvPr/>
        </p:nvSpPr>
        <p:spPr>
          <a:xfrm>
            <a:off x="6029600" y="4001275"/>
            <a:ext cx="2388000" cy="616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t/>
            </a:r>
            <a:endParaRPr>
              <a:solidFill>
                <a:schemeClr val="accent1"/>
              </a:solidFill>
              <a:latin typeface="Lato"/>
              <a:ea typeface="Lato"/>
              <a:cs typeface="Lato"/>
              <a:sym typeface="Lato"/>
            </a:endParaRPr>
          </a:p>
        </p:txBody>
      </p:sp>
      <p:sp>
        <p:nvSpPr>
          <p:cNvPr id="119" name="Google Shape;119;p16"/>
          <p:cNvSpPr txBox="1"/>
          <p:nvPr>
            <p:ph idx="2" type="subTitle"/>
          </p:nvPr>
        </p:nvSpPr>
        <p:spPr>
          <a:xfrm>
            <a:off x="6057025" y="3821800"/>
            <a:ext cx="2360700" cy="11217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l"/>
              <a:t>Week 18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O(n) Revisited</a:t>
            </a:r>
            <a:endParaRPr/>
          </a:p>
        </p:txBody>
      </p:sp>
      <p:sp>
        <p:nvSpPr>
          <p:cNvPr id="125" name="Google Shape;125;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Warm up</a:t>
            </a:r>
            <a:endParaRPr/>
          </a:p>
        </p:txBody>
      </p:sp>
      <p:sp>
        <p:nvSpPr>
          <p:cNvPr id="131" name="Google Shape;131;p18"/>
          <p:cNvSpPr txBox="1"/>
          <p:nvPr>
            <p:ph idx="1" type="body"/>
          </p:nvPr>
        </p:nvSpPr>
        <p:spPr>
          <a:xfrm>
            <a:off x="729450" y="1378000"/>
            <a:ext cx="7688700" cy="376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Right or wrong?</a:t>
            </a:r>
            <a:endParaRPr/>
          </a:p>
          <a:p>
            <a:pPr indent="-330200" lvl="0" marL="457200" rtl="0" algn="l">
              <a:spcBef>
                <a:spcPts val="1200"/>
              </a:spcBef>
              <a:spcAft>
                <a:spcPts val="0"/>
              </a:spcAft>
              <a:buSzPts val="1600"/>
              <a:buChar char="●"/>
            </a:pPr>
            <a:r>
              <a:rPr lang="el"/>
              <a:t>f(n) = n^2 + 6 * n is O(n).</a:t>
            </a:r>
            <a:endParaRPr/>
          </a:p>
          <a:p>
            <a:pPr indent="-330200" lvl="1" marL="914400" rtl="0" algn="l">
              <a:spcBef>
                <a:spcPts val="0"/>
              </a:spcBef>
              <a:spcAft>
                <a:spcPts val="0"/>
              </a:spcAft>
              <a:buSzPts val="1600"/>
              <a:buChar char="○"/>
            </a:pPr>
            <a:r>
              <a:rPr lang="el"/>
              <a:t>Wrong!</a:t>
            </a:r>
            <a:endParaRPr/>
          </a:p>
          <a:p>
            <a:pPr indent="-330200" lvl="0" marL="457200" rtl="0" algn="l">
              <a:spcBef>
                <a:spcPts val="0"/>
              </a:spcBef>
              <a:spcAft>
                <a:spcPts val="0"/>
              </a:spcAft>
              <a:buSzPts val="1600"/>
              <a:buChar char="●"/>
            </a:pPr>
            <a:r>
              <a:rPr lang="el"/>
              <a:t>f(n) = n^2 + 6 * n is O(n^2).</a:t>
            </a:r>
            <a:endParaRPr/>
          </a:p>
          <a:p>
            <a:pPr indent="-330200" lvl="1" marL="914400" rtl="0" algn="l">
              <a:spcBef>
                <a:spcPts val="0"/>
              </a:spcBef>
              <a:spcAft>
                <a:spcPts val="0"/>
              </a:spcAft>
              <a:buSzPts val="1600"/>
              <a:buChar char="○"/>
            </a:pPr>
            <a:r>
              <a:rPr lang="el"/>
              <a:t>Right!</a:t>
            </a:r>
            <a:endParaRPr/>
          </a:p>
          <a:p>
            <a:pPr indent="-330200" lvl="0" marL="457200" rtl="0" algn="l">
              <a:spcBef>
                <a:spcPts val="0"/>
              </a:spcBef>
              <a:spcAft>
                <a:spcPts val="0"/>
              </a:spcAft>
              <a:buSzPts val="1600"/>
              <a:buChar char="●"/>
            </a:pPr>
            <a:r>
              <a:rPr lang="el"/>
              <a:t>f(n) = n^2 + 6 * n is O(n^4).</a:t>
            </a:r>
            <a:endParaRPr/>
          </a:p>
          <a:p>
            <a:pPr indent="-330200" lvl="1" marL="914400" rtl="0" algn="l">
              <a:spcBef>
                <a:spcPts val="0"/>
              </a:spcBef>
              <a:spcAft>
                <a:spcPts val="0"/>
              </a:spcAft>
              <a:buSzPts val="1600"/>
              <a:buChar char="○"/>
            </a:pPr>
            <a:r>
              <a:rPr lang="el"/>
              <a:t>Right!</a:t>
            </a:r>
            <a:endParaRPr/>
          </a:p>
          <a:p>
            <a:pPr indent="-330200" lvl="0" marL="457200" rtl="0" algn="l">
              <a:spcBef>
                <a:spcPts val="0"/>
              </a:spcBef>
              <a:spcAft>
                <a:spcPts val="0"/>
              </a:spcAft>
              <a:buSzPts val="1600"/>
              <a:buChar char="●"/>
            </a:pPr>
            <a:r>
              <a:rPr lang="el"/>
              <a:t>f(n) = n^2 + 6 * n is O(2^n).</a:t>
            </a:r>
            <a:endParaRPr/>
          </a:p>
          <a:p>
            <a:pPr indent="-330200" lvl="1" marL="914400" rtl="0" algn="l">
              <a:spcBef>
                <a:spcPts val="0"/>
              </a:spcBef>
              <a:spcAft>
                <a:spcPts val="0"/>
              </a:spcAft>
              <a:buSzPts val="1600"/>
              <a:buChar char="○"/>
            </a:pPr>
            <a:r>
              <a:rPr lang="el"/>
              <a:t>Right!</a:t>
            </a:r>
            <a:endParaRPr/>
          </a:p>
          <a:p>
            <a:pPr indent="-330200" lvl="0" marL="457200" rtl="0" algn="l">
              <a:spcBef>
                <a:spcPts val="0"/>
              </a:spcBef>
              <a:spcAft>
                <a:spcPts val="0"/>
              </a:spcAft>
              <a:buSzPts val="1600"/>
              <a:buChar char="●"/>
            </a:pPr>
            <a:r>
              <a:rPr lang="el"/>
              <a:t>f(n) = n^2 + 6 * n is O(log(n)).</a:t>
            </a:r>
            <a:endParaRPr/>
          </a:p>
          <a:p>
            <a:pPr indent="-330200" lvl="1" marL="914400" rtl="0" algn="l">
              <a:spcBef>
                <a:spcPts val="0"/>
              </a:spcBef>
              <a:spcAft>
                <a:spcPts val="0"/>
              </a:spcAft>
              <a:buSzPts val="1600"/>
              <a:buChar char="○"/>
            </a:pPr>
            <a:r>
              <a:rPr lang="el"/>
              <a:t>Wrong!</a:t>
            </a:r>
            <a:endParaRPr/>
          </a:p>
        </p:txBody>
      </p:sp>
      <p:sp>
        <p:nvSpPr>
          <p:cNvPr id="132" name="Google Shape;132;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(Reminder) A rule of thumb</a:t>
            </a:r>
            <a:endParaRPr/>
          </a:p>
        </p:txBody>
      </p:sp>
      <p:sp>
        <p:nvSpPr>
          <p:cNvPr id="138" name="Google Shape;138;p19"/>
          <p:cNvSpPr txBox="1"/>
          <p:nvPr>
            <p:ph idx="1" type="body"/>
          </p:nvPr>
        </p:nvSpPr>
        <p:spPr>
          <a:xfrm>
            <a:off x="729450" y="1378000"/>
            <a:ext cx="7688700" cy="37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Some of the most popular complexity classes, ordered in increasing complexity (i.e., every function f(n) is O(g(n)) for any g(n) below f(n)):</a:t>
            </a:r>
            <a:endParaRPr/>
          </a:p>
          <a:p>
            <a:pPr indent="-330200" lvl="0" marL="457200" rtl="0" algn="l">
              <a:spcBef>
                <a:spcPts val="1200"/>
              </a:spcBef>
              <a:spcAft>
                <a:spcPts val="0"/>
              </a:spcAft>
              <a:buSzPts val="1600"/>
              <a:buChar char="●"/>
            </a:pPr>
            <a:r>
              <a:rPr lang="el"/>
              <a:t>f(n) = 1</a:t>
            </a:r>
            <a:endParaRPr/>
          </a:p>
          <a:p>
            <a:pPr indent="-330200" lvl="0" marL="457200" rtl="0" algn="l">
              <a:spcBef>
                <a:spcPts val="0"/>
              </a:spcBef>
              <a:spcAft>
                <a:spcPts val="0"/>
              </a:spcAft>
              <a:buSzPts val="1600"/>
              <a:buChar char="●"/>
            </a:pPr>
            <a:r>
              <a:rPr lang="el"/>
              <a:t>f(n) = log(n)</a:t>
            </a:r>
            <a:endParaRPr/>
          </a:p>
          <a:p>
            <a:pPr indent="-330200" lvl="0" marL="457200" rtl="0" algn="l">
              <a:spcBef>
                <a:spcPts val="0"/>
              </a:spcBef>
              <a:spcAft>
                <a:spcPts val="0"/>
              </a:spcAft>
              <a:buSzPts val="1600"/>
              <a:buChar char="●"/>
            </a:pPr>
            <a:r>
              <a:rPr lang="el"/>
              <a:t>f(n) = sqrt(n)</a:t>
            </a:r>
            <a:endParaRPr/>
          </a:p>
          <a:p>
            <a:pPr indent="-330200" lvl="0" marL="457200" rtl="0" algn="l">
              <a:spcBef>
                <a:spcPts val="0"/>
              </a:spcBef>
              <a:spcAft>
                <a:spcPts val="0"/>
              </a:spcAft>
              <a:buSzPts val="1600"/>
              <a:buChar char="●"/>
            </a:pPr>
            <a:r>
              <a:rPr lang="el"/>
              <a:t>f(n) = n</a:t>
            </a:r>
            <a:endParaRPr/>
          </a:p>
          <a:p>
            <a:pPr indent="-330200" lvl="0" marL="457200" rtl="0" algn="l">
              <a:spcBef>
                <a:spcPts val="0"/>
              </a:spcBef>
              <a:spcAft>
                <a:spcPts val="0"/>
              </a:spcAft>
              <a:buSzPts val="1600"/>
              <a:buChar char="●"/>
            </a:pPr>
            <a:r>
              <a:rPr lang="el"/>
              <a:t>f(n) = nlog(n)</a:t>
            </a:r>
            <a:endParaRPr/>
          </a:p>
          <a:p>
            <a:pPr indent="-330200" lvl="0" marL="457200" rtl="0" algn="l">
              <a:spcBef>
                <a:spcPts val="0"/>
              </a:spcBef>
              <a:spcAft>
                <a:spcPts val="0"/>
              </a:spcAft>
              <a:buSzPts val="1600"/>
              <a:buChar char="●"/>
            </a:pPr>
            <a:r>
              <a:rPr lang="el"/>
              <a:t>f(n) = n^2</a:t>
            </a:r>
            <a:endParaRPr/>
          </a:p>
          <a:p>
            <a:pPr indent="-330200" lvl="0" marL="457200" rtl="0" algn="l">
              <a:spcBef>
                <a:spcPts val="0"/>
              </a:spcBef>
              <a:spcAft>
                <a:spcPts val="0"/>
              </a:spcAft>
              <a:buSzPts val="1600"/>
              <a:buChar char="●"/>
            </a:pPr>
            <a:r>
              <a:rPr lang="el"/>
              <a:t>f(n) = n^3</a:t>
            </a:r>
            <a:endParaRPr/>
          </a:p>
          <a:p>
            <a:pPr indent="-330200" lvl="0" marL="457200" rtl="0" algn="l">
              <a:spcBef>
                <a:spcPts val="0"/>
              </a:spcBef>
              <a:spcAft>
                <a:spcPts val="0"/>
              </a:spcAft>
              <a:buSzPts val="1600"/>
              <a:buChar char="●"/>
            </a:pPr>
            <a:r>
              <a:rPr lang="el"/>
              <a:t>f(n) = 2^n</a:t>
            </a:r>
            <a:endParaRPr/>
          </a:p>
          <a:p>
            <a:pPr indent="-330200" lvl="0" marL="457200" rtl="0" algn="l">
              <a:spcBef>
                <a:spcPts val="0"/>
              </a:spcBef>
              <a:spcAft>
                <a:spcPts val="0"/>
              </a:spcAft>
              <a:buSzPts val="1600"/>
              <a:buChar char="●"/>
            </a:pPr>
            <a:r>
              <a:rPr lang="el"/>
              <a:t>f(n) = n!</a:t>
            </a:r>
            <a:endParaRPr/>
          </a:p>
          <a:p>
            <a:pPr indent="-330200" lvl="0" marL="457200" rtl="0" algn="l">
              <a:spcBef>
                <a:spcPts val="0"/>
              </a:spcBef>
              <a:spcAft>
                <a:spcPts val="0"/>
              </a:spcAft>
              <a:buSzPts val="1600"/>
              <a:buChar char="●"/>
            </a:pPr>
            <a:r>
              <a:rPr lang="el"/>
              <a:t>f(n) = n^n</a:t>
            </a:r>
            <a:endParaRPr/>
          </a:p>
        </p:txBody>
      </p:sp>
      <p:sp>
        <p:nvSpPr>
          <p:cNvPr id="139" name="Google Shape;139;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Exercise</a:t>
            </a:r>
            <a:endParaRPr/>
          </a:p>
        </p:txBody>
      </p:sp>
      <p:sp>
        <p:nvSpPr>
          <p:cNvPr id="145" name="Google Shape;145;p20"/>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What is the (asymptotic) worst-case computational complexity of the following algorithm for an input list, a, of size n?</a:t>
            </a:r>
            <a:endParaRPr/>
          </a:p>
          <a:p>
            <a:pPr indent="0" lvl="0" marL="0" rtl="0" algn="l">
              <a:spcBef>
                <a:spcPts val="1200"/>
              </a:spcBef>
              <a:spcAft>
                <a:spcPts val="0"/>
              </a:spcAft>
              <a:buNone/>
            </a:pPr>
            <a:r>
              <a:rPr lang="el">
                <a:latin typeface="Consolas"/>
                <a:ea typeface="Consolas"/>
                <a:cs typeface="Consolas"/>
                <a:sym typeface="Consolas"/>
              </a:rPr>
              <a:t>for each x in a:</a:t>
            </a:r>
            <a:br>
              <a:rPr lang="el">
                <a:latin typeface="Consolas"/>
                <a:ea typeface="Consolas"/>
                <a:cs typeface="Consolas"/>
                <a:sym typeface="Consolas"/>
              </a:rPr>
            </a:br>
            <a:r>
              <a:rPr lang="el">
                <a:latin typeface="Consolas"/>
                <a:ea typeface="Consolas"/>
                <a:cs typeface="Consolas"/>
                <a:sym typeface="Consolas"/>
              </a:rPr>
              <a:t>	if x is odd:</a:t>
            </a:r>
            <a:br>
              <a:rPr lang="el">
                <a:latin typeface="Consolas"/>
                <a:ea typeface="Consolas"/>
                <a:cs typeface="Consolas"/>
                <a:sym typeface="Consolas"/>
              </a:rPr>
            </a:br>
            <a:r>
              <a:rPr lang="el">
                <a:latin typeface="Consolas"/>
                <a:ea typeface="Consolas"/>
                <a:cs typeface="Consolas"/>
                <a:sym typeface="Consolas"/>
              </a:rPr>
              <a:t>		print(“Odd”)</a:t>
            </a:r>
            <a:br>
              <a:rPr lang="el">
                <a:latin typeface="Consolas"/>
                <a:ea typeface="Consolas"/>
                <a:cs typeface="Consolas"/>
                <a:sym typeface="Consolas"/>
              </a:rPr>
            </a:br>
            <a:r>
              <a:rPr lang="el">
                <a:latin typeface="Consolas"/>
                <a:ea typeface="Consolas"/>
                <a:cs typeface="Consolas"/>
                <a:sym typeface="Consolas"/>
              </a:rPr>
              <a:t>	else:</a:t>
            </a:r>
            <a:br>
              <a:rPr lang="el">
                <a:latin typeface="Consolas"/>
                <a:ea typeface="Consolas"/>
                <a:cs typeface="Consolas"/>
                <a:sym typeface="Consolas"/>
              </a:rPr>
            </a:br>
            <a:r>
              <a:rPr lang="el">
                <a:latin typeface="Consolas"/>
                <a:ea typeface="Consolas"/>
                <a:cs typeface="Consolas"/>
                <a:sym typeface="Consolas"/>
              </a:rPr>
              <a:t>		print(“Even”)</a:t>
            </a:r>
            <a:endParaRPr>
              <a:latin typeface="Consolas"/>
              <a:ea typeface="Consolas"/>
              <a:cs typeface="Consolas"/>
              <a:sym typeface="Consolas"/>
            </a:endParaRPr>
          </a:p>
          <a:p>
            <a:pPr indent="0" lvl="0" marL="0" rtl="0" algn="l">
              <a:spcBef>
                <a:spcPts val="1200"/>
              </a:spcBef>
              <a:spcAft>
                <a:spcPts val="1200"/>
              </a:spcAft>
              <a:buNone/>
            </a:pPr>
            <a:r>
              <a:rPr b="1" lang="el"/>
              <a:t>Answer:</a:t>
            </a:r>
            <a:r>
              <a:rPr lang="el"/>
              <a:t> O(n), since we access each of its elements just once.</a:t>
            </a:r>
            <a:endParaRPr/>
          </a:p>
        </p:txBody>
      </p:sp>
      <p:sp>
        <p:nvSpPr>
          <p:cNvPr id="146" name="Google Shape;146;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Exercise</a:t>
            </a:r>
            <a:endParaRPr/>
          </a:p>
        </p:txBody>
      </p:sp>
      <p:sp>
        <p:nvSpPr>
          <p:cNvPr id="152" name="Google Shape;152;p21"/>
          <p:cNvSpPr txBox="1"/>
          <p:nvPr>
            <p:ph idx="1" type="body"/>
          </p:nvPr>
        </p:nvSpPr>
        <p:spPr>
          <a:xfrm>
            <a:off x="729450" y="1378000"/>
            <a:ext cx="7688700" cy="37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What is the (asymptotic) worst-case computational complexity of the following algorithm for an input list, a, of size n?</a:t>
            </a:r>
            <a:endParaRPr/>
          </a:p>
          <a:p>
            <a:pPr indent="0" lvl="0" marL="0" rtl="0" algn="l">
              <a:spcBef>
                <a:spcPts val="1200"/>
              </a:spcBef>
              <a:spcAft>
                <a:spcPts val="0"/>
              </a:spcAft>
              <a:buNone/>
            </a:pPr>
            <a:r>
              <a:rPr lang="el">
                <a:latin typeface="Consolas"/>
                <a:ea typeface="Consolas"/>
                <a:cs typeface="Consolas"/>
                <a:sym typeface="Consolas"/>
              </a:rPr>
              <a:t>read x from user</a:t>
            </a:r>
            <a:br>
              <a:rPr lang="el">
                <a:latin typeface="Consolas"/>
                <a:ea typeface="Consolas"/>
                <a:cs typeface="Consolas"/>
                <a:sym typeface="Consolas"/>
              </a:rPr>
            </a:br>
            <a:r>
              <a:rPr lang="el">
                <a:latin typeface="Consolas"/>
                <a:ea typeface="Consolas"/>
                <a:cs typeface="Consolas"/>
                <a:sym typeface="Consolas"/>
              </a:rPr>
              <a:t>for each y in a:</a:t>
            </a:r>
            <a:br>
              <a:rPr lang="el">
                <a:latin typeface="Consolas"/>
                <a:ea typeface="Consolas"/>
                <a:cs typeface="Consolas"/>
                <a:sym typeface="Consolas"/>
              </a:rPr>
            </a:br>
            <a:r>
              <a:rPr lang="el">
                <a:latin typeface="Consolas"/>
                <a:ea typeface="Consolas"/>
                <a:cs typeface="Consolas"/>
                <a:sym typeface="Consolas"/>
              </a:rPr>
              <a:t>	if x == y:</a:t>
            </a:r>
            <a:br>
              <a:rPr lang="el">
                <a:latin typeface="Consolas"/>
                <a:ea typeface="Consolas"/>
                <a:cs typeface="Consolas"/>
                <a:sym typeface="Consolas"/>
              </a:rPr>
            </a:br>
            <a:r>
              <a:rPr lang="el">
                <a:latin typeface="Consolas"/>
                <a:ea typeface="Consolas"/>
                <a:cs typeface="Consolas"/>
                <a:sym typeface="Consolas"/>
              </a:rPr>
              <a:t>		print(“Found!”)</a:t>
            </a:r>
            <a:br>
              <a:rPr lang="el">
                <a:latin typeface="Consolas"/>
                <a:ea typeface="Consolas"/>
                <a:cs typeface="Consolas"/>
                <a:sym typeface="Consolas"/>
              </a:rPr>
            </a:br>
            <a:r>
              <a:rPr lang="el">
                <a:latin typeface="Consolas"/>
                <a:ea typeface="Consolas"/>
                <a:cs typeface="Consolas"/>
                <a:sym typeface="Consolas"/>
              </a:rPr>
              <a:t>		return</a:t>
            </a:r>
            <a:br>
              <a:rPr lang="el">
                <a:latin typeface="Consolas"/>
                <a:ea typeface="Consolas"/>
                <a:cs typeface="Consolas"/>
                <a:sym typeface="Consolas"/>
              </a:rPr>
            </a:br>
            <a:r>
              <a:rPr lang="el">
                <a:latin typeface="Consolas"/>
                <a:ea typeface="Consolas"/>
                <a:cs typeface="Consolas"/>
                <a:sym typeface="Consolas"/>
              </a:rPr>
              <a:t>print(“Not found!”)</a:t>
            </a:r>
            <a:br>
              <a:rPr lang="el">
                <a:latin typeface="Consolas"/>
                <a:ea typeface="Consolas"/>
                <a:cs typeface="Consolas"/>
                <a:sym typeface="Consolas"/>
              </a:rPr>
            </a:br>
            <a:r>
              <a:rPr lang="el">
                <a:latin typeface="Consolas"/>
                <a:ea typeface="Consolas"/>
                <a:cs typeface="Consolas"/>
                <a:sym typeface="Consolas"/>
              </a:rPr>
              <a:t>return</a:t>
            </a:r>
            <a:endParaRPr>
              <a:latin typeface="Consolas"/>
              <a:ea typeface="Consolas"/>
              <a:cs typeface="Consolas"/>
              <a:sym typeface="Consolas"/>
            </a:endParaRPr>
          </a:p>
          <a:p>
            <a:pPr indent="0" lvl="0" marL="0" rtl="0" algn="l">
              <a:spcBef>
                <a:spcPts val="1200"/>
              </a:spcBef>
              <a:spcAft>
                <a:spcPts val="1200"/>
              </a:spcAft>
              <a:buNone/>
            </a:pPr>
            <a:r>
              <a:rPr b="1" lang="el"/>
              <a:t>Answer:</a:t>
            </a:r>
            <a:r>
              <a:rPr lang="el"/>
              <a:t> O(n), since we access each of its elements just once in the worst case, which is that the element we have to look for (x) is either last or does not exist in a.</a:t>
            </a:r>
            <a:endParaRPr/>
          </a:p>
        </p:txBody>
      </p:sp>
      <p:sp>
        <p:nvSpPr>
          <p:cNvPr id="153" name="Google Shape;153;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Sorting (Revisited)</a:t>
            </a:r>
            <a:endParaRPr/>
          </a:p>
        </p:txBody>
      </p:sp>
      <p:sp>
        <p:nvSpPr>
          <p:cNvPr id="159" name="Google Shape;159;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Sorting</a:t>
            </a:r>
            <a:endParaRPr/>
          </a:p>
        </p:txBody>
      </p:sp>
      <p:sp>
        <p:nvSpPr>
          <p:cNvPr id="165" name="Google Shape;165;p23"/>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l"/>
              <a:t>It is nice to have things in place. Consider the following array:</a:t>
            </a:r>
            <a:endParaRPr/>
          </a:p>
          <a:p>
            <a:pPr indent="0" lvl="0" marL="0" rtl="0" algn="ctr">
              <a:spcBef>
                <a:spcPts val="1200"/>
              </a:spcBef>
              <a:spcAft>
                <a:spcPts val="0"/>
              </a:spcAft>
              <a:buNone/>
            </a:pPr>
            <a:r>
              <a:rPr lang="el">
                <a:latin typeface="Consolas"/>
                <a:ea typeface="Consolas"/>
                <a:cs typeface="Consolas"/>
                <a:sym typeface="Consolas"/>
              </a:rPr>
              <a:t>arr = [3, 6, 1, 7, 9, 0, 2];</a:t>
            </a:r>
            <a:endParaRPr>
              <a:latin typeface="Consolas"/>
              <a:ea typeface="Consolas"/>
              <a:cs typeface="Consolas"/>
              <a:sym typeface="Consolas"/>
            </a:endParaRPr>
          </a:p>
          <a:p>
            <a:pPr indent="-330200" lvl="0" marL="457200" rtl="0" algn="l">
              <a:spcBef>
                <a:spcPts val="1200"/>
              </a:spcBef>
              <a:spcAft>
                <a:spcPts val="0"/>
              </a:spcAft>
              <a:buSzPts val="1600"/>
              <a:buChar char="●"/>
            </a:pPr>
            <a:r>
              <a:rPr lang="el"/>
              <a:t>Evidently, </a:t>
            </a:r>
            <a:r>
              <a:rPr lang="el">
                <a:latin typeface="Consolas"/>
                <a:ea typeface="Consolas"/>
                <a:cs typeface="Consolas"/>
                <a:sym typeface="Consolas"/>
              </a:rPr>
              <a:t>arr</a:t>
            </a:r>
            <a:r>
              <a:rPr lang="el"/>
              <a:t> is not sorted in any meaningful way. How can we put thing in increasing order (in a systematic way).</a:t>
            </a:r>
            <a:endParaRPr/>
          </a:p>
          <a:p>
            <a:pPr indent="-330200" lvl="0" marL="457200" rtl="0" algn="l">
              <a:spcBef>
                <a:spcPts val="0"/>
              </a:spcBef>
              <a:spcAft>
                <a:spcPts val="0"/>
              </a:spcAft>
              <a:buSzPts val="1600"/>
              <a:buChar char="●"/>
            </a:pPr>
            <a:r>
              <a:rPr lang="el"/>
              <a:t>[Take some time to devise a sorting algorithm that can work for arbitrary size arrays, not just for </a:t>
            </a:r>
            <a:r>
              <a:rPr lang="el">
                <a:latin typeface="Consolas"/>
                <a:ea typeface="Consolas"/>
                <a:cs typeface="Consolas"/>
                <a:sym typeface="Consolas"/>
              </a:rPr>
              <a:t>arr</a:t>
            </a:r>
            <a:r>
              <a:rPr lang="el"/>
              <a:t>.]</a:t>
            </a:r>
            <a:endParaRPr/>
          </a:p>
        </p:txBody>
      </p:sp>
      <p:sp>
        <p:nvSpPr>
          <p:cNvPr id="166" name="Google Shape;166;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I want more bubbles.</a:t>
            </a:r>
            <a:endParaRPr/>
          </a:p>
        </p:txBody>
      </p:sp>
      <p:sp>
        <p:nvSpPr>
          <p:cNvPr id="172" name="Google Shape;172;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173" name="Google Shape;173;p24"/>
          <p:cNvSpPr/>
          <p:nvPr/>
        </p:nvSpPr>
        <p:spPr>
          <a:xfrm>
            <a:off x="941475" y="15229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174" name="Google Shape;174;p24"/>
          <p:cNvSpPr/>
          <p:nvPr/>
        </p:nvSpPr>
        <p:spPr>
          <a:xfrm>
            <a:off x="1446975" y="15229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175" name="Google Shape;175;p24"/>
          <p:cNvSpPr/>
          <p:nvPr/>
        </p:nvSpPr>
        <p:spPr>
          <a:xfrm>
            <a:off x="1952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176" name="Google Shape;176;p24"/>
          <p:cNvSpPr/>
          <p:nvPr/>
        </p:nvSpPr>
        <p:spPr>
          <a:xfrm>
            <a:off x="2457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177" name="Google Shape;177;p24"/>
          <p:cNvSpPr/>
          <p:nvPr/>
        </p:nvSpPr>
        <p:spPr>
          <a:xfrm>
            <a:off x="2963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178" name="Google Shape;178;p24"/>
          <p:cNvSpPr/>
          <p:nvPr/>
        </p:nvSpPr>
        <p:spPr>
          <a:xfrm>
            <a:off x="3468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179" name="Google Shape;179;p24"/>
          <p:cNvSpPr/>
          <p:nvPr/>
        </p:nvSpPr>
        <p:spPr>
          <a:xfrm>
            <a:off x="3974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180" name="Google Shape;180;p24"/>
          <p:cNvSpPr txBox="1"/>
          <p:nvPr/>
        </p:nvSpPr>
        <p:spPr>
          <a:xfrm>
            <a:off x="5490975" y="1559275"/>
            <a:ext cx="2381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3 &lt; 6 → </a:t>
            </a:r>
            <a:r>
              <a:rPr b="1" lang="el" sz="1600">
                <a:solidFill>
                  <a:schemeClr val="dk1"/>
                </a:solidFill>
                <a:latin typeface="Lato"/>
                <a:ea typeface="Lato"/>
                <a:cs typeface="Lato"/>
                <a:sym typeface="Lato"/>
              </a:rPr>
              <a:t>Things in place!</a:t>
            </a:r>
            <a:endParaRPr b="1" sz="1600">
              <a:solidFill>
                <a:schemeClr val="dk1"/>
              </a:solidFill>
              <a:latin typeface="Lato"/>
              <a:ea typeface="Lato"/>
              <a:cs typeface="Lato"/>
              <a:sym typeface="Lato"/>
            </a:endParaRPr>
          </a:p>
        </p:txBody>
      </p:sp>
      <p:sp>
        <p:nvSpPr>
          <p:cNvPr id="181" name="Google Shape;181;p24"/>
          <p:cNvSpPr/>
          <p:nvPr/>
        </p:nvSpPr>
        <p:spPr>
          <a:xfrm>
            <a:off x="941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182" name="Google Shape;182;p24"/>
          <p:cNvSpPr/>
          <p:nvPr/>
        </p:nvSpPr>
        <p:spPr>
          <a:xfrm>
            <a:off x="1446975" y="23208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183" name="Google Shape;183;p24"/>
          <p:cNvSpPr/>
          <p:nvPr/>
        </p:nvSpPr>
        <p:spPr>
          <a:xfrm>
            <a:off x="1952475" y="23208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184" name="Google Shape;184;p24"/>
          <p:cNvSpPr/>
          <p:nvPr/>
        </p:nvSpPr>
        <p:spPr>
          <a:xfrm>
            <a:off x="2457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185" name="Google Shape;185;p24"/>
          <p:cNvSpPr/>
          <p:nvPr/>
        </p:nvSpPr>
        <p:spPr>
          <a:xfrm>
            <a:off x="2963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186" name="Google Shape;186;p24"/>
          <p:cNvSpPr/>
          <p:nvPr/>
        </p:nvSpPr>
        <p:spPr>
          <a:xfrm>
            <a:off x="3468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187" name="Google Shape;187;p24"/>
          <p:cNvSpPr/>
          <p:nvPr/>
        </p:nvSpPr>
        <p:spPr>
          <a:xfrm>
            <a:off x="3974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188" name="Google Shape;188;p24"/>
          <p:cNvSpPr txBox="1"/>
          <p:nvPr/>
        </p:nvSpPr>
        <p:spPr>
          <a:xfrm>
            <a:off x="5490975" y="2357100"/>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6 &gt; 1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
        <p:nvSpPr>
          <p:cNvPr id="189" name="Google Shape;189;p24"/>
          <p:cNvSpPr/>
          <p:nvPr/>
        </p:nvSpPr>
        <p:spPr>
          <a:xfrm>
            <a:off x="941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190" name="Google Shape;190;p24"/>
          <p:cNvSpPr/>
          <p:nvPr/>
        </p:nvSpPr>
        <p:spPr>
          <a:xfrm>
            <a:off x="1446975" y="311862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191" name="Google Shape;191;p24"/>
          <p:cNvSpPr/>
          <p:nvPr/>
        </p:nvSpPr>
        <p:spPr>
          <a:xfrm>
            <a:off x="1952475" y="311862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192" name="Google Shape;192;p24"/>
          <p:cNvSpPr/>
          <p:nvPr/>
        </p:nvSpPr>
        <p:spPr>
          <a:xfrm>
            <a:off x="2457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193" name="Google Shape;193;p24"/>
          <p:cNvSpPr/>
          <p:nvPr/>
        </p:nvSpPr>
        <p:spPr>
          <a:xfrm>
            <a:off x="2963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194" name="Google Shape;194;p24"/>
          <p:cNvSpPr/>
          <p:nvPr/>
        </p:nvSpPr>
        <p:spPr>
          <a:xfrm>
            <a:off x="3468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195" name="Google Shape;195;p24"/>
          <p:cNvSpPr/>
          <p:nvPr/>
        </p:nvSpPr>
        <p:spPr>
          <a:xfrm>
            <a:off x="3974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196" name="Google Shape;196;p24"/>
          <p:cNvSpPr txBox="1"/>
          <p:nvPr/>
        </p:nvSpPr>
        <p:spPr>
          <a:xfrm>
            <a:off x="5490975" y="315492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1 &lt; 6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
        <p:nvSpPr>
          <p:cNvPr id="197" name="Google Shape;197;p24"/>
          <p:cNvSpPr/>
          <p:nvPr/>
        </p:nvSpPr>
        <p:spPr>
          <a:xfrm>
            <a:off x="941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198" name="Google Shape;198;p24"/>
          <p:cNvSpPr/>
          <p:nvPr/>
        </p:nvSpPr>
        <p:spPr>
          <a:xfrm>
            <a:off x="1446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199" name="Google Shape;199;p24"/>
          <p:cNvSpPr/>
          <p:nvPr/>
        </p:nvSpPr>
        <p:spPr>
          <a:xfrm>
            <a:off x="1952475" y="40363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00" name="Google Shape;200;p24"/>
          <p:cNvSpPr/>
          <p:nvPr/>
        </p:nvSpPr>
        <p:spPr>
          <a:xfrm>
            <a:off x="2457975" y="40363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01" name="Google Shape;201;p24"/>
          <p:cNvSpPr/>
          <p:nvPr/>
        </p:nvSpPr>
        <p:spPr>
          <a:xfrm>
            <a:off x="2963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202" name="Google Shape;202;p24"/>
          <p:cNvSpPr/>
          <p:nvPr/>
        </p:nvSpPr>
        <p:spPr>
          <a:xfrm>
            <a:off x="3468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203" name="Google Shape;203;p24"/>
          <p:cNvSpPr/>
          <p:nvPr/>
        </p:nvSpPr>
        <p:spPr>
          <a:xfrm>
            <a:off x="3974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204" name="Google Shape;204;p24"/>
          <p:cNvSpPr txBox="1"/>
          <p:nvPr/>
        </p:nvSpPr>
        <p:spPr>
          <a:xfrm>
            <a:off x="5490975" y="40726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6 &lt; 7 → </a:t>
            </a:r>
            <a:r>
              <a:rPr b="1" lang="el" sz="1600">
                <a:solidFill>
                  <a:schemeClr val="dk1"/>
                </a:solidFill>
                <a:latin typeface="Lato"/>
                <a:ea typeface="Lato"/>
                <a:cs typeface="Lato"/>
                <a:sym typeface="Lato"/>
              </a:rPr>
              <a:t>Things in place!</a:t>
            </a:r>
            <a:endParaRPr b="1" sz="1600">
              <a:solidFill>
                <a:schemeClr val="dk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I want more bubbles.</a:t>
            </a:r>
            <a:endParaRPr/>
          </a:p>
        </p:txBody>
      </p:sp>
      <p:sp>
        <p:nvSpPr>
          <p:cNvPr id="210" name="Google Shape;210;p2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211" name="Google Shape;211;p25"/>
          <p:cNvSpPr/>
          <p:nvPr/>
        </p:nvSpPr>
        <p:spPr>
          <a:xfrm>
            <a:off x="941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212" name="Google Shape;212;p25"/>
          <p:cNvSpPr/>
          <p:nvPr/>
        </p:nvSpPr>
        <p:spPr>
          <a:xfrm>
            <a:off x="1446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213" name="Google Shape;213;p25"/>
          <p:cNvSpPr/>
          <p:nvPr/>
        </p:nvSpPr>
        <p:spPr>
          <a:xfrm>
            <a:off x="1952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14" name="Google Shape;214;p25"/>
          <p:cNvSpPr/>
          <p:nvPr/>
        </p:nvSpPr>
        <p:spPr>
          <a:xfrm>
            <a:off x="2457975" y="15229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15" name="Google Shape;215;p25"/>
          <p:cNvSpPr/>
          <p:nvPr/>
        </p:nvSpPr>
        <p:spPr>
          <a:xfrm>
            <a:off x="2963475" y="15229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216" name="Google Shape;216;p25"/>
          <p:cNvSpPr/>
          <p:nvPr/>
        </p:nvSpPr>
        <p:spPr>
          <a:xfrm>
            <a:off x="3468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217" name="Google Shape;217;p25"/>
          <p:cNvSpPr/>
          <p:nvPr/>
        </p:nvSpPr>
        <p:spPr>
          <a:xfrm>
            <a:off x="3974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218" name="Google Shape;218;p25"/>
          <p:cNvSpPr txBox="1"/>
          <p:nvPr/>
        </p:nvSpPr>
        <p:spPr>
          <a:xfrm>
            <a:off x="5490975" y="1559275"/>
            <a:ext cx="2381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7 &lt; 9 → </a:t>
            </a:r>
            <a:r>
              <a:rPr b="1" lang="el" sz="1600">
                <a:solidFill>
                  <a:schemeClr val="dk1"/>
                </a:solidFill>
                <a:latin typeface="Lato"/>
                <a:ea typeface="Lato"/>
                <a:cs typeface="Lato"/>
                <a:sym typeface="Lato"/>
              </a:rPr>
              <a:t>Things in place!</a:t>
            </a:r>
            <a:endParaRPr b="1" sz="1600">
              <a:solidFill>
                <a:schemeClr val="dk1"/>
              </a:solidFill>
              <a:latin typeface="Lato"/>
              <a:ea typeface="Lato"/>
              <a:cs typeface="Lato"/>
              <a:sym typeface="Lato"/>
            </a:endParaRPr>
          </a:p>
        </p:txBody>
      </p:sp>
      <p:sp>
        <p:nvSpPr>
          <p:cNvPr id="219" name="Google Shape;219;p25"/>
          <p:cNvSpPr/>
          <p:nvPr/>
        </p:nvSpPr>
        <p:spPr>
          <a:xfrm>
            <a:off x="941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220" name="Google Shape;220;p25"/>
          <p:cNvSpPr/>
          <p:nvPr/>
        </p:nvSpPr>
        <p:spPr>
          <a:xfrm>
            <a:off x="1446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221" name="Google Shape;221;p25"/>
          <p:cNvSpPr/>
          <p:nvPr/>
        </p:nvSpPr>
        <p:spPr>
          <a:xfrm>
            <a:off x="1952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22" name="Google Shape;222;p25"/>
          <p:cNvSpPr/>
          <p:nvPr/>
        </p:nvSpPr>
        <p:spPr>
          <a:xfrm>
            <a:off x="2457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23" name="Google Shape;223;p25"/>
          <p:cNvSpPr/>
          <p:nvPr/>
        </p:nvSpPr>
        <p:spPr>
          <a:xfrm>
            <a:off x="2963475" y="23208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224" name="Google Shape;224;p25"/>
          <p:cNvSpPr/>
          <p:nvPr/>
        </p:nvSpPr>
        <p:spPr>
          <a:xfrm>
            <a:off x="3468975" y="23208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225" name="Google Shape;225;p25"/>
          <p:cNvSpPr/>
          <p:nvPr/>
        </p:nvSpPr>
        <p:spPr>
          <a:xfrm>
            <a:off x="3974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226" name="Google Shape;226;p25"/>
          <p:cNvSpPr txBox="1"/>
          <p:nvPr/>
        </p:nvSpPr>
        <p:spPr>
          <a:xfrm>
            <a:off x="5490975" y="2357100"/>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9 &gt; 0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
        <p:nvSpPr>
          <p:cNvPr id="227" name="Google Shape;227;p25"/>
          <p:cNvSpPr/>
          <p:nvPr/>
        </p:nvSpPr>
        <p:spPr>
          <a:xfrm>
            <a:off x="941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228" name="Google Shape;228;p25"/>
          <p:cNvSpPr/>
          <p:nvPr/>
        </p:nvSpPr>
        <p:spPr>
          <a:xfrm>
            <a:off x="1446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229" name="Google Shape;229;p25"/>
          <p:cNvSpPr/>
          <p:nvPr/>
        </p:nvSpPr>
        <p:spPr>
          <a:xfrm>
            <a:off x="1952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30" name="Google Shape;230;p25"/>
          <p:cNvSpPr/>
          <p:nvPr/>
        </p:nvSpPr>
        <p:spPr>
          <a:xfrm>
            <a:off x="2457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31" name="Google Shape;231;p25"/>
          <p:cNvSpPr/>
          <p:nvPr/>
        </p:nvSpPr>
        <p:spPr>
          <a:xfrm>
            <a:off x="2963475" y="311862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232" name="Google Shape;232;p25"/>
          <p:cNvSpPr/>
          <p:nvPr/>
        </p:nvSpPr>
        <p:spPr>
          <a:xfrm>
            <a:off x="3468975" y="311862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233" name="Google Shape;233;p25"/>
          <p:cNvSpPr/>
          <p:nvPr/>
        </p:nvSpPr>
        <p:spPr>
          <a:xfrm>
            <a:off x="3974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234" name="Google Shape;234;p25"/>
          <p:cNvSpPr txBox="1"/>
          <p:nvPr/>
        </p:nvSpPr>
        <p:spPr>
          <a:xfrm>
            <a:off x="5490975" y="315492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0 &lt; 9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
        <p:nvSpPr>
          <p:cNvPr id="235" name="Google Shape;235;p25"/>
          <p:cNvSpPr/>
          <p:nvPr/>
        </p:nvSpPr>
        <p:spPr>
          <a:xfrm>
            <a:off x="941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236" name="Google Shape;236;p25"/>
          <p:cNvSpPr/>
          <p:nvPr/>
        </p:nvSpPr>
        <p:spPr>
          <a:xfrm>
            <a:off x="1446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237" name="Google Shape;237;p25"/>
          <p:cNvSpPr/>
          <p:nvPr/>
        </p:nvSpPr>
        <p:spPr>
          <a:xfrm>
            <a:off x="1952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38" name="Google Shape;238;p25"/>
          <p:cNvSpPr/>
          <p:nvPr/>
        </p:nvSpPr>
        <p:spPr>
          <a:xfrm>
            <a:off x="2457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39" name="Google Shape;239;p25"/>
          <p:cNvSpPr/>
          <p:nvPr/>
        </p:nvSpPr>
        <p:spPr>
          <a:xfrm>
            <a:off x="2963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240" name="Google Shape;240;p25"/>
          <p:cNvSpPr/>
          <p:nvPr/>
        </p:nvSpPr>
        <p:spPr>
          <a:xfrm>
            <a:off x="3468975" y="40363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241" name="Google Shape;241;p25"/>
          <p:cNvSpPr/>
          <p:nvPr/>
        </p:nvSpPr>
        <p:spPr>
          <a:xfrm>
            <a:off x="3974475" y="40363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242" name="Google Shape;242;p25"/>
          <p:cNvSpPr txBox="1"/>
          <p:nvPr/>
        </p:nvSpPr>
        <p:spPr>
          <a:xfrm>
            <a:off x="5490975" y="40726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9 &gt; 2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6"/>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I want more bubbles.</a:t>
            </a:r>
            <a:endParaRPr/>
          </a:p>
        </p:txBody>
      </p:sp>
      <p:sp>
        <p:nvSpPr>
          <p:cNvPr id="248" name="Google Shape;248;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249" name="Google Shape;249;p26"/>
          <p:cNvSpPr/>
          <p:nvPr/>
        </p:nvSpPr>
        <p:spPr>
          <a:xfrm>
            <a:off x="941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250" name="Google Shape;250;p26"/>
          <p:cNvSpPr/>
          <p:nvPr/>
        </p:nvSpPr>
        <p:spPr>
          <a:xfrm>
            <a:off x="1446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251" name="Google Shape;251;p26"/>
          <p:cNvSpPr/>
          <p:nvPr/>
        </p:nvSpPr>
        <p:spPr>
          <a:xfrm>
            <a:off x="1952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52" name="Google Shape;252;p26"/>
          <p:cNvSpPr/>
          <p:nvPr/>
        </p:nvSpPr>
        <p:spPr>
          <a:xfrm>
            <a:off x="2457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53" name="Google Shape;253;p26"/>
          <p:cNvSpPr/>
          <p:nvPr/>
        </p:nvSpPr>
        <p:spPr>
          <a:xfrm>
            <a:off x="2963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254" name="Google Shape;254;p26"/>
          <p:cNvSpPr/>
          <p:nvPr/>
        </p:nvSpPr>
        <p:spPr>
          <a:xfrm>
            <a:off x="3468975" y="152297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255" name="Google Shape;255;p26"/>
          <p:cNvSpPr/>
          <p:nvPr/>
        </p:nvSpPr>
        <p:spPr>
          <a:xfrm>
            <a:off x="3974475" y="152297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256" name="Google Shape;256;p26"/>
          <p:cNvSpPr txBox="1"/>
          <p:nvPr/>
        </p:nvSpPr>
        <p:spPr>
          <a:xfrm>
            <a:off x="5490975" y="1559275"/>
            <a:ext cx="2381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2 &lt; 9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
        <p:nvSpPr>
          <p:cNvPr id="257" name="Google Shape;257;p26"/>
          <p:cNvSpPr/>
          <p:nvPr/>
        </p:nvSpPr>
        <p:spPr>
          <a:xfrm>
            <a:off x="941475" y="23208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258" name="Google Shape;258;p26"/>
          <p:cNvSpPr/>
          <p:nvPr/>
        </p:nvSpPr>
        <p:spPr>
          <a:xfrm>
            <a:off x="1446975" y="23208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259" name="Google Shape;259;p26"/>
          <p:cNvSpPr/>
          <p:nvPr/>
        </p:nvSpPr>
        <p:spPr>
          <a:xfrm>
            <a:off x="1952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60" name="Google Shape;260;p26"/>
          <p:cNvSpPr/>
          <p:nvPr/>
        </p:nvSpPr>
        <p:spPr>
          <a:xfrm>
            <a:off x="2457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61" name="Google Shape;261;p26"/>
          <p:cNvSpPr/>
          <p:nvPr/>
        </p:nvSpPr>
        <p:spPr>
          <a:xfrm>
            <a:off x="2963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262" name="Google Shape;262;p26"/>
          <p:cNvSpPr/>
          <p:nvPr/>
        </p:nvSpPr>
        <p:spPr>
          <a:xfrm>
            <a:off x="3468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263" name="Google Shape;263;p26"/>
          <p:cNvSpPr/>
          <p:nvPr/>
        </p:nvSpPr>
        <p:spPr>
          <a:xfrm>
            <a:off x="39744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264" name="Google Shape;264;p26"/>
          <p:cNvSpPr txBox="1"/>
          <p:nvPr/>
        </p:nvSpPr>
        <p:spPr>
          <a:xfrm>
            <a:off x="5490975" y="2357100"/>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3 &gt; 1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
        <p:nvSpPr>
          <p:cNvPr id="265" name="Google Shape;265;p26"/>
          <p:cNvSpPr/>
          <p:nvPr/>
        </p:nvSpPr>
        <p:spPr>
          <a:xfrm>
            <a:off x="941475" y="311862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266" name="Google Shape;266;p26"/>
          <p:cNvSpPr/>
          <p:nvPr/>
        </p:nvSpPr>
        <p:spPr>
          <a:xfrm>
            <a:off x="1446975" y="311862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267" name="Google Shape;267;p26"/>
          <p:cNvSpPr/>
          <p:nvPr/>
        </p:nvSpPr>
        <p:spPr>
          <a:xfrm>
            <a:off x="1952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68" name="Google Shape;268;p26"/>
          <p:cNvSpPr/>
          <p:nvPr/>
        </p:nvSpPr>
        <p:spPr>
          <a:xfrm>
            <a:off x="2457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69" name="Google Shape;269;p26"/>
          <p:cNvSpPr/>
          <p:nvPr/>
        </p:nvSpPr>
        <p:spPr>
          <a:xfrm>
            <a:off x="2963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270" name="Google Shape;270;p26"/>
          <p:cNvSpPr/>
          <p:nvPr/>
        </p:nvSpPr>
        <p:spPr>
          <a:xfrm>
            <a:off x="3468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271" name="Google Shape;271;p26"/>
          <p:cNvSpPr/>
          <p:nvPr/>
        </p:nvSpPr>
        <p:spPr>
          <a:xfrm>
            <a:off x="39744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272" name="Google Shape;272;p26"/>
          <p:cNvSpPr txBox="1"/>
          <p:nvPr/>
        </p:nvSpPr>
        <p:spPr>
          <a:xfrm>
            <a:off x="5490975" y="315492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1 &lt; 3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
        <p:nvSpPr>
          <p:cNvPr id="273" name="Google Shape;273;p26"/>
          <p:cNvSpPr/>
          <p:nvPr/>
        </p:nvSpPr>
        <p:spPr>
          <a:xfrm>
            <a:off x="941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274" name="Google Shape;274;p26"/>
          <p:cNvSpPr/>
          <p:nvPr/>
        </p:nvSpPr>
        <p:spPr>
          <a:xfrm>
            <a:off x="1446975" y="40363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275" name="Google Shape;275;p26"/>
          <p:cNvSpPr/>
          <p:nvPr/>
        </p:nvSpPr>
        <p:spPr>
          <a:xfrm>
            <a:off x="1952475" y="40363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76" name="Google Shape;276;p26"/>
          <p:cNvSpPr/>
          <p:nvPr/>
        </p:nvSpPr>
        <p:spPr>
          <a:xfrm>
            <a:off x="2457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77" name="Google Shape;277;p26"/>
          <p:cNvSpPr/>
          <p:nvPr/>
        </p:nvSpPr>
        <p:spPr>
          <a:xfrm>
            <a:off x="2963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278" name="Google Shape;278;p26"/>
          <p:cNvSpPr/>
          <p:nvPr/>
        </p:nvSpPr>
        <p:spPr>
          <a:xfrm>
            <a:off x="3468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279" name="Google Shape;279;p26"/>
          <p:cNvSpPr/>
          <p:nvPr/>
        </p:nvSpPr>
        <p:spPr>
          <a:xfrm>
            <a:off x="39744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280" name="Google Shape;280;p26"/>
          <p:cNvSpPr txBox="1"/>
          <p:nvPr/>
        </p:nvSpPr>
        <p:spPr>
          <a:xfrm>
            <a:off x="5490975" y="40726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3 &lt; 6 → </a:t>
            </a:r>
            <a:r>
              <a:rPr b="1" lang="el" sz="1600">
                <a:solidFill>
                  <a:schemeClr val="dk1"/>
                </a:solidFill>
                <a:latin typeface="Lato"/>
                <a:ea typeface="Lato"/>
                <a:cs typeface="Lato"/>
                <a:sym typeface="Lato"/>
              </a:rPr>
              <a:t>Things in place!</a:t>
            </a:r>
            <a:endParaRPr b="1" sz="1600">
              <a:solidFill>
                <a:schemeClr val="dk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7"/>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I want more bubbles.</a:t>
            </a:r>
            <a:endParaRPr/>
          </a:p>
        </p:txBody>
      </p:sp>
      <p:sp>
        <p:nvSpPr>
          <p:cNvPr id="286" name="Google Shape;286;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287" name="Google Shape;287;p27"/>
          <p:cNvSpPr/>
          <p:nvPr/>
        </p:nvSpPr>
        <p:spPr>
          <a:xfrm>
            <a:off x="941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288" name="Google Shape;288;p27"/>
          <p:cNvSpPr/>
          <p:nvPr/>
        </p:nvSpPr>
        <p:spPr>
          <a:xfrm>
            <a:off x="1446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289" name="Google Shape;289;p27"/>
          <p:cNvSpPr/>
          <p:nvPr/>
        </p:nvSpPr>
        <p:spPr>
          <a:xfrm>
            <a:off x="1952475" y="15229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90" name="Google Shape;290;p27"/>
          <p:cNvSpPr/>
          <p:nvPr/>
        </p:nvSpPr>
        <p:spPr>
          <a:xfrm>
            <a:off x="2457975" y="15229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91" name="Google Shape;291;p27"/>
          <p:cNvSpPr/>
          <p:nvPr/>
        </p:nvSpPr>
        <p:spPr>
          <a:xfrm>
            <a:off x="2963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292" name="Google Shape;292;p27"/>
          <p:cNvSpPr/>
          <p:nvPr/>
        </p:nvSpPr>
        <p:spPr>
          <a:xfrm>
            <a:off x="3468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293" name="Google Shape;293;p27"/>
          <p:cNvSpPr/>
          <p:nvPr/>
        </p:nvSpPr>
        <p:spPr>
          <a:xfrm>
            <a:off x="3974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294" name="Google Shape;294;p27"/>
          <p:cNvSpPr txBox="1"/>
          <p:nvPr/>
        </p:nvSpPr>
        <p:spPr>
          <a:xfrm>
            <a:off x="5490975" y="1559275"/>
            <a:ext cx="2381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6 &lt; 7 → </a:t>
            </a:r>
            <a:r>
              <a:rPr b="1" lang="el" sz="1600">
                <a:solidFill>
                  <a:schemeClr val="dk1"/>
                </a:solidFill>
                <a:latin typeface="Lato"/>
                <a:ea typeface="Lato"/>
                <a:cs typeface="Lato"/>
                <a:sym typeface="Lato"/>
              </a:rPr>
              <a:t>Things in place!</a:t>
            </a:r>
            <a:endParaRPr b="1" sz="1600">
              <a:solidFill>
                <a:schemeClr val="dk1"/>
              </a:solidFill>
              <a:latin typeface="Lato"/>
              <a:ea typeface="Lato"/>
              <a:cs typeface="Lato"/>
              <a:sym typeface="Lato"/>
            </a:endParaRPr>
          </a:p>
        </p:txBody>
      </p:sp>
      <p:sp>
        <p:nvSpPr>
          <p:cNvPr id="295" name="Google Shape;295;p27"/>
          <p:cNvSpPr/>
          <p:nvPr/>
        </p:nvSpPr>
        <p:spPr>
          <a:xfrm>
            <a:off x="941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296" name="Google Shape;296;p27"/>
          <p:cNvSpPr/>
          <p:nvPr/>
        </p:nvSpPr>
        <p:spPr>
          <a:xfrm>
            <a:off x="1446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297" name="Google Shape;297;p27"/>
          <p:cNvSpPr/>
          <p:nvPr/>
        </p:nvSpPr>
        <p:spPr>
          <a:xfrm>
            <a:off x="1952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298" name="Google Shape;298;p27"/>
          <p:cNvSpPr/>
          <p:nvPr/>
        </p:nvSpPr>
        <p:spPr>
          <a:xfrm>
            <a:off x="2457975" y="23208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299" name="Google Shape;299;p27"/>
          <p:cNvSpPr/>
          <p:nvPr/>
        </p:nvSpPr>
        <p:spPr>
          <a:xfrm>
            <a:off x="2963475" y="23208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00" name="Google Shape;300;p27"/>
          <p:cNvSpPr/>
          <p:nvPr/>
        </p:nvSpPr>
        <p:spPr>
          <a:xfrm>
            <a:off x="3468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01" name="Google Shape;301;p27"/>
          <p:cNvSpPr/>
          <p:nvPr/>
        </p:nvSpPr>
        <p:spPr>
          <a:xfrm>
            <a:off x="39744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02" name="Google Shape;302;p27"/>
          <p:cNvSpPr txBox="1"/>
          <p:nvPr/>
        </p:nvSpPr>
        <p:spPr>
          <a:xfrm>
            <a:off x="5490975" y="2357100"/>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7 &gt; 0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
        <p:nvSpPr>
          <p:cNvPr id="303" name="Google Shape;303;p27"/>
          <p:cNvSpPr/>
          <p:nvPr/>
        </p:nvSpPr>
        <p:spPr>
          <a:xfrm>
            <a:off x="941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304" name="Google Shape;304;p27"/>
          <p:cNvSpPr/>
          <p:nvPr/>
        </p:nvSpPr>
        <p:spPr>
          <a:xfrm>
            <a:off x="1446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305" name="Google Shape;305;p27"/>
          <p:cNvSpPr/>
          <p:nvPr/>
        </p:nvSpPr>
        <p:spPr>
          <a:xfrm>
            <a:off x="1952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306" name="Google Shape;306;p27"/>
          <p:cNvSpPr/>
          <p:nvPr/>
        </p:nvSpPr>
        <p:spPr>
          <a:xfrm>
            <a:off x="2457975" y="311862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07" name="Google Shape;307;p27"/>
          <p:cNvSpPr/>
          <p:nvPr/>
        </p:nvSpPr>
        <p:spPr>
          <a:xfrm>
            <a:off x="2963475" y="311862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308" name="Google Shape;308;p27"/>
          <p:cNvSpPr/>
          <p:nvPr/>
        </p:nvSpPr>
        <p:spPr>
          <a:xfrm>
            <a:off x="3468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09" name="Google Shape;309;p27"/>
          <p:cNvSpPr/>
          <p:nvPr/>
        </p:nvSpPr>
        <p:spPr>
          <a:xfrm>
            <a:off x="39744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10" name="Google Shape;310;p27"/>
          <p:cNvSpPr txBox="1"/>
          <p:nvPr/>
        </p:nvSpPr>
        <p:spPr>
          <a:xfrm>
            <a:off x="5490975" y="315492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0 &lt; 7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
        <p:nvSpPr>
          <p:cNvPr id="311" name="Google Shape;311;p27"/>
          <p:cNvSpPr/>
          <p:nvPr/>
        </p:nvSpPr>
        <p:spPr>
          <a:xfrm>
            <a:off x="941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312" name="Google Shape;312;p27"/>
          <p:cNvSpPr/>
          <p:nvPr/>
        </p:nvSpPr>
        <p:spPr>
          <a:xfrm>
            <a:off x="1446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313" name="Google Shape;313;p27"/>
          <p:cNvSpPr/>
          <p:nvPr/>
        </p:nvSpPr>
        <p:spPr>
          <a:xfrm>
            <a:off x="1952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314" name="Google Shape;314;p27"/>
          <p:cNvSpPr/>
          <p:nvPr/>
        </p:nvSpPr>
        <p:spPr>
          <a:xfrm>
            <a:off x="2457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15" name="Google Shape;315;p27"/>
          <p:cNvSpPr/>
          <p:nvPr/>
        </p:nvSpPr>
        <p:spPr>
          <a:xfrm>
            <a:off x="2963475" y="40363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316" name="Google Shape;316;p27"/>
          <p:cNvSpPr/>
          <p:nvPr/>
        </p:nvSpPr>
        <p:spPr>
          <a:xfrm>
            <a:off x="3468975" y="40363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17" name="Google Shape;317;p27"/>
          <p:cNvSpPr/>
          <p:nvPr/>
        </p:nvSpPr>
        <p:spPr>
          <a:xfrm>
            <a:off x="39744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18" name="Google Shape;318;p27"/>
          <p:cNvSpPr txBox="1"/>
          <p:nvPr/>
        </p:nvSpPr>
        <p:spPr>
          <a:xfrm>
            <a:off x="5490975" y="40726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7 &gt; 2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8"/>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I want more bubbles.</a:t>
            </a:r>
            <a:endParaRPr/>
          </a:p>
        </p:txBody>
      </p:sp>
      <p:sp>
        <p:nvSpPr>
          <p:cNvPr id="324" name="Google Shape;324;p2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325" name="Google Shape;325;p28"/>
          <p:cNvSpPr/>
          <p:nvPr/>
        </p:nvSpPr>
        <p:spPr>
          <a:xfrm>
            <a:off x="941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326" name="Google Shape;326;p28"/>
          <p:cNvSpPr/>
          <p:nvPr/>
        </p:nvSpPr>
        <p:spPr>
          <a:xfrm>
            <a:off x="1446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327" name="Google Shape;327;p28"/>
          <p:cNvSpPr/>
          <p:nvPr/>
        </p:nvSpPr>
        <p:spPr>
          <a:xfrm>
            <a:off x="1952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328" name="Google Shape;328;p28"/>
          <p:cNvSpPr/>
          <p:nvPr/>
        </p:nvSpPr>
        <p:spPr>
          <a:xfrm>
            <a:off x="2457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29" name="Google Shape;329;p28"/>
          <p:cNvSpPr/>
          <p:nvPr/>
        </p:nvSpPr>
        <p:spPr>
          <a:xfrm>
            <a:off x="2963475" y="152297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30" name="Google Shape;330;p28"/>
          <p:cNvSpPr/>
          <p:nvPr/>
        </p:nvSpPr>
        <p:spPr>
          <a:xfrm>
            <a:off x="3468975" y="152297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331" name="Google Shape;331;p28"/>
          <p:cNvSpPr/>
          <p:nvPr/>
        </p:nvSpPr>
        <p:spPr>
          <a:xfrm>
            <a:off x="3974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32" name="Google Shape;332;p28"/>
          <p:cNvSpPr txBox="1"/>
          <p:nvPr/>
        </p:nvSpPr>
        <p:spPr>
          <a:xfrm>
            <a:off x="5490975" y="1559275"/>
            <a:ext cx="2381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2 &lt; 7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
        <p:nvSpPr>
          <p:cNvPr id="333" name="Google Shape;333;p28"/>
          <p:cNvSpPr/>
          <p:nvPr/>
        </p:nvSpPr>
        <p:spPr>
          <a:xfrm>
            <a:off x="941475" y="2320800"/>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334" name="Google Shape;334;p28"/>
          <p:cNvSpPr/>
          <p:nvPr/>
        </p:nvSpPr>
        <p:spPr>
          <a:xfrm>
            <a:off x="1446975" y="2320800"/>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335" name="Google Shape;335;p28"/>
          <p:cNvSpPr/>
          <p:nvPr/>
        </p:nvSpPr>
        <p:spPr>
          <a:xfrm>
            <a:off x="1952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336" name="Google Shape;336;p28"/>
          <p:cNvSpPr/>
          <p:nvPr/>
        </p:nvSpPr>
        <p:spPr>
          <a:xfrm>
            <a:off x="2457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37" name="Google Shape;337;p28"/>
          <p:cNvSpPr/>
          <p:nvPr/>
        </p:nvSpPr>
        <p:spPr>
          <a:xfrm>
            <a:off x="2963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38" name="Google Shape;338;p28"/>
          <p:cNvSpPr/>
          <p:nvPr/>
        </p:nvSpPr>
        <p:spPr>
          <a:xfrm>
            <a:off x="34689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339" name="Google Shape;339;p28"/>
          <p:cNvSpPr/>
          <p:nvPr/>
        </p:nvSpPr>
        <p:spPr>
          <a:xfrm>
            <a:off x="39744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40" name="Google Shape;340;p28"/>
          <p:cNvSpPr txBox="1"/>
          <p:nvPr/>
        </p:nvSpPr>
        <p:spPr>
          <a:xfrm>
            <a:off x="5490975" y="2357100"/>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1 &lt; 3 → </a:t>
            </a:r>
            <a:r>
              <a:rPr b="1" lang="el" sz="1600">
                <a:solidFill>
                  <a:schemeClr val="dk1"/>
                </a:solidFill>
                <a:latin typeface="Lato"/>
                <a:ea typeface="Lato"/>
                <a:cs typeface="Lato"/>
                <a:sym typeface="Lato"/>
              </a:rPr>
              <a:t>Things in place!</a:t>
            </a:r>
            <a:endParaRPr b="1" sz="1600">
              <a:solidFill>
                <a:schemeClr val="dk1"/>
              </a:solidFill>
              <a:latin typeface="Lato"/>
              <a:ea typeface="Lato"/>
              <a:cs typeface="Lato"/>
              <a:sym typeface="Lato"/>
            </a:endParaRPr>
          </a:p>
        </p:txBody>
      </p:sp>
      <p:sp>
        <p:nvSpPr>
          <p:cNvPr id="341" name="Google Shape;341;p28"/>
          <p:cNvSpPr/>
          <p:nvPr/>
        </p:nvSpPr>
        <p:spPr>
          <a:xfrm>
            <a:off x="941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342" name="Google Shape;342;p28"/>
          <p:cNvSpPr/>
          <p:nvPr/>
        </p:nvSpPr>
        <p:spPr>
          <a:xfrm>
            <a:off x="1446975" y="311862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343" name="Google Shape;343;p28"/>
          <p:cNvSpPr/>
          <p:nvPr/>
        </p:nvSpPr>
        <p:spPr>
          <a:xfrm>
            <a:off x="1952475" y="311862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344" name="Google Shape;344;p28"/>
          <p:cNvSpPr/>
          <p:nvPr/>
        </p:nvSpPr>
        <p:spPr>
          <a:xfrm>
            <a:off x="2457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45" name="Google Shape;345;p28"/>
          <p:cNvSpPr/>
          <p:nvPr/>
        </p:nvSpPr>
        <p:spPr>
          <a:xfrm>
            <a:off x="2963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46" name="Google Shape;346;p28"/>
          <p:cNvSpPr/>
          <p:nvPr/>
        </p:nvSpPr>
        <p:spPr>
          <a:xfrm>
            <a:off x="34689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347" name="Google Shape;347;p28"/>
          <p:cNvSpPr/>
          <p:nvPr/>
        </p:nvSpPr>
        <p:spPr>
          <a:xfrm>
            <a:off x="39744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48" name="Google Shape;348;p28"/>
          <p:cNvSpPr txBox="1"/>
          <p:nvPr/>
        </p:nvSpPr>
        <p:spPr>
          <a:xfrm>
            <a:off x="5490975" y="315492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3 &lt; 6 → </a:t>
            </a:r>
            <a:r>
              <a:rPr b="1" lang="el" sz="1600">
                <a:solidFill>
                  <a:schemeClr val="dk1"/>
                </a:solidFill>
                <a:latin typeface="Lato"/>
                <a:ea typeface="Lato"/>
                <a:cs typeface="Lato"/>
                <a:sym typeface="Lato"/>
              </a:rPr>
              <a:t>Things in place!</a:t>
            </a:r>
            <a:endParaRPr b="1" sz="1600">
              <a:solidFill>
                <a:schemeClr val="dk1"/>
              </a:solidFill>
              <a:latin typeface="Lato"/>
              <a:ea typeface="Lato"/>
              <a:cs typeface="Lato"/>
              <a:sym typeface="Lato"/>
            </a:endParaRPr>
          </a:p>
        </p:txBody>
      </p:sp>
      <p:sp>
        <p:nvSpPr>
          <p:cNvPr id="349" name="Google Shape;349;p28"/>
          <p:cNvSpPr/>
          <p:nvPr/>
        </p:nvSpPr>
        <p:spPr>
          <a:xfrm>
            <a:off x="941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350" name="Google Shape;350;p28"/>
          <p:cNvSpPr/>
          <p:nvPr/>
        </p:nvSpPr>
        <p:spPr>
          <a:xfrm>
            <a:off x="1446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351" name="Google Shape;351;p28"/>
          <p:cNvSpPr/>
          <p:nvPr/>
        </p:nvSpPr>
        <p:spPr>
          <a:xfrm>
            <a:off x="1952475" y="40363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352" name="Google Shape;352;p28"/>
          <p:cNvSpPr/>
          <p:nvPr/>
        </p:nvSpPr>
        <p:spPr>
          <a:xfrm>
            <a:off x="2457975" y="40363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53" name="Google Shape;353;p28"/>
          <p:cNvSpPr/>
          <p:nvPr/>
        </p:nvSpPr>
        <p:spPr>
          <a:xfrm>
            <a:off x="2963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54" name="Google Shape;354;p28"/>
          <p:cNvSpPr/>
          <p:nvPr/>
        </p:nvSpPr>
        <p:spPr>
          <a:xfrm>
            <a:off x="34689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355" name="Google Shape;355;p28"/>
          <p:cNvSpPr/>
          <p:nvPr/>
        </p:nvSpPr>
        <p:spPr>
          <a:xfrm>
            <a:off x="39744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56" name="Google Shape;356;p28"/>
          <p:cNvSpPr txBox="1"/>
          <p:nvPr/>
        </p:nvSpPr>
        <p:spPr>
          <a:xfrm>
            <a:off x="5490975" y="40726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6 &gt; 0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9"/>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I want more bubbles.</a:t>
            </a:r>
            <a:endParaRPr/>
          </a:p>
        </p:txBody>
      </p:sp>
      <p:sp>
        <p:nvSpPr>
          <p:cNvPr id="362" name="Google Shape;362;p2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363" name="Google Shape;363;p29"/>
          <p:cNvSpPr/>
          <p:nvPr/>
        </p:nvSpPr>
        <p:spPr>
          <a:xfrm>
            <a:off x="941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364" name="Google Shape;364;p29"/>
          <p:cNvSpPr/>
          <p:nvPr/>
        </p:nvSpPr>
        <p:spPr>
          <a:xfrm>
            <a:off x="1446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365" name="Google Shape;365;p29"/>
          <p:cNvSpPr/>
          <p:nvPr/>
        </p:nvSpPr>
        <p:spPr>
          <a:xfrm>
            <a:off x="1952475" y="152297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66" name="Google Shape;366;p29"/>
          <p:cNvSpPr/>
          <p:nvPr/>
        </p:nvSpPr>
        <p:spPr>
          <a:xfrm>
            <a:off x="2457975" y="152297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367" name="Google Shape;367;p29"/>
          <p:cNvSpPr/>
          <p:nvPr/>
        </p:nvSpPr>
        <p:spPr>
          <a:xfrm>
            <a:off x="2963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68" name="Google Shape;368;p29"/>
          <p:cNvSpPr/>
          <p:nvPr/>
        </p:nvSpPr>
        <p:spPr>
          <a:xfrm>
            <a:off x="34689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369" name="Google Shape;369;p29"/>
          <p:cNvSpPr/>
          <p:nvPr/>
        </p:nvSpPr>
        <p:spPr>
          <a:xfrm>
            <a:off x="3974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70" name="Google Shape;370;p29"/>
          <p:cNvSpPr txBox="1"/>
          <p:nvPr/>
        </p:nvSpPr>
        <p:spPr>
          <a:xfrm>
            <a:off x="5490975" y="1559275"/>
            <a:ext cx="2381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0 &lt; 6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
        <p:nvSpPr>
          <p:cNvPr id="371" name="Google Shape;371;p29"/>
          <p:cNvSpPr/>
          <p:nvPr/>
        </p:nvSpPr>
        <p:spPr>
          <a:xfrm>
            <a:off x="941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372" name="Google Shape;372;p29"/>
          <p:cNvSpPr/>
          <p:nvPr/>
        </p:nvSpPr>
        <p:spPr>
          <a:xfrm>
            <a:off x="1446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373" name="Google Shape;373;p29"/>
          <p:cNvSpPr/>
          <p:nvPr/>
        </p:nvSpPr>
        <p:spPr>
          <a:xfrm>
            <a:off x="1952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74" name="Google Shape;374;p29"/>
          <p:cNvSpPr/>
          <p:nvPr/>
        </p:nvSpPr>
        <p:spPr>
          <a:xfrm>
            <a:off x="2457975" y="23208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375" name="Google Shape;375;p29"/>
          <p:cNvSpPr/>
          <p:nvPr/>
        </p:nvSpPr>
        <p:spPr>
          <a:xfrm>
            <a:off x="2963475" y="23208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76" name="Google Shape;376;p29"/>
          <p:cNvSpPr/>
          <p:nvPr/>
        </p:nvSpPr>
        <p:spPr>
          <a:xfrm>
            <a:off x="34689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377" name="Google Shape;377;p29"/>
          <p:cNvSpPr/>
          <p:nvPr/>
        </p:nvSpPr>
        <p:spPr>
          <a:xfrm>
            <a:off x="39744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78" name="Google Shape;378;p29"/>
          <p:cNvSpPr txBox="1"/>
          <p:nvPr/>
        </p:nvSpPr>
        <p:spPr>
          <a:xfrm>
            <a:off x="5490975" y="2357100"/>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6 &gt; 2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
        <p:nvSpPr>
          <p:cNvPr id="379" name="Google Shape;379;p29"/>
          <p:cNvSpPr/>
          <p:nvPr/>
        </p:nvSpPr>
        <p:spPr>
          <a:xfrm>
            <a:off x="941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380" name="Google Shape;380;p29"/>
          <p:cNvSpPr/>
          <p:nvPr/>
        </p:nvSpPr>
        <p:spPr>
          <a:xfrm>
            <a:off x="1446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381" name="Google Shape;381;p29"/>
          <p:cNvSpPr/>
          <p:nvPr/>
        </p:nvSpPr>
        <p:spPr>
          <a:xfrm>
            <a:off x="1952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82" name="Google Shape;382;p29"/>
          <p:cNvSpPr/>
          <p:nvPr/>
        </p:nvSpPr>
        <p:spPr>
          <a:xfrm>
            <a:off x="2457975" y="311862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83" name="Google Shape;383;p29"/>
          <p:cNvSpPr/>
          <p:nvPr/>
        </p:nvSpPr>
        <p:spPr>
          <a:xfrm>
            <a:off x="2963475" y="311862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384" name="Google Shape;384;p29"/>
          <p:cNvSpPr/>
          <p:nvPr/>
        </p:nvSpPr>
        <p:spPr>
          <a:xfrm>
            <a:off x="34689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385" name="Google Shape;385;p29"/>
          <p:cNvSpPr/>
          <p:nvPr/>
        </p:nvSpPr>
        <p:spPr>
          <a:xfrm>
            <a:off x="39744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86" name="Google Shape;386;p29"/>
          <p:cNvSpPr txBox="1"/>
          <p:nvPr/>
        </p:nvSpPr>
        <p:spPr>
          <a:xfrm>
            <a:off x="5490975" y="315492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2 &lt; 6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
        <p:nvSpPr>
          <p:cNvPr id="387" name="Google Shape;387;p29"/>
          <p:cNvSpPr/>
          <p:nvPr/>
        </p:nvSpPr>
        <p:spPr>
          <a:xfrm>
            <a:off x="941475" y="40363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388" name="Google Shape;388;p29"/>
          <p:cNvSpPr/>
          <p:nvPr/>
        </p:nvSpPr>
        <p:spPr>
          <a:xfrm>
            <a:off x="1446975" y="40363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389" name="Google Shape;389;p29"/>
          <p:cNvSpPr/>
          <p:nvPr/>
        </p:nvSpPr>
        <p:spPr>
          <a:xfrm>
            <a:off x="1952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390" name="Google Shape;390;p29"/>
          <p:cNvSpPr/>
          <p:nvPr/>
        </p:nvSpPr>
        <p:spPr>
          <a:xfrm>
            <a:off x="2457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391" name="Google Shape;391;p29"/>
          <p:cNvSpPr/>
          <p:nvPr/>
        </p:nvSpPr>
        <p:spPr>
          <a:xfrm>
            <a:off x="29634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6</a:t>
            </a:r>
            <a:endParaRPr>
              <a:solidFill>
                <a:schemeClr val="lt2"/>
              </a:solidFill>
              <a:latin typeface="Lato"/>
              <a:ea typeface="Lato"/>
              <a:cs typeface="Lato"/>
              <a:sym typeface="Lato"/>
            </a:endParaRPr>
          </a:p>
        </p:txBody>
      </p:sp>
      <p:sp>
        <p:nvSpPr>
          <p:cNvPr id="392" name="Google Shape;392;p29"/>
          <p:cNvSpPr/>
          <p:nvPr/>
        </p:nvSpPr>
        <p:spPr>
          <a:xfrm>
            <a:off x="34689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393" name="Google Shape;393;p29"/>
          <p:cNvSpPr/>
          <p:nvPr/>
        </p:nvSpPr>
        <p:spPr>
          <a:xfrm>
            <a:off x="39744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394" name="Google Shape;394;p29"/>
          <p:cNvSpPr txBox="1"/>
          <p:nvPr/>
        </p:nvSpPr>
        <p:spPr>
          <a:xfrm>
            <a:off x="5490975" y="40726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1 &lt; 3 → </a:t>
            </a:r>
            <a:r>
              <a:rPr b="1" lang="el" sz="1600">
                <a:solidFill>
                  <a:schemeClr val="dk1"/>
                </a:solidFill>
                <a:latin typeface="Lato"/>
                <a:ea typeface="Lato"/>
                <a:cs typeface="Lato"/>
                <a:sym typeface="Lato"/>
              </a:rPr>
              <a:t>Things in place!</a:t>
            </a:r>
            <a:endParaRPr b="1" sz="1600">
              <a:solidFill>
                <a:schemeClr val="dk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0"/>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I want more bubbles.</a:t>
            </a:r>
            <a:endParaRPr/>
          </a:p>
        </p:txBody>
      </p:sp>
      <p:sp>
        <p:nvSpPr>
          <p:cNvPr id="400" name="Google Shape;400;p3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401" name="Google Shape;401;p30"/>
          <p:cNvSpPr/>
          <p:nvPr/>
        </p:nvSpPr>
        <p:spPr>
          <a:xfrm>
            <a:off x="941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402" name="Google Shape;402;p30"/>
          <p:cNvSpPr/>
          <p:nvPr/>
        </p:nvSpPr>
        <p:spPr>
          <a:xfrm>
            <a:off x="1446975" y="15229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403" name="Google Shape;403;p30"/>
          <p:cNvSpPr/>
          <p:nvPr/>
        </p:nvSpPr>
        <p:spPr>
          <a:xfrm>
            <a:off x="1952475" y="15229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404" name="Google Shape;404;p30"/>
          <p:cNvSpPr/>
          <p:nvPr/>
        </p:nvSpPr>
        <p:spPr>
          <a:xfrm>
            <a:off x="2457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405" name="Google Shape;405;p30"/>
          <p:cNvSpPr/>
          <p:nvPr/>
        </p:nvSpPr>
        <p:spPr>
          <a:xfrm>
            <a:off x="2963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6</a:t>
            </a:r>
            <a:endParaRPr>
              <a:solidFill>
                <a:schemeClr val="lt2"/>
              </a:solidFill>
              <a:latin typeface="Lato"/>
              <a:ea typeface="Lato"/>
              <a:cs typeface="Lato"/>
              <a:sym typeface="Lato"/>
            </a:endParaRPr>
          </a:p>
        </p:txBody>
      </p:sp>
      <p:sp>
        <p:nvSpPr>
          <p:cNvPr id="406" name="Google Shape;406;p30"/>
          <p:cNvSpPr/>
          <p:nvPr/>
        </p:nvSpPr>
        <p:spPr>
          <a:xfrm>
            <a:off x="34689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407" name="Google Shape;407;p30"/>
          <p:cNvSpPr/>
          <p:nvPr/>
        </p:nvSpPr>
        <p:spPr>
          <a:xfrm>
            <a:off x="3974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408" name="Google Shape;408;p30"/>
          <p:cNvSpPr txBox="1"/>
          <p:nvPr/>
        </p:nvSpPr>
        <p:spPr>
          <a:xfrm>
            <a:off x="5490975" y="1559275"/>
            <a:ext cx="29271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3 &gt; 0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
        <p:nvSpPr>
          <p:cNvPr id="409" name="Google Shape;409;p30"/>
          <p:cNvSpPr/>
          <p:nvPr/>
        </p:nvSpPr>
        <p:spPr>
          <a:xfrm>
            <a:off x="941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410" name="Google Shape;410;p30"/>
          <p:cNvSpPr/>
          <p:nvPr/>
        </p:nvSpPr>
        <p:spPr>
          <a:xfrm>
            <a:off x="1446975" y="2320800"/>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411" name="Google Shape;411;p30"/>
          <p:cNvSpPr/>
          <p:nvPr/>
        </p:nvSpPr>
        <p:spPr>
          <a:xfrm>
            <a:off x="1952475" y="2320800"/>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412" name="Google Shape;412;p30"/>
          <p:cNvSpPr/>
          <p:nvPr/>
        </p:nvSpPr>
        <p:spPr>
          <a:xfrm>
            <a:off x="24579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413" name="Google Shape;413;p30"/>
          <p:cNvSpPr/>
          <p:nvPr/>
        </p:nvSpPr>
        <p:spPr>
          <a:xfrm>
            <a:off x="29634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6</a:t>
            </a:r>
            <a:endParaRPr>
              <a:solidFill>
                <a:schemeClr val="lt2"/>
              </a:solidFill>
              <a:latin typeface="Lato"/>
              <a:ea typeface="Lato"/>
              <a:cs typeface="Lato"/>
              <a:sym typeface="Lato"/>
            </a:endParaRPr>
          </a:p>
        </p:txBody>
      </p:sp>
      <p:sp>
        <p:nvSpPr>
          <p:cNvPr id="414" name="Google Shape;414;p30"/>
          <p:cNvSpPr/>
          <p:nvPr/>
        </p:nvSpPr>
        <p:spPr>
          <a:xfrm>
            <a:off x="34689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415" name="Google Shape;415;p30"/>
          <p:cNvSpPr/>
          <p:nvPr/>
        </p:nvSpPr>
        <p:spPr>
          <a:xfrm>
            <a:off x="39744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416" name="Google Shape;416;p30"/>
          <p:cNvSpPr txBox="1"/>
          <p:nvPr/>
        </p:nvSpPr>
        <p:spPr>
          <a:xfrm>
            <a:off x="5490975" y="2357100"/>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0 &lt; 3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
        <p:nvSpPr>
          <p:cNvPr id="417" name="Google Shape;417;p30"/>
          <p:cNvSpPr/>
          <p:nvPr/>
        </p:nvSpPr>
        <p:spPr>
          <a:xfrm>
            <a:off x="941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418" name="Google Shape;418;p30"/>
          <p:cNvSpPr/>
          <p:nvPr/>
        </p:nvSpPr>
        <p:spPr>
          <a:xfrm>
            <a:off x="14469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419" name="Google Shape;419;p30"/>
          <p:cNvSpPr/>
          <p:nvPr/>
        </p:nvSpPr>
        <p:spPr>
          <a:xfrm>
            <a:off x="1952475" y="311862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420" name="Google Shape;420;p30"/>
          <p:cNvSpPr/>
          <p:nvPr/>
        </p:nvSpPr>
        <p:spPr>
          <a:xfrm>
            <a:off x="2457975" y="311862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421" name="Google Shape;421;p30"/>
          <p:cNvSpPr/>
          <p:nvPr/>
        </p:nvSpPr>
        <p:spPr>
          <a:xfrm>
            <a:off x="29634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6</a:t>
            </a:r>
            <a:endParaRPr>
              <a:solidFill>
                <a:schemeClr val="lt2"/>
              </a:solidFill>
              <a:latin typeface="Lato"/>
              <a:ea typeface="Lato"/>
              <a:cs typeface="Lato"/>
              <a:sym typeface="Lato"/>
            </a:endParaRPr>
          </a:p>
        </p:txBody>
      </p:sp>
      <p:sp>
        <p:nvSpPr>
          <p:cNvPr id="422" name="Google Shape;422;p30"/>
          <p:cNvSpPr/>
          <p:nvPr/>
        </p:nvSpPr>
        <p:spPr>
          <a:xfrm>
            <a:off x="34689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423" name="Google Shape;423;p30"/>
          <p:cNvSpPr/>
          <p:nvPr/>
        </p:nvSpPr>
        <p:spPr>
          <a:xfrm>
            <a:off x="39744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424" name="Google Shape;424;p30"/>
          <p:cNvSpPr txBox="1"/>
          <p:nvPr/>
        </p:nvSpPr>
        <p:spPr>
          <a:xfrm>
            <a:off x="5490975" y="315492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3 &gt; 2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
        <p:nvSpPr>
          <p:cNvPr id="425" name="Google Shape;425;p30"/>
          <p:cNvSpPr/>
          <p:nvPr/>
        </p:nvSpPr>
        <p:spPr>
          <a:xfrm>
            <a:off x="9414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426" name="Google Shape;426;p30"/>
          <p:cNvSpPr/>
          <p:nvPr/>
        </p:nvSpPr>
        <p:spPr>
          <a:xfrm>
            <a:off x="1446975" y="40363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427" name="Google Shape;427;p30"/>
          <p:cNvSpPr/>
          <p:nvPr/>
        </p:nvSpPr>
        <p:spPr>
          <a:xfrm>
            <a:off x="1952475" y="403637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428" name="Google Shape;428;p30"/>
          <p:cNvSpPr/>
          <p:nvPr/>
        </p:nvSpPr>
        <p:spPr>
          <a:xfrm>
            <a:off x="2457975" y="4036375"/>
            <a:ext cx="505500" cy="501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429" name="Google Shape;429;p30"/>
          <p:cNvSpPr/>
          <p:nvPr/>
        </p:nvSpPr>
        <p:spPr>
          <a:xfrm>
            <a:off x="29634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6</a:t>
            </a:r>
            <a:endParaRPr>
              <a:solidFill>
                <a:schemeClr val="lt2"/>
              </a:solidFill>
              <a:latin typeface="Lato"/>
              <a:ea typeface="Lato"/>
              <a:cs typeface="Lato"/>
              <a:sym typeface="Lato"/>
            </a:endParaRPr>
          </a:p>
        </p:txBody>
      </p:sp>
      <p:sp>
        <p:nvSpPr>
          <p:cNvPr id="430" name="Google Shape;430;p30"/>
          <p:cNvSpPr/>
          <p:nvPr/>
        </p:nvSpPr>
        <p:spPr>
          <a:xfrm>
            <a:off x="34689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431" name="Google Shape;431;p30"/>
          <p:cNvSpPr/>
          <p:nvPr/>
        </p:nvSpPr>
        <p:spPr>
          <a:xfrm>
            <a:off x="39744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432" name="Google Shape;432;p30"/>
          <p:cNvSpPr txBox="1"/>
          <p:nvPr/>
        </p:nvSpPr>
        <p:spPr>
          <a:xfrm>
            <a:off x="5490975" y="40726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2 &lt; 3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1"/>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I want more bubbles.</a:t>
            </a:r>
            <a:endParaRPr/>
          </a:p>
        </p:txBody>
      </p:sp>
      <p:sp>
        <p:nvSpPr>
          <p:cNvPr id="438" name="Google Shape;438;p3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439" name="Google Shape;439;p31"/>
          <p:cNvSpPr/>
          <p:nvPr/>
        </p:nvSpPr>
        <p:spPr>
          <a:xfrm>
            <a:off x="941475" y="15229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440" name="Google Shape;440;p31"/>
          <p:cNvSpPr/>
          <p:nvPr/>
        </p:nvSpPr>
        <p:spPr>
          <a:xfrm>
            <a:off x="1446975" y="15229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441" name="Google Shape;441;p31"/>
          <p:cNvSpPr/>
          <p:nvPr/>
        </p:nvSpPr>
        <p:spPr>
          <a:xfrm>
            <a:off x="1952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442" name="Google Shape;442;p31"/>
          <p:cNvSpPr/>
          <p:nvPr/>
        </p:nvSpPr>
        <p:spPr>
          <a:xfrm>
            <a:off x="24579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3</a:t>
            </a:r>
            <a:endParaRPr>
              <a:solidFill>
                <a:schemeClr val="lt2"/>
              </a:solidFill>
              <a:latin typeface="Lato"/>
              <a:ea typeface="Lato"/>
              <a:cs typeface="Lato"/>
              <a:sym typeface="Lato"/>
            </a:endParaRPr>
          </a:p>
        </p:txBody>
      </p:sp>
      <p:sp>
        <p:nvSpPr>
          <p:cNvPr id="443" name="Google Shape;443;p31"/>
          <p:cNvSpPr/>
          <p:nvPr/>
        </p:nvSpPr>
        <p:spPr>
          <a:xfrm>
            <a:off x="2963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6</a:t>
            </a:r>
            <a:endParaRPr>
              <a:solidFill>
                <a:schemeClr val="lt2"/>
              </a:solidFill>
              <a:latin typeface="Lato"/>
              <a:ea typeface="Lato"/>
              <a:cs typeface="Lato"/>
              <a:sym typeface="Lato"/>
            </a:endParaRPr>
          </a:p>
        </p:txBody>
      </p:sp>
      <p:sp>
        <p:nvSpPr>
          <p:cNvPr id="444" name="Google Shape;444;p31"/>
          <p:cNvSpPr/>
          <p:nvPr/>
        </p:nvSpPr>
        <p:spPr>
          <a:xfrm>
            <a:off x="34689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445" name="Google Shape;445;p31"/>
          <p:cNvSpPr/>
          <p:nvPr/>
        </p:nvSpPr>
        <p:spPr>
          <a:xfrm>
            <a:off x="3974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446" name="Google Shape;446;p31"/>
          <p:cNvSpPr txBox="1"/>
          <p:nvPr/>
        </p:nvSpPr>
        <p:spPr>
          <a:xfrm>
            <a:off x="5490975" y="1559275"/>
            <a:ext cx="29271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1 &gt; 0 → </a:t>
            </a:r>
            <a:r>
              <a:rPr b="1" lang="el" sz="1600">
                <a:solidFill>
                  <a:schemeClr val="accent3"/>
                </a:solidFill>
                <a:latin typeface="Lato"/>
                <a:ea typeface="Lato"/>
                <a:cs typeface="Lato"/>
                <a:sym typeface="Lato"/>
              </a:rPr>
              <a:t>Things not in place!</a:t>
            </a:r>
            <a:endParaRPr b="1" sz="1600">
              <a:solidFill>
                <a:schemeClr val="accent3"/>
              </a:solidFill>
              <a:latin typeface="Lato"/>
              <a:ea typeface="Lato"/>
              <a:cs typeface="Lato"/>
              <a:sym typeface="Lato"/>
            </a:endParaRPr>
          </a:p>
        </p:txBody>
      </p:sp>
      <p:sp>
        <p:nvSpPr>
          <p:cNvPr id="447" name="Google Shape;447;p31"/>
          <p:cNvSpPr/>
          <p:nvPr/>
        </p:nvSpPr>
        <p:spPr>
          <a:xfrm>
            <a:off x="941475" y="2320800"/>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448" name="Google Shape;448;p31"/>
          <p:cNvSpPr/>
          <p:nvPr/>
        </p:nvSpPr>
        <p:spPr>
          <a:xfrm>
            <a:off x="1446975" y="2320800"/>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449" name="Google Shape;449;p31"/>
          <p:cNvSpPr/>
          <p:nvPr/>
        </p:nvSpPr>
        <p:spPr>
          <a:xfrm>
            <a:off x="1952475" y="23208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450" name="Google Shape;450;p31"/>
          <p:cNvSpPr/>
          <p:nvPr/>
        </p:nvSpPr>
        <p:spPr>
          <a:xfrm>
            <a:off x="24579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3</a:t>
            </a:r>
            <a:endParaRPr>
              <a:solidFill>
                <a:schemeClr val="lt2"/>
              </a:solidFill>
              <a:latin typeface="Lato"/>
              <a:ea typeface="Lato"/>
              <a:cs typeface="Lato"/>
              <a:sym typeface="Lato"/>
            </a:endParaRPr>
          </a:p>
        </p:txBody>
      </p:sp>
      <p:sp>
        <p:nvSpPr>
          <p:cNvPr id="451" name="Google Shape;451;p31"/>
          <p:cNvSpPr/>
          <p:nvPr/>
        </p:nvSpPr>
        <p:spPr>
          <a:xfrm>
            <a:off x="29634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6</a:t>
            </a:r>
            <a:endParaRPr>
              <a:solidFill>
                <a:schemeClr val="lt2"/>
              </a:solidFill>
              <a:latin typeface="Lato"/>
              <a:ea typeface="Lato"/>
              <a:cs typeface="Lato"/>
              <a:sym typeface="Lato"/>
            </a:endParaRPr>
          </a:p>
        </p:txBody>
      </p:sp>
      <p:sp>
        <p:nvSpPr>
          <p:cNvPr id="452" name="Google Shape;452;p31"/>
          <p:cNvSpPr/>
          <p:nvPr/>
        </p:nvSpPr>
        <p:spPr>
          <a:xfrm>
            <a:off x="34689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453" name="Google Shape;453;p31"/>
          <p:cNvSpPr/>
          <p:nvPr/>
        </p:nvSpPr>
        <p:spPr>
          <a:xfrm>
            <a:off x="3974475" y="2320800"/>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454" name="Google Shape;454;p31"/>
          <p:cNvSpPr txBox="1"/>
          <p:nvPr/>
        </p:nvSpPr>
        <p:spPr>
          <a:xfrm>
            <a:off x="5490975" y="2357100"/>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0 &lt; 1 → </a:t>
            </a:r>
            <a:r>
              <a:rPr b="1" lang="el" sz="1600">
                <a:solidFill>
                  <a:schemeClr val="accent2"/>
                </a:solidFill>
                <a:latin typeface="Lato"/>
                <a:ea typeface="Lato"/>
                <a:cs typeface="Lato"/>
                <a:sym typeface="Lato"/>
              </a:rPr>
              <a:t>Swap!</a:t>
            </a:r>
            <a:endParaRPr b="1" sz="1600">
              <a:solidFill>
                <a:schemeClr val="accent2"/>
              </a:solidFill>
              <a:latin typeface="Lato"/>
              <a:ea typeface="Lato"/>
              <a:cs typeface="Lato"/>
              <a:sym typeface="Lato"/>
            </a:endParaRPr>
          </a:p>
        </p:txBody>
      </p:sp>
      <p:sp>
        <p:nvSpPr>
          <p:cNvPr id="455" name="Google Shape;455;p31"/>
          <p:cNvSpPr/>
          <p:nvPr/>
        </p:nvSpPr>
        <p:spPr>
          <a:xfrm>
            <a:off x="941475" y="31186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456" name="Google Shape;456;p31"/>
          <p:cNvSpPr/>
          <p:nvPr/>
        </p:nvSpPr>
        <p:spPr>
          <a:xfrm>
            <a:off x="1446975" y="311862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457" name="Google Shape;457;p31"/>
          <p:cNvSpPr/>
          <p:nvPr/>
        </p:nvSpPr>
        <p:spPr>
          <a:xfrm>
            <a:off x="1952475" y="311862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458" name="Google Shape;458;p31"/>
          <p:cNvSpPr/>
          <p:nvPr/>
        </p:nvSpPr>
        <p:spPr>
          <a:xfrm>
            <a:off x="24579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3</a:t>
            </a:r>
            <a:endParaRPr>
              <a:solidFill>
                <a:schemeClr val="lt2"/>
              </a:solidFill>
              <a:latin typeface="Lato"/>
              <a:ea typeface="Lato"/>
              <a:cs typeface="Lato"/>
              <a:sym typeface="Lato"/>
            </a:endParaRPr>
          </a:p>
        </p:txBody>
      </p:sp>
      <p:sp>
        <p:nvSpPr>
          <p:cNvPr id="459" name="Google Shape;459;p31"/>
          <p:cNvSpPr/>
          <p:nvPr/>
        </p:nvSpPr>
        <p:spPr>
          <a:xfrm>
            <a:off x="29634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6</a:t>
            </a:r>
            <a:endParaRPr>
              <a:solidFill>
                <a:schemeClr val="lt2"/>
              </a:solidFill>
              <a:latin typeface="Lato"/>
              <a:ea typeface="Lato"/>
              <a:cs typeface="Lato"/>
              <a:sym typeface="Lato"/>
            </a:endParaRPr>
          </a:p>
        </p:txBody>
      </p:sp>
      <p:sp>
        <p:nvSpPr>
          <p:cNvPr id="460" name="Google Shape;460;p31"/>
          <p:cNvSpPr/>
          <p:nvPr/>
        </p:nvSpPr>
        <p:spPr>
          <a:xfrm>
            <a:off x="34689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461" name="Google Shape;461;p31"/>
          <p:cNvSpPr/>
          <p:nvPr/>
        </p:nvSpPr>
        <p:spPr>
          <a:xfrm>
            <a:off x="3974475" y="311862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462" name="Google Shape;462;p31"/>
          <p:cNvSpPr txBox="1"/>
          <p:nvPr/>
        </p:nvSpPr>
        <p:spPr>
          <a:xfrm>
            <a:off x="5490975" y="315492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1 &gt; 2 → </a:t>
            </a:r>
            <a:r>
              <a:rPr b="1" lang="el" sz="1600">
                <a:solidFill>
                  <a:schemeClr val="dk1"/>
                </a:solidFill>
                <a:latin typeface="Lato"/>
                <a:ea typeface="Lato"/>
                <a:cs typeface="Lato"/>
                <a:sym typeface="Lato"/>
              </a:rPr>
              <a:t>Things in place!</a:t>
            </a:r>
            <a:endParaRPr b="1" sz="1600">
              <a:solidFill>
                <a:schemeClr val="dk1"/>
              </a:solidFill>
              <a:latin typeface="Lato"/>
              <a:ea typeface="Lato"/>
              <a:cs typeface="Lato"/>
              <a:sym typeface="Lato"/>
            </a:endParaRPr>
          </a:p>
        </p:txBody>
      </p:sp>
      <p:sp>
        <p:nvSpPr>
          <p:cNvPr id="463" name="Google Shape;463;p31"/>
          <p:cNvSpPr/>
          <p:nvPr/>
        </p:nvSpPr>
        <p:spPr>
          <a:xfrm>
            <a:off x="941475" y="40363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464" name="Google Shape;464;p31"/>
          <p:cNvSpPr/>
          <p:nvPr/>
        </p:nvSpPr>
        <p:spPr>
          <a:xfrm>
            <a:off x="1446975" y="40363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465" name="Google Shape;465;p31"/>
          <p:cNvSpPr/>
          <p:nvPr/>
        </p:nvSpPr>
        <p:spPr>
          <a:xfrm>
            <a:off x="19524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2</a:t>
            </a:r>
            <a:endParaRPr>
              <a:solidFill>
                <a:schemeClr val="lt2"/>
              </a:solidFill>
              <a:latin typeface="Lato"/>
              <a:ea typeface="Lato"/>
              <a:cs typeface="Lato"/>
              <a:sym typeface="Lato"/>
            </a:endParaRPr>
          </a:p>
        </p:txBody>
      </p:sp>
      <p:sp>
        <p:nvSpPr>
          <p:cNvPr id="466" name="Google Shape;466;p31"/>
          <p:cNvSpPr/>
          <p:nvPr/>
        </p:nvSpPr>
        <p:spPr>
          <a:xfrm>
            <a:off x="24579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3</a:t>
            </a:r>
            <a:endParaRPr>
              <a:solidFill>
                <a:schemeClr val="lt2"/>
              </a:solidFill>
              <a:latin typeface="Lato"/>
              <a:ea typeface="Lato"/>
              <a:cs typeface="Lato"/>
              <a:sym typeface="Lato"/>
            </a:endParaRPr>
          </a:p>
        </p:txBody>
      </p:sp>
      <p:sp>
        <p:nvSpPr>
          <p:cNvPr id="467" name="Google Shape;467;p31"/>
          <p:cNvSpPr/>
          <p:nvPr/>
        </p:nvSpPr>
        <p:spPr>
          <a:xfrm>
            <a:off x="29634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6</a:t>
            </a:r>
            <a:endParaRPr>
              <a:solidFill>
                <a:schemeClr val="lt2"/>
              </a:solidFill>
              <a:latin typeface="Lato"/>
              <a:ea typeface="Lato"/>
              <a:cs typeface="Lato"/>
              <a:sym typeface="Lato"/>
            </a:endParaRPr>
          </a:p>
        </p:txBody>
      </p:sp>
      <p:sp>
        <p:nvSpPr>
          <p:cNvPr id="468" name="Google Shape;468;p31"/>
          <p:cNvSpPr/>
          <p:nvPr/>
        </p:nvSpPr>
        <p:spPr>
          <a:xfrm>
            <a:off x="34689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469" name="Google Shape;469;p31"/>
          <p:cNvSpPr/>
          <p:nvPr/>
        </p:nvSpPr>
        <p:spPr>
          <a:xfrm>
            <a:off x="3974475" y="40363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470" name="Google Shape;470;p31"/>
          <p:cNvSpPr txBox="1"/>
          <p:nvPr/>
        </p:nvSpPr>
        <p:spPr>
          <a:xfrm>
            <a:off x="5490975" y="40726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0 &lt; 1 → </a:t>
            </a:r>
            <a:r>
              <a:rPr b="1" lang="el" sz="1600">
                <a:solidFill>
                  <a:schemeClr val="dk1"/>
                </a:solidFill>
                <a:latin typeface="Lato"/>
                <a:ea typeface="Lato"/>
                <a:cs typeface="Lato"/>
                <a:sym typeface="Lato"/>
              </a:rPr>
              <a:t>Things in place!</a:t>
            </a:r>
            <a:endParaRPr b="1" sz="1600">
              <a:solidFill>
                <a:schemeClr val="dk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2"/>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I want more bubbles.</a:t>
            </a:r>
            <a:endParaRPr/>
          </a:p>
        </p:txBody>
      </p:sp>
      <p:sp>
        <p:nvSpPr>
          <p:cNvPr id="476" name="Google Shape;476;p3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477" name="Google Shape;477;p32"/>
          <p:cNvSpPr/>
          <p:nvPr/>
        </p:nvSpPr>
        <p:spPr>
          <a:xfrm>
            <a:off x="941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0</a:t>
            </a:r>
            <a:endParaRPr>
              <a:solidFill>
                <a:schemeClr val="lt2"/>
              </a:solidFill>
              <a:latin typeface="Lato"/>
              <a:ea typeface="Lato"/>
              <a:cs typeface="Lato"/>
              <a:sym typeface="Lato"/>
            </a:endParaRPr>
          </a:p>
        </p:txBody>
      </p:sp>
      <p:sp>
        <p:nvSpPr>
          <p:cNvPr id="478" name="Google Shape;478;p32"/>
          <p:cNvSpPr/>
          <p:nvPr/>
        </p:nvSpPr>
        <p:spPr>
          <a:xfrm>
            <a:off x="14469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1</a:t>
            </a:r>
            <a:endParaRPr>
              <a:solidFill>
                <a:schemeClr val="lt2"/>
              </a:solidFill>
              <a:latin typeface="Lato"/>
              <a:ea typeface="Lato"/>
              <a:cs typeface="Lato"/>
              <a:sym typeface="Lato"/>
            </a:endParaRPr>
          </a:p>
        </p:txBody>
      </p:sp>
      <p:sp>
        <p:nvSpPr>
          <p:cNvPr id="479" name="Google Shape;479;p32"/>
          <p:cNvSpPr/>
          <p:nvPr/>
        </p:nvSpPr>
        <p:spPr>
          <a:xfrm>
            <a:off x="1952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2</a:t>
            </a:r>
            <a:endParaRPr>
              <a:solidFill>
                <a:schemeClr val="lt2"/>
              </a:solidFill>
              <a:latin typeface="Lato"/>
              <a:ea typeface="Lato"/>
              <a:cs typeface="Lato"/>
              <a:sym typeface="Lato"/>
            </a:endParaRPr>
          </a:p>
        </p:txBody>
      </p:sp>
      <p:sp>
        <p:nvSpPr>
          <p:cNvPr id="480" name="Google Shape;480;p32"/>
          <p:cNvSpPr/>
          <p:nvPr/>
        </p:nvSpPr>
        <p:spPr>
          <a:xfrm>
            <a:off x="24579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3</a:t>
            </a:r>
            <a:endParaRPr>
              <a:solidFill>
                <a:schemeClr val="lt2"/>
              </a:solidFill>
              <a:latin typeface="Lato"/>
              <a:ea typeface="Lato"/>
              <a:cs typeface="Lato"/>
              <a:sym typeface="Lato"/>
            </a:endParaRPr>
          </a:p>
        </p:txBody>
      </p:sp>
      <p:sp>
        <p:nvSpPr>
          <p:cNvPr id="481" name="Google Shape;481;p32"/>
          <p:cNvSpPr/>
          <p:nvPr/>
        </p:nvSpPr>
        <p:spPr>
          <a:xfrm>
            <a:off x="2963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6</a:t>
            </a:r>
            <a:endParaRPr>
              <a:solidFill>
                <a:schemeClr val="lt2"/>
              </a:solidFill>
              <a:latin typeface="Lato"/>
              <a:ea typeface="Lato"/>
              <a:cs typeface="Lato"/>
              <a:sym typeface="Lato"/>
            </a:endParaRPr>
          </a:p>
        </p:txBody>
      </p:sp>
      <p:sp>
        <p:nvSpPr>
          <p:cNvPr id="482" name="Google Shape;482;p32"/>
          <p:cNvSpPr/>
          <p:nvPr/>
        </p:nvSpPr>
        <p:spPr>
          <a:xfrm>
            <a:off x="34689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7</a:t>
            </a:r>
            <a:endParaRPr>
              <a:solidFill>
                <a:schemeClr val="lt2"/>
              </a:solidFill>
              <a:latin typeface="Lato"/>
              <a:ea typeface="Lato"/>
              <a:cs typeface="Lato"/>
              <a:sym typeface="Lato"/>
            </a:endParaRPr>
          </a:p>
        </p:txBody>
      </p:sp>
      <p:sp>
        <p:nvSpPr>
          <p:cNvPr id="483" name="Google Shape;483;p32"/>
          <p:cNvSpPr/>
          <p:nvPr/>
        </p:nvSpPr>
        <p:spPr>
          <a:xfrm>
            <a:off x="3974475" y="1522975"/>
            <a:ext cx="505500" cy="501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solidFill>
                  <a:schemeClr val="lt2"/>
                </a:solidFill>
                <a:latin typeface="Lato"/>
                <a:ea typeface="Lato"/>
                <a:cs typeface="Lato"/>
                <a:sym typeface="Lato"/>
              </a:rPr>
              <a:t>9</a:t>
            </a:r>
            <a:endParaRPr>
              <a:solidFill>
                <a:schemeClr val="lt2"/>
              </a:solidFill>
              <a:latin typeface="Lato"/>
              <a:ea typeface="Lato"/>
              <a:cs typeface="Lato"/>
              <a:sym typeface="Lato"/>
            </a:endParaRPr>
          </a:p>
        </p:txBody>
      </p:sp>
      <p:sp>
        <p:nvSpPr>
          <p:cNvPr id="484" name="Google Shape;484;p32"/>
          <p:cNvSpPr txBox="1"/>
          <p:nvPr/>
        </p:nvSpPr>
        <p:spPr>
          <a:xfrm>
            <a:off x="5490975" y="1559275"/>
            <a:ext cx="29271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600">
                <a:solidFill>
                  <a:schemeClr val="dk1"/>
                </a:solidFill>
                <a:latin typeface="Lato"/>
                <a:ea typeface="Lato"/>
                <a:cs typeface="Lato"/>
                <a:sym typeface="Lato"/>
              </a:rPr>
              <a:t>Done!</a:t>
            </a:r>
            <a:endParaRPr b="1" sz="1600">
              <a:solidFill>
                <a:schemeClr val="dk1"/>
              </a:solidFill>
              <a:latin typeface="Lato"/>
              <a:ea typeface="Lato"/>
              <a:cs typeface="Lato"/>
              <a:sym typeface="Lato"/>
            </a:endParaRPr>
          </a:p>
        </p:txBody>
      </p:sp>
      <p:sp>
        <p:nvSpPr>
          <p:cNvPr id="485" name="Google Shape;485;p32"/>
          <p:cNvSpPr txBox="1"/>
          <p:nvPr/>
        </p:nvSpPr>
        <p:spPr>
          <a:xfrm>
            <a:off x="948400" y="2332925"/>
            <a:ext cx="7587900" cy="2367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accent1"/>
              </a:buClr>
              <a:buSzPts val="1600"/>
              <a:buFont typeface="Lato"/>
              <a:buChar char="●"/>
            </a:pPr>
            <a:r>
              <a:rPr lang="el" sz="1600">
                <a:solidFill>
                  <a:schemeClr val="accent1"/>
                </a:solidFill>
                <a:latin typeface="Lato"/>
                <a:ea typeface="Lato"/>
                <a:cs typeface="Lato"/>
                <a:sym typeface="Lato"/>
              </a:rPr>
              <a:t>Really slow, isn’t it?</a:t>
            </a:r>
            <a:endParaRPr sz="1600">
              <a:solidFill>
                <a:schemeClr val="accent1"/>
              </a:solidFill>
              <a:latin typeface="Lato"/>
              <a:ea typeface="Lato"/>
              <a:cs typeface="Lato"/>
              <a:sym typeface="Lato"/>
            </a:endParaRPr>
          </a:p>
          <a:p>
            <a:pPr indent="-330200" lvl="0" marL="457200" rtl="0" algn="l">
              <a:spcBef>
                <a:spcPts val="0"/>
              </a:spcBef>
              <a:spcAft>
                <a:spcPts val="0"/>
              </a:spcAft>
              <a:buClr>
                <a:schemeClr val="accent1"/>
              </a:buClr>
              <a:buSzPts val="1600"/>
              <a:buFont typeface="Lato"/>
              <a:buChar char="●"/>
            </a:pPr>
            <a:r>
              <a:rPr lang="el" sz="1600">
                <a:solidFill>
                  <a:schemeClr val="accent1"/>
                </a:solidFill>
                <a:latin typeface="Lato"/>
                <a:ea typeface="Lato"/>
                <a:cs typeface="Lato"/>
                <a:sym typeface="Lato"/>
              </a:rPr>
              <a:t>How “much” would this take to sort one million integers?</a:t>
            </a:r>
            <a:endParaRPr sz="1600">
              <a:solidFill>
                <a:schemeClr val="accent1"/>
              </a:solidFill>
              <a:latin typeface="Lato"/>
              <a:ea typeface="Lato"/>
              <a:cs typeface="Lato"/>
              <a:sym typeface="Lato"/>
            </a:endParaRPr>
          </a:p>
          <a:p>
            <a:pPr indent="-330200" lvl="0" marL="457200" rtl="0" algn="l">
              <a:spcBef>
                <a:spcPts val="0"/>
              </a:spcBef>
              <a:spcAft>
                <a:spcPts val="0"/>
              </a:spcAft>
              <a:buClr>
                <a:schemeClr val="accent1"/>
              </a:buClr>
              <a:buSzPts val="1600"/>
              <a:buFont typeface="Lato"/>
              <a:buChar char="●"/>
            </a:pPr>
            <a:r>
              <a:rPr lang="el" sz="1600">
                <a:solidFill>
                  <a:schemeClr val="accent1"/>
                </a:solidFill>
                <a:latin typeface="Lato"/>
                <a:ea typeface="Lato"/>
                <a:cs typeface="Lato"/>
                <a:sym typeface="Lato"/>
              </a:rPr>
              <a:t>As Obama has said, “Bubble sort is the wrong way to go [when it comes to sorting one million integers]”.</a:t>
            </a:r>
            <a:endParaRPr sz="1600">
              <a:solidFill>
                <a:schemeClr val="accent1"/>
              </a:solidFill>
              <a:latin typeface="Lato"/>
              <a:ea typeface="Lato"/>
              <a:cs typeface="Lato"/>
              <a:sym typeface="Lato"/>
            </a:endParaRPr>
          </a:p>
          <a:p>
            <a:pPr indent="-330200" lvl="0" marL="457200" rtl="0" algn="l">
              <a:spcBef>
                <a:spcPts val="0"/>
              </a:spcBef>
              <a:spcAft>
                <a:spcPts val="0"/>
              </a:spcAft>
              <a:buClr>
                <a:schemeClr val="accent1"/>
              </a:buClr>
              <a:buSzPts val="1600"/>
              <a:buFont typeface="Lato"/>
              <a:buChar char="●"/>
            </a:pPr>
            <a:r>
              <a:rPr lang="el" sz="1600">
                <a:solidFill>
                  <a:schemeClr val="accent1"/>
                </a:solidFill>
                <a:latin typeface="Lato"/>
                <a:ea typeface="Lato"/>
                <a:cs typeface="Lato"/>
                <a:sym typeface="Lato"/>
              </a:rPr>
              <a:t>[</a:t>
            </a:r>
            <a:r>
              <a:rPr lang="el" sz="1600" u="sng">
                <a:solidFill>
                  <a:schemeClr val="hlink"/>
                </a:solidFill>
                <a:latin typeface="Lato"/>
                <a:ea typeface="Lato"/>
                <a:cs typeface="Lato"/>
                <a:sym typeface="Lato"/>
                <a:hlinkClick r:id="rId3"/>
              </a:rPr>
              <a:t>source</a:t>
            </a:r>
            <a:r>
              <a:rPr lang="el" sz="1600">
                <a:solidFill>
                  <a:schemeClr val="accent1"/>
                </a:solidFill>
                <a:latin typeface="Lato"/>
                <a:ea typeface="Lato"/>
                <a:cs typeface="Lato"/>
                <a:sym typeface="Lato"/>
              </a:rPr>
              <a:t>]</a:t>
            </a:r>
            <a:endParaRPr sz="1600">
              <a:solidFill>
                <a:schemeClr val="accent1"/>
              </a:solidFill>
              <a:latin typeface="Lato"/>
              <a:ea typeface="Lato"/>
              <a:cs typeface="Lato"/>
              <a:sym typeface="Lato"/>
            </a:endParaRPr>
          </a:p>
          <a:p>
            <a:pPr indent="-330200" lvl="0" marL="457200" rtl="0" algn="l">
              <a:spcBef>
                <a:spcPts val="0"/>
              </a:spcBef>
              <a:spcAft>
                <a:spcPts val="0"/>
              </a:spcAft>
              <a:buClr>
                <a:schemeClr val="accent1"/>
              </a:buClr>
              <a:buSzPts val="1600"/>
              <a:buFont typeface="Lato"/>
              <a:buChar char="●"/>
            </a:pPr>
            <a:r>
              <a:rPr lang="el" sz="1600">
                <a:solidFill>
                  <a:schemeClr val="accent1"/>
                </a:solidFill>
                <a:latin typeface="Lato"/>
                <a:ea typeface="Lato"/>
                <a:cs typeface="Lato"/>
                <a:sym typeface="Lato"/>
              </a:rPr>
              <a:t>Can you think of something faster?</a:t>
            </a:r>
            <a:endParaRPr sz="1600">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33"/>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Divide and Conquer</a:t>
            </a:r>
            <a:endParaRPr/>
          </a:p>
        </p:txBody>
      </p:sp>
      <p:sp>
        <p:nvSpPr>
          <p:cNvPr id="491" name="Google Shape;491;p3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492" name="Google Shape;492;p33"/>
          <p:cNvSpPr/>
          <p:nvPr/>
        </p:nvSpPr>
        <p:spPr>
          <a:xfrm>
            <a:off x="941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493" name="Google Shape;493;p33"/>
          <p:cNvSpPr/>
          <p:nvPr/>
        </p:nvSpPr>
        <p:spPr>
          <a:xfrm>
            <a:off x="1446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494" name="Google Shape;494;p33"/>
          <p:cNvSpPr/>
          <p:nvPr/>
        </p:nvSpPr>
        <p:spPr>
          <a:xfrm>
            <a:off x="1952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495" name="Google Shape;495;p33"/>
          <p:cNvSpPr/>
          <p:nvPr/>
        </p:nvSpPr>
        <p:spPr>
          <a:xfrm>
            <a:off x="2457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496" name="Google Shape;496;p33"/>
          <p:cNvSpPr/>
          <p:nvPr/>
        </p:nvSpPr>
        <p:spPr>
          <a:xfrm>
            <a:off x="2963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497" name="Google Shape;497;p33"/>
          <p:cNvSpPr/>
          <p:nvPr/>
        </p:nvSpPr>
        <p:spPr>
          <a:xfrm>
            <a:off x="34689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498" name="Google Shape;498;p33"/>
          <p:cNvSpPr/>
          <p:nvPr/>
        </p:nvSpPr>
        <p:spPr>
          <a:xfrm>
            <a:off x="3974475" y="15229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499" name="Google Shape;499;p33"/>
          <p:cNvSpPr txBox="1"/>
          <p:nvPr/>
        </p:nvSpPr>
        <p:spPr>
          <a:xfrm>
            <a:off x="5490975" y="15592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Start with the same list…</a:t>
            </a:r>
            <a:endParaRPr b="1" sz="1600">
              <a:solidFill>
                <a:schemeClr val="dk1"/>
              </a:solidFill>
              <a:latin typeface="Lato"/>
              <a:ea typeface="Lato"/>
              <a:cs typeface="Lato"/>
              <a:sym typeface="Lato"/>
            </a:endParaRPr>
          </a:p>
        </p:txBody>
      </p:sp>
      <p:sp>
        <p:nvSpPr>
          <p:cNvPr id="500" name="Google Shape;500;p33"/>
          <p:cNvSpPr/>
          <p:nvPr/>
        </p:nvSpPr>
        <p:spPr>
          <a:xfrm>
            <a:off x="712875" y="22845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501" name="Google Shape;501;p33"/>
          <p:cNvSpPr/>
          <p:nvPr/>
        </p:nvSpPr>
        <p:spPr>
          <a:xfrm>
            <a:off x="1294575" y="22845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502" name="Google Shape;502;p33"/>
          <p:cNvSpPr/>
          <p:nvPr/>
        </p:nvSpPr>
        <p:spPr>
          <a:xfrm>
            <a:off x="1876275" y="22845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503" name="Google Shape;503;p33"/>
          <p:cNvSpPr/>
          <p:nvPr/>
        </p:nvSpPr>
        <p:spPr>
          <a:xfrm>
            <a:off x="2457975" y="22845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504" name="Google Shape;504;p33"/>
          <p:cNvSpPr/>
          <p:nvPr/>
        </p:nvSpPr>
        <p:spPr>
          <a:xfrm>
            <a:off x="3039675" y="22845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505" name="Google Shape;505;p33"/>
          <p:cNvSpPr/>
          <p:nvPr/>
        </p:nvSpPr>
        <p:spPr>
          <a:xfrm>
            <a:off x="3621375" y="22845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506" name="Google Shape;506;p33"/>
          <p:cNvSpPr/>
          <p:nvPr/>
        </p:nvSpPr>
        <p:spPr>
          <a:xfrm>
            <a:off x="4203075" y="228457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507" name="Google Shape;507;p33"/>
          <p:cNvSpPr txBox="1"/>
          <p:nvPr/>
        </p:nvSpPr>
        <p:spPr>
          <a:xfrm>
            <a:off x="5490975" y="2357100"/>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Split things to unitary blocks…</a:t>
            </a:r>
            <a:endParaRPr b="1" sz="1600">
              <a:solidFill>
                <a:schemeClr val="dk1"/>
              </a:solidFill>
              <a:latin typeface="Lato"/>
              <a:ea typeface="Lato"/>
              <a:cs typeface="Lato"/>
              <a:sym typeface="Lato"/>
            </a:endParaRPr>
          </a:p>
        </p:txBody>
      </p:sp>
      <p:sp>
        <p:nvSpPr>
          <p:cNvPr id="508" name="Google Shape;508;p33"/>
          <p:cNvSpPr/>
          <p:nvPr/>
        </p:nvSpPr>
        <p:spPr>
          <a:xfrm>
            <a:off x="789075" y="3059900"/>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509" name="Google Shape;509;p33"/>
          <p:cNvSpPr/>
          <p:nvPr/>
        </p:nvSpPr>
        <p:spPr>
          <a:xfrm>
            <a:off x="1294575" y="3059900"/>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510" name="Google Shape;510;p33"/>
          <p:cNvSpPr/>
          <p:nvPr/>
        </p:nvSpPr>
        <p:spPr>
          <a:xfrm>
            <a:off x="1876275" y="30599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511" name="Google Shape;511;p33"/>
          <p:cNvSpPr/>
          <p:nvPr/>
        </p:nvSpPr>
        <p:spPr>
          <a:xfrm>
            <a:off x="2457975" y="3059900"/>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512" name="Google Shape;512;p33"/>
          <p:cNvSpPr/>
          <p:nvPr/>
        </p:nvSpPr>
        <p:spPr>
          <a:xfrm>
            <a:off x="3039675" y="30599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513" name="Google Shape;513;p33"/>
          <p:cNvSpPr/>
          <p:nvPr/>
        </p:nvSpPr>
        <p:spPr>
          <a:xfrm>
            <a:off x="3621375" y="30599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514" name="Google Shape;514;p33"/>
          <p:cNvSpPr/>
          <p:nvPr/>
        </p:nvSpPr>
        <p:spPr>
          <a:xfrm>
            <a:off x="4203075" y="3059900"/>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515" name="Google Shape;515;p33"/>
          <p:cNvSpPr txBox="1"/>
          <p:nvPr/>
        </p:nvSpPr>
        <p:spPr>
          <a:xfrm>
            <a:off x="5490975" y="3002513"/>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Merge the first two, respecting order…</a:t>
            </a:r>
            <a:endParaRPr b="1" sz="1600">
              <a:solidFill>
                <a:schemeClr val="dk1"/>
              </a:solidFill>
              <a:latin typeface="Lato"/>
              <a:ea typeface="Lato"/>
              <a:cs typeface="Lato"/>
              <a:sym typeface="Lato"/>
            </a:endParaRPr>
          </a:p>
        </p:txBody>
      </p:sp>
      <p:sp>
        <p:nvSpPr>
          <p:cNvPr id="516" name="Google Shape;516;p33"/>
          <p:cNvSpPr/>
          <p:nvPr/>
        </p:nvSpPr>
        <p:spPr>
          <a:xfrm>
            <a:off x="789075" y="38630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517" name="Google Shape;517;p33"/>
          <p:cNvSpPr/>
          <p:nvPr/>
        </p:nvSpPr>
        <p:spPr>
          <a:xfrm>
            <a:off x="1294575" y="38630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518" name="Google Shape;518;p33"/>
          <p:cNvSpPr/>
          <p:nvPr/>
        </p:nvSpPr>
        <p:spPr>
          <a:xfrm>
            <a:off x="1952475" y="386302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519" name="Google Shape;519;p33"/>
          <p:cNvSpPr/>
          <p:nvPr/>
        </p:nvSpPr>
        <p:spPr>
          <a:xfrm>
            <a:off x="2457975" y="386302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520" name="Google Shape;520;p33"/>
          <p:cNvSpPr/>
          <p:nvPr/>
        </p:nvSpPr>
        <p:spPr>
          <a:xfrm>
            <a:off x="3039675" y="386302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521" name="Google Shape;521;p33"/>
          <p:cNvSpPr/>
          <p:nvPr/>
        </p:nvSpPr>
        <p:spPr>
          <a:xfrm>
            <a:off x="3621375" y="386302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522" name="Google Shape;522;p33"/>
          <p:cNvSpPr/>
          <p:nvPr/>
        </p:nvSpPr>
        <p:spPr>
          <a:xfrm>
            <a:off x="4203075" y="38630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523" name="Google Shape;523;p33"/>
          <p:cNvSpPr txBox="1"/>
          <p:nvPr/>
        </p:nvSpPr>
        <p:spPr>
          <a:xfrm>
            <a:off x="5490975" y="38761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Merge the next two, respecting order…</a:t>
            </a:r>
            <a:endParaRPr b="1" sz="1600">
              <a:solidFill>
                <a:schemeClr val="dk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4"/>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Divide and Conquer</a:t>
            </a:r>
            <a:endParaRPr/>
          </a:p>
        </p:txBody>
      </p:sp>
      <p:sp>
        <p:nvSpPr>
          <p:cNvPr id="529" name="Google Shape;529;p3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530" name="Google Shape;530;p34"/>
          <p:cNvSpPr/>
          <p:nvPr/>
        </p:nvSpPr>
        <p:spPr>
          <a:xfrm>
            <a:off x="789100" y="144702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531" name="Google Shape;531;p34"/>
          <p:cNvSpPr/>
          <p:nvPr/>
        </p:nvSpPr>
        <p:spPr>
          <a:xfrm>
            <a:off x="1294600" y="144702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532" name="Google Shape;532;p34"/>
          <p:cNvSpPr/>
          <p:nvPr/>
        </p:nvSpPr>
        <p:spPr>
          <a:xfrm>
            <a:off x="1952500" y="144702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533" name="Google Shape;533;p34"/>
          <p:cNvSpPr/>
          <p:nvPr/>
        </p:nvSpPr>
        <p:spPr>
          <a:xfrm>
            <a:off x="2458000" y="144702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534" name="Google Shape;534;p34"/>
          <p:cNvSpPr/>
          <p:nvPr/>
        </p:nvSpPr>
        <p:spPr>
          <a:xfrm>
            <a:off x="3039700" y="144702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535" name="Google Shape;535;p34"/>
          <p:cNvSpPr/>
          <p:nvPr/>
        </p:nvSpPr>
        <p:spPr>
          <a:xfrm>
            <a:off x="3545200" y="144702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536" name="Google Shape;536;p34"/>
          <p:cNvSpPr/>
          <p:nvPr/>
        </p:nvSpPr>
        <p:spPr>
          <a:xfrm>
            <a:off x="4203100" y="1447025"/>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537" name="Google Shape;537;p34"/>
          <p:cNvSpPr txBox="1"/>
          <p:nvPr/>
        </p:nvSpPr>
        <p:spPr>
          <a:xfrm>
            <a:off x="5491000" y="146017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Merge the next two, respecting order…</a:t>
            </a:r>
            <a:endParaRPr b="1" sz="1600">
              <a:solidFill>
                <a:schemeClr val="dk1"/>
              </a:solidFill>
              <a:latin typeface="Lato"/>
              <a:ea typeface="Lato"/>
              <a:cs typeface="Lato"/>
              <a:sym typeface="Lato"/>
            </a:endParaRPr>
          </a:p>
        </p:txBody>
      </p:sp>
      <p:sp>
        <p:nvSpPr>
          <p:cNvPr id="538" name="Google Shape;538;p34"/>
          <p:cNvSpPr/>
          <p:nvPr/>
        </p:nvSpPr>
        <p:spPr>
          <a:xfrm>
            <a:off x="941500" y="26585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539" name="Google Shape;539;p34"/>
          <p:cNvSpPr/>
          <p:nvPr/>
        </p:nvSpPr>
        <p:spPr>
          <a:xfrm>
            <a:off x="1447000" y="26585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540" name="Google Shape;540;p34"/>
          <p:cNvSpPr/>
          <p:nvPr/>
        </p:nvSpPr>
        <p:spPr>
          <a:xfrm>
            <a:off x="1952500" y="26585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541" name="Google Shape;541;p34"/>
          <p:cNvSpPr/>
          <p:nvPr/>
        </p:nvSpPr>
        <p:spPr>
          <a:xfrm>
            <a:off x="2458000" y="2658575"/>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542" name="Google Shape;542;p34"/>
          <p:cNvSpPr/>
          <p:nvPr/>
        </p:nvSpPr>
        <p:spPr>
          <a:xfrm>
            <a:off x="3039700" y="26585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543" name="Google Shape;543;p34"/>
          <p:cNvSpPr/>
          <p:nvPr/>
        </p:nvSpPr>
        <p:spPr>
          <a:xfrm>
            <a:off x="3545200" y="26585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544" name="Google Shape;544;p34"/>
          <p:cNvSpPr/>
          <p:nvPr/>
        </p:nvSpPr>
        <p:spPr>
          <a:xfrm>
            <a:off x="4203100" y="2658575"/>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545" name="Google Shape;545;p34"/>
          <p:cNvSpPr txBox="1"/>
          <p:nvPr/>
        </p:nvSpPr>
        <p:spPr>
          <a:xfrm>
            <a:off x="5491000" y="2671725"/>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Merge the next two, respecting order…</a:t>
            </a:r>
            <a:endParaRPr b="1" sz="1600">
              <a:solidFill>
                <a:schemeClr val="dk1"/>
              </a:solidFill>
              <a:latin typeface="Lato"/>
              <a:ea typeface="Lato"/>
              <a:cs typeface="Lato"/>
              <a:sym typeface="Lato"/>
            </a:endParaRPr>
          </a:p>
        </p:txBody>
      </p:sp>
      <p:cxnSp>
        <p:nvCxnSpPr>
          <p:cNvPr id="546" name="Google Shape;546;p34"/>
          <p:cNvCxnSpPr>
            <a:stCxn id="530" idx="2"/>
            <a:endCxn id="539" idx="0"/>
          </p:cNvCxnSpPr>
          <p:nvPr/>
        </p:nvCxnSpPr>
        <p:spPr>
          <a:xfrm>
            <a:off x="1041850" y="1948925"/>
            <a:ext cx="657900" cy="709800"/>
          </a:xfrm>
          <a:prstGeom prst="straightConnector1">
            <a:avLst/>
          </a:prstGeom>
          <a:noFill/>
          <a:ln cap="flat" cmpd="sng" w="9525">
            <a:solidFill>
              <a:schemeClr val="dk2"/>
            </a:solidFill>
            <a:prstDash val="solid"/>
            <a:round/>
            <a:headEnd len="med" w="med" type="none"/>
            <a:tailEnd len="med" w="med" type="triangle"/>
          </a:ln>
        </p:spPr>
      </p:cxnSp>
      <p:cxnSp>
        <p:nvCxnSpPr>
          <p:cNvPr id="547" name="Google Shape;547;p34"/>
          <p:cNvCxnSpPr>
            <a:stCxn id="531" idx="2"/>
            <a:endCxn id="540" idx="0"/>
          </p:cNvCxnSpPr>
          <p:nvPr/>
        </p:nvCxnSpPr>
        <p:spPr>
          <a:xfrm>
            <a:off x="1547350" y="1948925"/>
            <a:ext cx="657900" cy="709800"/>
          </a:xfrm>
          <a:prstGeom prst="straightConnector1">
            <a:avLst/>
          </a:prstGeom>
          <a:noFill/>
          <a:ln cap="flat" cmpd="sng" w="9525">
            <a:solidFill>
              <a:schemeClr val="dk2"/>
            </a:solidFill>
            <a:prstDash val="solid"/>
            <a:round/>
            <a:headEnd len="med" w="med" type="none"/>
            <a:tailEnd len="med" w="med" type="triangle"/>
          </a:ln>
        </p:spPr>
      </p:cxnSp>
      <p:cxnSp>
        <p:nvCxnSpPr>
          <p:cNvPr id="548" name="Google Shape;548;p34"/>
          <p:cNvCxnSpPr>
            <a:stCxn id="532" idx="2"/>
            <a:endCxn id="538" idx="0"/>
          </p:cNvCxnSpPr>
          <p:nvPr/>
        </p:nvCxnSpPr>
        <p:spPr>
          <a:xfrm flipH="1">
            <a:off x="1194250" y="1948925"/>
            <a:ext cx="1011000" cy="709800"/>
          </a:xfrm>
          <a:prstGeom prst="straightConnector1">
            <a:avLst/>
          </a:prstGeom>
          <a:noFill/>
          <a:ln cap="flat" cmpd="sng" w="9525">
            <a:solidFill>
              <a:schemeClr val="dk2"/>
            </a:solidFill>
            <a:prstDash val="solid"/>
            <a:round/>
            <a:headEnd len="med" w="med" type="none"/>
            <a:tailEnd len="med" w="med" type="triangle"/>
          </a:ln>
        </p:spPr>
      </p:cxnSp>
      <p:sp>
        <p:nvSpPr>
          <p:cNvPr id="549" name="Google Shape;549;p34"/>
          <p:cNvSpPr/>
          <p:nvPr/>
        </p:nvSpPr>
        <p:spPr>
          <a:xfrm>
            <a:off x="941500" y="3674488"/>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550" name="Google Shape;550;p34"/>
          <p:cNvSpPr/>
          <p:nvPr/>
        </p:nvSpPr>
        <p:spPr>
          <a:xfrm>
            <a:off x="1447000" y="3674488"/>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551" name="Google Shape;551;p34"/>
          <p:cNvSpPr/>
          <p:nvPr/>
        </p:nvSpPr>
        <p:spPr>
          <a:xfrm>
            <a:off x="1952500" y="3674488"/>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552" name="Google Shape;552;p34"/>
          <p:cNvSpPr/>
          <p:nvPr/>
        </p:nvSpPr>
        <p:spPr>
          <a:xfrm>
            <a:off x="2458000" y="3674488"/>
            <a:ext cx="505500" cy="50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553" name="Google Shape;553;p34"/>
          <p:cNvSpPr/>
          <p:nvPr/>
        </p:nvSpPr>
        <p:spPr>
          <a:xfrm>
            <a:off x="3039700" y="3674488"/>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554" name="Google Shape;554;p34"/>
          <p:cNvSpPr/>
          <p:nvPr/>
        </p:nvSpPr>
        <p:spPr>
          <a:xfrm>
            <a:off x="3545200" y="3674488"/>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555" name="Google Shape;555;p34"/>
          <p:cNvSpPr/>
          <p:nvPr/>
        </p:nvSpPr>
        <p:spPr>
          <a:xfrm>
            <a:off x="4050700" y="3674488"/>
            <a:ext cx="505500" cy="501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556" name="Google Shape;556;p34"/>
          <p:cNvSpPr txBox="1"/>
          <p:nvPr/>
        </p:nvSpPr>
        <p:spPr>
          <a:xfrm>
            <a:off x="5491000" y="3687638"/>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Merge the next two, respecting order…</a:t>
            </a:r>
            <a:endParaRPr b="1" sz="1600">
              <a:solidFill>
                <a:schemeClr val="dk1"/>
              </a:solidFill>
              <a:latin typeface="Lato"/>
              <a:ea typeface="Lato"/>
              <a:cs typeface="Lato"/>
              <a:sym typeface="Lato"/>
            </a:endParaRPr>
          </a:p>
        </p:txBody>
      </p:sp>
      <p:cxnSp>
        <p:nvCxnSpPr>
          <p:cNvPr id="557" name="Google Shape;557;p34"/>
          <p:cNvCxnSpPr>
            <a:stCxn id="542" idx="2"/>
            <a:endCxn id="553" idx="0"/>
          </p:cNvCxnSpPr>
          <p:nvPr/>
        </p:nvCxnSpPr>
        <p:spPr>
          <a:xfrm>
            <a:off x="3292450" y="3160475"/>
            <a:ext cx="0" cy="513900"/>
          </a:xfrm>
          <a:prstGeom prst="straightConnector1">
            <a:avLst/>
          </a:prstGeom>
          <a:noFill/>
          <a:ln cap="flat" cmpd="sng" w="9525">
            <a:solidFill>
              <a:schemeClr val="dk2"/>
            </a:solidFill>
            <a:prstDash val="solid"/>
            <a:round/>
            <a:headEnd len="med" w="med" type="none"/>
            <a:tailEnd len="med" w="med" type="triangle"/>
          </a:ln>
        </p:spPr>
      </p:cxnSp>
      <p:cxnSp>
        <p:nvCxnSpPr>
          <p:cNvPr id="558" name="Google Shape;558;p34"/>
          <p:cNvCxnSpPr>
            <a:stCxn id="533" idx="2"/>
            <a:endCxn id="541" idx="0"/>
          </p:cNvCxnSpPr>
          <p:nvPr/>
        </p:nvCxnSpPr>
        <p:spPr>
          <a:xfrm>
            <a:off x="2710750" y="1948925"/>
            <a:ext cx="0" cy="709800"/>
          </a:xfrm>
          <a:prstGeom prst="straightConnector1">
            <a:avLst/>
          </a:prstGeom>
          <a:noFill/>
          <a:ln cap="flat" cmpd="sng" w="9525">
            <a:solidFill>
              <a:schemeClr val="dk2"/>
            </a:solidFill>
            <a:prstDash val="solid"/>
            <a:round/>
            <a:headEnd len="med" w="med" type="none"/>
            <a:tailEnd len="med" w="med" type="triangle"/>
          </a:ln>
        </p:spPr>
      </p:cxnSp>
      <p:cxnSp>
        <p:nvCxnSpPr>
          <p:cNvPr id="559" name="Google Shape;559;p34"/>
          <p:cNvCxnSpPr>
            <a:stCxn id="543" idx="2"/>
            <a:endCxn id="555" idx="0"/>
          </p:cNvCxnSpPr>
          <p:nvPr/>
        </p:nvCxnSpPr>
        <p:spPr>
          <a:xfrm>
            <a:off x="3797950" y="3160475"/>
            <a:ext cx="505500" cy="513900"/>
          </a:xfrm>
          <a:prstGeom prst="straightConnector1">
            <a:avLst/>
          </a:prstGeom>
          <a:noFill/>
          <a:ln cap="flat" cmpd="sng" w="9525">
            <a:solidFill>
              <a:schemeClr val="dk2"/>
            </a:solidFill>
            <a:prstDash val="solid"/>
            <a:round/>
            <a:headEnd len="med" w="med" type="none"/>
            <a:tailEnd len="med" w="med" type="triangle"/>
          </a:ln>
        </p:spPr>
      </p:cxnSp>
      <p:cxnSp>
        <p:nvCxnSpPr>
          <p:cNvPr id="560" name="Google Shape;560;p34"/>
          <p:cNvCxnSpPr>
            <a:stCxn id="544" idx="2"/>
            <a:endCxn id="554" idx="0"/>
          </p:cNvCxnSpPr>
          <p:nvPr/>
        </p:nvCxnSpPr>
        <p:spPr>
          <a:xfrm flipH="1">
            <a:off x="3797950" y="3160475"/>
            <a:ext cx="657900" cy="513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5"/>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Divide and Conquer</a:t>
            </a:r>
            <a:endParaRPr/>
          </a:p>
        </p:txBody>
      </p:sp>
      <p:sp>
        <p:nvSpPr>
          <p:cNvPr id="566" name="Google Shape;566;p3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567" name="Google Shape;567;p35"/>
          <p:cNvSpPr/>
          <p:nvPr/>
        </p:nvSpPr>
        <p:spPr>
          <a:xfrm>
            <a:off x="941500" y="1493863"/>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568" name="Google Shape;568;p35"/>
          <p:cNvSpPr/>
          <p:nvPr/>
        </p:nvSpPr>
        <p:spPr>
          <a:xfrm>
            <a:off x="1447000" y="1493863"/>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569" name="Google Shape;569;p35"/>
          <p:cNvSpPr/>
          <p:nvPr/>
        </p:nvSpPr>
        <p:spPr>
          <a:xfrm>
            <a:off x="1952500" y="1493863"/>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570" name="Google Shape;570;p35"/>
          <p:cNvSpPr/>
          <p:nvPr/>
        </p:nvSpPr>
        <p:spPr>
          <a:xfrm>
            <a:off x="2458000" y="1493863"/>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571" name="Google Shape;571;p35"/>
          <p:cNvSpPr/>
          <p:nvPr/>
        </p:nvSpPr>
        <p:spPr>
          <a:xfrm>
            <a:off x="3039700" y="1493863"/>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572" name="Google Shape;572;p35"/>
          <p:cNvSpPr/>
          <p:nvPr/>
        </p:nvSpPr>
        <p:spPr>
          <a:xfrm>
            <a:off x="3545200" y="1493863"/>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573" name="Google Shape;573;p35"/>
          <p:cNvSpPr/>
          <p:nvPr/>
        </p:nvSpPr>
        <p:spPr>
          <a:xfrm>
            <a:off x="4050700" y="1493863"/>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574" name="Google Shape;574;p35"/>
          <p:cNvSpPr txBox="1"/>
          <p:nvPr/>
        </p:nvSpPr>
        <p:spPr>
          <a:xfrm>
            <a:off x="5491000" y="1507013"/>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[Repeating from previous slide]</a:t>
            </a:r>
            <a:endParaRPr b="1" sz="1600">
              <a:solidFill>
                <a:schemeClr val="dk1"/>
              </a:solidFill>
              <a:latin typeface="Lato"/>
              <a:ea typeface="Lato"/>
              <a:cs typeface="Lato"/>
              <a:sym typeface="Lato"/>
            </a:endParaRPr>
          </a:p>
        </p:txBody>
      </p:sp>
      <p:sp>
        <p:nvSpPr>
          <p:cNvPr id="575" name="Google Shape;575;p35"/>
          <p:cNvSpPr/>
          <p:nvPr/>
        </p:nvSpPr>
        <p:spPr>
          <a:xfrm>
            <a:off x="941500" y="2767738"/>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0</a:t>
            </a:r>
            <a:endParaRPr>
              <a:latin typeface="Lato"/>
              <a:ea typeface="Lato"/>
              <a:cs typeface="Lato"/>
              <a:sym typeface="Lato"/>
            </a:endParaRPr>
          </a:p>
        </p:txBody>
      </p:sp>
      <p:sp>
        <p:nvSpPr>
          <p:cNvPr id="576" name="Google Shape;576;p35"/>
          <p:cNvSpPr/>
          <p:nvPr/>
        </p:nvSpPr>
        <p:spPr>
          <a:xfrm>
            <a:off x="1447000" y="2767738"/>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1</a:t>
            </a:r>
            <a:endParaRPr>
              <a:latin typeface="Lato"/>
              <a:ea typeface="Lato"/>
              <a:cs typeface="Lato"/>
              <a:sym typeface="Lato"/>
            </a:endParaRPr>
          </a:p>
        </p:txBody>
      </p:sp>
      <p:sp>
        <p:nvSpPr>
          <p:cNvPr id="577" name="Google Shape;577;p35"/>
          <p:cNvSpPr/>
          <p:nvPr/>
        </p:nvSpPr>
        <p:spPr>
          <a:xfrm>
            <a:off x="1952500" y="2767738"/>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2</a:t>
            </a:r>
            <a:endParaRPr>
              <a:latin typeface="Lato"/>
              <a:ea typeface="Lato"/>
              <a:cs typeface="Lato"/>
              <a:sym typeface="Lato"/>
            </a:endParaRPr>
          </a:p>
        </p:txBody>
      </p:sp>
      <p:sp>
        <p:nvSpPr>
          <p:cNvPr id="578" name="Google Shape;578;p35"/>
          <p:cNvSpPr/>
          <p:nvPr/>
        </p:nvSpPr>
        <p:spPr>
          <a:xfrm>
            <a:off x="2458000" y="2767738"/>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3</a:t>
            </a:r>
            <a:endParaRPr>
              <a:latin typeface="Lato"/>
              <a:ea typeface="Lato"/>
              <a:cs typeface="Lato"/>
              <a:sym typeface="Lato"/>
            </a:endParaRPr>
          </a:p>
        </p:txBody>
      </p:sp>
      <p:sp>
        <p:nvSpPr>
          <p:cNvPr id="579" name="Google Shape;579;p35"/>
          <p:cNvSpPr/>
          <p:nvPr/>
        </p:nvSpPr>
        <p:spPr>
          <a:xfrm>
            <a:off x="2963500" y="2767738"/>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6</a:t>
            </a:r>
            <a:endParaRPr>
              <a:latin typeface="Lato"/>
              <a:ea typeface="Lato"/>
              <a:cs typeface="Lato"/>
              <a:sym typeface="Lato"/>
            </a:endParaRPr>
          </a:p>
        </p:txBody>
      </p:sp>
      <p:sp>
        <p:nvSpPr>
          <p:cNvPr id="580" name="Google Shape;580;p35"/>
          <p:cNvSpPr/>
          <p:nvPr/>
        </p:nvSpPr>
        <p:spPr>
          <a:xfrm>
            <a:off x="3469000" y="2767738"/>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7</a:t>
            </a:r>
            <a:endParaRPr>
              <a:latin typeface="Lato"/>
              <a:ea typeface="Lato"/>
              <a:cs typeface="Lato"/>
              <a:sym typeface="Lato"/>
            </a:endParaRPr>
          </a:p>
        </p:txBody>
      </p:sp>
      <p:sp>
        <p:nvSpPr>
          <p:cNvPr id="581" name="Google Shape;581;p35"/>
          <p:cNvSpPr/>
          <p:nvPr/>
        </p:nvSpPr>
        <p:spPr>
          <a:xfrm>
            <a:off x="3974500" y="2767738"/>
            <a:ext cx="505500" cy="501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latin typeface="Lato"/>
                <a:ea typeface="Lato"/>
                <a:cs typeface="Lato"/>
                <a:sym typeface="Lato"/>
              </a:rPr>
              <a:t>9</a:t>
            </a:r>
            <a:endParaRPr>
              <a:latin typeface="Lato"/>
              <a:ea typeface="Lato"/>
              <a:cs typeface="Lato"/>
              <a:sym typeface="Lato"/>
            </a:endParaRPr>
          </a:p>
        </p:txBody>
      </p:sp>
      <p:sp>
        <p:nvSpPr>
          <p:cNvPr id="582" name="Google Shape;582;p35"/>
          <p:cNvSpPr txBox="1"/>
          <p:nvPr/>
        </p:nvSpPr>
        <p:spPr>
          <a:xfrm>
            <a:off x="5491000" y="2780888"/>
            <a:ext cx="3045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accent1"/>
                </a:solidFill>
                <a:latin typeface="Lato"/>
                <a:ea typeface="Lato"/>
                <a:cs typeface="Lato"/>
                <a:sym typeface="Lato"/>
              </a:rPr>
              <a:t>Merge the next two, respecting order…</a:t>
            </a:r>
            <a:endParaRPr b="1" sz="1600">
              <a:solidFill>
                <a:schemeClr val="dk1"/>
              </a:solidFill>
              <a:latin typeface="Lato"/>
              <a:ea typeface="Lato"/>
              <a:cs typeface="Lato"/>
              <a:sym typeface="Lato"/>
            </a:endParaRPr>
          </a:p>
        </p:txBody>
      </p:sp>
      <p:cxnSp>
        <p:nvCxnSpPr>
          <p:cNvPr id="583" name="Google Shape;583;p35"/>
          <p:cNvCxnSpPr>
            <a:stCxn id="567" idx="2"/>
            <a:endCxn id="576" idx="0"/>
          </p:cNvCxnSpPr>
          <p:nvPr/>
        </p:nvCxnSpPr>
        <p:spPr>
          <a:xfrm>
            <a:off x="1194250" y="1995763"/>
            <a:ext cx="505500" cy="771900"/>
          </a:xfrm>
          <a:prstGeom prst="straightConnector1">
            <a:avLst/>
          </a:prstGeom>
          <a:noFill/>
          <a:ln cap="flat" cmpd="sng" w="9525">
            <a:solidFill>
              <a:schemeClr val="dk2"/>
            </a:solidFill>
            <a:prstDash val="solid"/>
            <a:round/>
            <a:headEnd len="med" w="med" type="none"/>
            <a:tailEnd len="med" w="med" type="triangle"/>
          </a:ln>
        </p:spPr>
      </p:cxnSp>
      <p:cxnSp>
        <p:nvCxnSpPr>
          <p:cNvPr id="584" name="Google Shape;584;p35"/>
          <p:cNvCxnSpPr>
            <a:stCxn id="568" idx="2"/>
            <a:endCxn id="578" idx="0"/>
          </p:cNvCxnSpPr>
          <p:nvPr/>
        </p:nvCxnSpPr>
        <p:spPr>
          <a:xfrm>
            <a:off x="1699750" y="1995763"/>
            <a:ext cx="1011000" cy="771900"/>
          </a:xfrm>
          <a:prstGeom prst="straightConnector1">
            <a:avLst/>
          </a:prstGeom>
          <a:noFill/>
          <a:ln cap="flat" cmpd="sng" w="9525">
            <a:solidFill>
              <a:schemeClr val="dk2"/>
            </a:solidFill>
            <a:prstDash val="solid"/>
            <a:round/>
            <a:headEnd len="med" w="med" type="none"/>
            <a:tailEnd len="med" w="med" type="triangle"/>
          </a:ln>
        </p:spPr>
      </p:cxnSp>
      <p:cxnSp>
        <p:nvCxnSpPr>
          <p:cNvPr id="585" name="Google Shape;585;p35"/>
          <p:cNvCxnSpPr>
            <a:stCxn id="569" idx="2"/>
            <a:endCxn id="579" idx="0"/>
          </p:cNvCxnSpPr>
          <p:nvPr/>
        </p:nvCxnSpPr>
        <p:spPr>
          <a:xfrm>
            <a:off x="2205250" y="1995763"/>
            <a:ext cx="1011000" cy="771900"/>
          </a:xfrm>
          <a:prstGeom prst="straightConnector1">
            <a:avLst/>
          </a:prstGeom>
          <a:noFill/>
          <a:ln cap="flat" cmpd="sng" w="9525">
            <a:solidFill>
              <a:schemeClr val="dk2"/>
            </a:solidFill>
            <a:prstDash val="solid"/>
            <a:round/>
            <a:headEnd len="med" w="med" type="none"/>
            <a:tailEnd len="med" w="med" type="triangle"/>
          </a:ln>
        </p:spPr>
      </p:cxnSp>
      <p:cxnSp>
        <p:nvCxnSpPr>
          <p:cNvPr id="586" name="Google Shape;586;p35"/>
          <p:cNvCxnSpPr>
            <a:stCxn id="570" idx="2"/>
            <a:endCxn id="580" idx="0"/>
          </p:cNvCxnSpPr>
          <p:nvPr/>
        </p:nvCxnSpPr>
        <p:spPr>
          <a:xfrm>
            <a:off x="2710750" y="1995763"/>
            <a:ext cx="1011000" cy="771900"/>
          </a:xfrm>
          <a:prstGeom prst="straightConnector1">
            <a:avLst/>
          </a:prstGeom>
          <a:noFill/>
          <a:ln cap="flat" cmpd="sng" w="9525">
            <a:solidFill>
              <a:schemeClr val="dk2"/>
            </a:solidFill>
            <a:prstDash val="solid"/>
            <a:round/>
            <a:headEnd len="med" w="med" type="none"/>
            <a:tailEnd len="med" w="med" type="triangle"/>
          </a:ln>
        </p:spPr>
      </p:cxnSp>
      <p:cxnSp>
        <p:nvCxnSpPr>
          <p:cNvPr id="587" name="Google Shape;587;p35"/>
          <p:cNvCxnSpPr>
            <a:stCxn id="571" idx="2"/>
            <a:endCxn id="575" idx="0"/>
          </p:cNvCxnSpPr>
          <p:nvPr/>
        </p:nvCxnSpPr>
        <p:spPr>
          <a:xfrm flipH="1">
            <a:off x="1194250" y="1995763"/>
            <a:ext cx="2098200" cy="771900"/>
          </a:xfrm>
          <a:prstGeom prst="straightConnector1">
            <a:avLst/>
          </a:prstGeom>
          <a:noFill/>
          <a:ln cap="flat" cmpd="sng" w="9525">
            <a:solidFill>
              <a:schemeClr val="dk2"/>
            </a:solidFill>
            <a:prstDash val="solid"/>
            <a:round/>
            <a:headEnd len="med" w="med" type="none"/>
            <a:tailEnd len="med" w="med" type="triangle"/>
          </a:ln>
        </p:spPr>
      </p:cxnSp>
      <p:cxnSp>
        <p:nvCxnSpPr>
          <p:cNvPr id="588" name="Google Shape;588;p35"/>
          <p:cNvCxnSpPr>
            <a:stCxn id="572" idx="2"/>
            <a:endCxn id="577" idx="0"/>
          </p:cNvCxnSpPr>
          <p:nvPr/>
        </p:nvCxnSpPr>
        <p:spPr>
          <a:xfrm flipH="1">
            <a:off x="2205250" y="1995763"/>
            <a:ext cx="1592700" cy="771900"/>
          </a:xfrm>
          <a:prstGeom prst="straightConnector1">
            <a:avLst/>
          </a:prstGeom>
          <a:noFill/>
          <a:ln cap="flat" cmpd="sng" w="9525">
            <a:solidFill>
              <a:schemeClr val="dk2"/>
            </a:solidFill>
            <a:prstDash val="solid"/>
            <a:round/>
            <a:headEnd len="med" w="med" type="none"/>
            <a:tailEnd len="med" w="med" type="triangle"/>
          </a:ln>
        </p:spPr>
      </p:cxnSp>
      <p:cxnSp>
        <p:nvCxnSpPr>
          <p:cNvPr id="589" name="Google Shape;589;p35"/>
          <p:cNvCxnSpPr>
            <a:stCxn id="573" idx="2"/>
            <a:endCxn id="581" idx="0"/>
          </p:cNvCxnSpPr>
          <p:nvPr/>
        </p:nvCxnSpPr>
        <p:spPr>
          <a:xfrm flipH="1">
            <a:off x="4227250" y="1995763"/>
            <a:ext cx="76200" cy="771900"/>
          </a:xfrm>
          <a:prstGeom prst="straightConnector1">
            <a:avLst/>
          </a:prstGeom>
          <a:noFill/>
          <a:ln cap="flat" cmpd="sng" w="9525">
            <a:solidFill>
              <a:schemeClr val="dk2"/>
            </a:solidFill>
            <a:prstDash val="solid"/>
            <a:round/>
            <a:headEnd len="med" w="med" type="none"/>
            <a:tailEnd len="med" w="med" type="triangle"/>
          </a:ln>
        </p:spPr>
      </p:cxnSp>
      <p:sp>
        <p:nvSpPr>
          <p:cNvPr id="590" name="Google Shape;590;p35"/>
          <p:cNvSpPr txBox="1"/>
          <p:nvPr/>
        </p:nvSpPr>
        <p:spPr>
          <a:xfrm>
            <a:off x="1045325" y="3565150"/>
            <a:ext cx="7372800" cy="11847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accent1"/>
              </a:buClr>
              <a:buSzPts val="1600"/>
              <a:buFont typeface="Lato"/>
              <a:buChar char="●"/>
            </a:pPr>
            <a:r>
              <a:rPr lang="el" sz="1600">
                <a:solidFill>
                  <a:schemeClr val="accent1"/>
                </a:solidFill>
                <a:latin typeface="Lato"/>
                <a:ea typeface="Lato"/>
                <a:cs typeface="Lato"/>
                <a:sym typeface="Lato"/>
              </a:rPr>
              <a:t>Is this any better?</a:t>
            </a:r>
            <a:endParaRPr sz="1600">
              <a:solidFill>
                <a:schemeClr val="accent1"/>
              </a:solidFill>
              <a:latin typeface="Lato"/>
              <a:ea typeface="Lato"/>
              <a:cs typeface="Lato"/>
              <a:sym typeface="Lato"/>
            </a:endParaRPr>
          </a:p>
          <a:p>
            <a:pPr indent="-330200" lvl="0" marL="457200" rtl="0" algn="l">
              <a:spcBef>
                <a:spcPts val="0"/>
              </a:spcBef>
              <a:spcAft>
                <a:spcPts val="0"/>
              </a:spcAft>
              <a:buClr>
                <a:schemeClr val="accent1"/>
              </a:buClr>
              <a:buSzPts val="1600"/>
              <a:buFont typeface="Lato"/>
              <a:buChar char="●"/>
            </a:pPr>
            <a:r>
              <a:rPr lang="el" sz="1600">
                <a:solidFill>
                  <a:schemeClr val="accent1"/>
                </a:solidFill>
                <a:latin typeface="Lato"/>
                <a:ea typeface="Lato"/>
                <a:cs typeface="Lato"/>
                <a:sym typeface="Lato"/>
              </a:rPr>
              <a:t>How much time does it take to merge lists respecting their order?</a:t>
            </a:r>
            <a:endParaRPr sz="1600">
              <a:solidFill>
                <a:schemeClr val="accent1"/>
              </a:solidFill>
              <a:latin typeface="Lato"/>
              <a:ea typeface="Lato"/>
              <a:cs typeface="Lato"/>
              <a:sym typeface="Lato"/>
            </a:endParaRPr>
          </a:p>
          <a:p>
            <a:pPr indent="-330200" lvl="0" marL="457200" rtl="0" algn="l">
              <a:spcBef>
                <a:spcPts val="0"/>
              </a:spcBef>
              <a:spcAft>
                <a:spcPts val="0"/>
              </a:spcAft>
              <a:buClr>
                <a:schemeClr val="accent1"/>
              </a:buClr>
              <a:buSzPts val="1600"/>
              <a:buFont typeface="Lato"/>
              <a:buChar char="●"/>
            </a:pPr>
            <a:r>
              <a:rPr lang="el" sz="1600">
                <a:solidFill>
                  <a:schemeClr val="accent1"/>
                </a:solidFill>
                <a:latin typeface="Lato"/>
                <a:ea typeface="Lato"/>
                <a:cs typeface="Lato"/>
                <a:sym typeface="Lato"/>
              </a:rPr>
              <a:t>Let’s compare them…</a:t>
            </a:r>
            <a:endParaRPr sz="1600">
              <a:solidFill>
                <a:schemeClr val="accent1"/>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36"/>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Hopefully, what you see looks like that…</a:t>
            </a:r>
            <a:endParaRPr/>
          </a:p>
        </p:txBody>
      </p:sp>
      <p:sp>
        <p:nvSpPr>
          <p:cNvPr id="596" name="Google Shape;596;p3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pic>
        <p:nvPicPr>
          <p:cNvPr id="597" name="Google Shape;597;p36"/>
          <p:cNvPicPr preferRelativeResize="0"/>
          <p:nvPr/>
        </p:nvPicPr>
        <p:blipFill>
          <a:blip r:embed="rId3">
            <a:alphaModFix/>
          </a:blip>
          <a:stretch>
            <a:fillRect/>
          </a:stretch>
        </p:blipFill>
        <p:spPr>
          <a:xfrm>
            <a:off x="2372413" y="1266450"/>
            <a:ext cx="4402771" cy="3731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7"/>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and Complexity</a:t>
            </a:r>
            <a:endParaRPr/>
          </a:p>
        </p:txBody>
      </p:sp>
      <p:sp>
        <p:nvSpPr>
          <p:cNvPr id="603" name="Google Shape;603;p37"/>
          <p:cNvSpPr txBox="1"/>
          <p:nvPr>
            <p:ph idx="1" type="body"/>
          </p:nvPr>
        </p:nvSpPr>
        <p:spPr>
          <a:xfrm>
            <a:off x="729450" y="1378000"/>
            <a:ext cx="7688700" cy="37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In short, Bubble-sort looks like this:</a:t>
            </a:r>
            <a:endParaRPr/>
          </a:p>
          <a:p>
            <a:pPr indent="0" lvl="0" marL="0" rtl="0" algn="l">
              <a:spcBef>
                <a:spcPts val="1200"/>
              </a:spcBef>
              <a:spcAft>
                <a:spcPts val="0"/>
              </a:spcAft>
              <a:buNone/>
            </a:pPr>
            <a:r>
              <a:rPr lang="el">
                <a:latin typeface="Consolas"/>
                <a:ea typeface="Consolas"/>
                <a:cs typeface="Consolas"/>
                <a:sym typeface="Consolas"/>
              </a:rPr>
              <a:t>swapped = True, j = 1</a:t>
            </a:r>
            <a:br>
              <a:rPr lang="el">
                <a:latin typeface="Consolas"/>
                <a:ea typeface="Consolas"/>
                <a:cs typeface="Consolas"/>
                <a:sym typeface="Consolas"/>
              </a:rPr>
            </a:br>
            <a:r>
              <a:rPr lang="el">
                <a:latin typeface="Consolas"/>
                <a:ea typeface="Consolas"/>
                <a:cs typeface="Consolas"/>
                <a:sym typeface="Consolas"/>
              </a:rPr>
              <a:t>while swapped:</a:t>
            </a:r>
            <a:br>
              <a:rPr lang="el">
                <a:latin typeface="Consolas"/>
                <a:ea typeface="Consolas"/>
                <a:cs typeface="Consolas"/>
                <a:sym typeface="Consolas"/>
              </a:rPr>
            </a:br>
            <a:r>
              <a:rPr lang="el">
                <a:latin typeface="Consolas"/>
                <a:ea typeface="Consolas"/>
                <a:cs typeface="Consolas"/>
                <a:sym typeface="Consolas"/>
              </a:rPr>
              <a:t>	for i = 0,1,..., n - j:</a:t>
            </a:r>
            <a:br>
              <a:rPr lang="el">
                <a:latin typeface="Consolas"/>
                <a:ea typeface="Consolas"/>
                <a:cs typeface="Consolas"/>
                <a:sym typeface="Consolas"/>
              </a:rPr>
            </a:br>
            <a:r>
              <a:rPr lang="el">
                <a:latin typeface="Consolas"/>
                <a:ea typeface="Consolas"/>
                <a:cs typeface="Consolas"/>
                <a:sym typeface="Consolas"/>
              </a:rPr>
              <a:t>		if arr[i] &gt; arr[i + 1]:</a:t>
            </a:r>
            <a:br>
              <a:rPr lang="el">
                <a:latin typeface="Consolas"/>
                <a:ea typeface="Consolas"/>
                <a:cs typeface="Consolas"/>
                <a:sym typeface="Consolas"/>
              </a:rPr>
            </a:br>
            <a:r>
              <a:rPr lang="el">
                <a:latin typeface="Consolas"/>
                <a:ea typeface="Consolas"/>
                <a:cs typeface="Consolas"/>
                <a:sym typeface="Consolas"/>
              </a:rPr>
              <a:t>			swap arr[i] and arr[i + 1]</a:t>
            </a:r>
            <a:br>
              <a:rPr lang="el">
                <a:latin typeface="Consolas"/>
                <a:ea typeface="Consolas"/>
                <a:cs typeface="Consolas"/>
                <a:sym typeface="Consolas"/>
              </a:rPr>
            </a:br>
            <a:r>
              <a:rPr lang="el">
                <a:latin typeface="Consolas"/>
                <a:ea typeface="Consolas"/>
                <a:cs typeface="Consolas"/>
                <a:sym typeface="Consolas"/>
              </a:rPr>
              <a:t>			swapped = True</a:t>
            </a:r>
            <a:br>
              <a:rPr lang="el">
                <a:latin typeface="Consolas"/>
                <a:ea typeface="Consolas"/>
                <a:cs typeface="Consolas"/>
                <a:sym typeface="Consolas"/>
              </a:rPr>
            </a:br>
            <a:r>
              <a:rPr lang="el">
                <a:latin typeface="Consolas"/>
                <a:ea typeface="Consolas"/>
                <a:cs typeface="Consolas"/>
                <a:sym typeface="Consolas"/>
              </a:rPr>
              <a:t>	j++;</a:t>
            </a:r>
            <a:br>
              <a:rPr lang="el"/>
            </a:br>
            <a:r>
              <a:rPr lang="el"/>
              <a:t>arr has been sorted!</a:t>
            </a:r>
            <a:endParaRPr/>
          </a:p>
          <a:p>
            <a:pPr indent="0" lvl="0" marL="0" rtl="0" algn="l">
              <a:spcBef>
                <a:spcPts val="1200"/>
              </a:spcBef>
              <a:spcAft>
                <a:spcPts val="1200"/>
              </a:spcAft>
              <a:buNone/>
            </a:pPr>
            <a:r>
              <a:rPr lang="el"/>
              <a:t>What about (worst-case) complexity?</a:t>
            </a:r>
            <a:endParaRPr/>
          </a:p>
        </p:txBody>
      </p:sp>
      <p:sp>
        <p:nvSpPr>
          <p:cNvPr id="604" name="Google Shape;604;p3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38"/>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Bubbles and Complexity</a:t>
            </a:r>
            <a:endParaRPr/>
          </a:p>
        </p:txBody>
      </p:sp>
      <p:sp>
        <p:nvSpPr>
          <p:cNvPr id="610" name="Google Shape;610;p38"/>
          <p:cNvSpPr txBox="1"/>
          <p:nvPr>
            <p:ph idx="1" type="body"/>
          </p:nvPr>
        </p:nvSpPr>
        <p:spPr>
          <a:xfrm>
            <a:off x="729450" y="1378000"/>
            <a:ext cx="7688700" cy="37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In short, Bubble-sort looks like this:</a:t>
            </a:r>
            <a:endParaRPr/>
          </a:p>
          <a:p>
            <a:pPr indent="0" lvl="0" marL="0" rtl="0" algn="l">
              <a:spcBef>
                <a:spcPts val="1200"/>
              </a:spcBef>
              <a:spcAft>
                <a:spcPts val="0"/>
              </a:spcAft>
              <a:buNone/>
            </a:pPr>
            <a:r>
              <a:rPr lang="el">
                <a:latin typeface="Consolas"/>
                <a:ea typeface="Consolas"/>
                <a:cs typeface="Consolas"/>
                <a:sym typeface="Consolas"/>
              </a:rPr>
              <a:t>swapped = True, j = 1</a:t>
            </a:r>
            <a:br>
              <a:rPr lang="el">
                <a:latin typeface="Consolas"/>
                <a:ea typeface="Consolas"/>
                <a:cs typeface="Consolas"/>
                <a:sym typeface="Consolas"/>
              </a:rPr>
            </a:br>
            <a:r>
              <a:rPr lang="el">
                <a:solidFill>
                  <a:schemeClr val="accent3"/>
                </a:solidFill>
                <a:latin typeface="Consolas"/>
                <a:ea typeface="Consolas"/>
                <a:cs typeface="Consolas"/>
                <a:sym typeface="Consolas"/>
              </a:rPr>
              <a:t>while swapped: ← This will be executed at most </a:t>
            </a:r>
            <a:r>
              <a:rPr b="1" lang="el">
                <a:solidFill>
                  <a:schemeClr val="accent3"/>
                </a:solidFill>
                <a:latin typeface="Consolas"/>
                <a:ea typeface="Consolas"/>
                <a:cs typeface="Consolas"/>
                <a:sym typeface="Consolas"/>
              </a:rPr>
              <a:t>n-1</a:t>
            </a:r>
            <a:r>
              <a:rPr lang="el">
                <a:solidFill>
                  <a:schemeClr val="accent3"/>
                </a:solidFill>
                <a:latin typeface="Consolas"/>
                <a:ea typeface="Consolas"/>
                <a:cs typeface="Consolas"/>
                <a:sym typeface="Consolas"/>
              </a:rPr>
              <a:t> times</a:t>
            </a:r>
            <a:br>
              <a:rPr lang="el">
                <a:latin typeface="Consolas"/>
                <a:ea typeface="Consolas"/>
                <a:cs typeface="Consolas"/>
                <a:sym typeface="Consolas"/>
              </a:rPr>
            </a:br>
            <a:r>
              <a:rPr lang="el">
                <a:latin typeface="Consolas"/>
                <a:ea typeface="Consolas"/>
                <a:cs typeface="Consolas"/>
                <a:sym typeface="Consolas"/>
              </a:rPr>
              <a:t>	</a:t>
            </a:r>
            <a:r>
              <a:rPr lang="el">
                <a:solidFill>
                  <a:schemeClr val="dk1"/>
                </a:solidFill>
                <a:latin typeface="Consolas"/>
                <a:ea typeface="Consolas"/>
                <a:cs typeface="Consolas"/>
                <a:sym typeface="Consolas"/>
              </a:rPr>
              <a:t>for i = 0,1,..., n - j: ← This is roughly </a:t>
            </a:r>
            <a:r>
              <a:rPr b="1" lang="el">
                <a:solidFill>
                  <a:schemeClr val="dk1"/>
                </a:solidFill>
                <a:latin typeface="Consolas"/>
                <a:ea typeface="Consolas"/>
                <a:cs typeface="Consolas"/>
                <a:sym typeface="Consolas"/>
              </a:rPr>
              <a:t>n</a:t>
            </a:r>
            <a:r>
              <a:rPr lang="el">
                <a:solidFill>
                  <a:schemeClr val="dk1"/>
                </a:solidFill>
                <a:latin typeface="Consolas"/>
                <a:ea typeface="Consolas"/>
                <a:cs typeface="Consolas"/>
                <a:sym typeface="Consolas"/>
              </a:rPr>
              <a:t> iterations</a:t>
            </a:r>
            <a:br>
              <a:rPr lang="el">
                <a:latin typeface="Consolas"/>
                <a:ea typeface="Consolas"/>
                <a:cs typeface="Consolas"/>
                <a:sym typeface="Consolas"/>
              </a:rPr>
            </a:br>
            <a:r>
              <a:rPr lang="el">
                <a:latin typeface="Consolas"/>
                <a:ea typeface="Consolas"/>
                <a:cs typeface="Consolas"/>
                <a:sym typeface="Consolas"/>
              </a:rPr>
              <a:t>		if arr[i] &gt; arr[i + 1]:</a:t>
            </a:r>
            <a:br>
              <a:rPr lang="el">
                <a:latin typeface="Consolas"/>
                <a:ea typeface="Consolas"/>
                <a:cs typeface="Consolas"/>
                <a:sym typeface="Consolas"/>
              </a:rPr>
            </a:br>
            <a:r>
              <a:rPr lang="el">
                <a:latin typeface="Consolas"/>
                <a:ea typeface="Consolas"/>
                <a:cs typeface="Consolas"/>
                <a:sym typeface="Consolas"/>
              </a:rPr>
              <a:t>			swap arr[i] and arr[i + 1]</a:t>
            </a:r>
            <a:br>
              <a:rPr lang="el">
                <a:latin typeface="Consolas"/>
                <a:ea typeface="Consolas"/>
                <a:cs typeface="Consolas"/>
                <a:sym typeface="Consolas"/>
              </a:rPr>
            </a:br>
            <a:r>
              <a:rPr lang="el">
                <a:latin typeface="Consolas"/>
                <a:ea typeface="Consolas"/>
                <a:cs typeface="Consolas"/>
                <a:sym typeface="Consolas"/>
              </a:rPr>
              <a:t>			swapped = True</a:t>
            </a:r>
            <a:br>
              <a:rPr lang="el">
                <a:latin typeface="Consolas"/>
                <a:ea typeface="Consolas"/>
                <a:cs typeface="Consolas"/>
                <a:sym typeface="Consolas"/>
              </a:rPr>
            </a:br>
            <a:r>
              <a:rPr lang="el">
                <a:latin typeface="Consolas"/>
                <a:ea typeface="Consolas"/>
                <a:cs typeface="Consolas"/>
                <a:sym typeface="Consolas"/>
              </a:rPr>
              <a:t>	j++;</a:t>
            </a:r>
            <a:br>
              <a:rPr lang="el"/>
            </a:br>
            <a:r>
              <a:rPr lang="el"/>
              <a:t>arr has been sorted!</a:t>
            </a:r>
            <a:endParaRPr/>
          </a:p>
          <a:p>
            <a:pPr indent="0" lvl="0" marL="0" rtl="0" algn="l">
              <a:spcBef>
                <a:spcPts val="1200"/>
              </a:spcBef>
              <a:spcAft>
                <a:spcPts val="1200"/>
              </a:spcAft>
              <a:buNone/>
            </a:pPr>
            <a:r>
              <a:rPr b="1" lang="el"/>
              <a:t>Worst case complexity:</a:t>
            </a:r>
            <a:r>
              <a:rPr lang="el"/>
              <a:t> O(n x (n-1)) = O(n^2)</a:t>
            </a:r>
            <a:endParaRPr/>
          </a:p>
        </p:txBody>
      </p:sp>
      <p:sp>
        <p:nvSpPr>
          <p:cNvPr id="611" name="Google Shape;611;p3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grpSp>
        <p:nvGrpSpPr>
          <p:cNvPr id="612" name="Google Shape;612;p38"/>
          <p:cNvGrpSpPr/>
          <p:nvPr/>
        </p:nvGrpSpPr>
        <p:grpSpPr>
          <a:xfrm>
            <a:off x="5418225" y="2889750"/>
            <a:ext cx="213600" cy="538200"/>
            <a:chOff x="5418225" y="2889750"/>
            <a:chExt cx="213600" cy="538200"/>
          </a:xfrm>
        </p:grpSpPr>
        <p:cxnSp>
          <p:nvCxnSpPr>
            <p:cNvPr id="613" name="Google Shape;613;p38"/>
            <p:cNvCxnSpPr/>
            <p:nvPr/>
          </p:nvCxnSpPr>
          <p:spPr>
            <a:xfrm>
              <a:off x="5418225" y="2907525"/>
              <a:ext cx="213600" cy="0"/>
            </a:xfrm>
            <a:prstGeom prst="straightConnector1">
              <a:avLst/>
            </a:prstGeom>
            <a:noFill/>
            <a:ln cap="flat" cmpd="sng" w="38100">
              <a:solidFill>
                <a:schemeClr val="dk1"/>
              </a:solidFill>
              <a:prstDash val="solid"/>
              <a:round/>
              <a:headEnd len="med" w="med" type="none"/>
              <a:tailEnd len="med" w="med" type="none"/>
            </a:ln>
          </p:spPr>
        </p:cxnSp>
        <p:cxnSp>
          <p:nvCxnSpPr>
            <p:cNvPr id="614" name="Google Shape;614;p38"/>
            <p:cNvCxnSpPr/>
            <p:nvPr/>
          </p:nvCxnSpPr>
          <p:spPr>
            <a:xfrm>
              <a:off x="5418225" y="3410975"/>
              <a:ext cx="213600" cy="0"/>
            </a:xfrm>
            <a:prstGeom prst="straightConnector1">
              <a:avLst/>
            </a:prstGeom>
            <a:noFill/>
            <a:ln cap="flat" cmpd="sng" w="38100">
              <a:solidFill>
                <a:schemeClr val="dk1"/>
              </a:solidFill>
              <a:prstDash val="solid"/>
              <a:round/>
              <a:headEnd len="med" w="med" type="none"/>
              <a:tailEnd len="med" w="med" type="none"/>
            </a:ln>
          </p:spPr>
        </p:cxnSp>
        <p:cxnSp>
          <p:nvCxnSpPr>
            <p:cNvPr id="615" name="Google Shape;615;p38"/>
            <p:cNvCxnSpPr/>
            <p:nvPr/>
          </p:nvCxnSpPr>
          <p:spPr>
            <a:xfrm>
              <a:off x="5623325" y="2889750"/>
              <a:ext cx="3300" cy="538200"/>
            </a:xfrm>
            <a:prstGeom prst="straightConnector1">
              <a:avLst/>
            </a:prstGeom>
            <a:noFill/>
            <a:ln cap="flat" cmpd="sng" w="38100">
              <a:solidFill>
                <a:schemeClr val="dk1"/>
              </a:solidFill>
              <a:prstDash val="solid"/>
              <a:round/>
              <a:headEnd len="med" w="med" type="none"/>
              <a:tailEnd len="med" w="med" type="none"/>
            </a:ln>
          </p:spPr>
        </p:cxnSp>
      </p:grpSp>
      <p:sp>
        <p:nvSpPr>
          <p:cNvPr id="616" name="Google Shape;616;p38"/>
          <p:cNvSpPr txBox="1"/>
          <p:nvPr/>
        </p:nvSpPr>
        <p:spPr>
          <a:xfrm>
            <a:off x="5631825" y="2889750"/>
            <a:ext cx="1808700" cy="5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300">
                <a:solidFill>
                  <a:schemeClr val="dk1"/>
                </a:solidFill>
                <a:latin typeface="Lato"/>
                <a:ea typeface="Lato"/>
                <a:cs typeface="Lato"/>
                <a:sym typeface="Lato"/>
              </a:rPr>
              <a:t>Elementary</a:t>
            </a:r>
            <a:br>
              <a:rPr b="1" lang="el" sz="1300">
                <a:solidFill>
                  <a:schemeClr val="dk1"/>
                </a:solidFill>
                <a:latin typeface="Lato"/>
                <a:ea typeface="Lato"/>
                <a:cs typeface="Lato"/>
                <a:sym typeface="Lato"/>
              </a:rPr>
            </a:br>
            <a:r>
              <a:rPr b="1" lang="el" sz="1300">
                <a:solidFill>
                  <a:schemeClr val="dk1"/>
                </a:solidFill>
                <a:latin typeface="Lato"/>
                <a:ea typeface="Lato"/>
                <a:cs typeface="Lato"/>
                <a:sym typeface="Lato"/>
              </a:rPr>
              <a:t>Operation</a:t>
            </a:r>
            <a:endParaRPr b="1" sz="1300">
              <a:solidFill>
                <a:schemeClr val="dk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9"/>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Merging and Complexity</a:t>
            </a:r>
            <a:endParaRPr/>
          </a:p>
        </p:txBody>
      </p:sp>
      <p:sp>
        <p:nvSpPr>
          <p:cNvPr id="622" name="Google Shape;622;p39"/>
          <p:cNvSpPr txBox="1"/>
          <p:nvPr>
            <p:ph idx="1" type="body"/>
          </p:nvPr>
        </p:nvSpPr>
        <p:spPr>
          <a:xfrm>
            <a:off x="729450" y="1378000"/>
            <a:ext cx="7688700" cy="37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In short, Merge-sort looks like this:</a:t>
            </a:r>
            <a:endParaRPr/>
          </a:p>
          <a:p>
            <a:pPr indent="0" lvl="0" marL="0" rtl="0" algn="l">
              <a:spcBef>
                <a:spcPts val="1200"/>
              </a:spcBef>
              <a:spcAft>
                <a:spcPts val="0"/>
              </a:spcAft>
              <a:buNone/>
            </a:pPr>
            <a:r>
              <a:rPr lang="el">
                <a:latin typeface="Consolas"/>
                <a:ea typeface="Consolas"/>
                <a:cs typeface="Consolas"/>
                <a:sym typeface="Consolas"/>
              </a:rPr>
              <a:t>n = len(arr)</a:t>
            </a:r>
            <a:br>
              <a:rPr lang="el">
                <a:latin typeface="Consolas"/>
                <a:ea typeface="Consolas"/>
                <a:cs typeface="Consolas"/>
                <a:sym typeface="Consolas"/>
              </a:rPr>
            </a:br>
            <a:r>
              <a:rPr lang="el">
                <a:latin typeface="Consolas"/>
                <a:ea typeface="Consolas"/>
                <a:cs typeface="Consolas"/>
                <a:sym typeface="Consolas"/>
              </a:rPr>
              <a:t>for i = 0, 1, …, log(len(arr)):</a:t>
            </a:r>
            <a:br>
              <a:rPr lang="el">
                <a:latin typeface="Consolas"/>
                <a:ea typeface="Consolas"/>
                <a:cs typeface="Consolas"/>
                <a:sym typeface="Consolas"/>
              </a:rPr>
            </a:br>
            <a:r>
              <a:rPr lang="el">
                <a:latin typeface="Consolas"/>
                <a:ea typeface="Consolas"/>
                <a:cs typeface="Consolas"/>
                <a:sym typeface="Consolas"/>
              </a:rPr>
              <a:t>	for j = 0, 1, …, n:</a:t>
            </a:r>
            <a:br>
              <a:rPr lang="el">
                <a:latin typeface="Consolas"/>
                <a:ea typeface="Consolas"/>
                <a:cs typeface="Consolas"/>
                <a:sym typeface="Consolas"/>
              </a:rPr>
            </a:br>
            <a:r>
              <a:rPr lang="el">
                <a:latin typeface="Consolas"/>
                <a:ea typeface="Consolas"/>
                <a:cs typeface="Consolas"/>
                <a:sym typeface="Consolas"/>
              </a:rPr>
              <a:t>		left = arr[j : j+2^i]</a:t>
            </a:r>
            <a:br>
              <a:rPr lang="el">
                <a:latin typeface="Consolas"/>
                <a:ea typeface="Consolas"/>
                <a:cs typeface="Consolas"/>
                <a:sym typeface="Consolas"/>
              </a:rPr>
            </a:br>
            <a:r>
              <a:rPr lang="el">
                <a:latin typeface="Consolas"/>
                <a:ea typeface="Consolas"/>
                <a:cs typeface="Consolas"/>
                <a:sym typeface="Consolas"/>
              </a:rPr>
              <a:t>		right = arr[j+2^i : j+2^(i+1)]</a:t>
            </a:r>
            <a:br>
              <a:rPr lang="el">
                <a:latin typeface="Consolas"/>
                <a:ea typeface="Consolas"/>
                <a:cs typeface="Consolas"/>
                <a:sym typeface="Consolas"/>
              </a:rPr>
            </a:br>
            <a:r>
              <a:rPr lang="el">
                <a:latin typeface="Consolas"/>
                <a:ea typeface="Consolas"/>
                <a:cs typeface="Consolas"/>
                <a:sym typeface="Consolas"/>
              </a:rPr>
              <a:t>		merge(left, right)</a:t>
            </a:r>
            <a:br>
              <a:rPr lang="el">
                <a:latin typeface="Consolas"/>
                <a:ea typeface="Consolas"/>
                <a:cs typeface="Consolas"/>
                <a:sym typeface="Consolas"/>
              </a:rPr>
            </a:br>
            <a:r>
              <a:rPr lang="el">
                <a:latin typeface="Consolas"/>
                <a:ea typeface="Consolas"/>
                <a:cs typeface="Consolas"/>
                <a:sym typeface="Consolas"/>
              </a:rPr>
              <a:t>	n = n / 2</a:t>
            </a:r>
            <a:endParaRPr>
              <a:latin typeface="Consolas"/>
              <a:ea typeface="Consolas"/>
              <a:cs typeface="Consolas"/>
              <a:sym typeface="Consolas"/>
            </a:endParaRPr>
          </a:p>
          <a:p>
            <a:pPr indent="0" lvl="0" marL="0" rtl="0" algn="l">
              <a:spcBef>
                <a:spcPts val="1200"/>
              </a:spcBef>
              <a:spcAft>
                <a:spcPts val="0"/>
              </a:spcAft>
              <a:buNone/>
            </a:pPr>
            <a:r>
              <a:rPr lang="el"/>
              <a:t>arr has been sorted!</a:t>
            </a:r>
            <a:endParaRPr/>
          </a:p>
          <a:p>
            <a:pPr indent="0" lvl="0" marL="0" rtl="0" algn="l">
              <a:spcBef>
                <a:spcPts val="1200"/>
              </a:spcBef>
              <a:spcAft>
                <a:spcPts val="1200"/>
              </a:spcAft>
              <a:buNone/>
            </a:pPr>
            <a:r>
              <a:rPr lang="el"/>
              <a:t>What about (worst-case) complexity?</a:t>
            </a:r>
            <a:endParaRPr/>
          </a:p>
        </p:txBody>
      </p:sp>
      <p:sp>
        <p:nvSpPr>
          <p:cNvPr id="623" name="Google Shape;623;p3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40"/>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Merging and Complexity</a:t>
            </a:r>
            <a:endParaRPr/>
          </a:p>
        </p:txBody>
      </p:sp>
      <p:sp>
        <p:nvSpPr>
          <p:cNvPr id="629" name="Google Shape;629;p40"/>
          <p:cNvSpPr txBox="1"/>
          <p:nvPr>
            <p:ph idx="1" type="body"/>
          </p:nvPr>
        </p:nvSpPr>
        <p:spPr>
          <a:xfrm>
            <a:off x="729450" y="1378000"/>
            <a:ext cx="7688700" cy="37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In short, Merge-sort looks like this:</a:t>
            </a:r>
            <a:endParaRPr/>
          </a:p>
          <a:p>
            <a:pPr indent="0" lvl="0" marL="0" rtl="0" algn="l">
              <a:spcBef>
                <a:spcPts val="1200"/>
              </a:spcBef>
              <a:spcAft>
                <a:spcPts val="0"/>
              </a:spcAft>
              <a:buNone/>
            </a:pPr>
            <a:r>
              <a:rPr lang="el">
                <a:latin typeface="Consolas"/>
                <a:ea typeface="Consolas"/>
                <a:cs typeface="Consolas"/>
                <a:sym typeface="Consolas"/>
              </a:rPr>
              <a:t>n = len(arr)</a:t>
            </a:r>
            <a:br>
              <a:rPr lang="el">
                <a:latin typeface="Consolas"/>
                <a:ea typeface="Consolas"/>
                <a:cs typeface="Consolas"/>
                <a:sym typeface="Consolas"/>
              </a:rPr>
            </a:br>
            <a:r>
              <a:rPr lang="el">
                <a:solidFill>
                  <a:schemeClr val="accent3"/>
                </a:solidFill>
                <a:latin typeface="Consolas"/>
                <a:ea typeface="Consolas"/>
                <a:cs typeface="Consolas"/>
                <a:sym typeface="Consolas"/>
              </a:rPr>
              <a:t>for i = 0, 1, …, log(len(arr)): ← This is repeated </a:t>
            </a:r>
            <a:r>
              <a:rPr b="1" lang="el">
                <a:solidFill>
                  <a:schemeClr val="accent3"/>
                </a:solidFill>
                <a:latin typeface="Consolas"/>
                <a:ea typeface="Consolas"/>
                <a:cs typeface="Consolas"/>
                <a:sym typeface="Consolas"/>
              </a:rPr>
              <a:t>log(n)</a:t>
            </a:r>
            <a:r>
              <a:rPr lang="el">
                <a:solidFill>
                  <a:schemeClr val="accent3"/>
                </a:solidFill>
                <a:latin typeface="Consolas"/>
                <a:ea typeface="Consolas"/>
                <a:cs typeface="Consolas"/>
                <a:sym typeface="Consolas"/>
              </a:rPr>
              <a:t> times</a:t>
            </a:r>
            <a:br>
              <a:rPr lang="el">
                <a:latin typeface="Consolas"/>
                <a:ea typeface="Consolas"/>
                <a:cs typeface="Consolas"/>
                <a:sym typeface="Consolas"/>
              </a:rPr>
            </a:br>
            <a:r>
              <a:rPr lang="el">
                <a:latin typeface="Consolas"/>
                <a:ea typeface="Consolas"/>
                <a:cs typeface="Consolas"/>
                <a:sym typeface="Consolas"/>
              </a:rPr>
              <a:t>	</a:t>
            </a:r>
            <a:r>
              <a:rPr lang="el">
                <a:solidFill>
                  <a:schemeClr val="accent2"/>
                </a:solidFill>
                <a:latin typeface="Consolas"/>
                <a:ea typeface="Consolas"/>
                <a:cs typeface="Consolas"/>
                <a:sym typeface="Consolas"/>
              </a:rPr>
              <a:t>for j = 0, 1, …, n: ← Don’t fall for this!</a:t>
            </a:r>
            <a:br>
              <a:rPr lang="el">
                <a:latin typeface="Consolas"/>
                <a:ea typeface="Consolas"/>
                <a:cs typeface="Consolas"/>
                <a:sym typeface="Consolas"/>
              </a:rPr>
            </a:br>
            <a:r>
              <a:rPr lang="el">
                <a:latin typeface="Consolas"/>
                <a:ea typeface="Consolas"/>
                <a:cs typeface="Consolas"/>
                <a:sym typeface="Consolas"/>
              </a:rPr>
              <a:t>		left = arr[j : j+2^i]</a:t>
            </a:r>
            <a:br>
              <a:rPr lang="el">
                <a:latin typeface="Consolas"/>
                <a:ea typeface="Consolas"/>
                <a:cs typeface="Consolas"/>
                <a:sym typeface="Consolas"/>
              </a:rPr>
            </a:br>
            <a:r>
              <a:rPr lang="el">
                <a:latin typeface="Consolas"/>
                <a:ea typeface="Consolas"/>
                <a:cs typeface="Consolas"/>
                <a:sym typeface="Consolas"/>
              </a:rPr>
              <a:t>		right = arr[j+2^i : j+2^(i+1)]</a:t>
            </a:r>
            <a:br>
              <a:rPr lang="el">
                <a:latin typeface="Consolas"/>
                <a:ea typeface="Consolas"/>
                <a:cs typeface="Consolas"/>
                <a:sym typeface="Consolas"/>
              </a:rPr>
            </a:br>
            <a:r>
              <a:rPr lang="el">
                <a:latin typeface="Consolas"/>
                <a:ea typeface="Consolas"/>
                <a:cs typeface="Consolas"/>
                <a:sym typeface="Consolas"/>
              </a:rPr>
              <a:t>		</a:t>
            </a:r>
            <a:r>
              <a:rPr lang="el">
                <a:solidFill>
                  <a:schemeClr val="dk1"/>
                </a:solidFill>
                <a:latin typeface="Consolas"/>
                <a:ea typeface="Consolas"/>
                <a:cs typeface="Consolas"/>
                <a:sym typeface="Consolas"/>
              </a:rPr>
              <a:t>merge(left, right) ← len(left) + len(right) EO</a:t>
            </a:r>
            <a:br>
              <a:rPr lang="el">
                <a:latin typeface="Consolas"/>
                <a:ea typeface="Consolas"/>
                <a:cs typeface="Consolas"/>
                <a:sym typeface="Consolas"/>
              </a:rPr>
            </a:br>
            <a:r>
              <a:rPr lang="el">
                <a:latin typeface="Consolas"/>
                <a:ea typeface="Consolas"/>
                <a:cs typeface="Consolas"/>
                <a:sym typeface="Consolas"/>
              </a:rPr>
              <a:t>	n = n / 2                </a:t>
            </a:r>
            <a:r>
              <a:rPr lang="el">
                <a:solidFill>
                  <a:schemeClr val="dk1"/>
                </a:solidFill>
                <a:latin typeface="Consolas"/>
                <a:ea typeface="Consolas"/>
                <a:cs typeface="Consolas"/>
                <a:sym typeface="Consolas"/>
              </a:rPr>
              <a:t>which means </a:t>
            </a:r>
            <a:r>
              <a:rPr b="1" lang="el">
                <a:solidFill>
                  <a:schemeClr val="dk1"/>
                </a:solidFill>
                <a:latin typeface="Consolas"/>
                <a:ea typeface="Consolas"/>
                <a:cs typeface="Consolas"/>
                <a:sym typeface="Consolas"/>
              </a:rPr>
              <a:t>n </a:t>
            </a:r>
            <a:r>
              <a:rPr lang="el">
                <a:solidFill>
                  <a:schemeClr val="dk1"/>
                </a:solidFill>
                <a:latin typeface="Consolas"/>
                <a:ea typeface="Consolas"/>
                <a:cs typeface="Consolas"/>
                <a:sym typeface="Consolas"/>
              </a:rPr>
              <a:t>EO per iteration.</a:t>
            </a:r>
            <a:endParaRPr>
              <a:solidFill>
                <a:schemeClr val="dk1"/>
              </a:solidFill>
              <a:latin typeface="Consolas"/>
              <a:ea typeface="Consolas"/>
              <a:cs typeface="Consolas"/>
              <a:sym typeface="Consolas"/>
            </a:endParaRPr>
          </a:p>
          <a:p>
            <a:pPr indent="0" lvl="0" marL="0" rtl="0" algn="l">
              <a:spcBef>
                <a:spcPts val="1200"/>
              </a:spcBef>
              <a:spcAft>
                <a:spcPts val="0"/>
              </a:spcAft>
              <a:buNone/>
            </a:pPr>
            <a:r>
              <a:rPr lang="el"/>
              <a:t>arr has been sorted!</a:t>
            </a:r>
            <a:endParaRPr/>
          </a:p>
          <a:p>
            <a:pPr indent="0" lvl="0" marL="0" rtl="0" algn="l">
              <a:spcBef>
                <a:spcPts val="1200"/>
              </a:spcBef>
              <a:spcAft>
                <a:spcPts val="1200"/>
              </a:spcAft>
              <a:buNone/>
            </a:pPr>
            <a:r>
              <a:rPr b="1" lang="el"/>
              <a:t>Worst case complexity:</a:t>
            </a:r>
            <a:r>
              <a:rPr lang="el"/>
              <a:t> O(nlog(n))</a:t>
            </a:r>
            <a:endParaRPr/>
          </a:p>
        </p:txBody>
      </p:sp>
      <p:sp>
        <p:nvSpPr>
          <p:cNvPr id="630" name="Google Shape;630;p4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41"/>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merge log(n) times?</a:t>
            </a:r>
            <a:endParaRPr/>
          </a:p>
        </p:txBody>
      </p:sp>
      <p:sp>
        <p:nvSpPr>
          <p:cNvPr id="636" name="Google Shape;636;p41"/>
          <p:cNvSpPr txBox="1"/>
          <p:nvPr>
            <p:ph idx="1" type="body"/>
          </p:nvPr>
        </p:nvSpPr>
        <p:spPr>
          <a:xfrm>
            <a:off x="729450" y="1378000"/>
            <a:ext cx="7688700" cy="3765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l"/>
              <a:t>Consider a list of length </a:t>
            </a:r>
            <a:r>
              <a:rPr b="1" lang="el">
                <a:solidFill>
                  <a:schemeClr val="accent3"/>
                </a:solidFill>
              </a:rPr>
              <a:t>8</a:t>
            </a:r>
            <a:r>
              <a:rPr lang="el"/>
              <a:t> = 2^3 (just for convenience). Once broken into pieces of length == 1, you have </a:t>
            </a:r>
            <a:r>
              <a:rPr b="1" lang="el">
                <a:solidFill>
                  <a:schemeClr val="accent3"/>
                </a:solidFill>
              </a:rPr>
              <a:t>8</a:t>
            </a:r>
            <a:r>
              <a:rPr lang="el"/>
              <a:t> tiny lists of one element each.</a:t>
            </a:r>
            <a:endParaRPr/>
          </a:p>
          <a:p>
            <a:pPr indent="-330200" lvl="0" marL="457200" rtl="0" algn="l">
              <a:spcBef>
                <a:spcPts val="1200"/>
              </a:spcBef>
              <a:spcAft>
                <a:spcPts val="0"/>
              </a:spcAft>
              <a:buSzPts val="1600"/>
              <a:buChar char="●"/>
            </a:pPr>
            <a:r>
              <a:rPr lang="el"/>
              <a:t>Every time you merge you are left with exactly half (±1) tiny lists (of roughly double size)</a:t>
            </a:r>
            <a:endParaRPr/>
          </a:p>
          <a:p>
            <a:pPr indent="-330200" lvl="0" marL="457200" rtl="0" algn="l">
              <a:spcBef>
                <a:spcPts val="0"/>
              </a:spcBef>
              <a:spcAft>
                <a:spcPts val="0"/>
              </a:spcAft>
              <a:buSzPts val="1600"/>
              <a:buChar char="●"/>
            </a:pPr>
            <a:r>
              <a:rPr lang="el"/>
              <a:t>So, after how many “merge runs” will you be left with just one (the initial) list?</a:t>
            </a:r>
            <a:endParaRPr/>
          </a:p>
          <a:p>
            <a:pPr indent="-330200" lvl="0" marL="457200" rtl="0" algn="l">
              <a:spcBef>
                <a:spcPts val="0"/>
              </a:spcBef>
              <a:spcAft>
                <a:spcPts val="0"/>
              </a:spcAft>
              <a:buSzPts val="1600"/>
              <a:buChar char="●"/>
            </a:pPr>
            <a:r>
              <a:rPr b="1" lang="el">
                <a:solidFill>
                  <a:schemeClr val="accent3"/>
                </a:solidFill>
              </a:rPr>
              <a:t>8</a:t>
            </a:r>
            <a:r>
              <a:rPr lang="el"/>
              <a:t> tiny lists → 4 tiny lists → 2 tiny lists → 1 large list.</a:t>
            </a:r>
            <a:endParaRPr/>
          </a:p>
          <a:p>
            <a:pPr indent="-330200" lvl="0" marL="457200" rtl="0" algn="l">
              <a:spcBef>
                <a:spcPts val="0"/>
              </a:spcBef>
              <a:spcAft>
                <a:spcPts val="0"/>
              </a:spcAft>
              <a:buSzPts val="1600"/>
              <a:buChar char="●"/>
            </a:pPr>
            <a:r>
              <a:rPr lang="el"/>
              <a:t>At each step you divide by two, so, essentially, you are looking for the number of consecutive divisions by 2 required to reach 1, starting from 8.</a:t>
            </a:r>
            <a:endParaRPr/>
          </a:p>
          <a:p>
            <a:pPr indent="-330200" lvl="0" marL="457200" rtl="0" algn="l">
              <a:spcBef>
                <a:spcPts val="0"/>
              </a:spcBef>
              <a:spcAft>
                <a:spcPts val="0"/>
              </a:spcAft>
              <a:buSzPts val="1600"/>
              <a:buChar char="●"/>
            </a:pPr>
            <a:r>
              <a:rPr lang="el"/>
              <a:t>Reading this right to left, we can count the number of multiplications by 2 required to reach 8 from 1, i.e., if m is that number, we want an m such that:</a:t>
            </a:r>
            <a:br>
              <a:rPr lang="el"/>
            </a:br>
            <a:r>
              <a:rPr lang="el"/>
              <a:t>2^m == </a:t>
            </a:r>
            <a:r>
              <a:rPr b="1" lang="el">
                <a:solidFill>
                  <a:schemeClr val="accent3"/>
                </a:solidFill>
              </a:rPr>
              <a:t>8</a:t>
            </a:r>
            <a:r>
              <a:rPr lang="el"/>
              <a:t>.</a:t>
            </a:r>
            <a:endParaRPr/>
          </a:p>
          <a:p>
            <a:pPr indent="-330200" lvl="0" marL="457200" rtl="0" algn="l">
              <a:spcBef>
                <a:spcPts val="0"/>
              </a:spcBef>
              <a:spcAft>
                <a:spcPts val="0"/>
              </a:spcAft>
              <a:buSzPts val="1600"/>
              <a:buChar char="●"/>
            </a:pPr>
            <a:r>
              <a:rPr lang="el"/>
              <a:t>This is exactly the definition of log(</a:t>
            </a:r>
            <a:r>
              <a:rPr b="1" lang="el">
                <a:solidFill>
                  <a:schemeClr val="accent3"/>
                </a:solidFill>
              </a:rPr>
              <a:t>8</a:t>
            </a:r>
            <a:r>
              <a:rPr lang="el"/>
              <a:t>) (log = logarithm base 2)</a:t>
            </a:r>
            <a:endParaRPr/>
          </a:p>
          <a:p>
            <a:pPr indent="-330200" lvl="0" marL="457200" rtl="0" algn="l">
              <a:spcBef>
                <a:spcPts val="0"/>
              </a:spcBef>
              <a:spcAft>
                <a:spcPts val="0"/>
              </a:spcAft>
              <a:buSzPts val="1600"/>
              <a:buChar char="●"/>
            </a:pPr>
            <a:r>
              <a:rPr lang="el"/>
              <a:t>Substitute 8 with </a:t>
            </a:r>
            <a:r>
              <a:rPr b="1" lang="el">
                <a:solidFill>
                  <a:schemeClr val="accent3"/>
                </a:solidFill>
              </a:rPr>
              <a:t>n</a:t>
            </a:r>
            <a:r>
              <a:rPr lang="el"/>
              <a:t> and you get (roughly) </a:t>
            </a:r>
            <a:r>
              <a:rPr b="1" lang="el">
                <a:solidFill>
                  <a:schemeClr val="accent3"/>
                </a:solidFill>
              </a:rPr>
              <a:t>m = log(n)</a:t>
            </a:r>
            <a:r>
              <a:rPr lang="el"/>
              <a:t>.</a:t>
            </a:r>
            <a:endParaRPr/>
          </a:p>
        </p:txBody>
      </p:sp>
      <p:sp>
        <p:nvSpPr>
          <p:cNvPr id="637" name="Google Shape;637;p4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42"/>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Insertion Sort</a:t>
            </a:r>
            <a:endParaRPr/>
          </a:p>
        </p:txBody>
      </p:sp>
      <p:sp>
        <p:nvSpPr>
          <p:cNvPr id="643" name="Google Shape;643;p42"/>
          <p:cNvSpPr txBox="1"/>
          <p:nvPr>
            <p:ph idx="1" type="body"/>
          </p:nvPr>
        </p:nvSpPr>
        <p:spPr>
          <a:xfrm>
            <a:off x="729450" y="1378000"/>
            <a:ext cx="7688700" cy="37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Consider the following sorting algorithm:</a:t>
            </a:r>
            <a:endParaRPr/>
          </a:p>
          <a:p>
            <a:pPr indent="0" lvl="0" marL="0" rtl="0" algn="l">
              <a:spcBef>
                <a:spcPts val="1200"/>
              </a:spcBef>
              <a:spcAft>
                <a:spcPts val="0"/>
              </a:spcAft>
              <a:buNone/>
            </a:pPr>
            <a:r>
              <a:rPr lang="el">
                <a:latin typeface="Consolas"/>
                <a:ea typeface="Consolas"/>
                <a:cs typeface="Consolas"/>
                <a:sym typeface="Consolas"/>
              </a:rPr>
              <a:t>i = 1</a:t>
            </a:r>
            <a:br>
              <a:rPr lang="el">
                <a:latin typeface="Consolas"/>
                <a:ea typeface="Consolas"/>
                <a:cs typeface="Consolas"/>
                <a:sym typeface="Consolas"/>
              </a:rPr>
            </a:br>
            <a:r>
              <a:rPr lang="el">
                <a:latin typeface="Consolas"/>
                <a:ea typeface="Consolas"/>
                <a:cs typeface="Consolas"/>
                <a:sym typeface="Consolas"/>
              </a:rPr>
              <a:t>while i &lt; len(arr):</a:t>
            </a:r>
            <a:br>
              <a:rPr lang="el">
                <a:latin typeface="Consolas"/>
                <a:ea typeface="Consolas"/>
                <a:cs typeface="Consolas"/>
                <a:sym typeface="Consolas"/>
              </a:rPr>
            </a:br>
            <a:r>
              <a:rPr lang="el">
                <a:latin typeface="Consolas"/>
                <a:ea typeface="Consolas"/>
                <a:cs typeface="Consolas"/>
                <a:sym typeface="Consolas"/>
              </a:rPr>
              <a:t>	j = i</a:t>
            </a:r>
            <a:br>
              <a:rPr lang="el">
                <a:latin typeface="Consolas"/>
                <a:ea typeface="Consolas"/>
                <a:cs typeface="Consolas"/>
                <a:sym typeface="Consolas"/>
              </a:rPr>
            </a:br>
            <a:r>
              <a:rPr lang="el">
                <a:latin typeface="Consolas"/>
                <a:ea typeface="Consolas"/>
                <a:cs typeface="Consolas"/>
                <a:sym typeface="Consolas"/>
              </a:rPr>
              <a:t>	while j &gt; 0 and arr[j] &lt; arr[j - 1]:</a:t>
            </a:r>
            <a:br>
              <a:rPr lang="el">
                <a:latin typeface="Consolas"/>
                <a:ea typeface="Consolas"/>
                <a:cs typeface="Consolas"/>
                <a:sym typeface="Consolas"/>
              </a:rPr>
            </a:br>
            <a:r>
              <a:rPr lang="el">
                <a:latin typeface="Consolas"/>
                <a:ea typeface="Consolas"/>
                <a:cs typeface="Consolas"/>
                <a:sym typeface="Consolas"/>
              </a:rPr>
              <a:t>		swap arr[j] and arr[j-1]</a:t>
            </a:r>
            <a:br>
              <a:rPr lang="el">
                <a:latin typeface="Consolas"/>
                <a:ea typeface="Consolas"/>
                <a:cs typeface="Consolas"/>
                <a:sym typeface="Consolas"/>
              </a:rPr>
            </a:br>
            <a:r>
              <a:rPr lang="el">
                <a:latin typeface="Consolas"/>
                <a:ea typeface="Consolas"/>
                <a:cs typeface="Consolas"/>
                <a:sym typeface="Consolas"/>
              </a:rPr>
              <a:t>		j--</a:t>
            </a:r>
            <a:br>
              <a:rPr lang="el">
                <a:latin typeface="Consolas"/>
                <a:ea typeface="Consolas"/>
                <a:cs typeface="Consolas"/>
                <a:sym typeface="Consolas"/>
              </a:rPr>
            </a:br>
            <a:r>
              <a:rPr lang="el">
                <a:latin typeface="Consolas"/>
                <a:ea typeface="Consolas"/>
                <a:cs typeface="Consolas"/>
                <a:sym typeface="Consolas"/>
              </a:rPr>
              <a:t>	i++</a:t>
            </a:r>
            <a:endParaRPr>
              <a:latin typeface="Consolas"/>
              <a:ea typeface="Consolas"/>
              <a:cs typeface="Consolas"/>
              <a:sym typeface="Consolas"/>
            </a:endParaRPr>
          </a:p>
          <a:p>
            <a:pPr indent="0" lvl="0" marL="0" rtl="0" algn="l">
              <a:spcBef>
                <a:spcPts val="1200"/>
              </a:spcBef>
              <a:spcAft>
                <a:spcPts val="0"/>
              </a:spcAft>
              <a:buNone/>
            </a:pPr>
            <a:r>
              <a:rPr lang="el"/>
              <a:t>arr has been sorted!</a:t>
            </a:r>
            <a:endParaRPr/>
          </a:p>
          <a:p>
            <a:pPr indent="0" lvl="0" marL="0" rtl="0" algn="l">
              <a:spcBef>
                <a:spcPts val="1200"/>
              </a:spcBef>
              <a:spcAft>
                <a:spcPts val="1200"/>
              </a:spcAft>
              <a:buNone/>
            </a:pPr>
            <a:r>
              <a:rPr lang="el"/>
              <a:t>What about worst-case complexity?</a:t>
            </a:r>
            <a:br>
              <a:rPr lang="el"/>
            </a:br>
            <a:endParaRPr/>
          </a:p>
        </p:txBody>
      </p:sp>
      <p:sp>
        <p:nvSpPr>
          <p:cNvPr id="644" name="Google Shape;644;p4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43"/>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Insertion Sort</a:t>
            </a:r>
            <a:endParaRPr/>
          </a:p>
        </p:txBody>
      </p:sp>
      <p:sp>
        <p:nvSpPr>
          <p:cNvPr id="650" name="Google Shape;650;p43"/>
          <p:cNvSpPr txBox="1"/>
          <p:nvPr>
            <p:ph idx="1" type="body"/>
          </p:nvPr>
        </p:nvSpPr>
        <p:spPr>
          <a:xfrm>
            <a:off x="729450" y="1378000"/>
            <a:ext cx="7688700" cy="37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Consider the following sorting algorithm:</a:t>
            </a:r>
            <a:endParaRPr/>
          </a:p>
          <a:p>
            <a:pPr indent="0" lvl="0" marL="0" rtl="0" algn="l">
              <a:spcBef>
                <a:spcPts val="1200"/>
              </a:spcBef>
              <a:spcAft>
                <a:spcPts val="0"/>
              </a:spcAft>
              <a:buNone/>
            </a:pPr>
            <a:r>
              <a:rPr lang="el">
                <a:latin typeface="Consolas"/>
                <a:ea typeface="Consolas"/>
                <a:cs typeface="Consolas"/>
                <a:sym typeface="Consolas"/>
              </a:rPr>
              <a:t>i = 1</a:t>
            </a:r>
            <a:br>
              <a:rPr lang="el">
                <a:latin typeface="Consolas"/>
                <a:ea typeface="Consolas"/>
                <a:cs typeface="Consolas"/>
                <a:sym typeface="Consolas"/>
              </a:rPr>
            </a:br>
            <a:r>
              <a:rPr lang="el">
                <a:solidFill>
                  <a:schemeClr val="accent3"/>
                </a:solidFill>
                <a:latin typeface="Consolas"/>
                <a:ea typeface="Consolas"/>
                <a:cs typeface="Consolas"/>
                <a:sym typeface="Consolas"/>
              </a:rPr>
              <a:t>while i &lt; len(arr): ← This is repeated </a:t>
            </a:r>
            <a:r>
              <a:rPr b="1" lang="el">
                <a:solidFill>
                  <a:schemeClr val="accent3"/>
                </a:solidFill>
                <a:latin typeface="Consolas"/>
                <a:ea typeface="Consolas"/>
                <a:cs typeface="Consolas"/>
                <a:sym typeface="Consolas"/>
              </a:rPr>
              <a:t>n</a:t>
            </a:r>
            <a:r>
              <a:rPr lang="el">
                <a:solidFill>
                  <a:schemeClr val="accent3"/>
                </a:solidFill>
                <a:latin typeface="Consolas"/>
                <a:ea typeface="Consolas"/>
                <a:cs typeface="Consolas"/>
                <a:sym typeface="Consolas"/>
              </a:rPr>
              <a:t> times</a:t>
            </a:r>
            <a:br>
              <a:rPr lang="el">
                <a:latin typeface="Consolas"/>
                <a:ea typeface="Consolas"/>
                <a:cs typeface="Consolas"/>
                <a:sym typeface="Consolas"/>
              </a:rPr>
            </a:br>
            <a:r>
              <a:rPr lang="el">
                <a:latin typeface="Consolas"/>
                <a:ea typeface="Consolas"/>
                <a:cs typeface="Consolas"/>
                <a:sym typeface="Consolas"/>
              </a:rPr>
              <a:t>	j = i</a:t>
            </a:r>
            <a:br>
              <a:rPr lang="el">
                <a:latin typeface="Consolas"/>
                <a:ea typeface="Consolas"/>
                <a:cs typeface="Consolas"/>
                <a:sym typeface="Consolas"/>
              </a:rPr>
            </a:br>
            <a:r>
              <a:rPr lang="el">
                <a:solidFill>
                  <a:schemeClr val="dk1"/>
                </a:solidFill>
                <a:latin typeface="Consolas"/>
                <a:ea typeface="Consolas"/>
                <a:cs typeface="Consolas"/>
                <a:sym typeface="Consolas"/>
              </a:rPr>
              <a:t>	while j &gt; 0 and arr[j] &lt; arr[j - 1]: ← At most </a:t>
            </a:r>
            <a:r>
              <a:rPr b="1" lang="el">
                <a:solidFill>
                  <a:schemeClr val="dk1"/>
                </a:solidFill>
                <a:latin typeface="Consolas"/>
                <a:ea typeface="Consolas"/>
                <a:cs typeface="Consolas"/>
                <a:sym typeface="Consolas"/>
              </a:rPr>
              <a:t>n - 1</a:t>
            </a:r>
            <a:r>
              <a:rPr lang="el">
                <a:solidFill>
                  <a:schemeClr val="dk1"/>
                </a:solidFill>
                <a:latin typeface="Consolas"/>
                <a:ea typeface="Consolas"/>
                <a:cs typeface="Consolas"/>
                <a:sym typeface="Consolas"/>
              </a:rPr>
              <a:t> times</a:t>
            </a:r>
            <a:br>
              <a:rPr lang="el">
                <a:latin typeface="Consolas"/>
                <a:ea typeface="Consolas"/>
                <a:cs typeface="Consolas"/>
                <a:sym typeface="Consolas"/>
              </a:rPr>
            </a:br>
            <a:r>
              <a:rPr lang="el">
                <a:latin typeface="Consolas"/>
                <a:ea typeface="Consolas"/>
                <a:cs typeface="Consolas"/>
                <a:sym typeface="Consolas"/>
              </a:rPr>
              <a:t>		swap arr[j] and arr[j-1]</a:t>
            </a:r>
            <a:br>
              <a:rPr lang="el">
                <a:latin typeface="Consolas"/>
                <a:ea typeface="Consolas"/>
                <a:cs typeface="Consolas"/>
                <a:sym typeface="Consolas"/>
              </a:rPr>
            </a:br>
            <a:r>
              <a:rPr lang="el">
                <a:latin typeface="Consolas"/>
                <a:ea typeface="Consolas"/>
                <a:cs typeface="Consolas"/>
                <a:sym typeface="Consolas"/>
              </a:rPr>
              <a:t>		j--</a:t>
            </a:r>
            <a:br>
              <a:rPr lang="el">
                <a:latin typeface="Consolas"/>
                <a:ea typeface="Consolas"/>
                <a:cs typeface="Consolas"/>
                <a:sym typeface="Consolas"/>
              </a:rPr>
            </a:br>
            <a:r>
              <a:rPr lang="el">
                <a:latin typeface="Consolas"/>
                <a:ea typeface="Consolas"/>
                <a:cs typeface="Consolas"/>
                <a:sym typeface="Consolas"/>
              </a:rPr>
              <a:t>	i++</a:t>
            </a:r>
            <a:endParaRPr>
              <a:latin typeface="Consolas"/>
              <a:ea typeface="Consolas"/>
              <a:cs typeface="Consolas"/>
              <a:sym typeface="Consolas"/>
            </a:endParaRPr>
          </a:p>
          <a:p>
            <a:pPr indent="0" lvl="0" marL="0" rtl="0" algn="l">
              <a:spcBef>
                <a:spcPts val="1200"/>
              </a:spcBef>
              <a:spcAft>
                <a:spcPts val="0"/>
              </a:spcAft>
              <a:buNone/>
            </a:pPr>
            <a:r>
              <a:rPr lang="el"/>
              <a:t>arr has been sorted!</a:t>
            </a:r>
            <a:endParaRPr/>
          </a:p>
          <a:p>
            <a:pPr indent="0" lvl="0" marL="0" rtl="0" algn="l">
              <a:spcBef>
                <a:spcPts val="1200"/>
              </a:spcBef>
              <a:spcAft>
                <a:spcPts val="1200"/>
              </a:spcAft>
              <a:buNone/>
            </a:pPr>
            <a:r>
              <a:rPr b="1" lang="el"/>
              <a:t>Worst-case complexity:</a:t>
            </a:r>
            <a:r>
              <a:rPr lang="el"/>
              <a:t> O(n x (n-1)) = O(n^2)</a:t>
            </a:r>
            <a:br>
              <a:rPr lang="el"/>
            </a:br>
            <a:endParaRPr/>
          </a:p>
        </p:txBody>
      </p:sp>
      <p:sp>
        <p:nvSpPr>
          <p:cNvPr id="651" name="Google Shape;651;p4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44"/>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Bogus – Bogus</a:t>
            </a:r>
            <a:endParaRPr/>
          </a:p>
        </p:txBody>
      </p:sp>
      <p:sp>
        <p:nvSpPr>
          <p:cNvPr id="657" name="Google Shape;657;p44"/>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Consider the following sorting algorithm:</a:t>
            </a:r>
            <a:endParaRPr/>
          </a:p>
          <a:p>
            <a:pPr indent="0" lvl="0" marL="0" rtl="0" algn="l">
              <a:spcBef>
                <a:spcPts val="1200"/>
              </a:spcBef>
              <a:spcAft>
                <a:spcPts val="0"/>
              </a:spcAft>
              <a:buNone/>
            </a:pPr>
            <a:r>
              <a:rPr lang="el">
                <a:latin typeface="Consolas"/>
                <a:ea typeface="Consolas"/>
                <a:cs typeface="Consolas"/>
                <a:sym typeface="Consolas"/>
              </a:rPr>
              <a:t>while arr is not sorted:</a:t>
            </a:r>
            <a:br>
              <a:rPr lang="el">
                <a:latin typeface="Consolas"/>
                <a:ea typeface="Consolas"/>
                <a:cs typeface="Consolas"/>
                <a:sym typeface="Consolas"/>
              </a:rPr>
            </a:br>
            <a:r>
              <a:rPr lang="el">
                <a:latin typeface="Consolas"/>
                <a:ea typeface="Consolas"/>
                <a:cs typeface="Consolas"/>
                <a:sym typeface="Consolas"/>
              </a:rPr>
              <a:t>	randomly shuffle arr</a:t>
            </a:r>
            <a:br>
              <a:rPr lang="el">
                <a:latin typeface="Consolas"/>
                <a:ea typeface="Consolas"/>
                <a:cs typeface="Consolas"/>
                <a:sym typeface="Consolas"/>
              </a:rPr>
            </a:br>
            <a:r>
              <a:rPr lang="el">
                <a:latin typeface="Consolas"/>
                <a:ea typeface="Consolas"/>
                <a:cs typeface="Consolas"/>
                <a:sym typeface="Consolas"/>
              </a:rPr>
              <a:t>return arr</a:t>
            </a:r>
            <a:endParaRPr>
              <a:latin typeface="Consolas"/>
              <a:ea typeface="Consolas"/>
              <a:cs typeface="Consolas"/>
              <a:sym typeface="Consolas"/>
            </a:endParaRPr>
          </a:p>
          <a:p>
            <a:pPr indent="0" lvl="0" marL="0" rtl="0" algn="l">
              <a:spcBef>
                <a:spcPts val="1200"/>
              </a:spcBef>
              <a:spcAft>
                <a:spcPts val="0"/>
              </a:spcAft>
              <a:buNone/>
            </a:pPr>
            <a:r>
              <a:rPr lang="el"/>
              <a:t>arr is sorted!</a:t>
            </a:r>
            <a:endParaRPr/>
          </a:p>
          <a:p>
            <a:pPr indent="0" lvl="0" marL="0" rtl="0" algn="l">
              <a:spcBef>
                <a:spcPts val="1200"/>
              </a:spcBef>
              <a:spcAft>
                <a:spcPts val="1200"/>
              </a:spcAft>
              <a:buNone/>
            </a:pPr>
            <a:r>
              <a:rPr lang="el"/>
              <a:t>What about worst-case time complexity?</a:t>
            </a:r>
            <a:endParaRPr/>
          </a:p>
        </p:txBody>
      </p:sp>
      <p:sp>
        <p:nvSpPr>
          <p:cNvPr id="658" name="Google Shape;658;p4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45"/>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Bogus – Bogus</a:t>
            </a:r>
            <a:endParaRPr/>
          </a:p>
        </p:txBody>
      </p:sp>
      <p:sp>
        <p:nvSpPr>
          <p:cNvPr id="664" name="Google Shape;664;p45"/>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Consider the following sorting algorithm:</a:t>
            </a:r>
            <a:endParaRPr/>
          </a:p>
          <a:p>
            <a:pPr indent="0" lvl="0" marL="0" rtl="0" algn="l">
              <a:spcBef>
                <a:spcPts val="1200"/>
              </a:spcBef>
              <a:spcAft>
                <a:spcPts val="0"/>
              </a:spcAft>
              <a:buNone/>
            </a:pPr>
            <a:r>
              <a:rPr lang="el">
                <a:solidFill>
                  <a:schemeClr val="dk1"/>
                </a:solidFill>
                <a:latin typeface="Consolas"/>
                <a:ea typeface="Consolas"/>
                <a:cs typeface="Consolas"/>
                <a:sym typeface="Consolas"/>
              </a:rPr>
              <a:t>while arr is not sorted: ← There are </a:t>
            </a:r>
            <a:r>
              <a:rPr b="1" lang="el">
                <a:solidFill>
                  <a:schemeClr val="dk1"/>
                </a:solidFill>
                <a:latin typeface="Consolas"/>
                <a:ea typeface="Consolas"/>
                <a:cs typeface="Consolas"/>
                <a:sym typeface="Consolas"/>
              </a:rPr>
              <a:t>n!</a:t>
            </a:r>
            <a:r>
              <a:rPr lang="el">
                <a:solidFill>
                  <a:schemeClr val="dk1"/>
                </a:solidFill>
                <a:latin typeface="Consolas"/>
                <a:ea typeface="Consolas"/>
                <a:cs typeface="Consolas"/>
                <a:sym typeface="Consolas"/>
              </a:rPr>
              <a:t> different permutations</a:t>
            </a:r>
            <a:br>
              <a:rPr lang="el">
                <a:latin typeface="Consolas"/>
                <a:ea typeface="Consolas"/>
                <a:cs typeface="Consolas"/>
                <a:sym typeface="Consolas"/>
              </a:rPr>
            </a:br>
            <a:r>
              <a:rPr lang="el">
                <a:solidFill>
                  <a:schemeClr val="accent3"/>
                </a:solidFill>
                <a:latin typeface="Consolas"/>
                <a:ea typeface="Consolas"/>
                <a:cs typeface="Consolas"/>
                <a:sym typeface="Consolas"/>
              </a:rPr>
              <a:t>	randomly shuffle arr ← Each shuffling takes roughly </a:t>
            </a:r>
            <a:r>
              <a:rPr b="1" lang="el">
                <a:solidFill>
                  <a:schemeClr val="accent3"/>
                </a:solidFill>
                <a:latin typeface="Consolas"/>
                <a:ea typeface="Consolas"/>
                <a:cs typeface="Consolas"/>
                <a:sym typeface="Consolas"/>
              </a:rPr>
              <a:t>O(n)</a:t>
            </a:r>
            <a:br>
              <a:rPr lang="el">
                <a:latin typeface="Consolas"/>
                <a:ea typeface="Consolas"/>
                <a:cs typeface="Consolas"/>
                <a:sym typeface="Consolas"/>
              </a:rPr>
            </a:br>
            <a:r>
              <a:rPr lang="el">
                <a:latin typeface="Consolas"/>
                <a:ea typeface="Consolas"/>
                <a:cs typeface="Consolas"/>
                <a:sym typeface="Consolas"/>
              </a:rPr>
              <a:t>return arr</a:t>
            </a:r>
            <a:endParaRPr>
              <a:latin typeface="Consolas"/>
              <a:ea typeface="Consolas"/>
              <a:cs typeface="Consolas"/>
              <a:sym typeface="Consolas"/>
            </a:endParaRPr>
          </a:p>
          <a:p>
            <a:pPr indent="0" lvl="0" marL="0" rtl="0" algn="l">
              <a:spcBef>
                <a:spcPts val="1200"/>
              </a:spcBef>
              <a:spcAft>
                <a:spcPts val="0"/>
              </a:spcAft>
              <a:buNone/>
            </a:pPr>
            <a:r>
              <a:rPr lang="el"/>
              <a:t>arr is sorted!</a:t>
            </a:r>
            <a:endParaRPr/>
          </a:p>
          <a:p>
            <a:pPr indent="-330200" lvl="0" marL="457200" rtl="0" algn="l">
              <a:spcBef>
                <a:spcPts val="1200"/>
              </a:spcBef>
              <a:spcAft>
                <a:spcPts val="0"/>
              </a:spcAft>
              <a:buSzPts val="1600"/>
              <a:buChar char="●"/>
            </a:pPr>
            <a:r>
              <a:rPr lang="el"/>
              <a:t>In the worst case, arr will never be shuffled correctly, so infinite time!</a:t>
            </a:r>
            <a:endParaRPr/>
          </a:p>
          <a:p>
            <a:pPr indent="-330200" lvl="0" marL="457200" rtl="0" algn="l">
              <a:spcBef>
                <a:spcPts val="0"/>
              </a:spcBef>
              <a:spcAft>
                <a:spcPts val="0"/>
              </a:spcAft>
              <a:buSzPts val="1600"/>
              <a:buChar char="●"/>
            </a:pPr>
            <a:r>
              <a:rPr lang="el"/>
              <a:t>On average, O((n-1)n!) (n! = 1·2·3·…·n), so, much (much) slower than everything we have seen so far!</a:t>
            </a:r>
            <a:endParaRPr/>
          </a:p>
        </p:txBody>
      </p:sp>
      <p:sp>
        <p:nvSpPr>
          <p:cNvPr id="665" name="Google Shape;665;p4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46"/>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Homework 1</a:t>
            </a:r>
            <a:endParaRPr/>
          </a:p>
        </p:txBody>
      </p:sp>
      <p:sp>
        <p:nvSpPr>
          <p:cNvPr id="671" name="Google Shape;671;p46"/>
          <p:cNvSpPr txBox="1"/>
          <p:nvPr>
            <p:ph idx="1" type="body"/>
          </p:nvPr>
        </p:nvSpPr>
        <p:spPr>
          <a:xfrm>
            <a:off x="729450" y="1378000"/>
            <a:ext cx="5545200" cy="37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Look at the animated image on the right. You can observe, in action, a sorting algorithm called </a:t>
            </a:r>
            <a:r>
              <a:rPr b="1" lang="el"/>
              <a:t>Quicksort.</a:t>
            </a:r>
            <a:endParaRPr b="1"/>
          </a:p>
          <a:p>
            <a:pPr indent="-330200" lvl="0" marL="457200" rtl="0" algn="l">
              <a:spcBef>
                <a:spcPts val="1200"/>
              </a:spcBef>
              <a:spcAft>
                <a:spcPts val="0"/>
              </a:spcAft>
              <a:buSzPts val="1600"/>
              <a:buChar char="●"/>
            </a:pPr>
            <a:r>
              <a:rPr lang="el"/>
              <a:t>Using only the image and nothing else (no internet, no books, no LLMs, no entity that can somehow help you) try to describe the algorithm in plain english and / or pseudocode.</a:t>
            </a:r>
            <a:endParaRPr/>
          </a:p>
          <a:p>
            <a:pPr indent="-330200" lvl="0" marL="457200" rtl="0" algn="l">
              <a:spcBef>
                <a:spcPts val="0"/>
              </a:spcBef>
              <a:spcAft>
                <a:spcPts val="0"/>
              </a:spcAft>
              <a:buSzPts val="1600"/>
              <a:buChar char="●"/>
            </a:pPr>
            <a:r>
              <a:rPr lang="el"/>
              <a:t>Look around the web / books for Quicksort. How accurate is your description?</a:t>
            </a:r>
            <a:endParaRPr/>
          </a:p>
          <a:p>
            <a:pPr indent="-330200" lvl="0" marL="457200" rtl="0" algn="l">
              <a:spcBef>
                <a:spcPts val="0"/>
              </a:spcBef>
              <a:spcAft>
                <a:spcPts val="0"/>
              </a:spcAft>
              <a:buSzPts val="1600"/>
              <a:buChar char="●"/>
            </a:pPr>
            <a:r>
              <a:rPr lang="el"/>
              <a:t>Implement Quicksort using python and test it on some lists of numbers.</a:t>
            </a:r>
            <a:endParaRPr/>
          </a:p>
          <a:p>
            <a:pPr indent="0" lvl="0" marL="0" rtl="0" algn="l">
              <a:spcBef>
                <a:spcPts val="1200"/>
              </a:spcBef>
              <a:spcAft>
                <a:spcPts val="1200"/>
              </a:spcAft>
              <a:buNone/>
            </a:pPr>
            <a:r>
              <a:rPr lang="el"/>
              <a:t>Share your responses at: </a:t>
            </a:r>
            <a:r>
              <a:rPr lang="el" u="sng">
                <a:solidFill>
                  <a:schemeClr val="hlink"/>
                </a:solidFill>
                <a:hlinkClick r:id="rId3"/>
              </a:rPr>
              <a:t>v.markos@mc-class.gr</a:t>
            </a:r>
            <a:r>
              <a:rPr lang="el"/>
              <a:t> </a:t>
            </a:r>
            <a:endParaRPr/>
          </a:p>
        </p:txBody>
      </p:sp>
      <p:sp>
        <p:nvSpPr>
          <p:cNvPr id="672" name="Google Shape;672;p4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pic>
        <p:nvPicPr>
          <p:cNvPr id="673" name="Google Shape;673;p46"/>
          <p:cNvPicPr preferRelativeResize="0"/>
          <p:nvPr/>
        </p:nvPicPr>
        <p:blipFill>
          <a:blip r:embed="rId4">
            <a:alphaModFix/>
          </a:blip>
          <a:stretch>
            <a:fillRect/>
          </a:stretch>
        </p:blipFill>
        <p:spPr>
          <a:xfrm>
            <a:off x="6427050" y="1259525"/>
            <a:ext cx="2095500" cy="1600200"/>
          </a:xfrm>
          <a:prstGeom prst="rect">
            <a:avLst/>
          </a:prstGeom>
          <a:noFill/>
          <a:ln>
            <a:noFill/>
          </a:ln>
        </p:spPr>
      </p:pic>
      <p:sp>
        <p:nvSpPr>
          <p:cNvPr id="674" name="Google Shape;674;p46"/>
          <p:cNvSpPr txBox="1"/>
          <p:nvPr/>
        </p:nvSpPr>
        <p:spPr>
          <a:xfrm>
            <a:off x="6493050" y="3012125"/>
            <a:ext cx="1963500" cy="82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solidFill>
                  <a:schemeClr val="accent1"/>
                </a:solidFill>
                <a:latin typeface="Lato"/>
                <a:ea typeface="Lato"/>
                <a:cs typeface="Lato"/>
                <a:sym typeface="Lato"/>
              </a:rPr>
              <a:t>Image Source: </a:t>
            </a:r>
            <a:r>
              <a:rPr lang="el" sz="1100" u="sng">
                <a:solidFill>
                  <a:schemeClr val="hlink"/>
                </a:solidFill>
                <a:latin typeface="Lato"/>
                <a:ea typeface="Lato"/>
                <a:cs typeface="Lato"/>
                <a:sym typeface="Lato"/>
                <a:hlinkClick r:id="rId5"/>
              </a:rPr>
              <a:t>https://en.wikipedia.org/wiki/Quicksort</a:t>
            </a:r>
            <a:r>
              <a:rPr lang="el" sz="1100">
                <a:solidFill>
                  <a:schemeClr val="accent1"/>
                </a:solidFill>
                <a:latin typeface="Lato"/>
                <a:ea typeface="Lato"/>
                <a:cs typeface="Lato"/>
                <a:sym typeface="Lato"/>
              </a:rPr>
              <a:t> (do not open this!)</a:t>
            </a:r>
            <a:endParaRPr sz="1100">
              <a:solidFill>
                <a:schemeClr val="accent1"/>
              </a:solidFill>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Fun Time!</a:t>
            </a:r>
            <a:endParaRPr/>
          </a:p>
        </p:txBody>
      </p:sp>
      <p:sp>
        <p:nvSpPr>
          <p:cNvPr id="680" name="Google Shape;680;p4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48"/>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Booker Paige, Again</a:t>
            </a:r>
            <a:endParaRPr/>
          </a:p>
        </p:txBody>
      </p:sp>
      <p:sp>
        <p:nvSpPr>
          <p:cNvPr id="686" name="Google Shape;686;p48"/>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l"/>
              <a:t>Open this week’s tutorial found at ‘./Labs/tutorial_01.pdf’.</a:t>
            </a:r>
            <a:endParaRPr/>
          </a:p>
          <a:p>
            <a:pPr indent="-330200" lvl="0" marL="457200" rtl="0" algn="l">
              <a:spcBef>
                <a:spcPts val="0"/>
              </a:spcBef>
              <a:spcAft>
                <a:spcPts val="0"/>
              </a:spcAft>
              <a:buSzPts val="1600"/>
              <a:buChar char="●"/>
            </a:pPr>
            <a:r>
              <a:rPr lang="el"/>
              <a:t>Follow the instructions therein.</a:t>
            </a:r>
            <a:endParaRPr/>
          </a:p>
          <a:p>
            <a:pPr indent="-330200" lvl="0" marL="457200" rtl="0" algn="l">
              <a:spcBef>
                <a:spcPts val="0"/>
              </a:spcBef>
              <a:spcAft>
                <a:spcPts val="0"/>
              </a:spcAft>
              <a:buSzPts val="1600"/>
              <a:buChar char="●"/>
            </a:pPr>
            <a:r>
              <a:rPr lang="el"/>
              <a:t>In case you have not completed your database design / normalisation from last week’s tutorial, do it now!</a:t>
            </a:r>
            <a:endParaRPr/>
          </a:p>
          <a:p>
            <a:pPr indent="0" lvl="0" marL="0" rtl="0" algn="l">
              <a:spcBef>
                <a:spcPts val="1200"/>
              </a:spcBef>
              <a:spcAft>
                <a:spcPts val="1200"/>
              </a:spcAft>
              <a:buNone/>
            </a:pPr>
            <a:r>
              <a:rPr lang="el"/>
              <a:t>Have Fun!</a:t>
            </a:r>
            <a:endParaRPr/>
          </a:p>
        </p:txBody>
      </p:sp>
      <p:sp>
        <p:nvSpPr>
          <p:cNvPr id="687" name="Google Shape;687;p4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4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Any Questions?</a:t>
            </a:r>
            <a:endParaRPr/>
          </a:p>
        </p:txBody>
      </p:sp>
      <p:sp>
        <p:nvSpPr>
          <p:cNvPr id="693" name="Google Shape;693;p4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Don’t forget to fill-in the questionnaire! (check right)</a:t>
            </a:r>
            <a:endParaRPr/>
          </a:p>
        </p:txBody>
      </p:sp>
      <p:sp>
        <p:nvSpPr>
          <p:cNvPr id="694" name="Google Shape;694;p49"/>
          <p:cNvSpPr txBox="1"/>
          <p:nvPr>
            <p:ph idx="2" type="body"/>
          </p:nvPr>
        </p:nvSpPr>
        <p:spPr>
          <a:xfrm>
            <a:off x="4707375" y="3983225"/>
            <a:ext cx="4361400" cy="3987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l" sz="1600" u="sng">
                <a:solidFill>
                  <a:schemeClr val="hlink"/>
                </a:solidFill>
                <a:latin typeface="Consolas"/>
                <a:ea typeface="Consolas"/>
                <a:cs typeface="Consolas"/>
                <a:sym typeface="Consolas"/>
                <a:hlinkClick r:id="rId3"/>
              </a:rPr>
              <a:t>https://forms.gle/zezKMVzhaT4xyJgk8</a:t>
            </a:r>
            <a:endParaRPr sz="1600">
              <a:latin typeface="Consolas"/>
              <a:ea typeface="Consolas"/>
              <a:cs typeface="Consolas"/>
              <a:sym typeface="Consolas"/>
            </a:endParaRPr>
          </a:p>
        </p:txBody>
      </p:sp>
      <p:pic>
        <p:nvPicPr>
          <p:cNvPr id="695" name="Google Shape;695;p49">
            <a:hlinkClick r:id="rId4"/>
          </p:cNvPr>
          <p:cNvPicPr preferRelativeResize="0"/>
          <p:nvPr/>
        </p:nvPicPr>
        <p:blipFill>
          <a:blip r:embed="rId5">
            <a:alphaModFix/>
          </a:blip>
          <a:stretch>
            <a:fillRect/>
          </a:stretch>
        </p:blipFill>
        <p:spPr>
          <a:xfrm>
            <a:off x="5459325" y="1063025"/>
            <a:ext cx="2857500" cy="2857500"/>
          </a:xfrm>
          <a:prstGeom prst="rect">
            <a:avLst/>
          </a:prstGeom>
          <a:noFill/>
          <a:ln>
            <a:noFill/>
          </a:ln>
        </p:spPr>
      </p:pic>
      <p:sp>
        <p:nvSpPr>
          <p:cNvPr id="696" name="Google Shape;696;p4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